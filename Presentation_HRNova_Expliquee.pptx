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6.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7.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8.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6f17b3ea324d7d" /><Relationship Type="http://schemas.openxmlformats.org/officeDocument/2006/relationships/extended-properties" Target="/docProps/app.xml" Id="R93437aa58f454257" /><Relationship Type="http://schemas.openxmlformats.org/officeDocument/2006/relationships/officeDocument" Target="/ppt/presentation.xml" Id="Ra4392c26100d423a" /></Relationships>
</file>

<file path=ppt/presentation.xml><?xml version="1.0" encoding="utf-8"?>
<p:presentation xmlns:p="http://schemas.openxmlformats.org/presentationml/2006/main">
  <p:sldMasterIdLst>
    <p:sldMasterId xmlns:r="http://schemas.openxmlformats.org/officeDocument/2006/relationships" id="2147483648" r:id="R43602f28ecfd4da9"/>
  </p:sldMasterIdLst>
  <p:notesMasterIdLst>
    <p:notesMasterId xmlns:r="http://schemas.openxmlformats.org/officeDocument/2006/relationships" r:id="R3b29ba4fb670485c"/>
  </p:notesMasterIdLst>
  <p:sldIdLst>
    <p:sldId xmlns:r="http://schemas.openxmlformats.org/officeDocument/2006/relationships" id="256" r:id="R1bc4a94aa3834636"/>
    <p:sldId xmlns:r="http://schemas.openxmlformats.org/officeDocument/2006/relationships" id="257" r:id="R022677844abd4286"/>
    <p:sldId xmlns:r="http://schemas.openxmlformats.org/officeDocument/2006/relationships" id="258" r:id="Ra95bb146239b4645"/>
    <p:sldId xmlns:r="http://schemas.openxmlformats.org/officeDocument/2006/relationships" id="259" r:id="R1d49fcacdab142bf"/>
    <p:sldId xmlns:r="http://schemas.openxmlformats.org/officeDocument/2006/relationships" id="260" r:id="Rbd9e01a0314d4db8"/>
    <p:sldId xmlns:r="http://schemas.openxmlformats.org/officeDocument/2006/relationships" id="261" r:id="Rca787135f2934172"/>
    <p:sldId xmlns:r="http://schemas.openxmlformats.org/officeDocument/2006/relationships" id="262" r:id="R8b7540642f414371"/>
    <p:sldId xmlns:r="http://schemas.openxmlformats.org/officeDocument/2006/relationships" id="263" r:id="R04f037bfa23d46ce"/>
    <p:sldId xmlns:r="http://schemas.openxmlformats.org/officeDocument/2006/relationships" id="264" r:id="R5edafac1eb154a3a"/>
    <p:sldId xmlns:r="http://schemas.openxmlformats.org/officeDocument/2006/relationships" id="265" r:id="Rb783759d8fee4860"/>
    <p:sldId xmlns:r="http://schemas.openxmlformats.org/officeDocument/2006/relationships" id="266" r:id="R6c87c1fdf8584e39"/>
    <p:sldId xmlns:r="http://schemas.openxmlformats.org/officeDocument/2006/relationships" id="267" r:id="Rcea74a0975544094"/>
    <p:sldId xmlns:r="http://schemas.openxmlformats.org/officeDocument/2006/relationships" id="268" r:id="R4c45add76b6d4787"/>
    <p:sldId xmlns:r="http://schemas.openxmlformats.org/officeDocument/2006/relationships" id="269" r:id="Rcc4970fd85dc46d7"/>
    <p:sldId xmlns:r="http://schemas.openxmlformats.org/officeDocument/2006/relationships" id="270" r:id="R84b1101509854dbc"/>
    <p:sldId xmlns:r="http://schemas.openxmlformats.org/officeDocument/2006/relationships" id="271" r:id="R8905ae546ee24099"/>
    <p:sldId xmlns:r="http://schemas.openxmlformats.org/officeDocument/2006/relationships" id="272" r:id="R87ce2b46d67d4ec4"/>
    <p:sldId xmlns:r="http://schemas.openxmlformats.org/officeDocument/2006/relationships" id="273" r:id="Rb17390401a8e4010"/>
    <p:sldId xmlns:r="http://schemas.openxmlformats.org/officeDocument/2006/relationships" id="274" r:id="R24c02dc9463b466d"/>
    <p:sldId xmlns:r="http://schemas.openxmlformats.org/officeDocument/2006/relationships" id="275" r:id="R168b2e57b8354c82"/>
    <p:sldId xmlns:r="http://schemas.openxmlformats.org/officeDocument/2006/relationships" id="276" r:id="R55744f44f9c7456f"/>
    <p:sldId xmlns:r="http://schemas.openxmlformats.org/officeDocument/2006/relationships" id="277" r:id="R832a98248c2d4529"/>
    <p:sldId xmlns:r="http://schemas.openxmlformats.org/officeDocument/2006/relationships" id="278" r:id="R9b8897862dac414d"/>
    <p:sldId xmlns:r="http://schemas.openxmlformats.org/officeDocument/2006/relationships" id="279" r:id="R4b62ceab8fe14c56"/>
    <p:sldId xmlns:r="http://schemas.openxmlformats.org/officeDocument/2006/relationships" id="280" r:id="Rfe7fefda4fec45aa"/>
    <p:sldId xmlns:r="http://schemas.openxmlformats.org/officeDocument/2006/relationships" id="281" r:id="R25f97ea5a65a4d51"/>
    <p:sldId xmlns:r="http://schemas.openxmlformats.org/officeDocument/2006/relationships" id="282" r:id="Rae6ac2d7780f43b0"/>
    <p:sldId xmlns:r="http://schemas.openxmlformats.org/officeDocument/2006/relationships" id="283" r:id="Reac4397731314260"/>
    <p:sldId xmlns:r="http://schemas.openxmlformats.org/officeDocument/2006/relationships" id="284" r:id="R9bca8ee840644787"/>
    <p:sldId xmlns:r="http://schemas.openxmlformats.org/officeDocument/2006/relationships" id="285" r:id="R188c0e88706c4386"/>
    <p:sldId xmlns:r="http://schemas.openxmlformats.org/officeDocument/2006/relationships" id="286" r:id="Rc0c23bdce1514a2e"/>
    <p:sldId xmlns:r="http://schemas.openxmlformats.org/officeDocument/2006/relationships" id="287" r:id="R368c253e03de4ad4"/>
    <p:sldId xmlns:r="http://schemas.openxmlformats.org/officeDocument/2006/relationships" id="288" r:id="R77019e7b0cde49f4"/>
    <p:sldId xmlns:r="http://schemas.openxmlformats.org/officeDocument/2006/relationships" id="289" r:id="R0566740f6cc34d97"/>
    <p:sldId xmlns:r="http://schemas.openxmlformats.org/officeDocument/2006/relationships" id="290" r:id="Rc574a31562d046db"/>
    <p:sldId xmlns:r="http://schemas.openxmlformats.org/officeDocument/2006/relationships" id="291" r:id="R401bb36306f34872"/>
    <p:sldId xmlns:r="http://schemas.openxmlformats.org/officeDocument/2006/relationships" id="292" r:id="R3a01348298f84f52"/>
    <p:sldId xmlns:r="http://schemas.openxmlformats.org/officeDocument/2006/relationships" id="293" r:id="Rbdc6b4fcb2814bdf"/>
    <p:sldId xmlns:r="http://schemas.openxmlformats.org/officeDocument/2006/relationships" id="294" r:id="R3796e1b543094a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e6fa8d41d545bc" /><Relationship Type="http://schemas.openxmlformats.org/officeDocument/2006/relationships/slideMaster" Target="/ppt/slideMasters/slideMaster1.xml" Id="R43602f28ecfd4da9" /><Relationship Type="http://schemas.openxmlformats.org/officeDocument/2006/relationships/notesMaster" Target="/ppt/notesMasters/notesMaster1.xml" Id="R3b29ba4fb670485c" /><Relationship Type="http://schemas.openxmlformats.org/officeDocument/2006/relationships/presProps" Target="/ppt/presProps.xml" Id="R6f24667304224f17" /><Relationship Type="http://schemas.openxmlformats.org/officeDocument/2006/relationships/tableStyles" Target="/ppt/tableStyles.xml" Id="R6fda4534a3ab4f23" /><Relationship Type="http://schemas.openxmlformats.org/officeDocument/2006/relationships/slide" Target="/ppt/slides/slide1.xml" Id="R1bc4a94aa3834636" /><Relationship Type="http://schemas.openxmlformats.org/officeDocument/2006/relationships/slide" Target="/ppt/slides/slide2.xml" Id="R022677844abd4286" /><Relationship Type="http://schemas.openxmlformats.org/officeDocument/2006/relationships/slide" Target="/ppt/slides/slide3.xml" Id="Ra95bb146239b4645" /><Relationship Type="http://schemas.openxmlformats.org/officeDocument/2006/relationships/slide" Target="/ppt/slides/slide4.xml" Id="R1d49fcacdab142bf" /><Relationship Type="http://schemas.openxmlformats.org/officeDocument/2006/relationships/slide" Target="/ppt/slides/slide5.xml" Id="Rbd9e01a0314d4db8" /><Relationship Type="http://schemas.openxmlformats.org/officeDocument/2006/relationships/slide" Target="/ppt/slides/slide6.xml" Id="Rca787135f2934172" /><Relationship Type="http://schemas.openxmlformats.org/officeDocument/2006/relationships/slide" Target="/ppt/slides/slide7.xml" Id="R8b7540642f414371" /><Relationship Type="http://schemas.openxmlformats.org/officeDocument/2006/relationships/slide" Target="/ppt/slides/slide8.xml" Id="R04f037bfa23d46ce" /><Relationship Type="http://schemas.openxmlformats.org/officeDocument/2006/relationships/slide" Target="/ppt/slides/slide9.xml" Id="R5edafac1eb154a3a" /><Relationship Type="http://schemas.openxmlformats.org/officeDocument/2006/relationships/slide" Target="/ppt/slides/slide10.xml" Id="Rb783759d8fee4860" /><Relationship Type="http://schemas.openxmlformats.org/officeDocument/2006/relationships/slide" Target="/ppt/slides/slide11.xml" Id="R6c87c1fdf8584e39" /><Relationship Type="http://schemas.openxmlformats.org/officeDocument/2006/relationships/slide" Target="/ppt/slides/slide12.xml" Id="Rcea74a0975544094" /><Relationship Type="http://schemas.openxmlformats.org/officeDocument/2006/relationships/slide" Target="/ppt/slides/slide13.xml" Id="R4c45add76b6d4787" /><Relationship Type="http://schemas.openxmlformats.org/officeDocument/2006/relationships/slide" Target="/ppt/slides/slide14.xml" Id="Rcc4970fd85dc46d7" /><Relationship Type="http://schemas.openxmlformats.org/officeDocument/2006/relationships/slide" Target="/ppt/slides/slide15.xml" Id="R84b1101509854dbc" /><Relationship Type="http://schemas.openxmlformats.org/officeDocument/2006/relationships/slide" Target="/ppt/slides/slide16.xml" Id="R8905ae546ee24099" /><Relationship Type="http://schemas.openxmlformats.org/officeDocument/2006/relationships/slide" Target="/ppt/slides/slide17.xml" Id="R87ce2b46d67d4ec4" /><Relationship Type="http://schemas.openxmlformats.org/officeDocument/2006/relationships/slide" Target="/ppt/slides/slide18.xml" Id="Rb17390401a8e4010" /><Relationship Type="http://schemas.openxmlformats.org/officeDocument/2006/relationships/slide" Target="/ppt/slides/slide19.xml" Id="R24c02dc9463b466d" /><Relationship Type="http://schemas.openxmlformats.org/officeDocument/2006/relationships/slide" Target="/ppt/slides/slide20.xml" Id="R168b2e57b8354c82" /><Relationship Type="http://schemas.openxmlformats.org/officeDocument/2006/relationships/slide" Target="/ppt/slides/slide21.xml" Id="R55744f44f9c7456f" /><Relationship Type="http://schemas.openxmlformats.org/officeDocument/2006/relationships/slide" Target="/ppt/slides/slide22.xml" Id="R832a98248c2d4529" /><Relationship Type="http://schemas.openxmlformats.org/officeDocument/2006/relationships/slide" Target="/ppt/slides/slide23.xml" Id="R9b8897862dac414d" /><Relationship Type="http://schemas.openxmlformats.org/officeDocument/2006/relationships/slide" Target="/ppt/slides/slide24.xml" Id="R4b62ceab8fe14c56" /><Relationship Type="http://schemas.openxmlformats.org/officeDocument/2006/relationships/slide" Target="/ppt/slides/slide25.xml" Id="Rfe7fefda4fec45aa" /><Relationship Type="http://schemas.openxmlformats.org/officeDocument/2006/relationships/slide" Target="/ppt/slides/slide26.xml" Id="R25f97ea5a65a4d51" /><Relationship Type="http://schemas.openxmlformats.org/officeDocument/2006/relationships/slide" Target="/ppt/slides/slide27.xml" Id="Rae6ac2d7780f43b0" /><Relationship Type="http://schemas.openxmlformats.org/officeDocument/2006/relationships/slide" Target="/ppt/slides/slide28.xml" Id="Reac4397731314260" /><Relationship Type="http://schemas.openxmlformats.org/officeDocument/2006/relationships/slide" Target="/ppt/slides/slide29.xml" Id="R9bca8ee840644787" /><Relationship Type="http://schemas.openxmlformats.org/officeDocument/2006/relationships/slide" Target="/ppt/slides/slide30.xml" Id="R188c0e88706c4386" /><Relationship Type="http://schemas.openxmlformats.org/officeDocument/2006/relationships/slide" Target="/ppt/slides/slide31.xml" Id="Rc0c23bdce1514a2e" /><Relationship Type="http://schemas.openxmlformats.org/officeDocument/2006/relationships/slide" Target="/ppt/slides/slide32.xml" Id="R368c253e03de4ad4" /><Relationship Type="http://schemas.openxmlformats.org/officeDocument/2006/relationships/slide" Target="/ppt/slides/slide33.xml" Id="R77019e7b0cde49f4" /><Relationship Type="http://schemas.openxmlformats.org/officeDocument/2006/relationships/slide" Target="/ppt/slides/slide34.xml" Id="R0566740f6cc34d97" /><Relationship Type="http://schemas.openxmlformats.org/officeDocument/2006/relationships/slide" Target="/ppt/slides/slide35.xml" Id="Rc574a31562d046db" /><Relationship Type="http://schemas.openxmlformats.org/officeDocument/2006/relationships/slide" Target="/ppt/slides/slide36.xml" Id="R401bb36306f34872" /><Relationship Type="http://schemas.openxmlformats.org/officeDocument/2006/relationships/slide" Target="/ppt/slides/slide37.xml" Id="R3a01348298f84f52" /><Relationship Type="http://schemas.openxmlformats.org/officeDocument/2006/relationships/slide" Target="/ppt/slides/slide38.xml" Id="Rbdc6b4fcb2814bdf" /><Relationship Type="http://schemas.openxmlformats.org/officeDocument/2006/relationships/slide" Target="/ppt/slides/slide39.xml" Id="R3796e1b543094a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ccd326926f48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3b101d24ae4ed5" /><Relationship Type="http://schemas.openxmlformats.org/officeDocument/2006/relationships/notesMaster" Target="/ppt/notesMasters/notesMaster1.xml" Id="Rcbdf746e775541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afb5441b0c4d4f" /><Relationship Type="http://schemas.openxmlformats.org/officeDocument/2006/relationships/notesMaster" Target="/ppt/notesMasters/notesMaster1.xml" Id="R8417e950323746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1dabc850164829" /><Relationship Type="http://schemas.openxmlformats.org/officeDocument/2006/relationships/notesMaster" Target="/ppt/notesMasters/notesMaster1.xml" Id="R691f267e68854f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9cdd1260e3492a" /><Relationship Type="http://schemas.openxmlformats.org/officeDocument/2006/relationships/notesMaster" Target="/ppt/notesMasters/notesMaster1.xml" Id="R2310e46d531e47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8a200fb8844145" /><Relationship Type="http://schemas.openxmlformats.org/officeDocument/2006/relationships/notesMaster" Target="/ppt/notesMasters/notesMaster1.xml" Id="Rebf01e56eed0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e4e5710f9c4f85" /><Relationship Type="http://schemas.openxmlformats.org/officeDocument/2006/relationships/notesMaster" Target="/ppt/notesMasters/notesMaster1.xml" Id="R2f953b07b1814f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60a6d306e3409a" /><Relationship Type="http://schemas.openxmlformats.org/officeDocument/2006/relationships/notesMaster" Target="/ppt/notesMasters/notesMaster1.xml" Id="R22f82631bbbe4b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51180bcf3b4e29" /><Relationship Type="http://schemas.openxmlformats.org/officeDocument/2006/relationships/notesMaster" Target="/ppt/notesMasters/notesMaster1.xml" Id="Rf2d18cda327447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1fd6c78aed46c5" /><Relationship Type="http://schemas.openxmlformats.org/officeDocument/2006/relationships/notesMaster" Target="/ppt/notesMasters/notesMaster1.xml" Id="R3020b6bfe2a04d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45c54794ad4d7c" /><Relationship Type="http://schemas.openxmlformats.org/officeDocument/2006/relationships/notesMaster" Target="/ppt/notesMasters/notesMaster1.xml" Id="Rbe393db053fe4e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a8d675e9054566" /><Relationship Type="http://schemas.openxmlformats.org/officeDocument/2006/relationships/notesMaster" Target="/ppt/notesMasters/notesMaster1.xml" Id="R2c86978679224c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6a489c31f340bb" /><Relationship Type="http://schemas.openxmlformats.org/officeDocument/2006/relationships/notesMaster" Target="/ppt/notesMasters/notesMaster1.xml" Id="Rf83de41a4f3e43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78524fbd7e402d" /><Relationship Type="http://schemas.openxmlformats.org/officeDocument/2006/relationships/notesMaster" Target="/ppt/notesMasters/notesMaster1.xml" Id="Rbd526edf22934a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b9f994530748ff" /><Relationship Type="http://schemas.openxmlformats.org/officeDocument/2006/relationships/notesMaster" Target="/ppt/notesMasters/notesMaster1.xml" Id="R2d2e6127826b4b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5720baa02f4705" /><Relationship Type="http://schemas.openxmlformats.org/officeDocument/2006/relationships/notesMaster" Target="/ppt/notesMasters/notesMaster1.xml" Id="R215fa5b1515546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16cb220534467a" /><Relationship Type="http://schemas.openxmlformats.org/officeDocument/2006/relationships/notesMaster" Target="/ppt/notesMasters/notesMaster1.xml" Id="R9f37383f8adf4c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cb6f103041439b" /><Relationship Type="http://schemas.openxmlformats.org/officeDocument/2006/relationships/notesMaster" Target="/ppt/notesMasters/notesMaster1.xml" Id="R7d2bc3dc398847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d02492ff3846df" /><Relationship Type="http://schemas.openxmlformats.org/officeDocument/2006/relationships/notesMaster" Target="/ppt/notesMasters/notesMaster1.xml" Id="Rc1f21a1fb15c46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48ae7e997b4f41" /><Relationship Type="http://schemas.openxmlformats.org/officeDocument/2006/relationships/notesMaster" Target="/ppt/notesMasters/notesMaster1.xml" Id="R67114567b8c246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d14c6d1fa8463f" /><Relationship Type="http://schemas.openxmlformats.org/officeDocument/2006/relationships/notesMaster" Target="/ppt/notesMasters/notesMaster1.xml" Id="R3f61e9e3ba154d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3fc41dd4794b70" /><Relationship Type="http://schemas.openxmlformats.org/officeDocument/2006/relationships/notesMaster" Target="/ppt/notesMasters/notesMaster1.xml" Id="Rca5c2973da574f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99495be13b4050" /><Relationship Type="http://schemas.openxmlformats.org/officeDocument/2006/relationships/notesMaster" Target="/ppt/notesMasters/notesMaster1.xml" Id="R0070d4bbb8764f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1a5a2495b746ad" /><Relationship Type="http://schemas.openxmlformats.org/officeDocument/2006/relationships/notesMaster" Target="/ppt/notesMasters/notesMaster1.xml" Id="Rce0b1d4738e04c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a1bb4be0d064f5a" /><Relationship Type="http://schemas.openxmlformats.org/officeDocument/2006/relationships/notesMaster" Target="/ppt/notesMasters/notesMaster1.xml" Id="R66aaab1200f64b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efb9cc2f0e54a0e" /><Relationship Type="http://schemas.openxmlformats.org/officeDocument/2006/relationships/notesMaster" Target="/ppt/notesMasters/notesMaster1.xml" Id="R7b6782ad370442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38682a3eb74d25" /><Relationship Type="http://schemas.openxmlformats.org/officeDocument/2006/relationships/notesMaster" Target="/ppt/notesMasters/notesMaster1.xml" Id="R46a69c59e6d047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ce97cae4074e77" /><Relationship Type="http://schemas.openxmlformats.org/officeDocument/2006/relationships/notesMaster" Target="/ppt/notesMasters/notesMaster1.xml" Id="R568207182aa14a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9f9d08b7c60442d" /><Relationship Type="http://schemas.openxmlformats.org/officeDocument/2006/relationships/notesMaster" Target="/ppt/notesMasters/notesMaster1.xml" Id="R5ebc58b98ee4409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5a068fb909f45d7" /><Relationship Type="http://schemas.openxmlformats.org/officeDocument/2006/relationships/notesMaster" Target="/ppt/notesMasters/notesMaster1.xml" Id="R11d6acee3e5d47d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3003e70aad4106" /><Relationship Type="http://schemas.openxmlformats.org/officeDocument/2006/relationships/notesMaster" Target="/ppt/notesMasters/notesMaster1.xml" Id="Rf96717a7b44340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a1983aeb804ebb" /><Relationship Type="http://schemas.openxmlformats.org/officeDocument/2006/relationships/notesMaster" Target="/ppt/notesMasters/notesMaster1.xml" Id="R5cd03c8c22f84f7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3d0ece33ef644bd" /><Relationship Type="http://schemas.openxmlformats.org/officeDocument/2006/relationships/notesMaster" Target="/ppt/notesMasters/notesMaster1.xml" Id="Ra7174feeb0874e7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a6d96f8add540d7" /><Relationship Type="http://schemas.openxmlformats.org/officeDocument/2006/relationships/notesMaster" Target="/ppt/notesMasters/notesMaster1.xml" Id="Rc02f043c25fc4de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a5f1ceaf13436d" /><Relationship Type="http://schemas.openxmlformats.org/officeDocument/2006/relationships/notesMaster" Target="/ppt/notesMasters/notesMaster1.xml" Id="R6c8cb40a439e447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1de5bbe20840ed" /><Relationship Type="http://schemas.openxmlformats.org/officeDocument/2006/relationships/notesMaster" Target="/ppt/notesMasters/notesMaster1.xml" Id="Rd65687a622bd4f6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c70409c0f64c62" /><Relationship Type="http://schemas.openxmlformats.org/officeDocument/2006/relationships/notesMaster" Target="/ppt/notesMasters/notesMaster1.xml" Id="R05da9cf421084c8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27e5cf3023541af" /><Relationship Type="http://schemas.openxmlformats.org/officeDocument/2006/relationships/notesMaster" Target="/ppt/notesMasters/notesMaster1.xml" Id="R573f15102e644a5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979c0d98bb449c5" /><Relationship Type="http://schemas.openxmlformats.org/officeDocument/2006/relationships/notesMaster" Target="/ppt/notesMasters/notesMaster1.xml" Id="R24ca18008de746c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1b74fb242b748a6" /><Relationship Type="http://schemas.openxmlformats.org/officeDocument/2006/relationships/notesMaster" Target="/ppt/notesMasters/notesMaster1.xml" Id="Rf488702ff89245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je vais vous présenter le projet HRNova, réalisé dans le contexte de TechNova Partners. Le besoin est d’étudier les facteurs associés aux départs et de construire un modèle de classification compréhensible pour les ressources humaines. Je présenterai les données, le protocole de validation, les résultats et leur interprétation. Le parcours principal couvre les slides 1 à 30. Les annexes permettent de répondre aux questions techniques. Les résultats chiffrés correspondent aux sorties enregistrées dans le notebook fourni.</a:t>
            </a:r>
          </a:p>
          <a:p xmlns:a="http://schemas.openxmlformats.org/drawingml/2006/main">
            <a:r>
              <a:t/>
            </a:r>
          </a:p>
          <a:p xmlns:a="http://schemas.openxmlformats.org/drawingml/2006/main">
            <a:r>
              <a:t>Source : dataScientistTechNova.ipynb, cellules 0, 1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turnover correspond ici au départ de l’entreprise, tel qu’il apparaît dans la cible a_quitte_l_entreprise. Le jeu ne précise pas un horizon comme un départ dans les trois prochains mois. Je n’invente donc pas de délai de prédiction. Une classification binaire consiste à distinguer deux classes. Les variables descriptives constituent X et le résultat connu constitue y. L’objectif métier est la prévention et la compréhension, avec une validation humaine avant tout usage opérationnel. Transition : avant de modéliser, il faut comprendre les sources disponibles.</a:t>
            </a:r>
          </a:p>
          <a:p xmlns:a="http://schemas.openxmlformats.org/drawingml/2006/main">
            <a:r>
              <a:t/>
            </a:r>
          </a:p>
          <a:p xmlns:a="http://schemas.openxmlformats.org/drawingml/2006/main">
            <a:r>
              <a:t>Source : dataScientistTechNova.ipynb, cellules 1, 14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fichier contient 1 470 lignes. Le sondage apporte la cible et plusieurs informations individuelles. Le SIRH décrit le poste, le revenu et l’ancienneté. Les évaluations apportent notamment la satisfaction et les heures supplémentaires. Le notebook extrait le nombre d’un identifiant tel que E_1, réalise une jointure gauche entre sondage et SIRH puis une jointure interne avec les évaluations. Il supprime ensuite les trois identifiants. Les effectifs restent à 1 470. Une jointure interne pourrait écarter un salarié sans correspondance : le contrôle des clés et des effectifs est donc important. Zéro valeur manquante signifie qu’aucune imputation n’est nécessaire dans ces extraits.</a:t>
            </a:r>
          </a:p>
          <a:p xmlns:a="http://schemas.openxmlformats.org/drawingml/2006/main">
            <a:r>
              <a:t/>
            </a:r>
          </a:p>
          <a:p xmlns:a="http://schemas.openxmlformats.org/drawingml/2006/main">
            <a:r>
              <a:t>Source : dataScientistTechNova.ipynb, cellules 6, 7, 12, 13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compte 1 233 salariés restés et 237 partis. Imaginons une règle qui prédit systématiquement que chaque salarié reste. Elle répond correctement pour 1 233 salariés sur 1 470, soit 83,9 % d’accuracy. Pourtant elle détecte zéro départ, donc son rappel pour la classe départ vaut zéro. Cette règle montre pourquoi l’accuracy seule peut être trompeuse. Attention : elle ne correspond pas au DummyClassifier réellement évalué, qui tire aléatoirement les classes selon leur fréquence. La stratification et des métriques centrées sur les départs répondent à ce déséquilibre.</a:t>
            </a:r>
          </a:p>
          <a:p xmlns:a="http://schemas.openxmlformats.org/drawingml/2006/main">
            <a:r>
              <a:t/>
            </a:r>
          </a:p>
          <a:p xmlns:a="http://schemas.openxmlformats.org/drawingml/2006/main">
            <a:r>
              <a:t>Source : dataScientistTechNova.ipynb, cellules 8, 14, 30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salariés partis ont un revenu mensuel médian de 3 202, contre 5 204 pour les salariés restés. Je parle de médiane : la moitié des valeurs sont en dessous et l’autre moitié au-dessus. La devise n’étant pas documentée, je ne transforme pas ces valeurs en euros. Le taux de départ est de 20,6 % en Commercial, 19,0 % en Ressources humaines et 13,8 % en Consulting. Le groupe RH est beaucoup plus petit, avec seulement 63 salariés. Ces écarts peuvent refléter d’autres facteurs, comme le poste ou l’ancienneté. Ils servent à formuler des hypothèses, pas à établir des causes. Les graphiques détaillés figurent en annexes.</a:t>
            </a:r>
          </a:p>
          <a:p xmlns:a="http://schemas.openxmlformats.org/drawingml/2006/main">
            <a:r>
              <a:t/>
            </a:r>
          </a:p>
          <a:p xmlns:a="http://schemas.openxmlformats.org/drawingml/2006/main">
            <a:r>
              <a:t>Source : dataScientistTechNova.ipynb, cellules 17, 19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feature est une variable d’entrée utilisée pour prédire. L’âge et le revenu sont quantitatifs. Les heures supplémentaires sont binaires, donc un encodage 0/1 convient. La fréquence de déplacement possède un ordre métier, d’où un mapping de 0 à 2. Le poste et le département n’ont pas d’ordre naturel : le OneHotEncoder crée une colonne indicatrice par modalité, avec drop='first' pour choisir une référence. Le notebook transforme également un pourcentage écrit '11 %' en 11. Le modèle utilise finalement 43 colonnes, dont les colonnes issues du One-Hot. La liste exacte figure en annexes. Le label encoding de la cible donne Non=0 et Oui=1.</a:t>
            </a:r>
          </a:p>
          <a:p xmlns:a="http://schemas.openxmlformats.org/drawingml/2006/main">
            <a:r>
              <a:t/>
            </a:r>
          </a:p>
          <a:p xmlns:a="http://schemas.openxmlformats.org/drawingml/2006/main">
            <a:r>
              <a:t>Source : dataScientistTechNova.ipynb, cellules 12, 13, 14, 22, 26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feature engineering consiste à fabriquer des variables qui rendent certaines relations plus faciles à apprendre. Un ratio de salaire de 0,80 signifie un revenu égal à 80 % de la médiane du groupe utilisé, pas une preuve que le salarié est injustement rémunéré. La médiane globale vaut 4 919 dans ces données. Malgré son nom, sous_paye_moyenne compare à la médiane, pas à la moyenne. La satisfaction globale résume quatre dimensions. Le notebook écarte ensuite revenu_par_age, fortement_sous_paye, groupe_anciennete et les quatre satisfactions individuelles. Il ne fournit pas de mesure isolée du gain de chaque nouvelle variable : je ne prétends donc pas que leur création améliore forcément le score. Les médianes doivent être apprises uniquement sur l’entraînement lors d’une prochaine validation complète.</a:t>
            </a:r>
          </a:p>
          <a:p xmlns:a="http://schemas.openxmlformats.org/drawingml/2006/main">
            <a:r>
              <a:t/>
            </a:r>
          </a:p>
          <a:p xmlns:a="http://schemas.openxmlformats.org/drawingml/2006/main">
            <a:r>
              <a:t>Source : dataScientistTechNova.ipynb, cellules 23, 25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train_test_split réserve 20 % des données au test et utilise stratify=y. Cela préserve approximativement la proportion de départs : 190 sur 1 176 dans l’entraînement et 47 sur 294 dans le test. Un tirage aléatoire sans stratification peut produire des proportions différentes. Avec des groupes très petits, une classe peut même manquer. Ici, je ne dis pas qu’un test de 294 salariés aurait nécessairement zéro départ sans stratification. La stratification limite surtout les variations de composition. Elle ne crée pas de nouveaux départs et ne transforme pas la répartition en 50/50. Le random_state=42 permet de reproduire le tirage. Le test ne sert pas au choix des hyperparamètres ni du seuil.</a:t>
            </a:r>
          </a:p>
          <a:p xmlns:a="http://schemas.openxmlformats.org/drawingml/2006/main">
            <a:r>
              <a:t/>
            </a:r>
          </a:p>
          <a:p xmlns:a="http://schemas.openxmlformats.org/drawingml/2006/main">
            <a:r>
              <a:t>Source : dataScientistTechNova.ipynb, cellules 28 (numérotation à partir de 0).</a:t>
            </a:r>
          </a:p>
          <a:p xmlns:a="http://schemas.openxmlformats.org/drawingml/2006/main">
            <a:r>
              <a:t/>
            </a:r>
          </a:p>
          <a:p xmlns:a="http://schemas.openxmlformats.org/drawingml/2006/main">
            <a:r>
              <a:t>Références :</a:t>
            </a:r>
          </a:p>
          <a:p xmlns:a="http://schemas.openxmlformats.org/drawingml/2006/main">
            <a:r>
              <a:t>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StratifiedKFold crée cinq blocs dans le jeu d’entraînement. À chaque tour, quatre blocs servent à apprendre et le cinquième à valider. Le bloc de validation change à chaque fois et conserve environ 16 % de départs, soit 38 départs par bloc ici. On moyenne les cinq scores pour comparer les modèles. L’écart-type décrit leur variabilité entre blocs. Avec cross_val_predict, chaque salarié reçoit une prédiction hors de son fold, appelée OOF. Ces prédictions servent aux matrices de confusion et au choix du seuil. Une moyenne de F1 par fold peut différer du F1 calculé sur toutes les prédictions OOF regroupées. Le test final reste séparé. Le StandardScaler de la logistique est réappris dans chaque fold grâce à la Pipeline.</a:t>
            </a:r>
          </a:p>
          <a:p xmlns:a="http://schemas.openxmlformats.org/drawingml/2006/main">
            <a:r>
              <a:t/>
            </a:r>
          </a:p>
          <a:p xmlns:a="http://schemas.openxmlformats.org/drawingml/2006/main">
            <a:r>
              <a:t>Source : dataScientistTechNova.ipynb, cellules 28, 31, 32, 36 (numérotation à partir de 0).</a:t>
            </a:r>
          </a:p>
          <a:p xmlns:a="http://schemas.openxmlformats.org/drawingml/2006/main">
            <a:r>
              <a:t/>
            </a:r>
          </a:p>
          <a:p xmlns:a="http://schemas.openxmlformats.org/drawingml/2006/main">
            <a:r>
              <a:t>Références :</a:t>
            </a:r>
          </a:p>
          <a:p xmlns:a="http://schemas.openxmlformats.org/drawingml/2006/main">
            <a:r>
              <a:t>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régression logistique additionne les variables multipliées par des coefficients appris. Elle transforme ce score z en une valeur entre 0 et 1 avec la fonction 1/(1+exp(-z)). Malgré le mot régression, elle sert ici à classer resté ou parti. Un coefficient positif augmente le log-odds de départ lorsque les autres variables sont maintenues fixes. Cela reste une association du modèle. Le StandardScaler soustrait la moyenne d’apprentissage et divise par l’écart-type. Cette mise à l’échelle facilite la régularisation de colonnes exprimées dans des unités différentes. La Pipeline contient le scaler puis le modèle. Le notebook emploie solver='liblinear' et class_weight='balanced'. La sigmoïde illustrée est mathématique et ne montre pas des scores individuels de salariés.</a:t>
            </a:r>
          </a:p>
          <a:p xmlns:a="http://schemas.openxmlformats.org/drawingml/2006/main">
            <a:r>
              <a:t/>
            </a:r>
          </a:p>
          <a:p xmlns:a="http://schemas.openxmlformats.org/drawingml/2006/main">
            <a:r>
              <a:t>Source : dataScientistTechNova.ipynb, cellules 27, 30 (numérotation à partir de 0).</a:t>
            </a:r>
          </a:p>
          <a:p xmlns:a="http://schemas.openxmlformats.org/drawingml/2006/main">
            <a:r>
              <a:t/>
            </a:r>
          </a:p>
          <a:p xmlns:a="http://schemas.openxmlformats.org/drawingml/2006/main">
            <a:r>
              <a:t>Références :</a:t>
            </a:r>
          </a:p>
          <a:p xmlns:a="http://schemas.openxmlformats.org/drawingml/2006/main">
            <a:r>
              <a:t>https://scikit-learn.org/stable/modules/linear_model.html#logistic-regression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arbre coupe progressivement la population selon des conditions sur les variables. Il peut capturer des interactions, par exemple un effet combiné entre ancienneté et heures supplémentaires. Une forêt entraîne beaucoup d’arbres avec du hasard dans les lignes et dans les variables candidates à chaque séparation. Leurs erreurs sont moins corrélées, ce qui réduit la variance. Dans scikit-learn, la probabilité de la forêt est la moyenne des probabilités des arbres. Les valeurs 20, 60 et 40 % sont un exemple fictif : leur moyenne vaut 40 %. Les arbres comparent des seuils, donc une standardisation ne change généralement pas leur logique. class_weight='balanced' pondère davantage les départs pendant l’apprentissage, sans ajouter de salariés.</a:t>
            </a:r>
          </a:p>
          <a:p xmlns:a="http://schemas.openxmlformats.org/drawingml/2006/main">
            <a:r>
              <a:t/>
            </a:r>
          </a:p>
          <a:p xmlns:a="http://schemas.openxmlformats.org/drawingml/2006/main">
            <a:r>
              <a:t>Source : dataScientistTechNova.ipynb, cellules 30, 34 (numérotation à partir de 0).</a:t>
            </a:r>
          </a:p>
          <a:p xmlns:a="http://schemas.openxmlformats.org/drawingml/2006/main">
            <a:r>
              <a:t/>
            </a:r>
          </a:p>
          <a:p xmlns:a="http://schemas.openxmlformats.org/drawingml/2006/main">
            <a:r>
              <a:t>Références :</a:t>
            </a:r>
          </a:p>
          <a:p xmlns:a="http://schemas.openxmlformats.org/drawingml/2006/main">
            <a:r>
              <a:t>https://scikit-learn.org/stable/modules/ensemble.html#forest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lis la matrice ligne par ligne. Parmi les 247 salariés réellement restés, 207 sont correctement prédits restés et 40 déclenchent une fausse alerte. Parmi les 47 salariés réellement partis, 29 sont détectés et 18 sont manqués. Positif veut toujours dire départ dans cette présentation. Un faux positif peut générer une analyse ou un entretien inutile. Un faux négatif correspond à un départ que le modèle ne repère pas. Le coût de ces deux erreurs n’est pas forcément identique pour les RH. Les 294 cas permettent de calculer les métriques suivantes. Les effectifs correspondent à la sortie du notebook et ont été vérifiés avec les données fournies.</a:t>
            </a:r>
          </a:p>
          <a:p xmlns:a="http://schemas.openxmlformats.org/drawingml/2006/main">
            <a:r>
              <a:t/>
            </a:r>
          </a:p>
          <a:p xmlns:a="http://schemas.openxmlformats.org/drawingml/2006/main">
            <a:r>
              <a:t>Source : dataScientistTechNova.ipynb, cellules 42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la précision, je regarde uniquement les alertes émises : 69 alertes, dont 29 correspondent à des départs réels. La précision est donc 29/69, soit 42,0 %. Pour le rappel, je regarde uniquement les personnes réellement parties : 47 départs, dont 29 détectés. Le rappel est donc 29/47, soit 61,7 %. Le rappel est utile si l’objectif est de rater le moins possible de départs. La précision est utile pour limiter la charge inutile provoquée par les alertes. On choisit le compromis avec le métier. Une très forte précision n’est pas suffisante si le modèle détecte très peu de départs, et un rappel élevé peut s’accompagner de nombreuses fausses alertes.</a:t>
            </a:r>
          </a:p>
          <a:p xmlns:a="http://schemas.openxmlformats.org/drawingml/2006/main">
            <a:r>
              <a:t/>
            </a:r>
          </a:p>
          <a:p xmlns:a="http://schemas.openxmlformats.org/drawingml/2006/main">
            <a:r>
              <a:t>Source : dataScientistTechNova.ipynb, cellules 42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F1 est une moyenne harmonique : il devient faible si l’une des deux métriques, précision ou rappel, est faible. Avec 29 vrais positifs, 40 faux positifs et 18 faux négatifs, sa formule simplifiée donne 58/116, soit 0,5. Le F1 n’utilise pas directement les vrais négatifs et ne traduit pas automatiquement le coût métier des erreurs. L’accuracy vaut 236 bonnes réponses sur 294, soit 80,3 %. Une règle tout le monde reste obtiendrait 247/294, soit 84,0 % sur ce test, mais son rappel serait nul. On accepte donc une accuracy plus faible pour détecter des départs. Dans le notebook, le F1 sert à choisir les hyperparamètres et le seuil.</a:t>
            </a:r>
          </a:p>
          <a:p xmlns:a="http://schemas.openxmlformats.org/drawingml/2006/main">
            <a:r>
              <a:t/>
            </a:r>
          </a:p>
          <a:p xmlns:a="http://schemas.openxmlformats.org/drawingml/2006/main">
            <a:r>
              <a:t>Source : dataScientistTechNova.ipynb, cellules 34, 36, 42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ROC représente le rappel en ordonnée et le taux de faux positifs en abscisse. Chaque seuil correspond à un point de la courbe. L’AUC est l’aire sous cette courbe. Elle s’interprète comme la probabilité qu’un départ choisi au hasard reçoive un score supérieur à un non-départ choisi au hasard, avec un traitement des ex æquo. Le notebook affiche 0,769231 sur le test, arrondi ici à 0,769. Une AUC de 0,769 ne signifie donc pas 76,9 % de salariés correctement classés. Modifier uniquement le seuil laisse les probabilités et l’AUC inchangées. Courbe reconstituée à partir des données et du RF calibré avec scikit-learn 1.8.0 : AUC 0,769145, identique à trois décimales à la sortie enregistrée. Les tableaux de résultats reprennent les valeurs enregistrées dans le notebook.</a:t>
            </a:r>
          </a:p>
          <a:p xmlns:a="http://schemas.openxmlformats.org/drawingml/2006/main">
            <a:r>
              <a:t/>
            </a:r>
          </a:p>
          <a:p xmlns:a="http://schemas.openxmlformats.org/drawingml/2006/main">
            <a:r>
              <a:t>Source : dataScientistTechNova.ipynb, cellules 42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comparaison porte sur les mêmes cinq folds de l’entraînement. Le modèle aléatoire fournit un point de référence. La régression logistique obtient le meilleur F1 initial, 0,4968, et le rappel le plus élevé, 0,7368. Le Random Forest initial obtient une meilleure précision moyenne, 0,7151, mais son rappel n’est que de 0,3053. Cela illustre le compromis entre quantité de départs détectés et qualité des alertes. Les valeurs sont des moyennes de métriques par fold. Il ne faut pas les confondre avec les métriques d’une matrice OOF regroupée, ni avec le résultat du test final. La logistique reste un concurrent sérieux. Le Random Forest est ensuite optimisé.</a:t>
            </a:r>
          </a:p>
          <a:p xmlns:a="http://schemas.openxmlformats.org/drawingml/2006/main">
            <a:r>
              <a:t/>
            </a:r>
          </a:p>
          <a:p xmlns:a="http://schemas.openxmlformats.org/drawingml/2006/main">
            <a:r>
              <a:t>Source : dataScientistTechNova.ipynb, cellules 30, 31, 32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hyperparamètres sont les réglages choisis avant l’apprentissage. La grille contient deux valeurs pour chacun des quatre réglages, soit 2 puissance 4 = 16 configurations. Chacune est évaluée sur cinq folds, soit 80 ajustements. Le meilleur F1 moyen de validation vaut 0,504825 pour 300 arbres, une profondeur de 5, un minimum de 5 observations pour séparer un nœud et 2 par feuille. Une profondeur plus faible limite la complexité. Le F1 moyen d’apprentissage reste supérieur, autour de 0,7446 : le modèle apprend mieux les cas déjà vus que les cas hors fold. C’est le principe du surapprentissage. Le meilleur score de grille a servi à sélectionner le réglage : il ne remplace pas une évaluation finale indépendante.</a:t>
            </a:r>
          </a:p>
          <a:p xmlns:a="http://schemas.openxmlformats.org/drawingml/2006/main">
            <a:r>
              <a:t/>
            </a:r>
          </a:p>
          <a:p xmlns:a="http://schemas.openxmlformats.org/drawingml/2006/main">
            <a:r>
              <a:t>Source : dataScientistTechNova.ipynb, cellules 34 (numérotation à partir de 0).</a:t>
            </a:r>
          </a:p>
          <a:p xmlns:a="http://schemas.openxmlformats.org/drawingml/2006/main">
            <a:r>
              <a:t/>
            </a:r>
          </a:p>
          <a:p xmlns:a="http://schemas.openxmlformats.org/drawingml/2006/main">
            <a:r>
              <a:t>Références :</a:t>
            </a:r>
          </a:p>
          <a:p xmlns:a="http://schemas.openxmlformats.org/drawingml/2006/main">
            <a:r>
              <a:t>https://scikit-learn.org/stable/modules/cross_validation.html</a:t>
            </a:r>
          </a:p>
          <a:p xmlns:a="http://schemas.openxmlformats.org/drawingml/2006/main">
            <a:r>
              <a:t>https://scikit-learn.org/stable/modules/ensemble.html#forest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calibration ajuste la relation entre le score et la probabilité observée. L’exemple des 100 salariés à 20 % est pédagogique : on souhaiterait environ 20 départs dans ce groupe sur un grand ensemble comparable. Cela ne signifie pas qu’on connaît avec certitude le destin de chaque salarié. Le notebook utilise une calibration sigmoïde avec validation interne à cinq folds. Le Brier calcule la moyenne des carrés des différences entre les probabilités et les étiquettes 0/1. La Log Loss pénalise particulièrement une erreur faite avec une confiance proche de 100 %. Le test du notebook donne Brier 0,122596 et Log Loss 0,38898. Ces mesures évaluent globalement les probabilités et ne prouvent pas à elles seules une calibration parfaite. La calibration modifie les probabilités. Le seuil, lui, change la règle de décision appliquée à ces probabilités.</a:t>
            </a:r>
          </a:p>
          <a:p xmlns:a="http://schemas.openxmlformats.org/drawingml/2006/main">
            <a:r>
              <a:t/>
            </a:r>
          </a:p>
          <a:p xmlns:a="http://schemas.openxmlformats.org/drawingml/2006/main">
            <a:r>
              <a:t>Source : dataScientistTechNova.ipynb, cellules 36, 42, 43 (numérotation à partir de 0).</a:t>
            </a:r>
          </a:p>
          <a:p xmlns:a="http://schemas.openxmlformats.org/drawingml/2006/main">
            <a:r>
              <a:t/>
            </a:r>
          </a:p>
          <a:p xmlns:a="http://schemas.openxmlformats.org/drawingml/2006/main">
            <a:r>
              <a:t>Références :</a:t>
            </a:r>
          </a:p>
          <a:p xmlns:a="http://schemas.openxmlformats.org/drawingml/2006/main">
            <a:r>
              <a:t>https://scikit-learn.org/stable/modules/calibration.html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modèle renvoie d’abord une probabilité. Nous appliquons ensuite une règle : si la probabilité est au moins égale au seuil, nous prédisons un départ. Pour un même score de 30 %, un seuil de 50 % donne la classe reste, alors qu’un seuil de 22,3 % donne la classe départ. Le salarié et son score n’ont pas changé, seule la règle a changé. Baisser le seuil ne peut pas réduire le nombre d’alertes sur un ensemble fixe. Le rappel augmente ou reste identique. Le nombre de faux positifs augmente ou reste identique. La précision peut fluctuer, elle ne baisse pas obligatoirement à chaque changement. Le seuil n’est pas égal au taux de départ et il n’est pas imposé par le déséquilibre des classes.</a:t>
            </a:r>
          </a:p>
          <a:p xmlns:a="http://schemas.openxmlformats.org/drawingml/2006/main">
            <a:r>
              <a:t/>
            </a:r>
          </a:p>
          <a:p xmlns:a="http://schemas.openxmlformats.org/drawingml/2006/main">
            <a:r>
              <a:t>Source : dataScientistTechNova.ipynb, cellules 36, 40, 42 (numérotation à partir de 0).</a:t>
            </a:r>
          </a:p>
          <a:p xmlns:a="http://schemas.openxmlformats.org/drawingml/2006/main">
            <a:r>
              <a:t/>
            </a:r>
          </a:p>
          <a:p xmlns:a="http://schemas.openxmlformats.org/drawingml/2006/main">
            <a:r>
              <a:t>Références :</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courbe met le seuil sur l’axe horizontal et les métriques sur l’axe vertical. Le notebook teste les seuils issus des probabilités OOF, calcule le F1 associé, puis retient le maximum. Le résultat enregistré est environ 0,223181, avec 47,6 % de précision, 56,8 % de rappel et 0,518 de F1 OOF. Au seuil de 0,50, le F1 OOF était 0,3788 et le rappel 26,3 %. Le choix du seuil augmente donc le rappel sur l’entraînement, en échange de davantage de fausses alertes. Ces valeurs servent à régler le système et ne constituent pas un résultat final indépendant : les hyperparamètres ont déjà été sélectionnés sur ce même entraînement. Une validation imbriquée permettrait de mieux estimer l’ensemble du processus de sélection.</a:t>
            </a:r>
          </a:p>
          <a:p xmlns:a="http://schemas.openxmlformats.org/drawingml/2006/main">
            <a:r>
              <a:t/>
            </a:r>
          </a:p>
          <a:p xmlns:a="http://schemas.openxmlformats.org/drawingml/2006/main">
            <a:r>
              <a:t>Source : dataScientistTechNova.ipynb, cellules 36, 38, 40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seuil a été fixé sur l’entraînement puis appliqué au test. Au seuil standard, le modèle détecte seulement 8 départs sur 47 et génère 15 fausses alertes. Au seuil optimisé, il détecte 29 départs et génère 40 fausses alertes. On récupère donc 21 départs supplémentaires pour 25 fausses alertes supplémentaires. Le rappel passe de 17,0 à 61,7 %, soit +44,7 points. Le F1 passe de 0,2286 à 0,5000. Ici la précision augmente aussi, de 34,8 à 42,0 % : le groupe ajouté contient proportionnellement plus de vrais départs que les alertes initiales. Il ne faut donc pas affirmer que la précision baisse toujours quand on baisse le seuil. L’accuracy diminue légèrement. L’AUC, le Brier et la Log Loss restent identiques, car ils dépendent des probabilités, pas du seuil.</a:t>
            </a:r>
          </a:p>
          <a:p xmlns:a="http://schemas.openxmlformats.org/drawingml/2006/main">
            <a:r>
              <a:t/>
            </a:r>
          </a:p>
          <a:p xmlns:a="http://schemas.openxmlformats.org/drawingml/2006/main">
            <a:r>
              <a:t>Source : dataScientistTechNova.ipynb, cellules 42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L’importance native mesure la réduction d’impureté attribuée aux variables dans les arbres. L’importance par permutation mélange une colonne et mesure la baisse de performance. Le notebook utilise le F1, au seuil de prédiction par défaut du RF non calibré : cette importance dépend donc de ce choix. SHAP répartit l’écart entre une prédiction et une valeur de référence entre les différentes variables. Les trois méthodes sont complémentaires, elles ne répondent pas exactement à la même question. Des variables corrélées peuvent se partager l’importance. Une forte importance du revenu ne prouve pas qu’une hausse de salaire réduirait les départs. Pour établir un effet causal, il faudrait un protocole et des données adaptés.</a:t>
            </a:r>
          </a:p>
          <a:p xmlns:a="http://schemas.openxmlformats.org/drawingml/2006/main">
            <a:r>
              <a:t/>
            </a:r>
          </a:p>
          <a:p xmlns:a="http://schemas.openxmlformats.org/drawingml/2006/main">
            <a:r>
              <a:t>Source : dataScientistTechNova.ipynb, cellules 44, 45, 46, 47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L’idée de SHAP est de répartir la différence entre une prédiction et une valeur de référence entre les variables. Dans cet exemple fictif, on part de 20 %. Les heures supplémentaires ajoutent 8 points, la satisfaction retire 3 points et l’ancienneté ajoute 5 points. On arrive à 30 %. Les contributions s’expriment dans la même échelle que la sortie expliquée. Pour certains modèles, cette échelle est le log-odds, donc on ne peut pas toujours les lire comme des points de probabilité. Ici, le TreeExplainer du notebook explique la sortie de probabilité du RF brut. Le graphique waterfall, ou cascade, représente cette addition. La référence du RF brut dans le notebook vaut environ 0,502, ce qui ne correspond pas au taux de départ de 16,1 %. Le modèle pondéré et la définition de sa référence expliquent cette distinction. SHAP décrit le modèle et ne prouve pas une causalité.</a:t>
            </a:r>
          </a:p>
          <a:p xmlns:a="http://schemas.openxmlformats.org/drawingml/2006/main">
            <a:r>
              <a:t/>
            </a:r>
          </a:p>
          <a:p xmlns:a="http://schemas.openxmlformats.org/drawingml/2006/main">
            <a:r>
              <a:t>Source : dataScientistTechNova.ipynb, cellules 47, 53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SHAP signifie SHapley Additive exPlanations. La méthode attribue à chaque variable une contribution par rapport à une référence du modèle. Ce graphique classe les variables par moyenne de la valeur absolue de leur contribution sur le test. Les heures supplémentaires arrivent en premier, suivies du PEE, de l’âge, du revenu et de la satisfaction globale. Une barre de 0,0403 pour les heures supplémentaires signifie une contribution absolue moyenne d’environ 0,0403 sur l’échelle du score brut expliquée ici. Ce n’est pas une hausse moyenne causale du risque. La valeur absolue masque le sens des effets. Pour lire le signe et la valeur de la variable, on utilise les nuages SHAP ou une explication individuelle. Le notebook applique TreeExplainer au RF non calibré, pas à la chaîne finale calibrée.</a:t>
            </a:r>
          </a:p>
          <a:p xmlns:a="http://schemas.openxmlformats.org/drawingml/2006/main">
            <a:r>
              <a:t/>
            </a:r>
          </a:p>
          <a:p xmlns:a="http://schemas.openxmlformats.org/drawingml/2006/main">
            <a:r>
              <a:t>Source : dataScientistTechNova.ipynb, cellules 47, 49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le salarié en position 4 du test, les heures supplémentaires, la faible ancienneté et l’arrivée récente sous le manager augmentent le score brut. L’âge de 36 ans et la participation au PEE le réduisent. La couleur rouge représente ici une contribution positive et la couleur bleue une contribution négative. Ces couleurs décrivent le signe de SHAP, pas une caractéristique intrinsèquement bonne ou mauvaise. La cascade SHAP du notebook part d’une référence proche de 0,502 et aboutit à un score brut proche de 0,539. Après la calibration de la chaîne finale, la probabilité enregistrée est 0,289077. Elle dépasse le seuil 0,223181, donc la classe prédite vaut 1. Les contributions SHAP montrées ne s’additionnent pas pour donner directement 28,9 %, puisque le modèle expliqué est le RF brut. L’index 69 est un index de ligne, pas un identifiant RH rétabli.</a:t>
            </a:r>
          </a:p>
          <a:p xmlns:a="http://schemas.openxmlformats.org/drawingml/2006/main">
            <a:r>
              <a:t/>
            </a:r>
          </a:p>
          <a:p xmlns:a="http://schemas.openxmlformats.org/drawingml/2006/main">
            <a:r>
              <a:t>Source : dataScientistTechNova.ipynb, cellules 53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 deuxième cas montre qu’une seule variable ne résume pas la prédiction. Le revenu de 2 028 augmente le score brut, alors que le PEE, l’ancienneté auprès du manager, l’absence d’heures supplémentaires et la durée dans l’entreprise contribuent à le réduire. Le score du RF brut est proche de 31,5 %. La probabilité calibrée enregistrée vaut 0,072655, soit 7,3 %. Elle reste sous le seuil de 22,3 %, donc le système prédit la classe 0. Une prédiction de non-départ reste incertaine et ne garantit pas que le salarié restera. Comme dans le cas précédent, la somme SHAP concerne le RF brut et non directement la probabilité finale calibrée.</a:t>
            </a:r>
          </a:p>
          <a:p xmlns:a="http://schemas.openxmlformats.org/drawingml/2006/main">
            <a:r>
              <a:t/>
            </a:r>
          </a:p>
          <a:p xmlns:a="http://schemas.openxmlformats.org/drawingml/2006/main">
            <a:r>
              <a:t>Source : dataScientistTechNova.ipynb, cellules 53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LightGBM est une méthode de boosting : des arbres se succèdent pour améliorer les erreurs du système. Il obtient un F1 moyen de 0,5226 au seuil standard sur les cinq folds. SMOTE construit des observations synthétiques de la classe rare par interpolation entre voisins. Il se trouve dans une Pipeline, donc il intervient uniquement sur les parties d’apprentissage des folds. Le Random Forest avec SMOTE atteint 0,4600 de F1 moyen, supérieur au RF initial 0,4189. On ne peut donc pas reprendre l’ancienne phrase disant que SMOTE dégrade forcément le modèle sur le test : ce notebook présente ici une expérience en CV. Le RF calibré a un F1 OOF au seuil choisi de 0,5180, calculé avec un autre protocole de sélection. Pour départager proprement les modèles, il faudrait appliquer à chacun une optimisation et une évaluation comparables. LightGBM peut aussi être expliqué avec SHAP.</a:t>
            </a:r>
          </a:p>
          <a:p xmlns:a="http://schemas.openxmlformats.org/drawingml/2006/main">
            <a:r>
              <a:t/>
            </a:r>
          </a:p>
          <a:p xmlns:a="http://schemas.openxmlformats.org/drawingml/2006/main">
            <a:r>
              <a:t>Source : dataScientistTechNova.ipynb, cellules 55, 56, 57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notebook calcule les médianes de revenu, les médianes par groupe et apprend le OneHotEncoder avant le split. Ces statistiques utilisent donc indirectement le test. Le StandardScaler est déjà dans une Pipeline, mais le prétraitement complet doit être appris à l’intérieur de chaque fold pour une évaluation plus rigoureuse. Trois colonnes sont constantes : nombre_employee_sous_responsabilite, ayant_enfants et nombre_heures_travailless. IsMarried et IsSingle sont exactement complémentaires. IsSingle vaut aussi 1 pour les personnes divorcées, donc son nom correspond en réalité à non-marié. Les corrélations ne justifient pas automatiquement toutes les suppressions présentées. Le réglage des hyperparamètres puis du seuil utilise le même entraînement, ce qui invite à une validation imbriquée. Enfin, le jeu n’explicite pas l’horizon temporel des départs. Je conserve les chiffres du livrable tout en distinguant ces améliorations à réaliser.</a:t>
            </a:r>
          </a:p>
          <a:p xmlns:a="http://schemas.openxmlformats.org/drawingml/2006/main">
            <a:r>
              <a:t/>
            </a:r>
          </a:p>
          <a:p xmlns:a="http://schemas.openxmlformats.org/drawingml/2006/main">
            <a:r>
              <a:t>Source : dataScientistTechNova.ipynb, cellules 22, 23, 25, 26, 28, 34, 36, 47, 53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résultats SHAP orientent des questions de recherche métier. Les heures supplémentaires invitent à étudier l’organisation et la charge de travail. L’ancienneté, la satisfaction et le revenu suggèrent des thèmes d’enquête complémentaires. Aucune de ces associations ne prouve qu’une action isolée fera baisser le turnover. Le seuil de 22,3 % maximise le F1 dans cette expérimentation, mais les RH peuvent préférer un autre compromis selon leurs ressources et les coûts des erreurs. Une utilisation réelle demanderait de confirmer la performance sur des données futures, de vérifier la disponibilité des variables avant le départ, d’examiner les différences de performance entre groupes et de limiter les accès aux données individuelles. Les prédictions ne constituent pas une base suffisante pour une décision défavorable sur un salarié.</a:t>
            </a:r>
          </a:p>
          <a:p xmlns:a="http://schemas.openxmlformats.org/drawingml/2006/main">
            <a:r>
              <a:t/>
            </a:r>
          </a:p>
          <a:p xmlns:a="http://schemas.openxmlformats.org/drawingml/2006/main">
            <a:r>
              <a:t>Source : dataScientistTechNova.ipynb, cellules 49, 53, 57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conclure, le projet réunit et transforme trois sources portant sur 1 470 salariés. Il traite explicitement le déséquilibre des classes, compare plusieurs modèles, optimise le Random Forest et explique le rôle du seuil. Sur les 294 salariés du test, le seuil choisi détecte 29 départs parmi 47, avec 40 fausses alertes et un F1 de 0,5. SHAP donne une lecture globale et individuelle du RF brut, que je distingue de la probabilité calibrée finale. La logistique et LightGBM restent des alternatives sérieuses. Les prochaines étapes sont une Pipeline complète, une comparaison homogène des modèles et la définition du coût métier des erreurs. Je peux maintenant répondre aux questions en m’appuyant sur les annexes.</a:t>
            </a:r>
          </a:p>
          <a:p xmlns:a="http://schemas.openxmlformats.org/drawingml/2006/main">
            <a:r>
              <a:t/>
            </a:r>
          </a:p>
          <a:p xmlns:a="http://schemas.openxmlformats.org/drawingml/2006/main">
            <a:r>
              <a:t>Source : dataScientistTechNova.ipynb, cellules 42, 49, 57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doit déclarer les packages réellement utilisés dans pyproject.toml. Le notebook utilise notamment matplotlib, numpy, pandas, plotly, seaborn, shap, IPython, lightgbm, ydata-profiling, imbalanced-learn et scikit-learn. pathlib, re et warnings appartiennent à la bibliothèque standard Python. Le fichier pyproject.toml n’est pas joint ici, donc sa conformité n’est pas démontrée par la présentation. Les contrôles portent sur les valeurs manquantes, les doublons exacts, les types et le caractère entièrement numérique de la matrice finale. Les transformations par apply et l’encodage demandé sont présents. Les graines fixes améliorent la reproductibilité, mais des versions de bibliothèques différentes peuvent donner de petites variations numériques, notamment dans la calibration.</a:t>
            </a:r>
          </a:p>
          <a:p xmlns:a="http://schemas.openxmlformats.org/drawingml/2006/main">
            <a:r>
              <a:t/>
            </a:r>
          </a:p>
          <a:p xmlns:a="http://schemas.openxmlformats.org/drawingml/2006/main">
            <a:r>
              <a:t>Source : dataScientistTechNova.ipynb, cellules 2, 3, 6, 7, 12, 13, 26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 exacte des colonnes présentes dans X, dans l’ordre du notebook :</a:t>
            </a:r>
          </a:p>
          <a:p xmlns:a="http://schemas.openxmlformats.org/drawingml/2006/main">
            <a:r>
              <a:t>nombre_participation_pee</a:t>
            </a:r>
          </a:p>
          <a:p xmlns:a="http://schemas.openxmlformats.org/drawingml/2006/main">
            <a:r>
              <a:t>nb_formations_suivies</a:t>
            </a:r>
          </a:p>
          <a:p xmlns:a="http://schemas.openxmlformats.org/drawingml/2006/main">
            <a:r>
              <a:t>nombre_employee_sous_responsabilite</a:t>
            </a:r>
          </a:p>
          <a:p xmlns:a="http://schemas.openxmlformats.org/drawingml/2006/main">
            <a:r>
              <a:t>distance_domicile_travail</a:t>
            </a:r>
          </a:p>
          <a:p xmlns:a="http://schemas.openxmlformats.org/drawingml/2006/main">
            <a:r>
              <a:t>niveau_education</a:t>
            </a:r>
          </a:p>
          <a:p xmlns:a="http://schemas.openxmlformats.org/drawingml/2006/main">
            <a:r>
              <a:t>ayant_enfants</a:t>
            </a:r>
          </a:p>
          <a:p xmlns:a="http://schemas.openxmlformats.org/drawingml/2006/main">
            <a:r>
              <a:t>frequence_deplacement</a:t>
            </a:r>
          </a:p>
          <a:p xmlns:a="http://schemas.openxmlformats.org/drawingml/2006/main">
            <a:r>
              <a:t>annees_depuis_la_derniere_promotion</a:t>
            </a:r>
          </a:p>
          <a:p xmlns:a="http://schemas.openxmlformats.org/drawingml/2006/main">
            <a:r>
              <a:t>annes_sous_responsable_actuel</a:t>
            </a:r>
          </a:p>
          <a:p xmlns:a="http://schemas.openxmlformats.org/drawingml/2006/main">
            <a:r>
              <a:t>age</a:t>
            </a:r>
          </a:p>
          <a:p xmlns:a="http://schemas.openxmlformats.org/drawingml/2006/main">
            <a:r>
              <a:t>revenu_mensuel</a:t>
            </a:r>
          </a:p>
          <a:p xmlns:a="http://schemas.openxmlformats.org/drawingml/2006/main">
            <a:r>
              <a:t>nombre_experiences_precedentes</a:t>
            </a:r>
          </a:p>
          <a:p xmlns:a="http://schemas.openxmlformats.org/drawingml/2006/main">
            <a:r>
              <a:t>nombre_heures_travailless</a:t>
            </a:r>
          </a:p>
          <a:p xmlns:a="http://schemas.openxmlformats.org/drawingml/2006/main">
            <a:r>
              <a:t>annee_experience_totale</a:t>
            </a:r>
          </a:p>
          <a:p xmlns:a="http://schemas.openxmlformats.org/drawingml/2006/main">
            <a:r>
              <a:t>annees_dans_l_entreprise</a:t>
            </a:r>
          </a:p>
          <a:p xmlns:a="http://schemas.openxmlformats.org/drawingml/2006/main">
            <a:r>
              <a:t>annees_dans_le_poste_actuel</a:t>
            </a:r>
          </a:p>
          <a:p xmlns:a="http://schemas.openxmlformats.org/drawingml/2006/main">
            <a:r>
              <a:t>note_evaluation_precedente</a:t>
            </a:r>
          </a:p>
          <a:p xmlns:a="http://schemas.openxmlformats.org/drawingml/2006/main">
            <a:r>
              <a:t>niveau_hierarchique_poste</a:t>
            </a:r>
          </a:p>
          <a:p xmlns:a="http://schemas.openxmlformats.org/drawingml/2006/main">
            <a:r>
              <a:t>note_evaluation_actuelle</a:t>
            </a:r>
          </a:p>
          <a:p xmlns:a="http://schemas.openxmlformats.org/drawingml/2006/main">
            <a:r>
              <a:t>heure_supplementaires</a:t>
            </a:r>
          </a:p>
          <a:p xmlns:a="http://schemas.openxmlformats.org/drawingml/2006/main">
            <a:r>
              <a:t>augementation_salaire_precedente</a:t>
            </a:r>
          </a:p>
          <a:p xmlns:a="http://schemas.openxmlformats.org/drawingml/2006/main">
            <a:r>
              <a:t>genreIsMale</a:t>
            </a:r>
          </a:p>
          <a:p xmlns:a="http://schemas.openxmlformats.org/drawingml/2006/main">
            <a:r>
              <a:t/>
            </a:r>
          </a:p>
          <a:p xmlns:a="http://schemas.openxmlformats.org/drawingml/2006/main">
            <a:r>
              <a:t>Les modalités de référence du One-Hot sont les premières catégories retenues par OneHotEncoder(drop=first). IsSingle désigne ici non-marié et inclut les personnes divorcées. La liste exacte conserve les fautes historiques dans les noms des colonnes afin de permettre leur repérage dans le code.</a:t>
            </a:r>
          </a:p>
          <a:p xmlns:a="http://schemas.openxmlformats.org/drawingml/2006/main">
            <a:r>
              <a:t/>
            </a:r>
          </a:p>
          <a:p xmlns:a="http://schemas.openxmlformats.org/drawingml/2006/main">
            <a:r>
              <a:t>Source : dataScientistTechNova.ipynb, cellules 22, 23, 25, 26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 exacte des colonnes présentes dans X, dans l’ordre du notebook :</a:t>
            </a:r>
          </a:p>
          <a:p xmlns:a="http://schemas.openxmlformats.org/drawingml/2006/main">
            <a:r>
              <a:t>IsMarried</a:t>
            </a:r>
          </a:p>
          <a:p xmlns:a="http://schemas.openxmlformats.org/drawingml/2006/main">
            <a:r>
              <a:t>IsSingle</a:t>
            </a:r>
          </a:p>
          <a:p xmlns:a="http://schemas.openxmlformats.org/drawingml/2006/main">
            <a:r>
              <a:t>jeune_sous_paye</a:t>
            </a:r>
          </a:p>
          <a:p xmlns:a="http://schemas.openxmlformats.org/drawingml/2006/main">
            <a:r>
              <a:t>sous_paye_moyenne</a:t>
            </a:r>
          </a:p>
          <a:p xmlns:a="http://schemas.openxmlformats.org/drawingml/2006/main">
            <a:r>
              <a:t>ratio_salaire_edu_anciennete</a:t>
            </a:r>
          </a:p>
          <a:p xmlns:a="http://schemas.openxmlformats.org/drawingml/2006/main">
            <a:r>
              <a:t>satisfaction_globale</a:t>
            </a:r>
          </a:p>
          <a:p xmlns:a="http://schemas.openxmlformats.org/drawingml/2006/main">
            <a:r>
              <a:t>domaine_etude_Entrepreunariat</a:t>
            </a:r>
          </a:p>
          <a:p xmlns:a="http://schemas.openxmlformats.org/drawingml/2006/main">
            <a:r>
              <a:t>domaine_etude_Infra &amp; Cloud</a:t>
            </a:r>
          </a:p>
          <a:p xmlns:a="http://schemas.openxmlformats.org/drawingml/2006/main">
            <a:r>
              <a:t>domaine_etude_Marketing</a:t>
            </a:r>
          </a:p>
          <a:p xmlns:a="http://schemas.openxmlformats.org/drawingml/2006/main">
            <a:r>
              <a:t>domaine_etude_Ressources Humaines</a:t>
            </a:r>
          </a:p>
          <a:p xmlns:a="http://schemas.openxmlformats.org/drawingml/2006/main">
            <a:r>
              <a:t>domaine_etude_Transformation Digitale</a:t>
            </a:r>
          </a:p>
          <a:p xmlns:a="http://schemas.openxmlformats.org/drawingml/2006/main">
            <a:r>
              <a:t>departement_Consulting</a:t>
            </a:r>
          </a:p>
          <a:p xmlns:a="http://schemas.openxmlformats.org/drawingml/2006/main">
            <a:r>
              <a:t>departement_Ressources Humaines</a:t>
            </a:r>
          </a:p>
          <a:p xmlns:a="http://schemas.openxmlformats.org/drawingml/2006/main">
            <a:r>
              <a:t>poste_Cadre Commercial</a:t>
            </a:r>
          </a:p>
          <a:p xmlns:a="http://schemas.openxmlformats.org/drawingml/2006/main">
            <a:r>
              <a:t>poste_Consultant</a:t>
            </a:r>
          </a:p>
          <a:p xmlns:a="http://schemas.openxmlformats.org/drawingml/2006/main">
            <a:r>
              <a:t>poste_Directeur Technique</a:t>
            </a:r>
          </a:p>
          <a:p xmlns:a="http://schemas.openxmlformats.org/drawingml/2006/main">
            <a:r>
              <a:t>poste_Manager</a:t>
            </a:r>
          </a:p>
          <a:p xmlns:a="http://schemas.openxmlformats.org/drawingml/2006/main">
            <a:r>
              <a:t>poste_Représentant Commercial</a:t>
            </a:r>
          </a:p>
          <a:p xmlns:a="http://schemas.openxmlformats.org/drawingml/2006/main">
            <a:r>
              <a:t>poste_Ressources Humaines</a:t>
            </a:r>
          </a:p>
          <a:p xmlns:a="http://schemas.openxmlformats.org/drawingml/2006/main">
            <a:r>
              <a:t>poste_Senior Manager</a:t>
            </a:r>
          </a:p>
          <a:p xmlns:a="http://schemas.openxmlformats.org/drawingml/2006/main">
            <a:r>
              <a:t>poste_Tech Lead</a:t>
            </a:r>
          </a:p>
          <a:p xmlns:a="http://schemas.openxmlformats.org/drawingml/2006/main">
            <a:r>
              <a:t/>
            </a:r>
          </a:p>
          <a:p xmlns:a="http://schemas.openxmlformats.org/drawingml/2006/main">
            <a:r>
              <a:t>Les modalités de référence du One-Hot sont les premières catégories retenues par OneHotEncoder(drop=first). IsSingle désigne ici non-marié et inclut les personnes divorcées. La liste exacte conserve les fautes historiques dans les noms des colonnes afin de permettre leur repérage dans le code.</a:t>
            </a:r>
          </a:p>
          <a:p xmlns:a="http://schemas.openxmlformats.org/drawingml/2006/main">
            <a:r>
              <a:t/>
            </a:r>
          </a:p>
          <a:p xmlns:a="http://schemas.openxmlformats.org/drawingml/2006/main">
            <a:r>
              <a:t>Source : dataScientistTechNova.ipynb, cellules 22, 23, 25, 26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histogramme décrit la distribution d’une variable. Ici, la variable est entière et chaque barre correspond à une durée en années. Pour comparer les 1 233 restés et les 237 partis, j’affiche la proportion au sein de chaque groupe au lieu des effectifs bruts. Sinon le groupe majoritaire dominerait mécaniquement. Le notebook affiche des effectifs superposés. Ce graphique reprend les mêmes données avec une normalisation explicitée. La concentration sur les petites durées se retrouve dans les deux populations. Ce graphique seul ne permet pas d’affirmer qu’une attente de promotion cause un départ.</a:t>
            </a:r>
          </a:p>
          <a:p xmlns:a="http://schemas.openxmlformats.org/drawingml/2006/main">
            <a:r>
              <a:t/>
            </a:r>
          </a:p>
          <a:p xmlns:a="http://schemas.openxmlformats.org/drawingml/2006/main">
            <a:r>
              <a:t>Source : dataScientistTechNova.ipynb, cellules 16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boxplot résume une distribution. Le trait dans la boîte représente la médiane. Les bords de la boîte correspondent aux premier et troisième quartiles : elle contient les 50 % centraux. Les moustaches suivent la convention du graphique, usuellement jusqu’aux dernières valeurs à moins de 1,5 fois l’écart interquartile. Les points au-delà sont atypiques au sens statistique, sans être forcément faux. Les médianes diffèrent, mais les distributions se recouvrent largement. La prédiction nécessite donc plusieurs informations. La devise n’est pas renseignée dans la source.</a:t>
            </a:r>
          </a:p>
          <a:p xmlns:a="http://schemas.openxmlformats.org/drawingml/2006/main">
            <a:r>
              <a:t/>
            </a:r>
          </a:p>
          <a:p xmlns:a="http://schemas.openxmlformats.org/drawingml/2006/main">
            <a:r>
              <a:t>Source : dataScientistTechNova.ipynb, cellules 17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scatterplot, ou nuage de points, met deux variables quantitatives en relation. Chaque point correspond à un salarié, avec l’âge sur l’axe horizontal et le revenu mensuel sur l’axe vertical. La couleur donne la cible connue. Plusieurs salariés peuvent se superposer au même endroit. Le recouvrement des populations montre qu’il est difficile de séparer les départs par une simple ligne sur ces deux variables. Une corrélation visible ne prouve pas une causalité. L’objectif de cette figure est l’exploration, pas la mesure de performance du classificateur.</a:t>
            </a:r>
          </a:p>
          <a:p xmlns:a="http://schemas.openxmlformats.org/drawingml/2006/main">
            <a:r>
              <a:t/>
            </a:r>
          </a:p>
          <a:p xmlns:a="http://schemas.openxmlformats.org/drawingml/2006/main">
            <a:r>
              <a:t>Source : dataScientistTechNova.ipynb, cellules 18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lis d’abord l’axe horizontal, qui donne la valeur de la variable étudiée. L’axe vertical donne la contribution SHAP de cette variable au score brut. Le léger décalage horizontal des points sur une variable discrète facilite leur visibilité. Leur dispersion verticale montre que l’effet dépend du reste du profil. La barre de couleur indique une autre variable choisie pour explorer les interactions. Les aplats gris correspondent à la distribution de la variable, pas à un intervalle de confiance. L’image provient de la sortie du notebook. Cette figure explique un modèle non calibré et ne démontre aucun effet causal.</a:t>
            </a:r>
          </a:p>
          <a:p xmlns:a="http://schemas.openxmlformats.org/drawingml/2006/main">
            <a:r>
              <a:t/>
            </a:r>
          </a:p>
          <a:p xmlns:a="http://schemas.openxmlformats.org/drawingml/2006/main">
            <a:r>
              <a:t>Source : dataScientistTechNova.ipynb, cellules 50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lis d’abord l’axe horizontal, qui donne la valeur de la variable étudiée. L’axe vertical donne la contribution SHAP de cette variable au score brut. Le léger décalage horizontal des points sur une variable discrète facilite leur visibilité. Leur dispersion verticale montre que l’effet dépend du reste du profil. La barre de couleur indique une autre variable choisie pour explorer les interactions. Les aplats gris correspondent à la distribution de la variable, pas à un intervalle de confiance. L’image provient de la sortie du notebook. Cette figure explique un modèle non calibré et ne démontre aucun effet causal.</a:t>
            </a:r>
          </a:p>
          <a:p xmlns:a="http://schemas.openxmlformats.org/drawingml/2006/main">
            <a:r>
              <a:t/>
            </a:r>
          </a:p>
          <a:p xmlns:a="http://schemas.openxmlformats.org/drawingml/2006/main">
            <a:r>
              <a:t>Source : dataScientistTechNova.ipynb, cellules 51 (numérotation à partir de 0).</a:t>
            </a:r>
          </a:p>
          <a:p xmlns:a="http://schemas.openxmlformats.org/drawingml/2006/main">
            <a:r>
              <a:t/>
            </a:r>
          </a:p>
          <a:p xmlns:a="http://schemas.openxmlformats.org/drawingml/2006/main">
            <a:r>
              <a:t>Références :</a:t>
            </a:r>
          </a:p>
          <a:p xmlns:a="http://schemas.openxmlformats.org/drawingml/2006/main">
            <a:r>
              <a:t>https://shap.readthedocs.io/en/latest/example_notebooks/api_examples/plots/waterfall.html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Réponses courtes pour l’oral. Pourquoi stratifier ? Pour préserver la composition des classes. Pourquoi une validation croisée ? Pour comparer sur plusieurs sous-ensembles sans toucher au test. Pourquoi pas seulement l’accuracy ? Parce que 84 % de non-départs peuvent masquer un rappel nul. Pourquoi le F1 ? Pour synthétiser le compromis précision/rappel, tout en reconnaissant qu’il ne chiffre pas les coûts RH. Pourquoi calibrer ? Pour rapprocher les probabilités annoncées des fréquences observées. Pourquoi 22,3 % ? Parce que ce seuil maximise le F1 sur les prédictions OOF du notebook. Pourquoi SHAP ? Pour attribuer des contributions aux variables, sans interpréter ces contributions comme des causes. Pourquoi conserver d’autres modèles ? Parce que LightGBM et la logistique restent compétitifs et doivent être comparés avec un protocole équivalent.</a:t>
            </a:r>
          </a:p>
          <a:p xmlns:a="http://schemas.openxmlformats.org/drawingml/2006/main">
            <a:r>
              <a:t/>
            </a:r>
          </a:p>
          <a:p xmlns:a="http://schemas.openxmlformats.org/drawingml/2006/main">
            <a:r>
              <a:t>Source : dataScientistTechNova.ipynb, cellules 28, 31, 36, 42, 49, 55 (numérotation à partir 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3190ab912640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de3cb1a1d64936" /><Relationship Type="http://schemas.openxmlformats.org/officeDocument/2006/relationships/slideLayout" Target="/ppt/slideLayouts/slideLayout1.xml" Id="R42903c8282fd41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903c8282fd41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c48d21c03e495d" /><Relationship Type="http://schemas.openxmlformats.org/officeDocument/2006/relationships/notesSlide" Target="/ppt/notesSlides/notesSlide1.xml" Id="R18ae5ef27dd648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ad6d3cd34945ad" /><Relationship Type="http://schemas.openxmlformats.org/officeDocument/2006/relationships/notesSlide" Target="/ppt/notesSlides/notesSlide2.xml" Id="Re4410eb65e2c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dfe2130b6d49bd" /><Relationship Type="http://schemas.openxmlformats.org/officeDocument/2006/relationships/notesSlide" Target="/ppt/notesSlides/notesSlide3.xml" Id="Ra74f675baee540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10d563898e4291" /><Relationship Type="http://schemas.openxmlformats.org/officeDocument/2006/relationships/chart" Target="/ppt/slides/charts/chart1.xml" Id="Rbe95c73b7e874017" /><Relationship Type="http://schemas.openxmlformats.org/officeDocument/2006/relationships/notesSlide" Target="/ppt/notesSlides/notesSlide4.xml" Id="Rdc758dd6316a4c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4664582fd94823" /><Relationship Type="http://schemas.openxmlformats.org/officeDocument/2006/relationships/chart" Target="/ppt/slides/charts/chart2.xml" Id="Rdb32350711e742fb" /><Relationship Type="http://schemas.openxmlformats.org/officeDocument/2006/relationships/notesSlide" Target="/ppt/notesSlides/notesSlide5.xml" Id="R99ab2b258a5b40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a65ed77f2d48d1" /><Relationship Type="http://schemas.openxmlformats.org/officeDocument/2006/relationships/notesSlide" Target="/ppt/notesSlides/notesSlide6.xml" Id="R622883e3497c46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b99f82f7054ae6" /><Relationship Type="http://schemas.openxmlformats.org/officeDocument/2006/relationships/notesSlide" Target="/ppt/notesSlides/notesSlide7.xml" Id="R8e53cf5f28994c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a7eeca97d6475a" /><Relationship Type="http://schemas.openxmlformats.org/officeDocument/2006/relationships/notesSlide" Target="/ppt/notesSlides/notesSlide8.xml" Id="Ra83a05847ee143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c561a0c0b3432b" /><Relationship Type="http://schemas.openxmlformats.org/officeDocument/2006/relationships/notesSlide" Target="/ppt/notesSlides/notesSlide9.xml" Id="R123459445e0e44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09ea2d45944436" /><Relationship Type="http://schemas.openxmlformats.org/officeDocument/2006/relationships/chart" Target="/ppt/slides/charts/chart3.xml" Id="Ref637b2ced434410" /><Relationship Type="http://schemas.openxmlformats.org/officeDocument/2006/relationships/notesSlide" Target="/ppt/notesSlides/notesSlide10.xml" Id="R24a328f2f9d341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5c1586b1754e59" /><Relationship Type="http://schemas.openxmlformats.org/officeDocument/2006/relationships/notesSlide" Target="/ppt/notesSlides/notesSlide11.xml" Id="Rfa64a4277aaa43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b512bb19f44d95" /><Relationship Type="http://schemas.openxmlformats.org/officeDocument/2006/relationships/notesSlide" Target="/ppt/notesSlides/notesSlide12.xml" Id="R8e2e45cd7f6745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00649200664a2b" /><Relationship Type="http://schemas.openxmlformats.org/officeDocument/2006/relationships/notesSlide" Target="/ppt/notesSlides/notesSlide13.xml" Id="Re445ab8343db4d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60072e90aa4361" /><Relationship Type="http://schemas.openxmlformats.org/officeDocument/2006/relationships/notesSlide" Target="/ppt/notesSlides/notesSlide14.xml" Id="Rec7a3225146c4c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a6d1ff81be4264" /><Relationship Type="http://schemas.openxmlformats.org/officeDocument/2006/relationships/chart" Target="/ppt/slides/charts/chart4.xml" Id="R5820cce83e8740a6" /><Relationship Type="http://schemas.openxmlformats.org/officeDocument/2006/relationships/notesSlide" Target="/ppt/notesSlides/notesSlide15.xml" Id="R4ab90380515c49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9f6d3045414134" /><Relationship Type="http://schemas.openxmlformats.org/officeDocument/2006/relationships/notesSlide" Target="/ppt/notesSlides/notesSlide16.xml" Id="R991a5cce898d4c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ab402d4a9f42c1" /><Relationship Type="http://schemas.openxmlformats.org/officeDocument/2006/relationships/notesSlide" Target="/ppt/notesSlides/notesSlide17.xml" Id="Ra88bfd73fa2d41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6478e908c547ce" /><Relationship Type="http://schemas.openxmlformats.org/officeDocument/2006/relationships/notesSlide" Target="/ppt/notesSlides/notesSlide18.xml" Id="Rd887515a3ef946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a7b855ad4a640e7" /><Relationship Type="http://schemas.openxmlformats.org/officeDocument/2006/relationships/notesSlide" Target="/ppt/notesSlides/notesSlide19.xml" Id="R39dba41787f84f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81755c9c1f54417" /><Relationship Type="http://schemas.openxmlformats.org/officeDocument/2006/relationships/image" Target="/ppt/media/image.png" Id="R6b571b8de2c640b7" /><Relationship Type="http://schemas.openxmlformats.org/officeDocument/2006/relationships/notesSlide" Target="/ppt/notesSlides/notesSlide20.xml" Id="Red7d2c6142e74c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3b9637121c4018" /><Relationship Type="http://schemas.openxmlformats.org/officeDocument/2006/relationships/notesSlide" Target="/ppt/notesSlides/notesSlide21.xml" Id="R6fd873d0f8a047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f43714de36b4453" /><Relationship Type="http://schemas.openxmlformats.org/officeDocument/2006/relationships/notesSlide" Target="/ppt/notesSlides/notesSlide22.xml" Id="Rc90b08272ca142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f37cc337474470f" /><Relationship Type="http://schemas.openxmlformats.org/officeDocument/2006/relationships/notesSlide" Target="/ppt/notesSlides/notesSlide23.xml" Id="R9ed10cc83ab44a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689a934c9f5466b" /><Relationship Type="http://schemas.openxmlformats.org/officeDocument/2006/relationships/chart" Target="/ppt/slides/charts/chart5.xml" Id="Rc0c97dea518b469c" /><Relationship Type="http://schemas.openxmlformats.org/officeDocument/2006/relationships/notesSlide" Target="/ppt/notesSlides/notesSlide24.xml" Id="Rc3eb221ecd9640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436ac3389474b8e" /><Relationship Type="http://schemas.openxmlformats.org/officeDocument/2006/relationships/notesSlide" Target="/ppt/notesSlides/notesSlide25.xml" Id="R89ab8f136d83427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81da773f0734614" /><Relationship Type="http://schemas.openxmlformats.org/officeDocument/2006/relationships/notesSlide" Target="/ppt/notesSlides/notesSlide26.xml" Id="R3e2ebc2d4cd7406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32843a1cdc24055" /><Relationship Type="http://schemas.openxmlformats.org/officeDocument/2006/relationships/notesSlide" Target="/ppt/notesSlides/notesSlide27.xml" Id="R2793a611c527486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7ae03f47fdd47de" /><Relationship Type="http://schemas.openxmlformats.org/officeDocument/2006/relationships/notesSlide" Target="/ppt/notesSlides/notesSlide28.xml" Id="Rfc540aa2163742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05c8401ce8c4b28" /><Relationship Type="http://schemas.openxmlformats.org/officeDocument/2006/relationships/notesSlide" Target="/ppt/notesSlides/notesSlide29.xml" Id="Rbabe0999d6834be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09679595d7443a7" /><Relationship Type="http://schemas.openxmlformats.org/officeDocument/2006/relationships/notesSlide" Target="/ppt/notesSlides/notesSlide30.xml" Id="Rcd07936747cf40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46c8026930b4e1b" /><Relationship Type="http://schemas.openxmlformats.org/officeDocument/2006/relationships/notesSlide" Target="/ppt/notesSlides/notesSlide31.xml" Id="Refa83c6163334ad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146174b14904003" /><Relationship Type="http://schemas.openxmlformats.org/officeDocument/2006/relationships/notesSlide" Target="/ppt/notesSlides/notesSlide32.xml" Id="R4d81b6b92d8349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bb544a35b764725" /><Relationship Type="http://schemas.openxmlformats.org/officeDocument/2006/relationships/notesSlide" Target="/ppt/notesSlides/notesSlide33.xml" Id="R6f0839f57bc34c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115674485e144d3" /><Relationship Type="http://schemas.openxmlformats.org/officeDocument/2006/relationships/chart" Target="/ppt/slides/charts/chart6.xml" Id="Rb9e2ac1de953461b" /><Relationship Type="http://schemas.openxmlformats.org/officeDocument/2006/relationships/notesSlide" Target="/ppt/notesSlides/notesSlide34.xml" Id="R38cad1f007ae489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44447ed49294df2" /><Relationship Type="http://schemas.openxmlformats.org/officeDocument/2006/relationships/chart" Target="/ppt/slides/charts/chart7.xml" Id="R5ca9f4e915e14196" /><Relationship Type="http://schemas.openxmlformats.org/officeDocument/2006/relationships/notesSlide" Target="/ppt/notesSlides/notesSlide35.xml" Id="Re3705f559e71478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028f0b5181e43a3" /><Relationship Type="http://schemas.openxmlformats.org/officeDocument/2006/relationships/chart" Target="/ppt/slides/charts/chart8.xml" Id="R0edac0c3d610407c" /><Relationship Type="http://schemas.openxmlformats.org/officeDocument/2006/relationships/notesSlide" Target="/ppt/notesSlides/notesSlide36.xml" Id="R490453ca557e42b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54f6829915f4279" /><Relationship Type="http://schemas.openxmlformats.org/officeDocument/2006/relationships/image" Target="/ppt/media/image2.png" Id="Rb5e940bc92dc42ca" /><Relationship Type="http://schemas.openxmlformats.org/officeDocument/2006/relationships/notesSlide" Target="/ppt/notesSlides/notesSlide37.xml" Id="R625ac897921b423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53cb9ebb23c4dbf" /><Relationship Type="http://schemas.openxmlformats.org/officeDocument/2006/relationships/image" Target="/ppt/media/image3.png" Id="Rd24e18e6b66648a9" /><Relationship Type="http://schemas.openxmlformats.org/officeDocument/2006/relationships/notesSlide" Target="/ppt/notesSlides/notesSlide38.xml" Id="R31bae1831798485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367e0b3eeb94def" /><Relationship Type="http://schemas.openxmlformats.org/officeDocument/2006/relationships/notesSlide" Target="/ppt/notesSlides/notesSlide39.xml" Id="Rc64378d57df64518" /></Relationships>
</file>

<file path=ppt/slides/charts/chart1.xml><?xml version="1.0" encoding="utf-8"?>
<c:chartSpace xmlns:c="http://schemas.openxmlformats.org/drawingml/2006/chart">
  <c:lang val="en-US"/>
  <c:chart>
    <c:plotArea>
      <c:barChart>
        <c:barDir val="col"/>
        <c:varyColors val="0"/>
        <c:ser>
          <c:idx val="0"/>
          <c:order val="0"/>
          <c:tx>
            <c:v>Effectif</c:v>
          </c:tx>
          <c:dPt>
            <c:idx val="0"/>
            <c:invertIfNegative val="0"/>
            <c:spPr>
              <a:solidFill xmlns:a="http://schemas.openxmlformats.org/drawingml/2006/main">
                <a:srgbClr val="138A84"/>
              </a:solidFill>
            </c:spPr>
          </c:dPt>
          <c:dPt>
            <c:idx val="1"/>
            <c:invertIfNegative val="0"/>
            <c:spPr>
              <a:solidFill xmlns:a="http://schemas.openxmlformats.org/drawingml/2006/main">
                <a:srgbClr val="D95F4C"/>
              </a:solidFill>
            </c:spPr>
          </c:dPt>
          <c:cat>
            <c:strLit>
              <c:ptCount val="2"/>
              <c:pt idx="0">
                <c:v>Restés</c:v>
              </c:pt>
              <c:pt idx="1">
                <c:v>Partis</c:v>
              </c:pt>
            </c:strLit>
          </c:cat>
          <c:val>
            <c:numLit>
              <c:formatCode>0</c:formatCode>
              <c:ptCount val="2"/>
              <c:pt idx="0">
                <c:v>1233</c:v>
              </c:pt>
              <c:pt idx="1">
                <c:v>237</c:v>
              </c:pt>
            </c:numLit>
          </c:val>
        </c:ser>
        <c:dLbls>
          <c:txPr>
            <a:bodyPr xmlns:a="http://schemas.openxmlformats.org/drawingml/2006/main" anchorCtr="1"/>
            <a:lstStyle xmlns:a="http://schemas.openxmlformats.org/drawingml/2006/main"/>
            <a:p xmlns:a="http://schemas.openxmlformats.org/drawingml/2006/main">
              <a:pPr>
                <a:defRPr sz="2100" b="1">
                  <a:solidFill>
                    <a:srgbClr val="17324D"/>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catAx>
      <c:valAx>
        <c:axId val="48672768"/>
        <c:scaling>
          <c:orientation val="minMax"/>
          <c:max val="1400"/>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Salariés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crossBetween val="between"/>
        <c:majorUnit val="3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varyColors val="0"/>
        <c:ser>
          <c:idx val="0"/>
          <c:order val="0"/>
          <c:tx>
            <c:v>Médiane</c:v>
          </c:tx>
          <c:dPt>
            <c:idx val="0"/>
            <c:invertIfNegative val="0"/>
            <c:spPr>
              <a:solidFill xmlns:a="http://schemas.openxmlformats.org/drawingml/2006/main">
                <a:srgbClr val="138A84"/>
              </a:solidFill>
            </c:spPr>
          </c:dPt>
          <c:dPt>
            <c:idx val="1"/>
            <c:invertIfNegative val="0"/>
            <c:spPr>
              <a:solidFill xmlns:a="http://schemas.openxmlformats.org/drawingml/2006/main">
                <a:srgbClr val="D95F4C"/>
              </a:solidFill>
            </c:spPr>
          </c:dPt>
          <c:cat>
            <c:strLit>
              <c:ptCount val="2"/>
              <c:pt idx="0">
                <c:v>Restés</c:v>
              </c:pt>
              <c:pt idx="1">
                <c:v>Partis</c:v>
              </c:pt>
            </c:strLit>
          </c:cat>
          <c:val>
            <c:numLit>
              <c:formatCode>0</c:formatCode>
              <c:ptCount val="2"/>
              <c:pt idx="0">
                <c:v>5204</c:v>
              </c:pt>
              <c:pt idx="1">
                <c:v>3202</c:v>
              </c:pt>
            </c:numLit>
          </c:val>
        </c:ser>
        <c:dLbls>
          <c:txPr>
            <a:bodyPr xmlns:a="http://schemas.openxmlformats.org/drawingml/2006/main" anchorCtr="1"/>
            <a:lstStyle xmlns:a="http://schemas.openxmlformats.org/drawingml/2006/main"/>
            <a:p xmlns:a="http://schemas.openxmlformats.org/drawingml/2006/main">
              <a:pPr>
                <a:defRPr sz="1875">
                  <a:solidFill>
                    <a:srgbClr val="17324D"/>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catAx>
      <c:valAx>
        <c:axId val="48672768"/>
        <c:scaling>
          <c:orientation val="minMax"/>
          <c:max val="6000"/>
          <c:min val="0"/>
        </c:scaling>
        <c:delete val="0"/>
        <c:axPos val="l"/>
        <c:majorGridlines>
          <c:spPr>
            <a:ln xmlns:a="http://schemas.openxmlformats.org/drawingml/2006/main" w="9525">
              <a:solidFill>
                <a:srgbClr val="D8E3E8"/>
              </a:solidFill>
            </a:ln>
          </c:spPr>
        </c:majorGridlines>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crossBetween val="between"/>
        <c:majorUnit val="20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
        <c:ser>
          <c:idx val="0"/>
          <c:order val="0"/>
          <c:tx>
            <c:v>Sigmoïde</c:v>
          </c:tx>
          <c:spPr>
            <a:ln xmlns:a="http://schemas.openxmlformats.org/drawingml/2006/main" w="38100">
              <a:solidFill>
                <a:srgbClr val="138A84"/>
              </a:solidFill>
            </a:ln>
          </c:spPr>
          <c:marker>
            <c:symbol val="none"/>
          </c:marker>
          <c:xVal>
            <c:numLit>
              <c:formatCode>General</c:formatCode>
              <c:ptCount val="81"/>
              <c:pt idx="0">
                <c:v>-5</c:v>
              </c:pt>
              <c:pt idx="1">
                <c:v>-4.875</c:v>
              </c:pt>
              <c:pt idx="2">
                <c:v>-4.75</c:v>
              </c:pt>
              <c:pt idx="3">
                <c:v>-4.625</c:v>
              </c:pt>
              <c:pt idx="4">
                <c:v>-4.5</c:v>
              </c:pt>
              <c:pt idx="5">
                <c:v>-4.375</c:v>
              </c:pt>
              <c:pt idx="6">
                <c:v>-4.25</c:v>
              </c:pt>
              <c:pt idx="7">
                <c:v>-4.125</c:v>
              </c:pt>
              <c:pt idx="8">
                <c:v>-4</c:v>
              </c:pt>
              <c:pt idx="9">
                <c:v>-3.875</c:v>
              </c:pt>
              <c:pt idx="10">
                <c:v>-3.75</c:v>
              </c:pt>
              <c:pt idx="11">
                <c:v>-3.625</c:v>
              </c:pt>
              <c:pt idx="12">
                <c:v>-3.5</c:v>
              </c:pt>
              <c:pt idx="13">
                <c:v>-3.375</c:v>
              </c:pt>
              <c:pt idx="14">
                <c:v>-3.25</c:v>
              </c:pt>
              <c:pt idx="15">
                <c:v>-3.125</c:v>
              </c:pt>
              <c:pt idx="16">
                <c:v>-3</c:v>
              </c:pt>
              <c:pt idx="17">
                <c:v>-2.875</c:v>
              </c:pt>
              <c:pt idx="18">
                <c:v>-2.75</c:v>
              </c:pt>
              <c:pt idx="19">
                <c:v>-2.625</c:v>
              </c:pt>
              <c:pt idx="20">
                <c:v>-2.5</c:v>
              </c:pt>
              <c:pt idx="21">
                <c:v>-2.375</c:v>
              </c:pt>
              <c:pt idx="22">
                <c:v>-2.25</c:v>
              </c:pt>
              <c:pt idx="23">
                <c:v>-2.125</c:v>
              </c:pt>
              <c:pt idx="24">
                <c:v>-2</c:v>
              </c:pt>
              <c:pt idx="25">
                <c:v>-1.875</c:v>
              </c:pt>
              <c:pt idx="26">
                <c:v>-1.75</c:v>
              </c:pt>
              <c:pt idx="27">
                <c:v>-1.625</c:v>
              </c:pt>
              <c:pt idx="28">
                <c:v>-1.5</c:v>
              </c:pt>
              <c:pt idx="29">
                <c:v>-1.375</c:v>
              </c:pt>
              <c:pt idx="30">
                <c:v>-1.25</c:v>
              </c:pt>
              <c:pt idx="31">
                <c:v>-1.125</c:v>
              </c:pt>
              <c:pt idx="32">
                <c:v>-1</c:v>
              </c:pt>
              <c:pt idx="33">
                <c:v>-0.875</c:v>
              </c:pt>
              <c:pt idx="34">
                <c:v>-0.75</c:v>
              </c:pt>
              <c:pt idx="35">
                <c:v>-0.625</c:v>
              </c:pt>
              <c:pt idx="36">
                <c:v>-0.5</c:v>
              </c:pt>
              <c:pt idx="37">
                <c:v>-0.375</c:v>
              </c:pt>
              <c:pt idx="38">
                <c:v>-0.25</c:v>
              </c:pt>
              <c:pt idx="39">
                <c:v>-0.125</c:v>
              </c:pt>
              <c:pt idx="40">
                <c:v>0</c:v>
              </c:pt>
              <c:pt idx="41">
                <c:v>0.125</c:v>
              </c:pt>
              <c:pt idx="42">
                <c:v>0.25</c:v>
              </c:pt>
              <c:pt idx="43">
                <c:v>0.375</c:v>
              </c:pt>
              <c:pt idx="44">
                <c:v>0.5</c:v>
              </c:pt>
              <c:pt idx="45">
                <c:v>0.625</c:v>
              </c:pt>
              <c:pt idx="46">
                <c:v>0.75</c:v>
              </c:pt>
              <c:pt idx="47">
                <c:v>0.875</c:v>
              </c:pt>
              <c:pt idx="48">
                <c:v>1</c:v>
              </c:pt>
              <c:pt idx="49">
                <c:v>1.125</c:v>
              </c:pt>
              <c:pt idx="50">
                <c:v>1.25</c:v>
              </c:pt>
              <c:pt idx="51">
                <c:v>1.375</c:v>
              </c:pt>
              <c:pt idx="52">
                <c:v>1.5</c:v>
              </c:pt>
              <c:pt idx="53">
                <c:v>1.625</c:v>
              </c:pt>
              <c:pt idx="54">
                <c:v>1.75</c:v>
              </c:pt>
              <c:pt idx="55">
                <c:v>1.875</c:v>
              </c:pt>
              <c:pt idx="56">
                <c:v>2</c:v>
              </c:pt>
              <c:pt idx="57">
                <c:v>2.125</c:v>
              </c:pt>
              <c:pt idx="58">
                <c:v>2.25</c:v>
              </c:pt>
              <c:pt idx="59">
                <c:v>2.375</c:v>
              </c:pt>
              <c:pt idx="60">
                <c:v>2.5</c:v>
              </c:pt>
              <c:pt idx="61">
                <c:v>2.625</c:v>
              </c:pt>
              <c:pt idx="62">
                <c:v>2.75</c:v>
              </c:pt>
              <c:pt idx="63">
                <c:v>2.875</c:v>
              </c:pt>
              <c:pt idx="64">
                <c:v>3</c:v>
              </c:pt>
              <c:pt idx="65">
                <c:v>3.125</c:v>
              </c:pt>
              <c:pt idx="66">
                <c:v>3.25</c:v>
              </c:pt>
              <c:pt idx="67">
                <c:v>3.375</c:v>
              </c:pt>
              <c:pt idx="68">
                <c:v>3.5</c:v>
              </c:pt>
              <c:pt idx="69">
                <c:v>3.625</c:v>
              </c:pt>
              <c:pt idx="70">
                <c:v>3.75</c:v>
              </c:pt>
              <c:pt idx="71">
                <c:v>3.875</c:v>
              </c:pt>
              <c:pt idx="72">
                <c:v>4</c:v>
              </c:pt>
              <c:pt idx="73">
                <c:v>4.125</c:v>
              </c:pt>
              <c:pt idx="74">
                <c:v>4.25</c:v>
              </c:pt>
              <c:pt idx="75">
                <c:v>4.375</c:v>
              </c:pt>
              <c:pt idx="76">
                <c:v>4.5</c:v>
              </c:pt>
              <c:pt idx="77">
                <c:v>4.625</c:v>
              </c:pt>
              <c:pt idx="78">
                <c:v>4.75</c:v>
              </c:pt>
              <c:pt idx="79">
                <c:v>4.875</c:v>
              </c:pt>
              <c:pt idx="80">
                <c:v>5</c:v>
              </c:pt>
            </c:numLit>
          </c:xVal>
          <c:yVal>
            <c:numLit>
              <c:formatCode>0%</c:formatCode>
              <c:ptCount val="81"/>
              <c:pt idx="0">
                <c:v>0.0066928509242848554</c:v>
              </c:pt>
              <c:pt idx="1">
                <c:v>0.007577241267860811</c:v>
              </c:pt>
              <c:pt idx="2">
                <c:v>0.008577485413711984</c:v>
              </c:pt>
              <c:pt idx="3">
                <c:v>0.009708476481474066</c:v>
              </c:pt>
              <c:pt idx="4">
                <c:v>0.01098694263059318</c:v>
              </c:pt>
              <c:pt idx="5">
                <c:v>0.01243165085318582</c:v>
              </c:pt>
              <c:pt idx="6">
                <c:v>0.014063627043245475</c:v>
              </c:pt>
              <c:pt idx="7">
                <c:v>0.015906391711814714</c:v>
              </c:pt>
              <c:pt idx="8">
                <c:v>0.01798620996209156</c:v>
              </c:pt>
              <c:pt idx="9">
                <c:v>0.020332353342658753</c:v>
              </c:pt>
              <c:pt idx="10">
                <c:v>0.022977369910025615</c:v>
              </c:pt>
              <c:pt idx="11">
                <c:v>0.025957357197796852</c:v>
              </c:pt>
              <c:pt idx="12">
                <c:v>0.02931223075135632</c:v>
              </c:pt>
              <c:pt idx="13">
                <c:v>0.03308597838870413</c:v>
              </c:pt>
              <c:pt idx="14">
                <c:v>0.03732688734412946</c:v>
              </c:pt>
              <c:pt idx="15">
                <c:v>0.042087727915618836</c:v>
              </c:pt>
              <c:pt idx="16">
                <c:v>0.04742587317756678</c:v>
              </c:pt>
              <c:pt idx="17">
                <c:v>0.05340332979982423</c:v>
              </c:pt>
              <c:pt idx="18">
                <c:v>0.060086650174007626</c:v>
              </c:pt>
              <c:pt idx="19">
                <c:v>0.0675466911396291</c:v>
              </c:pt>
              <c:pt idx="20">
                <c:v>0.07585818002124355</c:v>
              </c:pt>
              <c:pt idx="21">
                <c:v>0.08509904500702024</c:v>
              </c:pt>
              <c:pt idx="22">
                <c:v>0.09534946489910949</c:v>
              </c:pt>
              <c:pt idx="23">
                <c:v>0.10669059394565118</c:v>
              </c:pt>
              <c:pt idx="24">
                <c:v>0.11920292202211755</c:v>
              </c:pt>
              <c:pt idx="25">
                <c:v>0.13296424019782926</c:v>
              </c:pt>
              <c:pt idx="26">
                <c:v>0.14804719803168948</c:v>
              </c:pt>
              <c:pt idx="27">
                <c:v>0.16451646289656316</c:v>
              </c:pt>
              <c:pt idx="28">
                <c:v>0.18242552380635635</c:v>
              </c:pt>
              <c:pt idx="29">
                <c:v>0.20181322226037884</c:v>
              </c:pt>
              <c:pt idx="30">
                <c:v>0.22270013882530884</c:v>
              </c:pt>
              <c:pt idx="31">
                <c:v>0.24508501313237172</c:v>
              </c:pt>
              <c:pt idx="32">
                <c:v>0.2689414213699951</c:v>
              </c:pt>
              <c:pt idx="33">
                <c:v>0.29421497216298875</c:v>
              </c:pt>
              <c:pt idx="34">
                <c:v>0.320821300824607</c:v>
              </c:pt>
              <c:pt idx="35">
                <c:v>0.34864513533394575</c:v>
              </c:pt>
              <c:pt idx="36">
                <c:v>0.3775406687981454</c:v>
              </c:pt>
              <c:pt idx="37">
                <c:v>0.40733340004593027</c:v>
              </c:pt>
              <c:pt idx="38">
                <c:v>0.43782349911420193</c:v>
              </c:pt>
              <c:pt idx="39">
                <c:v>0.46879062662624377</c:v>
              </c:pt>
              <c:pt idx="40">
                <c:v>0.5</c:v>
              </c:pt>
              <c:pt idx="41">
                <c:v>0.5312093733737563</c:v>
              </c:pt>
              <c:pt idx="42">
                <c:v>0.5621765008857981</c:v>
              </c:pt>
              <c:pt idx="43">
                <c:v>0.5926665999540698</c:v>
              </c:pt>
              <c:pt idx="44">
                <c:v>0.6224593312018546</c:v>
              </c:pt>
              <c:pt idx="45">
                <c:v>0.6513548646660542</c:v>
              </c:pt>
              <c:pt idx="46">
                <c:v>0.679178699175393</c:v>
              </c:pt>
              <c:pt idx="47">
                <c:v>0.7057850278370112</c:v>
              </c:pt>
              <c:pt idx="48">
                <c:v>0.7310585786300049</c:v>
              </c:pt>
              <c:pt idx="49">
                <c:v>0.7549149868676283</c:v>
              </c:pt>
              <c:pt idx="50">
                <c:v>0.7772998611746911</c:v>
              </c:pt>
              <c:pt idx="51">
                <c:v>0.7981867777396212</c:v>
              </c:pt>
              <c:pt idx="52">
                <c:v>0.8175744761936437</c:v>
              </c:pt>
              <c:pt idx="53">
                <c:v>0.8354835371034369</c:v>
              </c:pt>
              <c:pt idx="54">
                <c:v>0.8519528019683106</c:v>
              </c:pt>
              <c:pt idx="55">
                <c:v>0.8670357598021706</c:v>
              </c:pt>
              <c:pt idx="56">
                <c:v>0.8807970779778823</c:v>
              </c:pt>
              <c:pt idx="57">
                <c:v>0.8933094060543487</c:v>
              </c:pt>
              <c:pt idx="58">
                <c:v>0.9046505351008906</c:v>
              </c:pt>
              <c:pt idx="59">
                <c:v>0.9149009549929797</c:v>
              </c:pt>
              <c:pt idx="60">
                <c:v>0.9241418199787566</c:v>
              </c:pt>
              <c:pt idx="61">
                <c:v>0.9324533088603709</c:v>
              </c:pt>
              <c:pt idx="62">
                <c:v>0.9399133498259924</c:v>
              </c:pt>
              <c:pt idx="63">
                <c:v>0.9465966702001757</c:v>
              </c:pt>
              <c:pt idx="64">
                <c:v>0.9525741268224334</c:v>
              </c:pt>
              <c:pt idx="65">
                <c:v>0.9579122720843811</c:v>
              </c:pt>
              <c:pt idx="66">
                <c:v>0.9626731126558706</c:v>
              </c:pt>
              <c:pt idx="67">
                <c:v>0.9669140216112958</c:v>
              </c:pt>
              <c:pt idx="68">
                <c:v>0.9706877692486436</c:v>
              </c:pt>
              <c:pt idx="69">
                <c:v>0.9740426428022031</c:v>
              </c:pt>
              <c:pt idx="70">
                <c:v>0.9770226300899744</c:v>
              </c:pt>
              <c:pt idx="71">
                <c:v>0.9796676466573412</c:v>
              </c:pt>
              <c:pt idx="72">
                <c:v>0.9820137900379085</c:v>
              </c:pt>
              <c:pt idx="73">
                <c:v>0.9840936082881853</c:v>
              </c:pt>
              <c:pt idx="74">
                <c:v>0.9859363729567544</c:v>
              </c:pt>
              <c:pt idx="75">
                <c:v>0.9875683491468141</c:v>
              </c:pt>
              <c:pt idx="76">
                <c:v>0.9890130573694068</c:v>
              </c:pt>
              <c:pt idx="77">
                <c:v>0.9902915235185259</c:v>
              </c:pt>
              <c:pt idx="78">
                <c:v>0.991422514586288</c:v>
              </c:pt>
              <c:pt idx="79">
                <c:v>0.9924227587321393</c:v>
              </c:pt>
              <c:pt idx="80">
                <c:v>0.9933071490757153</c:v>
              </c:pt>
            </c:numLit>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Probabilité estimée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majorUnit val="0.25"/>
      </c:valAx>
      <c:valAx>
        <c:axId val="48650112"/>
        <c:scaling>
          <c:orientation val="minMax"/>
          <c:max val="5"/>
          <c:min val="-5"/>
        </c:scaling>
        <c:delete val="0"/>
        <c:axPos val="b"/>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Score pondéré z</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
        <c:ser>
          <c:idx val="0"/>
          <c:order val="0"/>
          <c:tx>
            <c:v>RF calibré</c:v>
          </c:tx>
          <c:spPr>
            <a:ln xmlns:a="http://schemas.openxmlformats.org/drawingml/2006/main" w="33338">
              <a:solidFill>
                <a:srgbClr val="138A84"/>
              </a:solidFill>
            </a:ln>
          </c:spPr>
          <c:marker>
            <c:symbol val="none"/>
          </c:marker>
          <c:xVal>
            <c:numLit>
              <c:formatCode>General</c:formatCode>
              <c:ptCount val="75"/>
              <c:pt idx="0">
                <c:v>0</c:v>
              </c:pt>
              <c:pt idx="1">
                <c:v>0</c:v>
              </c:pt>
              <c:pt idx="2">
                <c:v>0.004048582995951417</c:v>
              </c:pt>
              <c:pt idx="3">
                <c:v>0.004048582995951417</c:v>
              </c:pt>
              <c:pt idx="4">
                <c:v>0.012145748987854251</c:v>
              </c:pt>
              <c:pt idx="5">
                <c:v>0.012145748987854251</c:v>
              </c:pt>
              <c:pt idx="6">
                <c:v>0.04048582995951417</c:v>
              </c:pt>
              <c:pt idx="7">
                <c:v>0.04048582995951417</c:v>
              </c:pt>
              <c:pt idx="8">
                <c:v>0.048582995951417005</c:v>
              </c:pt>
              <c:pt idx="9">
                <c:v>0.048582995951417005</c:v>
              </c:pt>
              <c:pt idx="10">
                <c:v>0.05263157894736842</c:v>
              </c:pt>
              <c:pt idx="11">
                <c:v>0.05263157894736842</c:v>
              </c:pt>
              <c:pt idx="12">
                <c:v>0.06072874493927125</c:v>
              </c:pt>
              <c:pt idx="13">
                <c:v>0.06072874493927125</c:v>
              </c:pt>
              <c:pt idx="14">
                <c:v>0.06477732793522267</c:v>
              </c:pt>
              <c:pt idx="15">
                <c:v>0.06477732793522267</c:v>
              </c:pt>
              <c:pt idx="16">
                <c:v>0.0728744939271255</c:v>
              </c:pt>
              <c:pt idx="17">
                <c:v>0.0728744939271255</c:v>
              </c:pt>
              <c:pt idx="18">
                <c:v>0.07692307692307693</c:v>
              </c:pt>
              <c:pt idx="19">
                <c:v>0.07692307692307693</c:v>
              </c:pt>
              <c:pt idx="20">
                <c:v>0.08097165991902834</c:v>
              </c:pt>
              <c:pt idx="21">
                <c:v>0.08097165991902834</c:v>
              </c:pt>
              <c:pt idx="22">
                <c:v>0.10931174089068826</c:v>
              </c:pt>
              <c:pt idx="23">
                <c:v>0.10931174089068826</c:v>
              </c:pt>
              <c:pt idx="24">
                <c:v>0.1214574898785425</c:v>
              </c:pt>
              <c:pt idx="25">
                <c:v>0.1214574898785425</c:v>
              </c:pt>
              <c:pt idx="26">
                <c:v>0.12550607287449392</c:v>
              </c:pt>
              <c:pt idx="27">
                <c:v>0.12550607287449392</c:v>
              </c:pt>
              <c:pt idx="28">
                <c:v>0.12955465587044535</c:v>
              </c:pt>
              <c:pt idx="29">
                <c:v>0.12955465587044535</c:v>
              </c:pt>
              <c:pt idx="30">
                <c:v>0.13765182186234817</c:v>
              </c:pt>
              <c:pt idx="31">
                <c:v>0.13765182186234817</c:v>
              </c:pt>
              <c:pt idx="32">
                <c:v>0.1417004048582996</c:v>
              </c:pt>
              <c:pt idx="33">
                <c:v>0.1417004048582996</c:v>
              </c:pt>
              <c:pt idx="34">
                <c:v>0.14979757085020243</c:v>
              </c:pt>
              <c:pt idx="35">
                <c:v>0.14979757085020243</c:v>
              </c:pt>
              <c:pt idx="36">
                <c:v>0.15789473684210525</c:v>
              </c:pt>
              <c:pt idx="37">
                <c:v>0.15789473684210525</c:v>
              </c:pt>
              <c:pt idx="38">
                <c:v>0.16194331983805668</c:v>
              </c:pt>
              <c:pt idx="39">
                <c:v>0.16194331983805668</c:v>
              </c:pt>
              <c:pt idx="40">
                <c:v>0.1700404858299595</c:v>
              </c:pt>
              <c:pt idx="41">
                <c:v>0.1700404858299595</c:v>
              </c:pt>
              <c:pt idx="42">
                <c:v>0.18218623481781376</c:v>
              </c:pt>
              <c:pt idx="43">
                <c:v>0.18218623481781376</c:v>
              </c:pt>
              <c:pt idx="44">
                <c:v>0.1862348178137652</c:v>
              </c:pt>
              <c:pt idx="45">
                <c:v>0.1862348178137652</c:v>
              </c:pt>
              <c:pt idx="46">
                <c:v>0.22672064777327935</c:v>
              </c:pt>
              <c:pt idx="47">
                <c:v>0.22672064777327935</c:v>
              </c:pt>
              <c:pt idx="48">
                <c:v>0.23481781376518218</c:v>
              </c:pt>
              <c:pt idx="49">
                <c:v>0.23481781376518218</c:v>
              </c:pt>
              <c:pt idx="50">
                <c:v>0.242914979757085</c:v>
              </c:pt>
              <c:pt idx="51">
                <c:v>0.242914979757085</c:v>
              </c:pt>
              <c:pt idx="52">
                <c:v>0.26720647773279355</c:v>
              </c:pt>
              <c:pt idx="53">
                <c:v>0.26720647773279355</c:v>
              </c:pt>
              <c:pt idx="54">
                <c:v>0.3117408906882591</c:v>
              </c:pt>
              <c:pt idx="55">
                <c:v>0.3117408906882591</c:v>
              </c:pt>
              <c:pt idx="56">
                <c:v>0.3319838056680162</c:v>
              </c:pt>
              <c:pt idx="57">
                <c:v>0.3319838056680162</c:v>
              </c:pt>
              <c:pt idx="58">
                <c:v>0.3684210526315789</c:v>
              </c:pt>
              <c:pt idx="59">
                <c:v>0.3684210526315789</c:v>
              </c:pt>
              <c:pt idx="60">
                <c:v>0.5425101214574899</c:v>
              </c:pt>
              <c:pt idx="61">
                <c:v>0.5425101214574899</c:v>
              </c:pt>
              <c:pt idx="62">
                <c:v>0.7125506072874493</c:v>
              </c:pt>
              <c:pt idx="63">
                <c:v>0.7125506072874493</c:v>
              </c:pt>
              <c:pt idx="64">
                <c:v>0.7165991902834008</c:v>
              </c:pt>
              <c:pt idx="65">
                <c:v>0.7165991902834008</c:v>
              </c:pt>
              <c:pt idx="66">
                <c:v>0.7935222672064778</c:v>
              </c:pt>
              <c:pt idx="67">
                <c:v>0.7935222672064778</c:v>
              </c:pt>
              <c:pt idx="68">
                <c:v>0.8218623481781376</c:v>
              </c:pt>
              <c:pt idx="69">
                <c:v>0.8218623481781376</c:v>
              </c:pt>
              <c:pt idx="70">
                <c:v>0.8502024291497976</c:v>
              </c:pt>
              <c:pt idx="71">
                <c:v>0.8502024291497976</c:v>
              </c:pt>
              <c:pt idx="72">
                <c:v>0.9676113360323887</c:v>
              </c:pt>
              <c:pt idx="73">
                <c:v>0.9676113360323887</c:v>
              </c:pt>
              <c:pt idx="74">
                <c:v>1</c:v>
              </c:pt>
            </c:numLit>
          </c:xVal>
          <c:yVal>
            <c:numLit>
              <c:formatCode>0%</c:formatCode>
              <c:ptCount val="75"/>
              <c:pt idx="0">
                <c:v>0</c:v>
              </c:pt>
              <c:pt idx="1">
                <c:v>0.02127659574468085</c:v>
              </c:pt>
              <c:pt idx="2">
                <c:v>0.02127659574468085</c:v>
              </c:pt>
              <c:pt idx="3">
                <c:v>0.06382978723404255</c:v>
              </c:pt>
              <c:pt idx="4">
                <c:v>0.06382978723404255</c:v>
              </c:pt>
              <c:pt idx="5">
                <c:v>0.0851063829787234</c:v>
              </c:pt>
              <c:pt idx="6">
                <c:v>0.0851063829787234</c:v>
              </c:pt>
              <c:pt idx="7">
                <c:v>0.10638297872340426</c:v>
              </c:pt>
              <c:pt idx="8">
                <c:v>0.10638297872340426</c:v>
              </c:pt>
              <c:pt idx="9">
                <c:v>0.1276595744680851</c:v>
              </c:pt>
              <c:pt idx="10">
                <c:v>0.1276595744680851</c:v>
              </c:pt>
              <c:pt idx="11">
                <c:v>0.14893617021276595</c:v>
              </c:pt>
              <c:pt idx="12">
                <c:v>0.14893617021276595</c:v>
              </c:pt>
              <c:pt idx="13">
                <c:v>0.2127659574468085</c:v>
              </c:pt>
              <c:pt idx="14">
                <c:v>0.2127659574468085</c:v>
              </c:pt>
              <c:pt idx="15">
                <c:v>0.23404255319148937</c:v>
              </c:pt>
              <c:pt idx="16">
                <c:v>0.23404255319148937</c:v>
              </c:pt>
              <c:pt idx="17">
                <c:v>0.2553191489361702</c:v>
              </c:pt>
              <c:pt idx="18">
                <c:v>0.2553191489361702</c:v>
              </c:pt>
              <c:pt idx="19">
                <c:v>0.3191489361702128</c:v>
              </c:pt>
              <c:pt idx="20">
                <c:v>0.3191489361702128</c:v>
              </c:pt>
              <c:pt idx="21">
                <c:v>0.3404255319148936</c:v>
              </c:pt>
              <c:pt idx="22">
                <c:v>0.3404255319148936</c:v>
              </c:pt>
              <c:pt idx="23">
                <c:v>0.3829787234042553</c:v>
              </c:pt>
              <c:pt idx="24">
                <c:v>0.3829787234042553</c:v>
              </c:pt>
              <c:pt idx="25">
                <c:v>0.40425531914893614</c:v>
              </c:pt>
              <c:pt idx="26">
                <c:v>0.40425531914893614</c:v>
              </c:pt>
              <c:pt idx="27">
                <c:v>0.425531914893617</c:v>
              </c:pt>
              <c:pt idx="28">
                <c:v>0.425531914893617</c:v>
              </c:pt>
              <c:pt idx="29">
                <c:v>0.44680851063829785</c:v>
              </c:pt>
              <c:pt idx="30">
                <c:v>0.44680851063829785</c:v>
              </c:pt>
              <c:pt idx="31">
                <c:v>0.46808510638297873</c:v>
              </c:pt>
              <c:pt idx="32">
                <c:v>0.46808510638297873</c:v>
              </c:pt>
              <c:pt idx="33">
                <c:v>0.5106382978723404</c:v>
              </c:pt>
              <c:pt idx="34">
                <c:v>0.5106382978723404</c:v>
              </c:pt>
              <c:pt idx="35">
                <c:v>0.5531914893617021</c:v>
              </c:pt>
              <c:pt idx="36">
                <c:v>0.5531914893617021</c:v>
              </c:pt>
              <c:pt idx="37">
                <c:v>0.574468085106383</c:v>
              </c:pt>
              <c:pt idx="38">
                <c:v>0.574468085106383</c:v>
              </c:pt>
              <c:pt idx="39">
                <c:v>0.6170212765957447</c:v>
              </c:pt>
              <c:pt idx="40">
                <c:v>0.6170212765957447</c:v>
              </c:pt>
              <c:pt idx="41">
                <c:v>0.6382978723404256</c:v>
              </c:pt>
              <c:pt idx="42">
                <c:v>0.6382978723404256</c:v>
              </c:pt>
              <c:pt idx="43">
                <c:v>0.6595744680851063</c:v>
              </c:pt>
              <c:pt idx="44">
                <c:v>0.6595744680851063</c:v>
              </c:pt>
              <c:pt idx="45">
                <c:v>0.6808510638297872</c:v>
              </c:pt>
              <c:pt idx="46">
                <c:v>0.6808510638297872</c:v>
              </c:pt>
              <c:pt idx="47">
                <c:v>0.7021276595744681</c:v>
              </c:pt>
              <c:pt idx="48">
                <c:v>0.7021276595744681</c:v>
              </c:pt>
              <c:pt idx="49">
                <c:v>0.723404255319149</c:v>
              </c:pt>
              <c:pt idx="50">
                <c:v>0.723404255319149</c:v>
              </c:pt>
              <c:pt idx="51">
                <c:v>0.7446808510638298</c:v>
              </c:pt>
              <c:pt idx="52">
                <c:v>0.7446808510638298</c:v>
              </c:pt>
              <c:pt idx="53">
                <c:v>0.7659574468085106</c:v>
              </c:pt>
              <c:pt idx="54">
                <c:v>0.7659574468085106</c:v>
              </c:pt>
              <c:pt idx="55">
                <c:v>0.7872340425531915</c:v>
              </c:pt>
              <c:pt idx="56">
                <c:v>0.7872340425531915</c:v>
              </c:pt>
              <c:pt idx="57">
                <c:v>0.8297872340425532</c:v>
              </c:pt>
              <c:pt idx="58">
                <c:v>0.8297872340425532</c:v>
              </c:pt>
              <c:pt idx="59">
                <c:v>0.851063829787234</c:v>
              </c:pt>
              <c:pt idx="60">
                <c:v>0.851063829787234</c:v>
              </c:pt>
              <c:pt idx="61">
                <c:v>0.8723404255319149</c:v>
              </c:pt>
              <c:pt idx="62">
                <c:v>0.8723404255319149</c:v>
              </c:pt>
              <c:pt idx="63">
                <c:v>0.8936170212765957</c:v>
              </c:pt>
              <c:pt idx="64">
                <c:v>0.8936170212765957</c:v>
              </c:pt>
              <c:pt idx="65">
                <c:v>0.9148936170212766</c:v>
              </c:pt>
              <c:pt idx="66">
                <c:v>0.9148936170212766</c:v>
              </c:pt>
              <c:pt idx="67">
                <c:v>0.9361702127659575</c:v>
              </c:pt>
              <c:pt idx="68">
                <c:v>0.9361702127659575</c:v>
              </c:pt>
              <c:pt idx="69">
                <c:v>0.9574468085106383</c:v>
              </c:pt>
              <c:pt idx="70">
                <c:v>0.9574468085106383</c:v>
              </c:pt>
              <c:pt idx="71">
                <c:v>0.9787234042553191</c:v>
              </c:pt>
              <c:pt idx="72">
                <c:v>0.9787234042553191</c:v>
              </c:pt>
              <c:pt idx="73">
                <c:v>1</c:v>
              </c:pt>
              <c:pt idx="74">
                <c:v>1</c:v>
              </c:pt>
            </c:numLit>
          </c:yVal>
        </c:ser>
        <c:ser>
          <c:idx val="1"/>
          <c:order val="1"/>
          <c:tx>
            <c:v>Classement aléatoire</c:v>
          </c:tx>
          <c:spPr>
            <a:ln xmlns:a="http://schemas.openxmlformats.org/drawingml/2006/main" w="19050">
              <a:solidFill>
                <a:srgbClr val="A6B5BE"/>
              </a:solidFill>
            </a:ln>
          </c:spPr>
          <c:marker>
            <c:symbol val="none"/>
          </c:marker>
          <c:xVal>
            <c:numLit>
              <c:formatCode>General</c:formatCode>
              <c:ptCount val="2"/>
              <c:pt idx="0">
                <c:v>0</c:v>
              </c:pt>
              <c:pt idx="1">
                <c:v>1</c:v>
              </c:pt>
            </c:numLit>
          </c:xVal>
          <c:yVal>
            <c:numLit>
              <c:formatCode>0%</c:formatCode>
              <c:ptCount val="2"/>
              <c:pt idx="0">
                <c:v>0</c:v>
              </c:pt>
              <c:pt idx="1">
                <c:v>1</c:v>
              </c:pt>
            </c:numLit>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Rappel</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majorUnit val="0.25"/>
      </c:valAx>
      <c:valAx>
        <c:axId val="48650112"/>
        <c:scaling>
          <c:orientation val="minMax"/>
          <c:max val="1"/>
          <c:min val="0"/>
        </c:scaling>
        <c:delete val="0"/>
        <c:axPos val="b"/>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Taux de faux positifs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majorUnit val="0.2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06677"/>
              </a:solidFill>
              <a:latin typeface="DejaVu Sans"/>
              <a:ea typeface="DejaVu Sans"/>
              <a:cs typeface="DejaVu Sans"/>
            </a:defRPr>
          </a:pPr>
        </a:p>
      </c:txPr>
    </c:legend>
    <c:plotVisOnly val="1"/>
  </c:chart>
  <c:spPr>
    <a:noFill xmlns:a="http://schemas.openxmlformats.org/drawingml/2006/main"/>
    <a:ln xmlns:a="http://schemas.openxmlformats.org/drawingml/2006/main" w="0">
      <a:noFill/>
    </a:ln>
  </c:spPr>
</c:chartSpace>
</file>

<file path=ppt/slides/charts/chart5.xml><?xml version="1.0" encoding="utf-8"?>
<c:chartSpace xmlns:c="http://schemas.openxmlformats.org/drawingml/2006/chart">
  <c:lang val="en-US"/>
  <c:chart>
    <c:plotArea>
      <c:barChart>
        <c:barDir val="bar"/>
        <c:varyColors val="0"/>
        <c:ser>
          <c:idx val="0"/>
          <c:order val="0"/>
          <c:tx>
            <c:v>Moyenne des valeurs SHAP absolues</c:v>
          </c:tx>
          <c:spPr>
            <a:solidFill xmlns:a="http://schemas.openxmlformats.org/drawingml/2006/main">
              <a:srgbClr val="138A84"/>
            </a:solidFill>
          </c:spPr>
          <c:cat>
            <c:strLit>
              <c:ptCount val="8"/>
              <c:pt idx="0">
                <c:v>Niveau hiérarchique</c:v>
              </c:pt>
              <c:pt idx="1">
                <c:v>Ancienneté manager</c:v>
              </c:pt>
              <c:pt idx="2">
                <c:v>Ancienneté entreprise</c:v>
              </c:pt>
              <c:pt idx="3">
                <c:v>Satisfaction globale</c:v>
              </c:pt>
              <c:pt idx="4">
                <c:v>Revenu mensuel</c:v>
              </c:pt>
              <c:pt idx="5">
                <c:v>Âge</c:v>
              </c:pt>
              <c:pt idx="6">
                <c:v>Participation au PEE</c:v>
              </c:pt>
              <c:pt idx="7">
                <c:v>Heures supplémentaires</c:v>
              </c:pt>
            </c:strLit>
          </c:cat>
          <c:val>
            <c:numLit>
              <c:formatCode>0.000</c:formatCode>
              <c:ptCount val="8"/>
              <c:pt idx="0">
                <c:v>0.017477</c:v>
              </c:pt>
              <c:pt idx="1">
                <c:v>0.023023</c:v>
              </c:pt>
              <c:pt idx="2">
                <c:v>0.024894</c:v>
              </c:pt>
              <c:pt idx="3">
                <c:v>0.026262</c:v>
              </c:pt>
              <c:pt idx="4">
                <c:v>0.028211</c:v>
              </c:pt>
              <c:pt idx="5">
                <c:v>0.030654</c:v>
              </c:pt>
              <c:pt idx="6">
                <c:v>0.031131</c:v>
              </c:pt>
              <c:pt idx="7">
                <c:v>0.040343</c:v>
              </c:pt>
            </c:numLit>
          </c:val>
        </c:ser>
        <c:dLbls>
          <c:txPr>
            <a:bodyPr xmlns:a="http://schemas.openxmlformats.org/drawingml/2006/main" anchorCtr="1"/>
            <a:lstStyle xmlns:a="http://schemas.openxmlformats.org/drawingml/2006/main"/>
            <a:p xmlns:a="http://schemas.openxmlformats.org/drawingml/2006/main">
              <a:pPr>
                <a:defRPr sz="1425">
                  <a:solidFill>
                    <a:srgbClr val="17324D"/>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0"/>
        <c:majorTickMark val="none"/>
        <c:minorTickMark val="none"/>
        <c:tickLblPos val="low"/>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catAx>
      <c:valAx>
        <c:axId val="48672768"/>
        <c:scaling>
          <c:orientation val="minMax"/>
          <c:max val="0.05"/>
          <c:min val="0"/>
        </c:scaling>
        <c:delete val="0"/>
        <c:axPos val="b"/>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Contribution absolue moyenne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0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crossBetween val="between"/>
        <c:majorUnit val="0.0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Restés</c:v>
          </c:tx>
          <c:spPr>
            <a:solidFill xmlns:a="http://schemas.openxmlformats.org/drawingml/2006/main">
              <a:srgbClr val="138A84"/>
            </a:solidFill>
          </c:spPr>
          <c:cat>
            <c:numLit>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0%</c:formatCode>
              <c:ptCount val="16"/>
              <c:pt idx="0">
                <c:v>0.3819951338199513</c:v>
              </c:pt>
              <c:pt idx="1">
                <c:v>0.24979724249797242</c:v>
              </c:pt>
              <c:pt idx="2">
                <c:v>0.1070559610705596</c:v>
              </c:pt>
              <c:pt idx="3">
                <c:v>0.034874290348742905</c:v>
              </c:pt>
              <c:pt idx="4">
                <c:v>0.0454176804541768</c:v>
              </c:pt>
              <c:pt idx="5">
                <c:v>0.034874290348742905</c:v>
              </c:pt>
              <c:pt idx="6">
                <c:v>0.021086780210867802</c:v>
              </c:pt>
              <c:pt idx="7">
                <c:v>0.04866180048661801</c:v>
              </c:pt>
              <c:pt idx="8">
                <c:v>0.014598540145985401</c:v>
              </c:pt>
              <c:pt idx="9">
                <c:v>0.010543390105433901</c:v>
              </c:pt>
              <c:pt idx="10">
                <c:v>0.0040551500405515</c:v>
              </c:pt>
              <c:pt idx="11">
                <c:v>0.017842660178426603</c:v>
              </c:pt>
              <c:pt idx="12">
                <c:v>0.008110300081103</c:v>
              </c:pt>
              <c:pt idx="13">
                <c:v>0.006488240064882401</c:v>
              </c:pt>
              <c:pt idx="14">
                <c:v>0.006488240064882401</c:v>
              </c:pt>
              <c:pt idx="15">
                <c:v>0.008110300081103</c:v>
              </c:pt>
            </c:numLit>
          </c:val>
        </c:ser>
        <c:ser>
          <c:idx val="1"/>
          <c:order val="1"/>
          <c:tx>
            <c:v>Partis</c:v>
          </c:tx>
          <c:spPr>
            <a:solidFill xmlns:a="http://schemas.openxmlformats.org/drawingml/2006/main">
              <a:srgbClr val="D95F4C"/>
            </a:solidFill>
          </c:spPr>
          <c:cat>
            <c:numLit>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0%</c:formatCode>
              <c:ptCount val="16"/>
              <c:pt idx="0">
                <c:v>0.4641350210970464</c:v>
              </c:pt>
              <c:pt idx="1">
                <c:v>0.20675105485232068</c:v>
              </c:pt>
              <c:pt idx="2">
                <c:v>0.11392405063291139</c:v>
              </c:pt>
              <c:pt idx="3">
                <c:v>0.0379746835443038</c:v>
              </c:pt>
              <c:pt idx="4">
                <c:v>0.02109704641350211</c:v>
              </c:pt>
              <c:pt idx="5">
                <c:v>0.008438818565400843</c:v>
              </c:pt>
              <c:pt idx="6">
                <c:v>0.02531645569620253</c:v>
              </c:pt>
              <c:pt idx="7">
                <c:v>0.06751054852320675</c:v>
              </c:pt>
              <c:pt idx="8">
                <c:v>0</c:v>
              </c:pt>
              <c:pt idx="9">
                <c:v>0.016877637130801686</c:v>
              </c:pt>
              <c:pt idx="10">
                <c:v>0.004219409282700422</c:v>
              </c:pt>
              <c:pt idx="11">
                <c:v>0.008438818565400843</c:v>
              </c:pt>
              <c:pt idx="12">
                <c:v>0</c:v>
              </c:pt>
              <c:pt idx="13">
                <c:v>0.008438818565400843</c:v>
              </c:pt>
              <c:pt idx="14">
                <c:v>0.004219409282700422</c:v>
              </c:pt>
              <c:pt idx="15">
                <c:v>0.012658227848101266</c:v>
              </c:pt>
            </c:numLit>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7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Années depuis la dernière promotion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Part au sein de chaque population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crossBetween val="between"/>
      </c:valAx>
      <c:spPr>
        <a:noFill xmlns:a="http://schemas.openxmlformats.org/drawingml/2006/main"/>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latin typeface="DejaVu Sans"/>
              <a:ea typeface="DejaVu Sans"/>
              <a:cs typeface="DejaVu Sans"/>
            </a:defRPr>
          </a:pPr>
        </a:p>
      </c:txPr>
    </c:legend>
    <c:plotVisOnly val="1"/>
  </c:chart>
  <c:spPr>
    <a:noFill xmlns:a="http://schemas.openxmlformats.org/drawingml/2006/main"/>
    <a:ln xmlns:a="http://schemas.openxmlformats.org/drawingml/2006/main" w="0">
      <a:noFill/>
    </a:ln>
  </c:spPr>
</c:chartSpace>
</file>

<file path=ppt/slides/charts/chart7.xml><?xml version="1.0" encoding="utf-8"?>
<c:chartSpace xmlns:c="http://schemas.openxmlformats.org/drawingml/2006/chart">
  <c:lang val="en-US"/>
  <c:chart>
    <c:plotArea>
      <c:scatterChart>
        <c:scatterStyle val="lineMarker"/>
        <c:ser>
          <c:idx val="0"/>
          <c:order val="0"/>
          <c:tx>
            <c:v>Quartiles 0</c:v>
          </c:tx>
          <c:spPr>
            <a:ln xmlns:a="http://schemas.openxmlformats.org/drawingml/2006/main" w="28575">
              <a:solidFill>
                <a:srgbClr val="138A84"/>
              </a:solidFill>
            </a:ln>
          </c:spPr>
          <c:marker>
            <c:symbol val="none"/>
          </c:marker>
          <c:xVal>
            <c:numLit>
              <c:formatCode>General</c:formatCode>
              <c:ptCount val="5"/>
              <c:pt idx="0">
                <c:v>0.77</c:v>
              </c:pt>
              <c:pt idx="1">
                <c:v>0.77</c:v>
              </c:pt>
              <c:pt idx="2">
                <c:v>1.23</c:v>
              </c:pt>
              <c:pt idx="3">
                <c:v>1.23</c:v>
              </c:pt>
              <c:pt idx="4">
                <c:v>0.77</c:v>
              </c:pt>
            </c:numLit>
          </c:xVal>
          <c:yVal>
            <c:numLit>
              <c:formatCode>0</c:formatCode>
              <c:ptCount val="5"/>
              <c:pt idx="0">
                <c:v>3211</c:v>
              </c:pt>
              <c:pt idx="1">
                <c:v>8834</c:v>
              </c:pt>
              <c:pt idx="2">
                <c:v>8834</c:v>
              </c:pt>
              <c:pt idx="3">
                <c:v>3211</c:v>
              </c:pt>
              <c:pt idx="4">
                <c:v>3211</c:v>
              </c:pt>
            </c:numLit>
          </c:yVal>
        </c:ser>
        <c:ser>
          <c:idx val="1"/>
          <c:order val="1"/>
          <c:tx>
            <c:v>Médiane 0</c:v>
          </c:tx>
          <c:spPr>
            <a:ln xmlns:a="http://schemas.openxmlformats.org/drawingml/2006/main" w="47625">
              <a:solidFill>
                <a:srgbClr val="138A84"/>
              </a:solidFill>
            </a:ln>
          </c:spPr>
          <c:marker>
            <c:symbol val="none"/>
          </c:marker>
          <c:xVal>
            <c:numLit>
              <c:formatCode>General</c:formatCode>
              <c:ptCount val="2"/>
              <c:pt idx="0">
                <c:v>0.77</c:v>
              </c:pt>
              <c:pt idx="1">
                <c:v>1.23</c:v>
              </c:pt>
            </c:numLit>
          </c:xVal>
          <c:yVal>
            <c:numLit>
              <c:formatCode>0</c:formatCode>
              <c:ptCount val="2"/>
              <c:pt idx="0">
                <c:v>5204</c:v>
              </c:pt>
              <c:pt idx="1">
                <c:v>5204</c:v>
              </c:pt>
            </c:numLit>
          </c:yVal>
        </c:ser>
        <c:ser>
          <c:idx val="2"/>
          <c:order val="2"/>
          <c:tx>
            <c:v>Moustache basse 0</c:v>
          </c:tx>
          <c:spPr>
            <a:ln xmlns:a="http://schemas.openxmlformats.org/drawingml/2006/main" w="19050">
              <a:solidFill>
                <a:srgbClr val="138A84"/>
              </a:solidFill>
            </a:ln>
          </c:spPr>
          <c:marker>
            <c:symbol val="none"/>
          </c:marker>
          <c:xVal>
            <c:numLit>
              <c:formatCode>General</c:formatCode>
              <c:ptCount val="2"/>
              <c:pt idx="0">
                <c:v>1</c:v>
              </c:pt>
              <c:pt idx="1">
                <c:v>1</c:v>
              </c:pt>
            </c:numLit>
          </c:xVal>
          <c:yVal>
            <c:numLit>
              <c:formatCode>0</c:formatCode>
              <c:ptCount val="2"/>
              <c:pt idx="0">
                <c:v>1051</c:v>
              </c:pt>
              <c:pt idx="1">
                <c:v>3211</c:v>
              </c:pt>
            </c:numLit>
          </c:yVal>
        </c:ser>
        <c:ser>
          <c:idx val="3"/>
          <c:order val="3"/>
          <c:tx>
            <c:v>Moustache haute 0</c:v>
          </c:tx>
          <c:spPr>
            <a:ln xmlns:a="http://schemas.openxmlformats.org/drawingml/2006/main" w="19050">
              <a:solidFill>
                <a:srgbClr val="138A84"/>
              </a:solidFill>
            </a:ln>
          </c:spPr>
          <c:marker>
            <c:symbol val="none"/>
          </c:marker>
          <c:xVal>
            <c:numLit>
              <c:formatCode>General</c:formatCode>
              <c:ptCount val="2"/>
              <c:pt idx="0">
                <c:v>1</c:v>
              </c:pt>
              <c:pt idx="1">
                <c:v>1</c:v>
              </c:pt>
            </c:numLit>
          </c:xVal>
          <c:yVal>
            <c:numLit>
              <c:formatCode>0</c:formatCode>
              <c:ptCount val="2"/>
              <c:pt idx="0">
                <c:v>8834</c:v>
              </c:pt>
              <c:pt idx="1">
                <c:v>17181</c:v>
              </c:pt>
            </c:numLit>
          </c:yVal>
        </c:ser>
        <c:ser>
          <c:idx val="4"/>
          <c:order val="4"/>
          <c:tx>
            <c:v>Borne basse 0</c:v>
          </c:tx>
          <c:spPr>
            <a:ln xmlns:a="http://schemas.openxmlformats.org/drawingml/2006/main" w="19050">
              <a:solidFill>
                <a:srgbClr val="138A84"/>
              </a:solidFill>
            </a:ln>
          </c:spPr>
          <c:marker>
            <c:symbol val="none"/>
          </c:marker>
          <c:xVal>
            <c:numLit>
              <c:formatCode>General</c:formatCode>
              <c:ptCount val="2"/>
              <c:pt idx="0">
                <c:v>0.88</c:v>
              </c:pt>
              <c:pt idx="1">
                <c:v>1.12</c:v>
              </c:pt>
            </c:numLit>
          </c:xVal>
          <c:yVal>
            <c:numLit>
              <c:formatCode>0</c:formatCode>
              <c:ptCount val="2"/>
              <c:pt idx="0">
                <c:v>1051</c:v>
              </c:pt>
              <c:pt idx="1">
                <c:v>1051</c:v>
              </c:pt>
            </c:numLit>
          </c:yVal>
        </c:ser>
        <c:ser>
          <c:idx val="5"/>
          <c:order val="5"/>
          <c:tx>
            <c:v>Borne haute 0</c:v>
          </c:tx>
          <c:spPr>
            <a:ln xmlns:a="http://schemas.openxmlformats.org/drawingml/2006/main" w="19050">
              <a:solidFill>
                <a:srgbClr val="138A84"/>
              </a:solidFill>
            </a:ln>
          </c:spPr>
          <c:marker>
            <c:symbol val="none"/>
          </c:marker>
          <c:xVal>
            <c:numLit>
              <c:formatCode>General</c:formatCode>
              <c:ptCount val="2"/>
              <c:pt idx="0">
                <c:v>0.88</c:v>
              </c:pt>
              <c:pt idx="1">
                <c:v>1.12</c:v>
              </c:pt>
            </c:numLit>
          </c:xVal>
          <c:yVal>
            <c:numLit>
              <c:formatCode>0</c:formatCode>
              <c:ptCount val="2"/>
              <c:pt idx="0">
                <c:v>17181</c:v>
              </c:pt>
              <c:pt idx="1">
                <c:v>17181</c:v>
              </c:pt>
            </c:numLit>
          </c:yVal>
        </c:ser>
        <c:ser>
          <c:idx val="6"/>
          <c:order val="6"/>
          <c:tx>
            <c:v>Valeurs atypiques 0</c:v>
          </c:tx>
          <c:spPr>
            <a:solidFill xmlns:a="http://schemas.openxmlformats.org/drawingml/2006/main">
              <a:srgbClr val="138A84"/>
            </a:solidFill>
            <a:ln xmlns:a="http://schemas.openxmlformats.org/drawingml/2006/main" w="0">
              <a:noFill/>
            </a:ln>
          </c:spPr>
          <c:marker>
            <c:symbol val="circle"/>
            <c:size val="4"/>
            <c:spPr>
              <a:noFill xmlns:a="http://schemas.openxmlformats.org/drawingml/2006/main"/>
            </c:spPr>
          </c:marker>
          <c:xVal>
            <c:numLit>
              <c:formatCode>General</c:formatCode>
              <c:ptCount val="8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numLit>
          </c:xVal>
          <c:yVal>
            <c:numLit>
              <c:formatCode>0</c:formatCode>
              <c:ptCount val="82"/>
              <c:pt idx="0">
                <c:v>17328</c:v>
              </c:pt>
              <c:pt idx="1">
                <c:v>17328</c:v>
              </c:pt>
              <c:pt idx="2">
                <c:v>17399</c:v>
              </c:pt>
              <c:pt idx="3">
                <c:v>17426</c:v>
              </c:pt>
              <c:pt idx="4">
                <c:v>17444</c:v>
              </c:pt>
              <c:pt idx="5">
                <c:v>17465</c:v>
              </c:pt>
              <c:pt idx="6">
                <c:v>17567</c:v>
              </c:pt>
              <c:pt idx="7">
                <c:v>17584</c:v>
              </c:pt>
              <c:pt idx="8">
                <c:v>17603</c:v>
              </c:pt>
              <c:pt idx="9">
                <c:v>17639</c:v>
              </c:pt>
              <c:pt idx="10">
                <c:v>17650</c:v>
              </c:pt>
              <c:pt idx="11">
                <c:v>17665</c:v>
              </c:pt>
              <c:pt idx="12">
                <c:v>17779</c:v>
              </c:pt>
              <c:pt idx="13">
                <c:v>17856</c:v>
              </c:pt>
              <c:pt idx="14">
                <c:v>17861</c:v>
              </c:pt>
              <c:pt idx="15">
                <c:v>17861</c:v>
              </c:pt>
              <c:pt idx="16">
                <c:v>17875</c:v>
              </c:pt>
              <c:pt idx="17">
                <c:v>17924</c:v>
              </c:pt>
              <c:pt idx="18">
                <c:v>18041</c:v>
              </c:pt>
              <c:pt idx="19">
                <c:v>18061</c:v>
              </c:pt>
              <c:pt idx="20">
                <c:v>18172</c:v>
              </c:pt>
              <c:pt idx="21">
                <c:v>18200</c:v>
              </c:pt>
              <c:pt idx="22">
                <c:v>18213</c:v>
              </c:pt>
              <c:pt idx="23">
                <c:v>18265</c:v>
              </c:pt>
              <c:pt idx="24">
                <c:v>18300</c:v>
              </c:pt>
              <c:pt idx="25">
                <c:v>18303</c:v>
              </c:pt>
              <c:pt idx="26">
                <c:v>18430</c:v>
              </c:pt>
              <c:pt idx="27">
                <c:v>18606</c:v>
              </c:pt>
              <c:pt idx="28">
                <c:v>18665</c:v>
              </c:pt>
              <c:pt idx="29">
                <c:v>18711</c:v>
              </c:pt>
              <c:pt idx="30">
                <c:v>18722</c:v>
              </c:pt>
              <c:pt idx="31">
                <c:v>18740</c:v>
              </c:pt>
              <c:pt idx="32">
                <c:v>18789</c:v>
              </c:pt>
              <c:pt idx="33">
                <c:v>18844</c:v>
              </c:pt>
              <c:pt idx="34">
                <c:v>18880</c:v>
              </c:pt>
              <c:pt idx="35">
                <c:v>18947</c:v>
              </c:pt>
              <c:pt idx="36">
                <c:v>19033</c:v>
              </c:pt>
              <c:pt idx="37">
                <c:v>19038</c:v>
              </c:pt>
              <c:pt idx="38">
                <c:v>19045</c:v>
              </c:pt>
              <c:pt idx="39">
                <c:v>19049</c:v>
              </c:pt>
              <c:pt idx="40">
                <c:v>19068</c:v>
              </c:pt>
              <c:pt idx="41">
                <c:v>19081</c:v>
              </c:pt>
              <c:pt idx="42">
                <c:v>19094</c:v>
              </c:pt>
              <c:pt idx="43">
                <c:v>19141</c:v>
              </c:pt>
              <c:pt idx="44">
                <c:v>19144</c:v>
              </c:pt>
              <c:pt idx="45">
                <c:v>19161</c:v>
              </c:pt>
              <c:pt idx="46">
                <c:v>19187</c:v>
              </c:pt>
              <c:pt idx="47">
                <c:v>19189</c:v>
              </c:pt>
              <c:pt idx="48">
                <c:v>19190</c:v>
              </c:pt>
              <c:pt idx="49">
                <c:v>19197</c:v>
              </c:pt>
              <c:pt idx="50">
                <c:v>19202</c:v>
              </c:pt>
              <c:pt idx="51">
                <c:v>19232</c:v>
              </c:pt>
              <c:pt idx="52">
                <c:v>19237</c:v>
              </c:pt>
              <c:pt idx="53">
                <c:v>19272</c:v>
              </c:pt>
              <c:pt idx="54">
                <c:v>19328</c:v>
              </c:pt>
              <c:pt idx="55">
                <c:v>19331</c:v>
              </c:pt>
              <c:pt idx="56">
                <c:v>19392</c:v>
              </c:pt>
              <c:pt idx="57">
                <c:v>19406</c:v>
              </c:pt>
              <c:pt idx="58">
                <c:v>19419</c:v>
              </c:pt>
              <c:pt idx="59">
                <c:v>19431</c:v>
              </c:pt>
              <c:pt idx="60">
                <c:v>19436</c:v>
              </c:pt>
              <c:pt idx="61">
                <c:v>19502</c:v>
              </c:pt>
              <c:pt idx="62">
                <c:v>19513</c:v>
              </c:pt>
              <c:pt idx="63">
                <c:v>19517</c:v>
              </c:pt>
              <c:pt idx="64">
                <c:v>19537</c:v>
              </c:pt>
              <c:pt idx="65">
                <c:v>19566</c:v>
              </c:pt>
              <c:pt idx="66">
                <c:v>19586</c:v>
              </c:pt>
              <c:pt idx="67">
                <c:v>19613</c:v>
              </c:pt>
              <c:pt idx="68">
                <c:v>19626</c:v>
              </c:pt>
              <c:pt idx="69">
                <c:v>19627</c:v>
              </c:pt>
              <c:pt idx="70">
                <c:v>19636</c:v>
              </c:pt>
              <c:pt idx="71">
                <c:v>19658</c:v>
              </c:pt>
              <c:pt idx="72">
                <c:v>19665</c:v>
              </c:pt>
              <c:pt idx="73">
                <c:v>19701</c:v>
              </c:pt>
              <c:pt idx="74">
                <c:v>19717</c:v>
              </c:pt>
              <c:pt idx="75">
                <c:v>19740</c:v>
              </c:pt>
              <c:pt idx="76">
                <c:v>19833</c:v>
              </c:pt>
              <c:pt idx="77">
                <c:v>19847</c:v>
              </c:pt>
              <c:pt idx="78">
                <c:v>19926</c:v>
              </c:pt>
              <c:pt idx="79">
                <c:v>19943</c:v>
              </c:pt>
              <c:pt idx="80">
                <c:v>19973</c:v>
              </c:pt>
              <c:pt idx="81">
                <c:v>19999</c:v>
              </c:pt>
            </c:numLit>
          </c:yVal>
        </c:ser>
        <c:ser>
          <c:idx val="7"/>
          <c:order val="7"/>
          <c:tx>
            <c:v>Quartiles 1</c:v>
          </c:tx>
          <c:spPr>
            <a:ln xmlns:a="http://schemas.openxmlformats.org/drawingml/2006/main" w="28575">
              <a:solidFill>
                <a:srgbClr val="D95F4C"/>
              </a:solidFill>
            </a:ln>
          </c:spPr>
          <c:marker>
            <c:symbol val="none"/>
          </c:marker>
          <c:xVal>
            <c:numLit>
              <c:formatCode>General</c:formatCode>
              <c:ptCount val="5"/>
              <c:pt idx="0">
                <c:v>1.77</c:v>
              </c:pt>
              <c:pt idx="1">
                <c:v>1.77</c:v>
              </c:pt>
              <c:pt idx="2">
                <c:v>2.23</c:v>
              </c:pt>
              <c:pt idx="3">
                <c:v>2.23</c:v>
              </c:pt>
              <c:pt idx="4">
                <c:v>1.77</c:v>
              </c:pt>
            </c:numLit>
          </c:xVal>
          <c:yVal>
            <c:numLit>
              <c:formatCode>0</c:formatCode>
              <c:ptCount val="5"/>
              <c:pt idx="0">
                <c:v>2373</c:v>
              </c:pt>
              <c:pt idx="1">
                <c:v>5916</c:v>
              </c:pt>
              <c:pt idx="2">
                <c:v>5916</c:v>
              </c:pt>
              <c:pt idx="3">
                <c:v>2373</c:v>
              </c:pt>
              <c:pt idx="4">
                <c:v>2373</c:v>
              </c:pt>
            </c:numLit>
          </c:yVal>
        </c:ser>
        <c:ser>
          <c:idx val="8"/>
          <c:order val="8"/>
          <c:tx>
            <c:v>Médiane 1</c:v>
          </c:tx>
          <c:spPr>
            <a:ln xmlns:a="http://schemas.openxmlformats.org/drawingml/2006/main" w="47625">
              <a:solidFill>
                <a:srgbClr val="D95F4C"/>
              </a:solidFill>
            </a:ln>
          </c:spPr>
          <c:marker>
            <c:symbol val="none"/>
          </c:marker>
          <c:xVal>
            <c:numLit>
              <c:formatCode>General</c:formatCode>
              <c:ptCount val="2"/>
              <c:pt idx="0">
                <c:v>1.77</c:v>
              </c:pt>
              <c:pt idx="1">
                <c:v>2.23</c:v>
              </c:pt>
            </c:numLit>
          </c:xVal>
          <c:yVal>
            <c:numLit>
              <c:formatCode>0</c:formatCode>
              <c:ptCount val="2"/>
              <c:pt idx="0">
                <c:v>3202</c:v>
              </c:pt>
              <c:pt idx="1">
                <c:v>3202</c:v>
              </c:pt>
            </c:numLit>
          </c:yVal>
        </c:ser>
        <c:ser>
          <c:idx val="9"/>
          <c:order val="9"/>
          <c:tx>
            <c:v>Moustache basse 1</c:v>
          </c:tx>
          <c:spPr>
            <a:ln xmlns:a="http://schemas.openxmlformats.org/drawingml/2006/main" w="19050">
              <a:solidFill>
                <a:srgbClr val="D95F4C"/>
              </a:solidFill>
            </a:ln>
          </c:spPr>
          <c:marker>
            <c:symbol val="none"/>
          </c:marker>
          <c:xVal>
            <c:numLit>
              <c:formatCode>General</c:formatCode>
              <c:ptCount val="2"/>
              <c:pt idx="0">
                <c:v>2</c:v>
              </c:pt>
              <c:pt idx="1">
                <c:v>2</c:v>
              </c:pt>
            </c:numLit>
          </c:xVal>
          <c:yVal>
            <c:numLit>
              <c:formatCode>0</c:formatCode>
              <c:ptCount val="2"/>
              <c:pt idx="0">
                <c:v>1009</c:v>
              </c:pt>
              <c:pt idx="1">
                <c:v>2373</c:v>
              </c:pt>
            </c:numLit>
          </c:yVal>
        </c:ser>
        <c:ser>
          <c:idx val="10"/>
          <c:order val="10"/>
          <c:tx>
            <c:v>Moustache haute 1</c:v>
          </c:tx>
          <c:spPr>
            <a:ln xmlns:a="http://schemas.openxmlformats.org/drawingml/2006/main" w="19050">
              <a:solidFill>
                <a:srgbClr val="D95F4C"/>
              </a:solidFill>
            </a:ln>
          </c:spPr>
          <c:marker>
            <c:symbol val="none"/>
          </c:marker>
          <c:xVal>
            <c:numLit>
              <c:formatCode>General</c:formatCode>
              <c:ptCount val="2"/>
              <c:pt idx="0">
                <c:v>2</c:v>
              </c:pt>
              <c:pt idx="1">
                <c:v>2</c:v>
              </c:pt>
            </c:numLit>
          </c:xVal>
          <c:yVal>
            <c:numLit>
              <c:formatCode>0</c:formatCode>
              <c:ptCount val="2"/>
              <c:pt idx="0">
                <c:v>5916</c:v>
              </c:pt>
              <c:pt idx="1">
                <c:v>10854</c:v>
              </c:pt>
            </c:numLit>
          </c:yVal>
        </c:ser>
        <c:ser>
          <c:idx val="11"/>
          <c:order val="11"/>
          <c:tx>
            <c:v>Borne basse 1</c:v>
          </c:tx>
          <c:spPr>
            <a:ln xmlns:a="http://schemas.openxmlformats.org/drawingml/2006/main" w="19050">
              <a:solidFill>
                <a:srgbClr val="D95F4C"/>
              </a:solidFill>
            </a:ln>
          </c:spPr>
          <c:marker>
            <c:symbol val="none"/>
          </c:marker>
          <c:xVal>
            <c:numLit>
              <c:formatCode>General</c:formatCode>
              <c:ptCount val="2"/>
              <c:pt idx="0">
                <c:v>1.88</c:v>
              </c:pt>
              <c:pt idx="1">
                <c:v>2.12</c:v>
              </c:pt>
            </c:numLit>
          </c:xVal>
          <c:yVal>
            <c:numLit>
              <c:formatCode>0</c:formatCode>
              <c:ptCount val="2"/>
              <c:pt idx="0">
                <c:v>1009</c:v>
              </c:pt>
              <c:pt idx="1">
                <c:v>1009</c:v>
              </c:pt>
            </c:numLit>
          </c:yVal>
        </c:ser>
        <c:ser>
          <c:idx val="12"/>
          <c:order val="12"/>
          <c:tx>
            <c:v>Borne haute 1</c:v>
          </c:tx>
          <c:spPr>
            <a:ln xmlns:a="http://schemas.openxmlformats.org/drawingml/2006/main" w="19050">
              <a:solidFill>
                <a:srgbClr val="D95F4C"/>
              </a:solidFill>
            </a:ln>
          </c:spPr>
          <c:marker>
            <c:symbol val="none"/>
          </c:marker>
          <c:xVal>
            <c:numLit>
              <c:formatCode>General</c:formatCode>
              <c:ptCount val="2"/>
              <c:pt idx="0">
                <c:v>1.88</c:v>
              </c:pt>
              <c:pt idx="1">
                <c:v>2.12</c:v>
              </c:pt>
            </c:numLit>
          </c:xVal>
          <c:yVal>
            <c:numLit>
              <c:formatCode>0</c:formatCode>
              <c:ptCount val="2"/>
              <c:pt idx="0">
                <c:v>10854</c:v>
              </c:pt>
              <c:pt idx="1">
                <c:v>10854</c:v>
              </c:pt>
            </c:numLit>
          </c:yVal>
        </c:ser>
        <c:ser>
          <c:idx val="13"/>
          <c:order val="13"/>
          <c:tx>
            <c:v>Valeurs atypiques 1</c:v>
          </c:tx>
          <c:spPr>
            <a:solidFill xmlns:a="http://schemas.openxmlformats.org/drawingml/2006/main">
              <a:srgbClr val="D95F4C"/>
            </a:solidFill>
            <a:ln xmlns:a="http://schemas.openxmlformats.org/drawingml/2006/main" w="0">
              <a:noFill/>
            </a:ln>
          </c:spPr>
          <c:marker>
            <c:symbol val="circle"/>
            <c:size val="4"/>
            <c:spPr>
              <a:noFill xmlns:a="http://schemas.openxmlformats.org/drawingml/2006/main"/>
            </c:spPr>
          </c:marker>
          <c:xVal>
            <c:numLit>
              <c:formatCode>General</c:formatCode>
              <c:ptCount val="12"/>
              <c:pt idx="0">
                <c:v>2</c:v>
              </c:pt>
              <c:pt idx="1">
                <c:v>2</c:v>
              </c:pt>
              <c:pt idx="2">
                <c:v>2</c:v>
              </c:pt>
              <c:pt idx="3">
                <c:v>2</c:v>
              </c:pt>
              <c:pt idx="4">
                <c:v>2</c:v>
              </c:pt>
              <c:pt idx="5">
                <c:v>2</c:v>
              </c:pt>
              <c:pt idx="6">
                <c:v>2</c:v>
              </c:pt>
              <c:pt idx="7">
                <c:v>2</c:v>
              </c:pt>
              <c:pt idx="8">
                <c:v>2</c:v>
              </c:pt>
              <c:pt idx="9">
                <c:v>2</c:v>
              </c:pt>
              <c:pt idx="10">
                <c:v>2</c:v>
              </c:pt>
              <c:pt idx="11">
                <c:v>2</c:v>
              </c:pt>
            </c:numLit>
          </c:xVal>
          <c:yVal>
            <c:numLit>
              <c:formatCode>0</c:formatCode>
              <c:ptCount val="12"/>
              <c:pt idx="0">
                <c:v>11849</c:v>
              </c:pt>
              <c:pt idx="1">
                <c:v>12169</c:v>
              </c:pt>
              <c:pt idx="2">
                <c:v>12936</c:v>
              </c:pt>
              <c:pt idx="3">
                <c:v>13194</c:v>
              </c:pt>
              <c:pt idx="4">
                <c:v>13610</c:v>
              </c:pt>
              <c:pt idx="5">
                <c:v>13695</c:v>
              </c:pt>
              <c:pt idx="6">
                <c:v>13758</c:v>
              </c:pt>
              <c:pt idx="7">
                <c:v>18824</c:v>
              </c:pt>
              <c:pt idx="8">
                <c:v>19246</c:v>
              </c:pt>
              <c:pt idx="9">
                <c:v>19545</c:v>
              </c:pt>
              <c:pt idx="10">
                <c:v>19845</c:v>
              </c:pt>
              <c:pt idx="11">
                <c:v>19859</c:v>
              </c:pt>
            </c:numLit>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2000"/>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Revenu mensuel</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majorUnit val="5000"/>
      </c:valAx>
      <c:valAx>
        <c:axId val="48650112"/>
        <c:scaling>
          <c:orientation val="minMax"/>
          <c:max val="2.5"/>
          <c:min val="0.5"/>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1 = Restés                         2 = Partis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majorUnit val="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8.xml><?xml version="1.0" encoding="utf-8"?>
<c:chartSpace xmlns:c="http://schemas.openxmlformats.org/drawingml/2006/chart">
  <c:lang val="en-US"/>
  <c:chart>
    <c:plotArea>
      <c:scatterChart>
        <c:scatterStyle val="marker"/>
        <c:ser>
          <c:idx val="0"/>
          <c:order val="0"/>
          <c:tx>
            <c:v>Restés</c:v>
          </c:tx>
          <c:spPr>
            <a:solidFill xmlns:a="http://schemas.openxmlformats.org/drawingml/2006/main">
              <a:srgbClr val="138A84"/>
            </a:solidFill>
            <a:ln xmlns:a="http://schemas.openxmlformats.org/drawingml/2006/main" w="0">
              <a:noFill/>
            </a:ln>
          </c:spPr>
          <c:marker>
            <c:symbol val="circle"/>
            <c:size val="4"/>
            <c:spPr>
              <a:noFill xmlns:a="http://schemas.openxmlformats.org/drawingml/2006/main"/>
            </c:spPr>
          </c:marker>
          <c:xVal>
            <c:numLit>
              <c:formatCode>General</c:formatCode>
              <c:ptCount val="1233"/>
              <c:pt idx="0">
                <c:v>49</c:v>
              </c:pt>
              <c:pt idx="1">
                <c:v>33</c:v>
              </c:pt>
              <c:pt idx="2">
                <c:v>27</c:v>
              </c:pt>
              <c:pt idx="3">
                <c:v>32</c:v>
              </c:pt>
              <c:pt idx="4">
                <c:v>59</c:v>
              </c:pt>
              <c:pt idx="5">
                <c:v>30</c:v>
              </c:pt>
              <c:pt idx="6">
                <c:v>38</c:v>
              </c:pt>
              <c:pt idx="7">
                <c:v>36</c:v>
              </c:pt>
              <c:pt idx="8">
                <c:v>35</c:v>
              </c:pt>
              <c:pt idx="9">
                <c:v>29</c:v>
              </c:pt>
              <c:pt idx="10">
                <c:v>31</c:v>
              </c:pt>
              <c:pt idx="11">
                <c:v>34</c:v>
              </c:pt>
              <c:pt idx="12">
                <c:v>29</c:v>
              </c:pt>
              <c:pt idx="13">
                <c:v>32</c:v>
              </c:pt>
              <c:pt idx="14">
                <c:v>22</c:v>
              </c:pt>
              <c:pt idx="15">
                <c:v>53</c:v>
              </c:pt>
              <c:pt idx="16">
                <c:v>38</c:v>
              </c:pt>
              <c:pt idx="17">
                <c:v>24</c:v>
              </c:pt>
              <c:pt idx="18">
                <c:v>34</c:v>
              </c:pt>
              <c:pt idx="19">
                <c:v>21</c:v>
              </c:pt>
              <c:pt idx="20">
                <c:v>53</c:v>
              </c:pt>
              <c:pt idx="21">
                <c:v>42</c:v>
              </c:pt>
              <c:pt idx="22">
                <c:v>44</c:v>
              </c:pt>
              <c:pt idx="23">
                <c:v>46</c:v>
              </c:pt>
              <c:pt idx="24">
                <c:v>33</c:v>
              </c:pt>
              <c:pt idx="25">
                <c:v>44</c:v>
              </c:pt>
              <c:pt idx="26">
                <c:v>30</c:v>
              </c:pt>
              <c:pt idx="27">
                <c:v>43</c:v>
              </c:pt>
              <c:pt idx="28">
                <c:v>35</c:v>
              </c:pt>
              <c:pt idx="29">
                <c:v>36</c:v>
              </c:pt>
              <c:pt idx="30">
                <c:v>33</c:v>
              </c:pt>
              <c:pt idx="31">
                <c:v>35</c:v>
              </c:pt>
              <c:pt idx="32">
                <c:v>27</c:v>
              </c:pt>
              <c:pt idx="33">
                <c:v>27</c:v>
              </c:pt>
              <c:pt idx="34">
                <c:v>30</c:v>
              </c:pt>
              <c:pt idx="35">
                <c:v>34</c:v>
              </c:pt>
              <c:pt idx="36">
                <c:v>37</c:v>
              </c:pt>
              <c:pt idx="37">
                <c:v>46</c:v>
              </c:pt>
              <c:pt idx="38">
                <c:v>35</c:v>
              </c:pt>
              <c:pt idx="39">
                <c:v>44</c:v>
              </c:pt>
              <c:pt idx="40">
                <c:v>35</c:v>
              </c:pt>
              <c:pt idx="41">
                <c:v>26</c:v>
              </c:pt>
              <c:pt idx="42">
                <c:v>33</c:v>
              </c:pt>
              <c:pt idx="43">
                <c:v>35</c:v>
              </c:pt>
              <c:pt idx="44">
                <c:v>35</c:v>
              </c:pt>
              <c:pt idx="45">
                <c:v>31</c:v>
              </c:pt>
              <c:pt idx="46">
                <c:v>37</c:v>
              </c:pt>
              <c:pt idx="47">
                <c:v>32</c:v>
              </c:pt>
              <c:pt idx="48">
                <c:v>38</c:v>
              </c:pt>
              <c:pt idx="49">
                <c:v>50</c:v>
              </c:pt>
              <c:pt idx="50">
                <c:v>59</c:v>
              </c:pt>
              <c:pt idx="51">
                <c:v>36</c:v>
              </c:pt>
              <c:pt idx="52">
                <c:v>55</c:v>
              </c:pt>
              <c:pt idx="53">
                <c:v>36</c:v>
              </c:pt>
              <c:pt idx="54">
                <c:v>45</c:v>
              </c:pt>
              <c:pt idx="55">
                <c:v>35</c:v>
              </c:pt>
              <c:pt idx="56">
                <c:v>59</c:v>
              </c:pt>
              <c:pt idx="57">
                <c:v>29</c:v>
              </c:pt>
              <c:pt idx="58">
                <c:v>31</c:v>
              </c:pt>
              <c:pt idx="59">
                <c:v>32</c:v>
              </c:pt>
              <c:pt idx="60">
                <c:v>36</c:v>
              </c:pt>
              <c:pt idx="61">
                <c:v>31</c:v>
              </c:pt>
              <c:pt idx="62">
                <c:v>35</c:v>
              </c:pt>
              <c:pt idx="63">
                <c:v>45</c:v>
              </c:pt>
              <c:pt idx="64">
                <c:v>37</c:v>
              </c:pt>
              <c:pt idx="65">
                <c:v>46</c:v>
              </c:pt>
              <c:pt idx="66">
                <c:v>30</c:v>
              </c:pt>
              <c:pt idx="67">
                <c:v>35</c:v>
              </c:pt>
              <c:pt idx="68">
                <c:v>55</c:v>
              </c:pt>
              <c:pt idx="69">
                <c:v>38</c:v>
              </c:pt>
              <c:pt idx="70">
                <c:v>34</c:v>
              </c:pt>
              <c:pt idx="71">
                <c:v>56</c:v>
              </c:pt>
              <c:pt idx="72">
                <c:v>23</c:v>
              </c:pt>
              <c:pt idx="73">
                <c:v>51</c:v>
              </c:pt>
              <c:pt idx="74">
                <c:v>30</c:v>
              </c:pt>
              <c:pt idx="75">
                <c:v>40</c:v>
              </c:pt>
              <c:pt idx="76">
                <c:v>51</c:v>
              </c:pt>
              <c:pt idx="77">
                <c:v>30</c:v>
              </c:pt>
              <c:pt idx="78">
                <c:v>46</c:v>
              </c:pt>
              <c:pt idx="79">
                <c:v>32</c:v>
              </c:pt>
              <c:pt idx="80">
                <c:v>54</c:v>
              </c:pt>
              <c:pt idx="81">
                <c:v>24</c:v>
              </c:pt>
              <c:pt idx="82">
                <c:v>28</c:v>
              </c:pt>
              <c:pt idx="83">
                <c:v>58</c:v>
              </c:pt>
              <c:pt idx="84">
                <c:v>44</c:v>
              </c:pt>
              <c:pt idx="85">
                <c:v>32</c:v>
              </c:pt>
              <c:pt idx="86">
                <c:v>34</c:v>
              </c:pt>
              <c:pt idx="87">
                <c:v>37</c:v>
              </c:pt>
              <c:pt idx="88">
                <c:v>59</c:v>
              </c:pt>
              <c:pt idx="89">
                <c:v>50</c:v>
              </c:pt>
              <c:pt idx="90">
                <c:v>25</c:v>
              </c:pt>
              <c:pt idx="91">
                <c:v>22</c:v>
              </c:pt>
              <c:pt idx="92">
                <c:v>51</c:v>
              </c:pt>
              <c:pt idx="93">
                <c:v>54</c:v>
              </c:pt>
              <c:pt idx="94">
                <c:v>24</c:v>
              </c:pt>
              <c:pt idx="95">
                <c:v>34</c:v>
              </c:pt>
              <c:pt idx="96">
                <c:v>37</c:v>
              </c:pt>
              <c:pt idx="97">
                <c:v>34</c:v>
              </c:pt>
              <c:pt idx="98">
                <c:v>36</c:v>
              </c:pt>
              <c:pt idx="99">
                <c:v>36</c:v>
              </c:pt>
              <c:pt idx="100">
                <c:v>43</c:v>
              </c:pt>
              <c:pt idx="101">
                <c:v>30</c:v>
              </c:pt>
              <c:pt idx="102">
                <c:v>33</c:v>
              </c:pt>
              <c:pt idx="103">
                <c:v>51</c:v>
              </c:pt>
              <c:pt idx="104">
                <c:v>26</c:v>
              </c:pt>
              <c:pt idx="105">
                <c:v>22</c:v>
              </c:pt>
              <c:pt idx="106">
                <c:v>49</c:v>
              </c:pt>
              <c:pt idx="107">
                <c:v>43</c:v>
              </c:pt>
              <c:pt idx="108">
                <c:v>50</c:v>
              </c:pt>
              <c:pt idx="109">
                <c:v>41</c:v>
              </c:pt>
              <c:pt idx="110">
                <c:v>26</c:v>
              </c:pt>
              <c:pt idx="111">
                <c:v>36</c:v>
              </c:pt>
              <c:pt idx="112">
                <c:v>39</c:v>
              </c:pt>
              <c:pt idx="113">
                <c:v>25</c:v>
              </c:pt>
              <c:pt idx="114">
                <c:v>30</c:v>
              </c:pt>
              <c:pt idx="115">
                <c:v>45</c:v>
              </c:pt>
              <c:pt idx="116">
                <c:v>38</c:v>
              </c:pt>
              <c:pt idx="117">
                <c:v>30</c:v>
              </c:pt>
              <c:pt idx="118">
                <c:v>32</c:v>
              </c:pt>
              <c:pt idx="119">
                <c:v>30</c:v>
              </c:pt>
              <c:pt idx="120">
                <c:v>30</c:v>
              </c:pt>
              <c:pt idx="121">
                <c:v>41</c:v>
              </c:pt>
              <c:pt idx="122">
                <c:v>41</c:v>
              </c:pt>
              <c:pt idx="123">
                <c:v>19</c:v>
              </c:pt>
              <c:pt idx="124">
                <c:v>40</c:v>
              </c:pt>
              <c:pt idx="125">
                <c:v>35</c:v>
              </c:pt>
              <c:pt idx="126">
                <c:v>53</c:v>
              </c:pt>
              <c:pt idx="127">
                <c:v>45</c:v>
              </c:pt>
              <c:pt idx="128">
                <c:v>32</c:v>
              </c:pt>
              <c:pt idx="129">
                <c:v>29</c:v>
              </c:pt>
              <c:pt idx="130">
                <c:v>51</c:v>
              </c:pt>
              <c:pt idx="131">
                <c:v>58</c:v>
              </c:pt>
              <c:pt idx="132">
                <c:v>40</c:v>
              </c:pt>
              <c:pt idx="133">
                <c:v>34</c:v>
              </c:pt>
              <c:pt idx="134">
                <c:v>22</c:v>
              </c:pt>
              <c:pt idx="135">
                <c:v>27</c:v>
              </c:pt>
              <c:pt idx="136">
                <c:v>28</c:v>
              </c:pt>
              <c:pt idx="137">
                <c:v>57</c:v>
              </c:pt>
              <c:pt idx="138">
                <c:v>27</c:v>
              </c:pt>
              <c:pt idx="139">
                <c:v>50</c:v>
              </c:pt>
              <c:pt idx="140">
                <c:v>41</c:v>
              </c:pt>
              <c:pt idx="141">
                <c:v>30</c:v>
              </c:pt>
              <c:pt idx="142">
                <c:v>38</c:v>
              </c:pt>
              <c:pt idx="143">
                <c:v>32</c:v>
              </c:pt>
              <c:pt idx="144">
                <c:v>27</c:v>
              </c:pt>
              <c:pt idx="145">
                <c:v>36</c:v>
              </c:pt>
              <c:pt idx="146">
                <c:v>30</c:v>
              </c:pt>
              <c:pt idx="147">
                <c:v>45</c:v>
              </c:pt>
              <c:pt idx="148">
                <c:v>56</c:v>
              </c:pt>
              <c:pt idx="149">
                <c:v>33</c:v>
              </c:pt>
              <c:pt idx="150">
                <c:v>46</c:v>
              </c:pt>
              <c:pt idx="151">
                <c:v>38</c:v>
              </c:pt>
              <c:pt idx="152">
                <c:v>31</c:v>
              </c:pt>
              <c:pt idx="153">
                <c:v>34</c:v>
              </c:pt>
              <c:pt idx="154">
                <c:v>50</c:v>
              </c:pt>
              <c:pt idx="155">
                <c:v>53</c:v>
              </c:pt>
              <c:pt idx="156">
                <c:v>33</c:v>
              </c:pt>
              <c:pt idx="157">
                <c:v>40</c:v>
              </c:pt>
              <c:pt idx="158">
                <c:v>55</c:v>
              </c:pt>
              <c:pt idx="159">
                <c:v>34</c:v>
              </c:pt>
              <c:pt idx="160">
                <c:v>51</c:v>
              </c:pt>
              <c:pt idx="161">
                <c:v>52</c:v>
              </c:pt>
              <c:pt idx="162">
                <c:v>27</c:v>
              </c:pt>
              <c:pt idx="163">
                <c:v>43</c:v>
              </c:pt>
              <c:pt idx="164">
                <c:v>45</c:v>
              </c:pt>
              <c:pt idx="165">
                <c:v>37</c:v>
              </c:pt>
              <c:pt idx="166">
                <c:v>35</c:v>
              </c:pt>
              <c:pt idx="167">
                <c:v>42</c:v>
              </c:pt>
              <c:pt idx="168">
                <c:v>38</c:v>
              </c:pt>
              <c:pt idx="169">
                <c:v>38</c:v>
              </c:pt>
              <c:pt idx="170">
                <c:v>27</c:v>
              </c:pt>
              <c:pt idx="171">
                <c:v>49</c:v>
              </c:pt>
              <c:pt idx="172">
                <c:v>34</c:v>
              </c:pt>
              <c:pt idx="173">
                <c:v>40</c:v>
              </c:pt>
              <c:pt idx="174">
                <c:v>22</c:v>
              </c:pt>
              <c:pt idx="175">
                <c:v>36</c:v>
              </c:pt>
              <c:pt idx="176">
                <c:v>40</c:v>
              </c:pt>
              <c:pt idx="177">
                <c:v>46</c:v>
              </c:pt>
              <c:pt idx="178">
                <c:v>30</c:v>
              </c:pt>
              <c:pt idx="179">
                <c:v>27</c:v>
              </c:pt>
              <c:pt idx="180">
                <c:v>51</c:v>
              </c:pt>
              <c:pt idx="181">
                <c:v>41</c:v>
              </c:pt>
              <c:pt idx="182">
                <c:v>45</c:v>
              </c:pt>
              <c:pt idx="183">
                <c:v>54</c:v>
              </c:pt>
              <c:pt idx="184">
                <c:v>36</c:v>
              </c:pt>
              <c:pt idx="185">
                <c:v>33</c:v>
              </c:pt>
              <c:pt idx="186">
                <c:v>37</c:v>
              </c:pt>
              <c:pt idx="187">
                <c:v>38</c:v>
              </c:pt>
              <c:pt idx="188">
                <c:v>31</c:v>
              </c:pt>
              <c:pt idx="189">
                <c:v>59</c:v>
              </c:pt>
              <c:pt idx="190">
                <c:v>37</c:v>
              </c:pt>
              <c:pt idx="191">
                <c:v>29</c:v>
              </c:pt>
              <c:pt idx="192">
                <c:v>35</c:v>
              </c:pt>
              <c:pt idx="193">
                <c:v>52</c:v>
              </c:pt>
              <c:pt idx="194">
                <c:v>42</c:v>
              </c:pt>
              <c:pt idx="195">
                <c:v>59</c:v>
              </c:pt>
              <c:pt idx="196">
                <c:v>50</c:v>
              </c:pt>
              <c:pt idx="197">
                <c:v>43</c:v>
              </c:pt>
              <c:pt idx="198">
                <c:v>52</c:v>
              </c:pt>
              <c:pt idx="199">
                <c:v>32</c:v>
              </c:pt>
              <c:pt idx="200">
                <c:v>39</c:v>
              </c:pt>
              <c:pt idx="201">
                <c:v>32</c:v>
              </c:pt>
              <c:pt idx="202">
                <c:v>41</c:v>
              </c:pt>
              <c:pt idx="203">
                <c:v>40</c:v>
              </c:pt>
              <c:pt idx="204">
                <c:v>45</c:v>
              </c:pt>
              <c:pt idx="205">
                <c:v>31</c:v>
              </c:pt>
              <c:pt idx="206">
                <c:v>33</c:v>
              </c:pt>
              <c:pt idx="207">
                <c:v>34</c:v>
              </c:pt>
              <c:pt idx="208">
                <c:v>37</c:v>
              </c:pt>
              <c:pt idx="209">
                <c:v>45</c:v>
              </c:pt>
              <c:pt idx="210">
                <c:v>39</c:v>
              </c:pt>
              <c:pt idx="211">
                <c:v>29</c:v>
              </c:pt>
              <c:pt idx="212">
                <c:v>42</c:v>
              </c:pt>
              <c:pt idx="213">
                <c:v>29</c:v>
              </c:pt>
              <c:pt idx="214">
                <c:v>25</c:v>
              </c:pt>
              <c:pt idx="215">
                <c:v>42</c:v>
              </c:pt>
              <c:pt idx="216">
                <c:v>40</c:v>
              </c:pt>
              <c:pt idx="217">
                <c:v>51</c:v>
              </c:pt>
              <c:pt idx="218">
                <c:v>32</c:v>
              </c:pt>
              <c:pt idx="219">
                <c:v>38</c:v>
              </c:pt>
              <c:pt idx="220">
                <c:v>32</c:v>
              </c:pt>
              <c:pt idx="221">
                <c:v>46</c:v>
              </c:pt>
              <c:pt idx="222">
                <c:v>29</c:v>
              </c:pt>
              <c:pt idx="223">
                <c:v>31</c:v>
              </c:pt>
              <c:pt idx="224">
                <c:v>25</c:v>
              </c:pt>
              <c:pt idx="225">
                <c:v>45</c:v>
              </c:pt>
              <c:pt idx="226">
                <c:v>36</c:v>
              </c:pt>
              <c:pt idx="227">
                <c:v>55</c:v>
              </c:pt>
              <c:pt idx="228">
                <c:v>28</c:v>
              </c:pt>
              <c:pt idx="229">
                <c:v>37</c:v>
              </c:pt>
              <c:pt idx="230">
                <c:v>21</c:v>
              </c:pt>
              <c:pt idx="231">
                <c:v>37</c:v>
              </c:pt>
              <c:pt idx="232">
                <c:v>35</c:v>
              </c:pt>
              <c:pt idx="233">
                <c:v>38</c:v>
              </c:pt>
              <c:pt idx="234">
                <c:v>26</c:v>
              </c:pt>
              <c:pt idx="235">
                <c:v>50</c:v>
              </c:pt>
              <c:pt idx="236">
                <c:v>53</c:v>
              </c:pt>
              <c:pt idx="237">
                <c:v>42</c:v>
              </c:pt>
              <c:pt idx="238">
                <c:v>29</c:v>
              </c:pt>
              <c:pt idx="239">
                <c:v>55</c:v>
              </c:pt>
              <c:pt idx="240">
                <c:v>26</c:v>
              </c:pt>
              <c:pt idx="241">
                <c:v>37</c:v>
              </c:pt>
              <c:pt idx="242">
                <c:v>38</c:v>
              </c:pt>
              <c:pt idx="243">
                <c:v>28</c:v>
              </c:pt>
              <c:pt idx="244">
                <c:v>49</c:v>
              </c:pt>
              <c:pt idx="245">
                <c:v>36</c:v>
              </c:pt>
              <c:pt idx="246">
                <c:v>31</c:v>
              </c:pt>
              <c:pt idx="247">
                <c:v>37</c:v>
              </c:pt>
              <c:pt idx="248">
                <c:v>42</c:v>
              </c:pt>
              <c:pt idx="249">
                <c:v>35</c:v>
              </c:pt>
              <c:pt idx="250">
                <c:v>36</c:v>
              </c:pt>
              <c:pt idx="251">
                <c:v>51</c:v>
              </c:pt>
              <c:pt idx="252">
                <c:v>41</c:v>
              </c:pt>
              <c:pt idx="253">
                <c:v>18</c:v>
              </c:pt>
              <c:pt idx="254">
                <c:v>28</c:v>
              </c:pt>
              <c:pt idx="255">
                <c:v>31</c:v>
              </c:pt>
              <c:pt idx="256">
                <c:v>39</c:v>
              </c:pt>
              <c:pt idx="257">
                <c:v>36</c:v>
              </c:pt>
              <c:pt idx="258">
                <c:v>32</c:v>
              </c:pt>
              <c:pt idx="259">
                <c:v>38</c:v>
              </c:pt>
              <c:pt idx="260">
                <c:v>58</c:v>
              </c:pt>
              <c:pt idx="261">
                <c:v>31</c:v>
              </c:pt>
              <c:pt idx="262">
                <c:v>31</c:v>
              </c:pt>
              <c:pt idx="263">
                <c:v>45</c:v>
              </c:pt>
              <c:pt idx="264">
                <c:v>31</c:v>
              </c:pt>
              <c:pt idx="265">
                <c:v>33</c:v>
              </c:pt>
              <c:pt idx="266">
                <c:v>39</c:v>
              </c:pt>
              <c:pt idx="267">
                <c:v>43</c:v>
              </c:pt>
              <c:pt idx="268">
                <c:v>49</c:v>
              </c:pt>
              <c:pt idx="269">
                <c:v>27</c:v>
              </c:pt>
              <c:pt idx="270">
                <c:v>32</c:v>
              </c:pt>
              <c:pt idx="271">
                <c:v>27</c:v>
              </c:pt>
              <c:pt idx="272">
                <c:v>31</c:v>
              </c:pt>
              <c:pt idx="273">
                <c:v>32</c:v>
              </c:pt>
              <c:pt idx="274">
                <c:v>30</c:v>
              </c:pt>
              <c:pt idx="275">
                <c:v>31</c:v>
              </c:pt>
              <c:pt idx="276">
                <c:v>39</c:v>
              </c:pt>
              <c:pt idx="277">
                <c:v>33</c:v>
              </c:pt>
              <c:pt idx="278">
                <c:v>47</c:v>
              </c:pt>
              <c:pt idx="279">
                <c:v>43</c:v>
              </c:pt>
              <c:pt idx="280">
                <c:v>27</c:v>
              </c:pt>
              <c:pt idx="281">
                <c:v>54</c:v>
              </c:pt>
              <c:pt idx="282">
                <c:v>43</c:v>
              </c:pt>
              <c:pt idx="283">
                <c:v>45</c:v>
              </c:pt>
              <c:pt idx="284">
                <c:v>40</c:v>
              </c:pt>
              <c:pt idx="285">
                <c:v>29</c:v>
              </c:pt>
              <c:pt idx="286">
                <c:v>30</c:v>
              </c:pt>
              <c:pt idx="287">
                <c:v>27</c:v>
              </c:pt>
              <c:pt idx="288">
                <c:v>37</c:v>
              </c:pt>
              <c:pt idx="289">
                <c:v>38</c:v>
              </c:pt>
              <c:pt idx="290">
                <c:v>31</c:v>
              </c:pt>
              <c:pt idx="291">
                <c:v>29</c:v>
              </c:pt>
              <c:pt idx="292">
                <c:v>35</c:v>
              </c:pt>
              <c:pt idx="293">
                <c:v>23</c:v>
              </c:pt>
              <c:pt idx="294">
                <c:v>41</c:v>
              </c:pt>
              <c:pt idx="295">
                <c:v>47</c:v>
              </c:pt>
              <c:pt idx="296">
                <c:v>42</c:v>
              </c:pt>
              <c:pt idx="297">
                <c:v>29</c:v>
              </c:pt>
              <c:pt idx="298">
                <c:v>42</c:v>
              </c:pt>
              <c:pt idx="299">
                <c:v>32</c:v>
              </c:pt>
              <c:pt idx="300">
                <c:v>48</c:v>
              </c:pt>
              <c:pt idx="301">
                <c:v>37</c:v>
              </c:pt>
              <c:pt idx="302">
                <c:v>30</c:v>
              </c:pt>
              <c:pt idx="303">
                <c:v>26</c:v>
              </c:pt>
              <c:pt idx="304">
                <c:v>42</c:v>
              </c:pt>
              <c:pt idx="305">
                <c:v>36</c:v>
              </c:pt>
              <c:pt idx="306">
                <c:v>36</c:v>
              </c:pt>
              <c:pt idx="307">
                <c:v>57</c:v>
              </c:pt>
              <c:pt idx="308">
                <c:v>40</c:v>
              </c:pt>
              <c:pt idx="309">
                <c:v>21</c:v>
              </c:pt>
              <c:pt idx="310">
                <c:v>37</c:v>
              </c:pt>
              <c:pt idx="311">
                <c:v>46</c:v>
              </c:pt>
              <c:pt idx="312">
                <c:v>50</c:v>
              </c:pt>
              <c:pt idx="313">
                <c:v>31</c:v>
              </c:pt>
              <c:pt idx="314">
                <c:v>29</c:v>
              </c:pt>
              <c:pt idx="315">
                <c:v>35</c:v>
              </c:pt>
              <c:pt idx="316">
                <c:v>27</c:v>
              </c:pt>
              <c:pt idx="317">
                <c:v>28</c:v>
              </c:pt>
              <c:pt idx="318">
                <c:v>49</c:v>
              </c:pt>
              <c:pt idx="319">
                <c:v>51</c:v>
              </c:pt>
              <c:pt idx="320">
                <c:v>36</c:v>
              </c:pt>
              <c:pt idx="321">
                <c:v>55</c:v>
              </c:pt>
              <c:pt idx="322">
                <c:v>24</c:v>
              </c:pt>
              <c:pt idx="323">
                <c:v>30</c:v>
              </c:pt>
              <c:pt idx="324">
                <c:v>22</c:v>
              </c:pt>
              <c:pt idx="325">
                <c:v>36</c:v>
              </c:pt>
              <c:pt idx="326">
                <c:v>37</c:v>
              </c:pt>
              <c:pt idx="327">
                <c:v>40</c:v>
              </c:pt>
              <c:pt idx="328">
                <c:v>42</c:v>
              </c:pt>
              <c:pt idx="329">
                <c:v>37</c:v>
              </c:pt>
              <c:pt idx="330">
                <c:v>43</c:v>
              </c:pt>
              <c:pt idx="331">
                <c:v>40</c:v>
              </c:pt>
              <c:pt idx="332">
                <c:v>54</c:v>
              </c:pt>
              <c:pt idx="333">
                <c:v>34</c:v>
              </c:pt>
              <c:pt idx="334">
                <c:v>31</c:v>
              </c:pt>
              <c:pt idx="335">
                <c:v>43</c:v>
              </c:pt>
              <c:pt idx="336">
                <c:v>43</c:v>
              </c:pt>
              <c:pt idx="337">
                <c:v>25</c:v>
              </c:pt>
              <c:pt idx="338">
                <c:v>37</c:v>
              </c:pt>
              <c:pt idx="339">
                <c:v>31</c:v>
              </c:pt>
              <c:pt idx="340">
                <c:v>39</c:v>
              </c:pt>
              <c:pt idx="341">
                <c:v>56</c:v>
              </c:pt>
              <c:pt idx="342">
                <c:v>30</c:v>
              </c:pt>
              <c:pt idx="343">
                <c:v>41</c:v>
              </c:pt>
              <c:pt idx="344">
                <c:v>28</c:v>
              </c:pt>
              <c:pt idx="345">
                <c:v>52</c:v>
              </c:pt>
              <c:pt idx="346">
                <c:v>45</c:v>
              </c:pt>
              <c:pt idx="347">
                <c:v>52</c:v>
              </c:pt>
              <c:pt idx="348">
                <c:v>42</c:v>
              </c:pt>
              <c:pt idx="349">
                <c:v>30</c:v>
              </c:pt>
              <c:pt idx="350">
                <c:v>60</c:v>
              </c:pt>
              <c:pt idx="351">
                <c:v>46</c:v>
              </c:pt>
              <c:pt idx="352">
                <c:v>42</c:v>
              </c:pt>
              <c:pt idx="353">
                <c:v>38</c:v>
              </c:pt>
              <c:pt idx="354">
                <c:v>40</c:v>
              </c:pt>
              <c:pt idx="355">
                <c:v>26</c:v>
              </c:pt>
              <c:pt idx="356">
                <c:v>30</c:v>
              </c:pt>
              <c:pt idx="357">
                <c:v>29</c:v>
              </c:pt>
              <c:pt idx="358">
                <c:v>30</c:v>
              </c:pt>
              <c:pt idx="359">
                <c:v>57</c:v>
              </c:pt>
              <c:pt idx="360">
                <c:v>50</c:v>
              </c:pt>
              <c:pt idx="361">
                <c:v>30</c:v>
              </c:pt>
              <c:pt idx="362">
                <c:v>60</c:v>
              </c:pt>
              <c:pt idx="363">
                <c:v>47</c:v>
              </c:pt>
              <c:pt idx="364">
                <c:v>46</c:v>
              </c:pt>
              <c:pt idx="365">
                <c:v>35</c:v>
              </c:pt>
              <c:pt idx="366">
                <c:v>54</c:v>
              </c:pt>
              <c:pt idx="367">
                <c:v>34</c:v>
              </c:pt>
              <c:pt idx="368">
                <c:v>46</c:v>
              </c:pt>
              <c:pt idx="369">
                <c:v>31</c:v>
              </c:pt>
              <c:pt idx="370">
                <c:v>30</c:v>
              </c:pt>
              <c:pt idx="371">
                <c:v>35</c:v>
              </c:pt>
              <c:pt idx="372">
                <c:v>42</c:v>
              </c:pt>
              <c:pt idx="373">
                <c:v>36</c:v>
              </c:pt>
              <c:pt idx="374">
                <c:v>48</c:v>
              </c:pt>
              <c:pt idx="375">
                <c:v>55</c:v>
              </c:pt>
              <c:pt idx="376">
                <c:v>41</c:v>
              </c:pt>
              <c:pt idx="377">
                <c:v>35</c:v>
              </c:pt>
              <c:pt idx="378">
                <c:v>40</c:v>
              </c:pt>
              <c:pt idx="379">
                <c:v>39</c:v>
              </c:pt>
              <c:pt idx="380">
                <c:v>31</c:v>
              </c:pt>
              <c:pt idx="381">
                <c:v>42</c:v>
              </c:pt>
              <c:pt idx="382">
                <c:v>45</c:v>
              </c:pt>
              <c:pt idx="383">
                <c:v>29</c:v>
              </c:pt>
              <c:pt idx="384">
                <c:v>33</c:v>
              </c:pt>
              <c:pt idx="385">
                <c:v>31</c:v>
              </c:pt>
              <c:pt idx="386">
                <c:v>40</c:v>
              </c:pt>
              <c:pt idx="387">
                <c:v>41</c:v>
              </c:pt>
              <c:pt idx="388">
                <c:v>26</c:v>
              </c:pt>
              <c:pt idx="389">
                <c:v>35</c:v>
              </c:pt>
              <c:pt idx="390">
                <c:v>34</c:v>
              </c:pt>
              <c:pt idx="391">
                <c:v>37</c:v>
              </c:pt>
              <c:pt idx="392">
                <c:v>46</c:v>
              </c:pt>
              <c:pt idx="393">
                <c:v>41</c:v>
              </c:pt>
              <c:pt idx="394">
                <c:v>37</c:v>
              </c:pt>
              <c:pt idx="395">
                <c:v>52</c:v>
              </c:pt>
              <c:pt idx="396">
                <c:v>24</c:v>
              </c:pt>
              <c:pt idx="397">
                <c:v>38</c:v>
              </c:pt>
              <c:pt idx="398">
                <c:v>37</c:v>
              </c:pt>
              <c:pt idx="399">
                <c:v>49</c:v>
              </c:pt>
              <c:pt idx="400">
                <c:v>24</c:v>
              </c:pt>
              <c:pt idx="401">
                <c:v>26</c:v>
              </c:pt>
              <c:pt idx="402">
                <c:v>24</c:v>
              </c:pt>
              <c:pt idx="403">
                <c:v>50</c:v>
              </c:pt>
              <c:pt idx="404">
                <c:v>25</c:v>
              </c:pt>
              <c:pt idx="405">
                <c:v>34</c:v>
              </c:pt>
              <c:pt idx="406">
                <c:v>35</c:v>
              </c:pt>
              <c:pt idx="407">
                <c:v>31</c:v>
              </c:pt>
              <c:pt idx="408">
                <c:v>27</c:v>
              </c:pt>
              <c:pt idx="409">
                <c:v>37</c:v>
              </c:pt>
              <c:pt idx="410">
                <c:v>20</c:v>
              </c:pt>
              <c:pt idx="411">
                <c:v>42</c:v>
              </c:pt>
              <c:pt idx="412">
                <c:v>43</c:v>
              </c:pt>
              <c:pt idx="413">
                <c:v>38</c:v>
              </c:pt>
              <c:pt idx="414">
                <c:v>43</c:v>
              </c:pt>
              <c:pt idx="415">
                <c:v>48</c:v>
              </c:pt>
              <c:pt idx="416">
                <c:v>44</c:v>
              </c:pt>
              <c:pt idx="417">
                <c:v>34</c:v>
              </c:pt>
              <c:pt idx="418">
                <c:v>21</c:v>
              </c:pt>
              <c:pt idx="419">
                <c:v>44</c:v>
              </c:pt>
              <c:pt idx="420">
                <c:v>22</c:v>
              </c:pt>
              <c:pt idx="421">
                <c:v>33</c:v>
              </c:pt>
              <c:pt idx="422">
                <c:v>32</c:v>
              </c:pt>
              <c:pt idx="423">
                <c:v>30</c:v>
              </c:pt>
              <c:pt idx="424">
                <c:v>53</c:v>
              </c:pt>
              <c:pt idx="425">
                <c:v>34</c:v>
              </c:pt>
              <c:pt idx="426">
                <c:v>26</c:v>
              </c:pt>
              <c:pt idx="427">
                <c:v>37</c:v>
              </c:pt>
              <c:pt idx="428">
                <c:v>29</c:v>
              </c:pt>
              <c:pt idx="429">
                <c:v>35</c:v>
              </c:pt>
              <c:pt idx="430">
                <c:v>33</c:v>
              </c:pt>
              <c:pt idx="431">
                <c:v>54</c:v>
              </c:pt>
              <c:pt idx="432">
                <c:v>36</c:v>
              </c:pt>
              <c:pt idx="433">
                <c:v>27</c:v>
              </c:pt>
              <c:pt idx="434">
                <c:v>35</c:v>
              </c:pt>
              <c:pt idx="435">
                <c:v>23</c:v>
              </c:pt>
              <c:pt idx="436">
                <c:v>25</c:v>
              </c:pt>
              <c:pt idx="437">
                <c:v>38</c:v>
              </c:pt>
              <c:pt idx="438">
                <c:v>29</c:v>
              </c:pt>
              <c:pt idx="439">
                <c:v>48</c:v>
              </c:pt>
              <c:pt idx="440">
                <c:v>27</c:v>
              </c:pt>
              <c:pt idx="441">
                <c:v>37</c:v>
              </c:pt>
              <c:pt idx="442">
                <c:v>50</c:v>
              </c:pt>
              <c:pt idx="443">
                <c:v>34</c:v>
              </c:pt>
              <c:pt idx="444">
                <c:v>39</c:v>
              </c:pt>
              <c:pt idx="445">
                <c:v>32</c:v>
              </c:pt>
              <c:pt idx="446">
                <c:v>38</c:v>
              </c:pt>
              <c:pt idx="447">
                <c:v>27</c:v>
              </c:pt>
              <c:pt idx="448">
                <c:v>32</c:v>
              </c:pt>
              <c:pt idx="449">
                <c:v>47</c:v>
              </c:pt>
              <c:pt idx="450">
                <c:v>40</c:v>
              </c:pt>
              <c:pt idx="451">
                <c:v>53</c:v>
              </c:pt>
              <c:pt idx="452">
                <c:v>41</c:v>
              </c:pt>
              <c:pt idx="453">
                <c:v>60</c:v>
              </c:pt>
              <c:pt idx="454">
                <c:v>27</c:v>
              </c:pt>
              <c:pt idx="455">
                <c:v>41</c:v>
              </c:pt>
              <c:pt idx="456">
                <c:v>50</c:v>
              </c:pt>
              <c:pt idx="457">
                <c:v>36</c:v>
              </c:pt>
              <c:pt idx="458">
                <c:v>38</c:v>
              </c:pt>
              <c:pt idx="459">
                <c:v>44</c:v>
              </c:pt>
              <c:pt idx="460">
                <c:v>47</c:v>
              </c:pt>
              <c:pt idx="461">
                <c:v>30</c:v>
              </c:pt>
              <c:pt idx="462">
                <c:v>29</c:v>
              </c:pt>
              <c:pt idx="463">
                <c:v>43</c:v>
              </c:pt>
              <c:pt idx="464">
                <c:v>34</c:v>
              </c:pt>
              <c:pt idx="465">
                <c:v>23</c:v>
              </c:pt>
              <c:pt idx="466">
                <c:v>39</c:v>
              </c:pt>
              <c:pt idx="467">
                <c:v>56</c:v>
              </c:pt>
              <c:pt idx="468">
                <c:v>40</c:v>
              </c:pt>
              <c:pt idx="469">
                <c:v>27</c:v>
              </c:pt>
              <c:pt idx="470">
                <c:v>29</c:v>
              </c:pt>
              <c:pt idx="471">
                <c:v>53</c:v>
              </c:pt>
              <c:pt idx="472">
                <c:v>35</c:v>
              </c:pt>
              <c:pt idx="473">
                <c:v>32</c:v>
              </c:pt>
              <c:pt idx="474">
                <c:v>38</c:v>
              </c:pt>
              <c:pt idx="475">
                <c:v>34</c:v>
              </c:pt>
              <c:pt idx="476">
                <c:v>52</c:v>
              </c:pt>
              <c:pt idx="477">
                <c:v>25</c:v>
              </c:pt>
              <c:pt idx="478">
                <c:v>45</c:v>
              </c:pt>
              <c:pt idx="479">
                <c:v>23</c:v>
              </c:pt>
              <c:pt idx="480">
                <c:v>34</c:v>
              </c:pt>
              <c:pt idx="481">
                <c:v>36</c:v>
              </c:pt>
              <c:pt idx="482">
                <c:v>52</c:v>
              </c:pt>
              <c:pt idx="483">
                <c:v>26</c:v>
              </c:pt>
              <c:pt idx="484">
                <c:v>29</c:v>
              </c:pt>
              <c:pt idx="485">
                <c:v>34</c:v>
              </c:pt>
              <c:pt idx="486">
                <c:v>54</c:v>
              </c:pt>
              <c:pt idx="487">
                <c:v>27</c:v>
              </c:pt>
              <c:pt idx="488">
                <c:v>37</c:v>
              </c:pt>
              <c:pt idx="489">
                <c:v>38</c:v>
              </c:pt>
              <c:pt idx="490">
                <c:v>34</c:v>
              </c:pt>
              <c:pt idx="491">
                <c:v>35</c:v>
              </c:pt>
              <c:pt idx="492">
                <c:v>30</c:v>
              </c:pt>
              <c:pt idx="493">
                <c:v>40</c:v>
              </c:pt>
              <c:pt idx="494">
                <c:v>34</c:v>
              </c:pt>
              <c:pt idx="495">
                <c:v>42</c:v>
              </c:pt>
              <c:pt idx="496">
                <c:v>24</c:v>
              </c:pt>
              <c:pt idx="497">
                <c:v>52</c:v>
              </c:pt>
              <c:pt idx="498">
                <c:v>50</c:v>
              </c:pt>
              <c:pt idx="499">
                <c:v>33</c:v>
              </c:pt>
              <c:pt idx="500">
                <c:v>47</c:v>
              </c:pt>
              <c:pt idx="501">
                <c:v>36</c:v>
              </c:pt>
              <c:pt idx="502">
                <c:v>29</c:v>
              </c:pt>
              <c:pt idx="503">
                <c:v>35</c:v>
              </c:pt>
              <c:pt idx="504">
                <c:v>42</c:v>
              </c:pt>
              <c:pt idx="505">
                <c:v>36</c:v>
              </c:pt>
              <c:pt idx="506">
                <c:v>32</c:v>
              </c:pt>
              <c:pt idx="507">
                <c:v>40</c:v>
              </c:pt>
              <c:pt idx="508">
                <c:v>30</c:v>
              </c:pt>
              <c:pt idx="509">
                <c:v>45</c:v>
              </c:pt>
              <c:pt idx="510">
                <c:v>42</c:v>
              </c:pt>
              <c:pt idx="511">
                <c:v>38</c:v>
              </c:pt>
              <c:pt idx="512">
                <c:v>34</c:v>
              </c:pt>
              <c:pt idx="513">
                <c:v>43</c:v>
              </c:pt>
              <c:pt idx="514">
                <c:v>27</c:v>
              </c:pt>
              <c:pt idx="515">
                <c:v>35</c:v>
              </c:pt>
              <c:pt idx="516">
                <c:v>28</c:v>
              </c:pt>
              <c:pt idx="517">
                <c:v>34</c:v>
              </c:pt>
              <c:pt idx="518">
                <c:v>27</c:v>
              </c:pt>
              <c:pt idx="519">
                <c:v>51</c:v>
              </c:pt>
              <c:pt idx="520">
                <c:v>44</c:v>
              </c:pt>
              <c:pt idx="521">
                <c:v>25</c:v>
              </c:pt>
              <c:pt idx="522">
                <c:v>33</c:v>
              </c:pt>
              <c:pt idx="523">
                <c:v>35</c:v>
              </c:pt>
              <c:pt idx="524">
                <c:v>36</c:v>
              </c:pt>
              <c:pt idx="525">
                <c:v>32</c:v>
              </c:pt>
              <c:pt idx="526">
                <c:v>30</c:v>
              </c:pt>
              <c:pt idx="527">
                <c:v>53</c:v>
              </c:pt>
              <c:pt idx="528">
                <c:v>45</c:v>
              </c:pt>
              <c:pt idx="529">
                <c:v>32</c:v>
              </c:pt>
              <c:pt idx="530">
                <c:v>52</c:v>
              </c:pt>
              <c:pt idx="531">
                <c:v>37</c:v>
              </c:pt>
              <c:pt idx="532">
                <c:v>28</c:v>
              </c:pt>
              <c:pt idx="533">
                <c:v>22</c:v>
              </c:pt>
              <c:pt idx="534">
                <c:v>44</c:v>
              </c:pt>
              <c:pt idx="535">
                <c:v>42</c:v>
              </c:pt>
              <c:pt idx="536">
                <c:v>36</c:v>
              </c:pt>
              <c:pt idx="537">
                <c:v>25</c:v>
              </c:pt>
              <c:pt idx="538">
                <c:v>35</c:v>
              </c:pt>
              <c:pt idx="539">
                <c:v>32</c:v>
              </c:pt>
              <c:pt idx="540">
                <c:v>25</c:v>
              </c:pt>
              <c:pt idx="541">
                <c:v>49</c:v>
              </c:pt>
              <c:pt idx="542">
                <c:v>24</c:v>
              </c:pt>
              <c:pt idx="543">
                <c:v>32</c:v>
              </c:pt>
              <c:pt idx="544">
                <c:v>38</c:v>
              </c:pt>
              <c:pt idx="545">
                <c:v>42</c:v>
              </c:pt>
              <c:pt idx="546">
                <c:v>31</c:v>
              </c:pt>
              <c:pt idx="547">
                <c:v>53</c:v>
              </c:pt>
              <c:pt idx="548">
                <c:v>35</c:v>
              </c:pt>
              <c:pt idx="549">
                <c:v>37</c:v>
              </c:pt>
              <c:pt idx="550">
                <c:v>53</c:v>
              </c:pt>
              <c:pt idx="551">
                <c:v>43</c:v>
              </c:pt>
              <c:pt idx="552">
                <c:v>47</c:v>
              </c:pt>
              <c:pt idx="553">
                <c:v>37</c:v>
              </c:pt>
              <c:pt idx="554">
                <c:v>50</c:v>
              </c:pt>
              <c:pt idx="555">
                <c:v>39</c:v>
              </c:pt>
              <c:pt idx="556">
                <c:v>33</c:v>
              </c:pt>
              <c:pt idx="557">
                <c:v>29</c:v>
              </c:pt>
              <c:pt idx="558">
                <c:v>44</c:v>
              </c:pt>
              <c:pt idx="559">
                <c:v>28</c:v>
              </c:pt>
              <c:pt idx="560">
                <c:v>43</c:v>
              </c:pt>
              <c:pt idx="561">
                <c:v>36</c:v>
              </c:pt>
              <c:pt idx="562">
                <c:v>47</c:v>
              </c:pt>
              <c:pt idx="563">
                <c:v>28</c:v>
              </c:pt>
              <c:pt idx="564">
                <c:v>27</c:v>
              </c:pt>
              <c:pt idx="565">
                <c:v>34</c:v>
              </c:pt>
              <c:pt idx="566">
                <c:v>42</c:v>
              </c:pt>
              <c:pt idx="567">
                <c:v>33</c:v>
              </c:pt>
              <c:pt idx="568">
                <c:v>58</c:v>
              </c:pt>
              <c:pt idx="569">
                <c:v>31</c:v>
              </c:pt>
              <c:pt idx="570">
                <c:v>35</c:v>
              </c:pt>
              <c:pt idx="571">
                <c:v>49</c:v>
              </c:pt>
              <c:pt idx="572">
                <c:v>48</c:v>
              </c:pt>
              <c:pt idx="573">
                <c:v>31</c:v>
              </c:pt>
              <c:pt idx="574">
                <c:v>36</c:v>
              </c:pt>
              <c:pt idx="575">
                <c:v>38</c:v>
              </c:pt>
              <c:pt idx="576">
                <c:v>32</c:v>
              </c:pt>
              <c:pt idx="577">
                <c:v>40</c:v>
              </c:pt>
              <c:pt idx="578">
                <c:v>26</c:v>
              </c:pt>
              <c:pt idx="579">
                <c:v>41</c:v>
              </c:pt>
              <c:pt idx="580">
                <c:v>36</c:v>
              </c:pt>
              <c:pt idx="581">
                <c:v>31</c:v>
              </c:pt>
              <c:pt idx="582">
                <c:v>40</c:v>
              </c:pt>
              <c:pt idx="583">
                <c:v>32</c:v>
              </c:pt>
              <c:pt idx="584">
                <c:v>33</c:v>
              </c:pt>
              <c:pt idx="585">
                <c:v>45</c:v>
              </c:pt>
              <c:pt idx="586">
                <c:v>29</c:v>
              </c:pt>
              <c:pt idx="587">
                <c:v>35</c:v>
              </c:pt>
              <c:pt idx="588">
                <c:v>52</c:v>
              </c:pt>
              <c:pt idx="589">
                <c:v>53</c:v>
              </c:pt>
              <c:pt idx="590">
                <c:v>30</c:v>
              </c:pt>
              <c:pt idx="591">
                <c:v>38</c:v>
              </c:pt>
              <c:pt idx="592">
                <c:v>35</c:v>
              </c:pt>
              <c:pt idx="593">
                <c:v>39</c:v>
              </c:pt>
              <c:pt idx="594">
                <c:v>47</c:v>
              </c:pt>
              <c:pt idx="595">
                <c:v>36</c:v>
              </c:pt>
              <c:pt idx="596">
                <c:v>33</c:v>
              </c:pt>
              <c:pt idx="597">
                <c:v>33</c:v>
              </c:pt>
              <c:pt idx="598">
                <c:v>45</c:v>
              </c:pt>
              <c:pt idx="599">
                <c:v>50</c:v>
              </c:pt>
              <c:pt idx="600">
                <c:v>33</c:v>
              </c:pt>
              <c:pt idx="601">
                <c:v>41</c:v>
              </c:pt>
              <c:pt idx="602">
                <c:v>27</c:v>
              </c:pt>
              <c:pt idx="603">
                <c:v>45</c:v>
              </c:pt>
              <c:pt idx="604">
                <c:v>47</c:v>
              </c:pt>
              <c:pt idx="605">
                <c:v>50</c:v>
              </c:pt>
              <c:pt idx="606">
                <c:v>38</c:v>
              </c:pt>
              <c:pt idx="607">
                <c:v>46</c:v>
              </c:pt>
              <c:pt idx="608">
                <c:v>24</c:v>
              </c:pt>
              <c:pt idx="609">
                <c:v>31</c:v>
              </c:pt>
              <c:pt idx="610">
                <c:v>18</c:v>
              </c:pt>
              <c:pt idx="611">
                <c:v>54</c:v>
              </c:pt>
              <c:pt idx="612">
                <c:v>35</c:v>
              </c:pt>
              <c:pt idx="613">
                <c:v>30</c:v>
              </c:pt>
              <c:pt idx="614">
                <c:v>26</c:v>
              </c:pt>
              <c:pt idx="615">
                <c:v>22</c:v>
              </c:pt>
              <c:pt idx="616">
                <c:v>48</c:v>
              </c:pt>
              <c:pt idx="617">
                <c:v>48</c:v>
              </c:pt>
              <c:pt idx="618">
                <c:v>41</c:v>
              </c:pt>
              <c:pt idx="619">
                <c:v>39</c:v>
              </c:pt>
              <c:pt idx="620">
                <c:v>27</c:v>
              </c:pt>
              <c:pt idx="621">
                <c:v>35</c:v>
              </c:pt>
              <c:pt idx="622">
                <c:v>42</c:v>
              </c:pt>
              <c:pt idx="623">
                <c:v>50</c:v>
              </c:pt>
              <c:pt idx="624">
                <c:v>59</c:v>
              </c:pt>
              <c:pt idx="625">
                <c:v>55</c:v>
              </c:pt>
              <c:pt idx="626">
                <c:v>41</c:v>
              </c:pt>
              <c:pt idx="627">
                <c:v>38</c:v>
              </c:pt>
              <c:pt idx="628">
                <c:v>44</c:v>
              </c:pt>
              <c:pt idx="629">
                <c:v>50</c:v>
              </c:pt>
              <c:pt idx="630">
                <c:v>39</c:v>
              </c:pt>
              <c:pt idx="631">
                <c:v>33</c:v>
              </c:pt>
              <c:pt idx="632">
                <c:v>45</c:v>
              </c:pt>
              <c:pt idx="633">
                <c:v>32</c:v>
              </c:pt>
              <c:pt idx="634">
                <c:v>34</c:v>
              </c:pt>
              <c:pt idx="635">
                <c:v>59</c:v>
              </c:pt>
              <c:pt idx="636">
                <c:v>45</c:v>
              </c:pt>
              <c:pt idx="637">
                <c:v>53</c:v>
              </c:pt>
              <c:pt idx="638">
                <c:v>34</c:v>
              </c:pt>
              <c:pt idx="639">
                <c:v>28</c:v>
              </c:pt>
              <c:pt idx="640">
                <c:v>38</c:v>
              </c:pt>
              <c:pt idx="641">
                <c:v>50</c:v>
              </c:pt>
              <c:pt idx="642">
                <c:v>37</c:v>
              </c:pt>
              <c:pt idx="643">
                <c:v>40</c:v>
              </c:pt>
              <c:pt idx="644">
                <c:v>26</c:v>
              </c:pt>
              <c:pt idx="645">
                <c:v>46</c:v>
              </c:pt>
              <c:pt idx="646">
                <c:v>54</c:v>
              </c:pt>
              <c:pt idx="647">
                <c:v>56</c:v>
              </c:pt>
              <c:pt idx="648">
                <c:v>36</c:v>
              </c:pt>
              <c:pt idx="649">
                <c:v>55</c:v>
              </c:pt>
              <c:pt idx="650">
                <c:v>43</c:v>
              </c:pt>
              <c:pt idx="651">
                <c:v>46</c:v>
              </c:pt>
              <c:pt idx="652">
                <c:v>26</c:v>
              </c:pt>
              <c:pt idx="653">
                <c:v>30</c:v>
              </c:pt>
              <c:pt idx="654">
                <c:v>41</c:v>
              </c:pt>
              <c:pt idx="655">
                <c:v>38</c:v>
              </c:pt>
              <c:pt idx="656">
                <c:v>40</c:v>
              </c:pt>
              <c:pt idx="657">
                <c:v>27</c:v>
              </c:pt>
              <c:pt idx="658">
                <c:v>55</c:v>
              </c:pt>
              <c:pt idx="659">
                <c:v>28</c:v>
              </c:pt>
              <c:pt idx="660">
                <c:v>33</c:v>
              </c:pt>
              <c:pt idx="661">
                <c:v>28</c:v>
              </c:pt>
              <c:pt idx="662">
                <c:v>34</c:v>
              </c:pt>
              <c:pt idx="663">
                <c:v>37</c:v>
              </c:pt>
              <c:pt idx="664">
                <c:v>42</c:v>
              </c:pt>
              <c:pt idx="665">
                <c:v>33</c:v>
              </c:pt>
              <c:pt idx="666">
                <c:v>34</c:v>
              </c:pt>
              <c:pt idx="667">
                <c:v>48</c:v>
              </c:pt>
              <c:pt idx="668">
                <c:v>45</c:v>
              </c:pt>
              <c:pt idx="669">
                <c:v>52</c:v>
              </c:pt>
              <c:pt idx="670">
                <c:v>38</c:v>
              </c:pt>
              <c:pt idx="671">
                <c:v>29</c:v>
              </c:pt>
              <c:pt idx="672">
                <c:v>28</c:v>
              </c:pt>
              <c:pt idx="673">
                <c:v>46</c:v>
              </c:pt>
              <c:pt idx="674">
                <c:v>38</c:v>
              </c:pt>
              <c:pt idx="675">
                <c:v>43</c:v>
              </c:pt>
              <c:pt idx="676">
                <c:v>40</c:v>
              </c:pt>
              <c:pt idx="677">
                <c:v>21</c:v>
              </c:pt>
              <c:pt idx="678">
                <c:v>39</c:v>
              </c:pt>
              <c:pt idx="679">
                <c:v>36</c:v>
              </c:pt>
              <c:pt idx="680">
                <c:v>31</c:v>
              </c:pt>
              <c:pt idx="681">
                <c:v>28</c:v>
              </c:pt>
              <c:pt idx="682">
                <c:v>35</c:v>
              </c:pt>
              <c:pt idx="683">
                <c:v>49</c:v>
              </c:pt>
              <c:pt idx="684">
                <c:v>34</c:v>
              </c:pt>
              <c:pt idx="685">
                <c:v>29</c:v>
              </c:pt>
              <c:pt idx="686">
                <c:v>42</c:v>
              </c:pt>
              <c:pt idx="687">
                <c:v>29</c:v>
              </c:pt>
              <c:pt idx="688">
                <c:v>38</c:v>
              </c:pt>
              <c:pt idx="689">
                <c:v>28</c:v>
              </c:pt>
              <c:pt idx="690">
                <c:v>41</c:v>
              </c:pt>
              <c:pt idx="691">
                <c:v>37</c:v>
              </c:pt>
              <c:pt idx="692">
                <c:v>27</c:v>
              </c:pt>
              <c:pt idx="693">
                <c:v>34</c:v>
              </c:pt>
              <c:pt idx="694">
                <c:v>35</c:v>
              </c:pt>
              <c:pt idx="695">
                <c:v>40</c:v>
              </c:pt>
              <c:pt idx="696">
                <c:v>42</c:v>
              </c:pt>
              <c:pt idx="697">
                <c:v>35</c:v>
              </c:pt>
              <c:pt idx="698">
                <c:v>24</c:v>
              </c:pt>
              <c:pt idx="699">
                <c:v>26</c:v>
              </c:pt>
              <c:pt idx="700">
                <c:v>30</c:v>
              </c:pt>
              <c:pt idx="701">
                <c:v>40</c:v>
              </c:pt>
              <c:pt idx="702">
                <c:v>35</c:v>
              </c:pt>
              <c:pt idx="703">
                <c:v>34</c:v>
              </c:pt>
              <c:pt idx="704">
                <c:v>35</c:v>
              </c:pt>
              <c:pt idx="705">
                <c:v>32</c:v>
              </c:pt>
              <c:pt idx="706">
                <c:v>56</c:v>
              </c:pt>
              <c:pt idx="707">
                <c:v>29</c:v>
              </c:pt>
              <c:pt idx="708">
                <c:v>19</c:v>
              </c:pt>
              <c:pt idx="709">
                <c:v>45</c:v>
              </c:pt>
              <c:pt idx="710">
                <c:v>37</c:v>
              </c:pt>
              <c:pt idx="711">
                <c:v>20</c:v>
              </c:pt>
              <c:pt idx="712">
                <c:v>53</c:v>
              </c:pt>
              <c:pt idx="713">
                <c:v>29</c:v>
              </c:pt>
              <c:pt idx="714">
                <c:v>46</c:v>
              </c:pt>
              <c:pt idx="715">
                <c:v>44</c:v>
              </c:pt>
              <c:pt idx="716">
                <c:v>33</c:v>
              </c:pt>
              <c:pt idx="717">
                <c:v>30</c:v>
              </c:pt>
              <c:pt idx="718">
                <c:v>40</c:v>
              </c:pt>
              <c:pt idx="719">
                <c:v>50</c:v>
              </c:pt>
              <c:pt idx="720">
                <c:v>28</c:v>
              </c:pt>
              <c:pt idx="721">
                <c:v>46</c:v>
              </c:pt>
              <c:pt idx="722">
                <c:v>35</c:v>
              </c:pt>
              <c:pt idx="723">
                <c:v>33</c:v>
              </c:pt>
              <c:pt idx="724">
                <c:v>36</c:v>
              </c:pt>
              <c:pt idx="725">
                <c:v>30</c:v>
              </c:pt>
              <c:pt idx="726">
                <c:v>44</c:v>
              </c:pt>
              <c:pt idx="727">
                <c:v>20</c:v>
              </c:pt>
              <c:pt idx="728">
                <c:v>46</c:v>
              </c:pt>
              <c:pt idx="729">
                <c:v>42</c:v>
              </c:pt>
              <c:pt idx="730">
                <c:v>60</c:v>
              </c:pt>
              <c:pt idx="731">
                <c:v>32</c:v>
              </c:pt>
              <c:pt idx="732">
                <c:v>32</c:v>
              </c:pt>
              <c:pt idx="733">
                <c:v>36</c:v>
              </c:pt>
              <c:pt idx="734">
                <c:v>33</c:v>
              </c:pt>
              <c:pt idx="735">
                <c:v>40</c:v>
              </c:pt>
              <c:pt idx="736">
                <c:v>25</c:v>
              </c:pt>
              <c:pt idx="737">
                <c:v>30</c:v>
              </c:pt>
              <c:pt idx="738">
                <c:v>42</c:v>
              </c:pt>
              <c:pt idx="739">
                <c:v>35</c:v>
              </c:pt>
              <c:pt idx="740">
                <c:v>27</c:v>
              </c:pt>
              <c:pt idx="741">
                <c:v>54</c:v>
              </c:pt>
              <c:pt idx="742">
                <c:v>44</c:v>
              </c:pt>
              <c:pt idx="743">
                <c:v>29</c:v>
              </c:pt>
              <c:pt idx="744">
                <c:v>54</c:v>
              </c:pt>
              <c:pt idx="745">
                <c:v>31</c:v>
              </c:pt>
              <c:pt idx="746">
                <c:v>31</c:v>
              </c:pt>
              <c:pt idx="747">
                <c:v>59</c:v>
              </c:pt>
              <c:pt idx="748">
                <c:v>43</c:v>
              </c:pt>
              <c:pt idx="749">
                <c:v>49</c:v>
              </c:pt>
              <c:pt idx="750">
                <c:v>36</c:v>
              </c:pt>
              <c:pt idx="751">
                <c:v>48</c:v>
              </c:pt>
              <c:pt idx="752">
                <c:v>27</c:v>
              </c:pt>
              <c:pt idx="753">
                <c:v>29</c:v>
              </c:pt>
              <c:pt idx="754">
                <c:v>48</c:v>
              </c:pt>
              <c:pt idx="755">
                <c:v>29</c:v>
              </c:pt>
              <c:pt idx="756">
                <c:v>34</c:v>
              </c:pt>
              <c:pt idx="757">
                <c:v>44</c:v>
              </c:pt>
              <c:pt idx="758">
                <c:v>33</c:v>
              </c:pt>
              <c:pt idx="759">
                <c:v>19</c:v>
              </c:pt>
              <c:pt idx="760">
                <c:v>23</c:v>
              </c:pt>
              <c:pt idx="761">
                <c:v>26</c:v>
              </c:pt>
              <c:pt idx="762">
                <c:v>55</c:v>
              </c:pt>
              <c:pt idx="763">
                <c:v>46</c:v>
              </c:pt>
              <c:pt idx="764">
                <c:v>34</c:v>
              </c:pt>
              <c:pt idx="765">
                <c:v>51</c:v>
              </c:pt>
              <c:pt idx="766">
                <c:v>59</c:v>
              </c:pt>
              <c:pt idx="767">
                <c:v>34</c:v>
              </c:pt>
              <c:pt idx="768">
                <c:v>28</c:v>
              </c:pt>
              <c:pt idx="769">
                <c:v>44</c:v>
              </c:pt>
              <c:pt idx="770">
                <c:v>34</c:v>
              </c:pt>
              <c:pt idx="771">
                <c:v>35</c:v>
              </c:pt>
              <c:pt idx="772">
                <c:v>42</c:v>
              </c:pt>
              <c:pt idx="773">
                <c:v>43</c:v>
              </c:pt>
              <c:pt idx="774">
                <c:v>36</c:v>
              </c:pt>
              <c:pt idx="775">
                <c:v>28</c:v>
              </c:pt>
              <c:pt idx="776">
                <c:v>51</c:v>
              </c:pt>
              <c:pt idx="777">
                <c:v>30</c:v>
              </c:pt>
              <c:pt idx="778">
                <c:v>28</c:v>
              </c:pt>
              <c:pt idx="779">
                <c:v>25</c:v>
              </c:pt>
              <c:pt idx="780">
                <c:v>32</c:v>
              </c:pt>
              <c:pt idx="781">
                <c:v>45</c:v>
              </c:pt>
              <c:pt idx="782">
                <c:v>39</c:v>
              </c:pt>
              <c:pt idx="783">
                <c:v>58</c:v>
              </c:pt>
              <c:pt idx="784">
                <c:v>30</c:v>
              </c:pt>
              <c:pt idx="785">
                <c:v>36</c:v>
              </c:pt>
              <c:pt idx="786">
                <c:v>46</c:v>
              </c:pt>
              <c:pt idx="787">
                <c:v>28</c:v>
              </c:pt>
              <c:pt idx="788">
                <c:v>50</c:v>
              </c:pt>
              <c:pt idx="789">
                <c:v>30</c:v>
              </c:pt>
              <c:pt idx="790">
                <c:v>39</c:v>
              </c:pt>
              <c:pt idx="791">
                <c:v>31</c:v>
              </c:pt>
              <c:pt idx="792">
                <c:v>41</c:v>
              </c:pt>
              <c:pt idx="793">
                <c:v>42</c:v>
              </c:pt>
              <c:pt idx="794">
                <c:v>55</c:v>
              </c:pt>
              <c:pt idx="795">
                <c:v>56</c:v>
              </c:pt>
              <c:pt idx="796">
                <c:v>40</c:v>
              </c:pt>
              <c:pt idx="797">
                <c:v>34</c:v>
              </c:pt>
              <c:pt idx="798">
                <c:v>40</c:v>
              </c:pt>
              <c:pt idx="799">
                <c:v>41</c:v>
              </c:pt>
              <c:pt idx="800">
                <c:v>35</c:v>
              </c:pt>
              <c:pt idx="801">
                <c:v>51</c:v>
              </c:pt>
              <c:pt idx="802">
                <c:v>38</c:v>
              </c:pt>
              <c:pt idx="803">
                <c:v>34</c:v>
              </c:pt>
              <c:pt idx="804">
                <c:v>25</c:v>
              </c:pt>
              <c:pt idx="805">
                <c:v>40</c:v>
              </c:pt>
              <c:pt idx="806">
                <c:v>36</c:v>
              </c:pt>
              <c:pt idx="807">
                <c:v>48</c:v>
              </c:pt>
              <c:pt idx="808">
                <c:v>27</c:v>
              </c:pt>
              <c:pt idx="809">
                <c:v>51</c:v>
              </c:pt>
              <c:pt idx="810">
                <c:v>18</c:v>
              </c:pt>
              <c:pt idx="811">
                <c:v>35</c:v>
              </c:pt>
              <c:pt idx="812">
                <c:v>27</c:v>
              </c:pt>
              <c:pt idx="813">
                <c:v>56</c:v>
              </c:pt>
              <c:pt idx="814">
                <c:v>34</c:v>
              </c:pt>
              <c:pt idx="815">
                <c:v>40</c:v>
              </c:pt>
              <c:pt idx="816">
                <c:v>34</c:v>
              </c:pt>
              <c:pt idx="817">
                <c:v>38</c:v>
              </c:pt>
              <c:pt idx="818">
                <c:v>34</c:v>
              </c:pt>
              <c:pt idx="819">
                <c:v>28</c:v>
              </c:pt>
              <c:pt idx="820">
                <c:v>39</c:v>
              </c:pt>
              <c:pt idx="821">
                <c:v>51</c:v>
              </c:pt>
              <c:pt idx="822">
                <c:v>41</c:v>
              </c:pt>
              <c:pt idx="823">
                <c:v>37</c:v>
              </c:pt>
              <c:pt idx="824">
                <c:v>33</c:v>
              </c:pt>
              <c:pt idx="825">
                <c:v>32</c:v>
              </c:pt>
              <c:pt idx="826">
                <c:v>39</c:v>
              </c:pt>
              <c:pt idx="827">
                <c:v>25</c:v>
              </c:pt>
              <c:pt idx="828">
                <c:v>52</c:v>
              </c:pt>
              <c:pt idx="829">
                <c:v>43</c:v>
              </c:pt>
              <c:pt idx="830">
                <c:v>27</c:v>
              </c:pt>
              <c:pt idx="831">
                <c:v>26</c:v>
              </c:pt>
              <c:pt idx="832">
                <c:v>42</c:v>
              </c:pt>
              <c:pt idx="833">
                <c:v>52</c:v>
              </c:pt>
              <c:pt idx="834">
                <c:v>37</c:v>
              </c:pt>
              <c:pt idx="835">
                <c:v>35</c:v>
              </c:pt>
              <c:pt idx="836">
                <c:v>25</c:v>
              </c:pt>
              <c:pt idx="837">
                <c:v>26</c:v>
              </c:pt>
              <c:pt idx="838">
                <c:v>29</c:v>
              </c:pt>
              <c:pt idx="839">
                <c:v>54</c:v>
              </c:pt>
              <c:pt idx="840">
                <c:v>58</c:v>
              </c:pt>
              <c:pt idx="841">
                <c:v>55</c:v>
              </c:pt>
              <c:pt idx="842">
                <c:v>36</c:v>
              </c:pt>
              <c:pt idx="843">
                <c:v>30</c:v>
              </c:pt>
              <c:pt idx="844">
                <c:v>31</c:v>
              </c:pt>
              <c:pt idx="845">
                <c:v>34</c:v>
              </c:pt>
              <c:pt idx="846">
                <c:v>27</c:v>
              </c:pt>
              <c:pt idx="847">
                <c:v>36</c:v>
              </c:pt>
              <c:pt idx="848">
                <c:v>36</c:v>
              </c:pt>
              <c:pt idx="849">
                <c:v>47</c:v>
              </c:pt>
              <c:pt idx="850">
                <c:v>37</c:v>
              </c:pt>
              <c:pt idx="851">
                <c:v>56</c:v>
              </c:pt>
              <c:pt idx="852">
                <c:v>47</c:v>
              </c:pt>
              <c:pt idx="853">
                <c:v>24</c:v>
              </c:pt>
              <c:pt idx="854">
                <c:v>32</c:v>
              </c:pt>
              <c:pt idx="855">
                <c:v>34</c:v>
              </c:pt>
              <c:pt idx="856">
                <c:v>41</c:v>
              </c:pt>
              <c:pt idx="857">
                <c:v>40</c:v>
              </c:pt>
              <c:pt idx="858">
                <c:v>31</c:v>
              </c:pt>
              <c:pt idx="859">
                <c:v>45</c:v>
              </c:pt>
              <c:pt idx="860">
                <c:v>31</c:v>
              </c:pt>
              <c:pt idx="861">
                <c:v>45</c:v>
              </c:pt>
              <c:pt idx="862">
                <c:v>48</c:v>
              </c:pt>
              <c:pt idx="863">
                <c:v>40</c:v>
              </c:pt>
              <c:pt idx="864">
                <c:v>28</c:v>
              </c:pt>
              <c:pt idx="865">
                <c:v>44</c:v>
              </c:pt>
              <c:pt idx="866">
                <c:v>53</c:v>
              </c:pt>
              <c:pt idx="867">
                <c:v>49</c:v>
              </c:pt>
              <c:pt idx="868">
                <c:v>40</c:v>
              </c:pt>
              <c:pt idx="869">
                <c:v>44</c:v>
              </c:pt>
              <c:pt idx="870">
                <c:v>33</c:v>
              </c:pt>
              <c:pt idx="871">
                <c:v>34</c:v>
              </c:pt>
              <c:pt idx="872">
                <c:v>30</c:v>
              </c:pt>
              <c:pt idx="873">
                <c:v>42</c:v>
              </c:pt>
              <c:pt idx="874">
                <c:v>44</c:v>
              </c:pt>
              <c:pt idx="875">
                <c:v>30</c:v>
              </c:pt>
              <c:pt idx="876">
                <c:v>57</c:v>
              </c:pt>
              <c:pt idx="877">
                <c:v>49</c:v>
              </c:pt>
              <c:pt idx="878">
                <c:v>34</c:v>
              </c:pt>
              <c:pt idx="879">
                <c:v>35</c:v>
              </c:pt>
              <c:pt idx="880">
                <c:v>24</c:v>
              </c:pt>
              <c:pt idx="881">
                <c:v>44</c:v>
              </c:pt>
              <c:pt idx="882">
                <c:v>29</c:v>
              </c:pt>
              <c:pt idx="883">
                <c:v>30</c:v>
              </c:pt>
              <c:pt idx="884">
                <c:v>55</c:v>
              </c:pt>
              <c:pt idx="885">
                <c:v>33</c:v>
              </c:pt>
              <c:pt idx="886">
                <c:v>47</c:v>
              </c:pt>
              <c:pt idx="887">
                <c:v>28</c:v>
              </c:pt>
              <c:pt idx="888">
                <c:v>28</c:v>
              </c:pt>
              <c:pt idx="889">
                <c:v>49</c:v>
              </c:pt>
              <c:pt idx="890">
                <c:v>29</c:v>
              </c:pt>
              <c:pt idx="891">
                <c:v>28</c:v>
              </c:pt>
              <c:pt idx="892">
                <c:v>33</c:v>
              </c:pt>
              <c:pt idx="893">
                <c:v>32</c:v>
              </c:pt>
              <c:pt idx="894">
                <c:v>54</c:v>
              </c:pt>
              <c:pt idx="895">
                <c:v>44</c:v>
              </c:pt>
              <c:pt idx="896">
                <c:v>39</c:v>
              </c:pt>
              <c:pt idx="897">
                <c:v>46</c:v>
              </c:pt>
              <c:pt idx="898">
                <c:v>35</c:v>
              </c:pt>
              <c:pt idx="899">
                <c:v>23</c:v>
              </c:pt>
              <c:pt idx="900">
                <c:v>34</c:v>
              </c:pt>
              <c:pt idx="901">
                <c:v>50</c:v>
              </c:pt>
              <c:pt idx="902">
                <c:v>34</c:v>
              </c:pt>
              <c:pt idx="903">
                <c:v>42</c:v>
              </c:pt>
              <c:pt idx="904">
                <c:v>37</c:v>
              </c:pt>
              <c:pt idx="905">
                <c:v>29</c:v>
              </c:pt>
              <c:pt idx="906">
                <c:v>33</c:v>
              </c:pt>
              <c:pt idx="907">
                <c:v>45</c:v>
              </c:pt>
              <c:pt idx="908">
                <c:v>42</c:v>
              </c:pt>
              <c:pt idx="909">
                <c:v>40</c:v>
              </c:pt>
              <c:pt idx="910">
                <c:v>33</c:v>
              </c:pt>
              <c:pt idx="911">
                <c:v>40</c:v>
              </c:pt>
              <c:pt idx="912">
                <c:v>24</c:v>
              </c:pt>
              <c:pt idx="913">
                <c:v>40</c:v>
              </c:pt>
              <c:pt idx="914">
                <c:v>45</c:v>
              </c:pt>
              <c:pt idx="915">
                <c:v>35</c:v>
              </c:pt>
              <c:pt idx="916">
                <c:v>32</c:v>
              </c:pt>
              <c:pt idx="917">
                <c:v>36</c:v>
              </c:pt>
              <c:pt idx="918">
                <c:v>48</c:v>
              </c:pt>
              <c:pt idx="919">
                <c:v>29</c:v>
              </c:pt>
              <c:pt idx="920">
                <c:v>33</c:v>
              </c:pt>
              <c:pt idx="921">
                <c:v>38</c:v>
              </c:pt>
              <c:pt idx="922">
                <c:v>35</c:v>
              </c:pt>
              <c:pt idx="923">
                <c:v>30</c:v>
              </c:pt>
              <c:pt idx="924">
                <c:v>32</c:v>
              </c:pt>
              <c:pt idx="925">
                <c:v>48</c:v>
              </c:pt>
              <c:pt idx="926">
                <c:v>34</c:v>
              </c:pt>
              <c:pt idx="927">
                <c:v>55</c:v>
              </c:pt>
              <c:pt idx="928">
                <c:v>34</c:v>
              </c:pt>
              <c:pt idx="929">
                <c:v>26</c:v>
              </c:pt>
              <c:pt idx="930">
                <c:v>38</c:v>
              </c:pt>
              <c:pt idx="931">
                <c:v>38</c:v>
              </c:pt>
              <c:pt idx="932">
                <c:v>36</c:v>
              </c:pt>
              <c:pt idx="933">
                <c:v>29</c:v>
              </c:pt>
              <c:pt idx="934">
                <c:v>35</c:v>
              </c:pt>
              <c:pt idx="935">
                <c:v>39</c:v>
              </c:pt>
              <c:pt idx="936">
                <c:v>29</c:v>
              </c:pt>
              <c:pt idx="937">
                <c:v>50</c:v>
              </c:pt>
              <c:pt idx="938">
                <c:v>23</c:v>
              </c:pt>
              <c:pt idx="939">
                <c:v>36</c:v>
              </c:pt>
              <c:pt idx="940">
                <c:v>42</c:v>
              </c:pt>
              <c:pt idx="941">
                <c:v>35</c:v>
              </c:pt>
              <c:pt idx="942">
                <c:v>34</c:v>
              </c:pt>
              <c:pt idx="943">
                <c:v>40</c:v>
              </c:pt>
              <c:pt idx="944">
                <c:v>43</c:v>
              </c:pt>
              <c:pt idx="945">
                <c:v>35</c:v>
              </c:pt>
              <c:pt idx="946">
                <c:v>46</c:v>
              </c:pt>
              <c:pt idx="947">
                <c:v>22</c:v>
              </c:pt>
              <c:pt idx="948">
                <c:v>50</c:v>
              </c:pt>
              <c:pt idx="949">
                <c:v>32</c:v>
              </c:pt>
              <c:pt idx="950">
                <c:v>44</c:v>
              </c:pt>
              <c:pt idx="951">
                <c:v>30</c:v>
              </c:pt>
              <c:pt idx="952">
                <c:v>45</c:v>
              </c:pt>
              <c:pt idx="953">
                <c:v>45</c:v>
              </c:pt>
              <c:pt idx="954">
                <c:v>31</c:v>
              </c:pt>
              <c:pt idx="955">
                <c:v>36</c:v>
              </c:pt>
              <c:pt idx="956">
                <c:v>34</c:v>
              </c:pt>
              <c:pt idx="957">
                <c:v>49</c:v>
              </c:pt>
              <c:pt idx="958">
                <c:v>39</c:v>
              </c:pt>
              <c:pt idx="959">
                <c:v>27</c:v>
              </c:pt>
              <c:pt idx="960">
                <c:v>35</c:v>
              </c:pt>
              <c:pt idx="961">
                <c:v>28</c:v>
              </c:pt>
              <c:pt idx="962">
                <c:v>21</c:v>
              </c:pt>
              <c:pt idx="963">
                <c:v>47</c:v>
              </c:pt>
              <c:pt idx="964">
                <c:v>39</c:v>
              </c:pt>
              <c:pt idx="965">
                <c:v>40</c:v>
              </c:pt>
              <c:pt idx="966">
                <c:v>35</c:v>
              </c:pt>
              <c:pt idx="967">
                <c:v>37</c:v>
              </c:pt>
              <c:pt idx="968">
                <c:v>39</c:v>
              </c:pt>
              <c:pt idx="969">
                <c:v>45</c:v>
              </c:pt>
              <c:pt idx="970">
                <c:v>38</c:v>
              </c:pt>
              <c:pt idx="971">
                <c:v>37</c:v>
              </c:pt>
              <c:pt idx="972">
                <c:v>40</c:v>
              </c:pt>
              <c:pt idx="973">
                <c:v>44</c:v>
              </c:pt>
              <c:pt idx="974">
                <c:v>48</c:v>
              </c:pt>
              <c:pt idx="975">
                <c:v>24</c:v>
              </c:pt>
              <c:pt idx="976">
                <c:v>27</c:v>
              </c:pt>
              <c:pt idx="977">
                <c:v>27</c:v>
              </c:pt>
              <c:pt idx="978">
                <c:v>29</c:v>
              </c:pt>
              <c:pt idx="979">
                <c:v>36</c:v>
              </c:pt>
              <c:pt idx="980">
                <c:v>25</c:v>
              </c:pt>
              <c:pt idx="981">
                <c:v>39</c:v>
              </c:pt>
              <c:pt idx="982">
                <c:v>49</c:v>
              </c:pt>
              <c:pt idx="983">
                <c:v>50</c:v>
              </c:pt>
              <c:pt idx="984">
                <c:v>20</c:v>
              </c:pt>
              <c:pt idx="985">
                <c:v>34</c:v>
              </c:pt>
              <c:pt idx="986">
                <c:v>36</c:v>
              </c:pt>
              <c:pt idx="987">
                <c:v>49</c:v>
              </c:pt>
              <c:pt idx="988">
                <c:v>36</c:v>
              </c:pt>
              <c:pt idx="989">
                <c:v>36</c:v>
              </c:pt>
              <c:pt idx="990">
                <c:v>54</c:v>
              </c:pt>
              <c:pt idx="991">
                <c:v>43</c:v>
              </c:pt>
              <c:pt idx="992">
                <c:v>38</c:v>
              </c:pt>
              <c:pt idx="993">
                <c:v>29</c:v>
              </c:pt>
              <c:pt idx="994">
                <c:v>33</c:v>
              </c:pt>
              <c:pt idx="995">
                <c:v>32</c:v>
              </c:pt>
              <c:pt idx="996">
                <c:v>31</c:v>
              </c:pt>
              <c:pt idx="997">
                <c:v>49</c:v>
              </c:pt>
              <c:pt idx="998">
                <c:v>38</c:v>
              </c:pt>
              <c:pt idx="999">
                <c:v>47</c:v>
              </c:pt>
              <c:pt idx="1000">
                <c:v>49</c:v>
              </c:pt>
              <c:pt idx="1001">
                <c:v>41</c:v>
              </c:pt>
              <c:pt idx="1002">
                <c:v>20</c:v>
              </c:pt>
              <c:pt idx="1003">
                <c:v>33</c:v>
              </c:pt>
              <c:pt idx="1004">
                <c:v>36</c:v>
              </c:pt>
              <c:pt idx="1005">
                <c:v>44</c:v>
              </c:pt>
              <c:pt idx="1006">
                <c:v>38</c:v>
              </c:pt>
              <c:pt idx="1007">
                <c:v>53</c:v>
              </c:pt>
              <c:pt idx="1008">
                <c:v>26</c:v>
              </c:pt>
              <c:pt idx="1009">
                <c:v>55</c:v>
              </c:pt>
              <c:pt idx="1010">
                <c:v>34</c:v>
              </c:pt>
              <c:pt idx="1011">
                <c:v>60</c:v>
              </c:pt>
              <c:pt idx="1012">
                <c:v>33</c:v>
              </c:pt>
              <c:pt idx="1013">
                <c:v>37</c:v>
              </c:pt>
              <c:pt idx="1014">
                <c:v>34</c:v>
              </c:pt>
              <c:pt idx="1015">
                <c:v>44</c:v>
              </c:pt>
              <c:pt idx="1016">
                <c:v>35</c:v>
              </c:pt>
              <c:pt idx="1017">
                <c:v>43</c:v>
              </c:pt>
              <c:pt idx="1018">
                <c:v>24</c:v>
              </c:pt>
              <c:pt idx="1019">
                <c:v>41</c:v>
              </c:pt>
              <c:pt idx="1020">
                <c:v>29</c:v>
              </c:pt>
              <c:pt idx="1021">
                <c:v>36</c:v>
              </c:pt>
              <c:pt idx="1022">
                <c:v>45</c:v>
              </c:pt>
              <c:pt idx="1023">
                <c:v>26</c:v>
              </c:pt>
              <c:pt idx="1024">
                <c:v>45</c:v>
              </c:pt>
              <c:pt idx="1025">
                <c:v>32</c:v>
              </c:pt>
              <c:pt idx="1026">
                <c:v>31</c:v>
              </c:pt>
              <c:pt idx="1027">
                <c:v>41</c:v>
              </c:pt>
              <c:pt idx="1028">
                <c:v>40</c:v>
              </c:pt>
              <c:pt idx="1029">
                <c:v>24</c:v>
              </c:pt>
              <c:pt idx="1030">
                <c:v>46</c:v>
              </c:pt>
              <c:pt idx="1031">
                <c:v>35</c:v>
              </c:pt>
              <c:pt idx="1032">
                <c:v>30</c:v>
              </c:pt>
              <c:pt idx="1033">
                <c:v>47</c:v>
              </c:pt>
              <c:pt idx="1034">
                <c:v>46</c:v>
              </c:pt>
              <c:pt idx="1035">
                <c:v>23</c:v>
              </c:pt>
              <c:pt idx="1036">
                <c:v>31</c:v>
              </c:pt>
              <c:pt idx="1037">
                <c:v>39</c:v>
              </c:pt>
              <c:pt idx="1038">
                <c:v>32</c:v>
              </c:pt>
              <c:pt idx="1039">
                <c:v>40</c:v>
              </c:pt>
              <c:pt idx="1040">
                <c:v>45</c:v>
              </c:pt>
              <c:pt idx="1041">
                <c:v>30</c:v>
              </c:pt>
              <c:pt idx="1042">
                <c:v>24</c:v>
              </c:pt>
              <c:pt idx="1043">
                <c:v>31</c:v>
              </c:pt>
              <c:pt idx="1044">
                <c:v>27</c:v>
              </c:pt>
              <c:pt idx="1045">
                <c:v>29</c:v>
              </c:pt>
              <c:pt idx="1046">
                <c:v>30</c:v>
              </c:pt>
              <c:pt idx="1047">
                <c:v>34</c:v>
              </c:pt>
              <c:pt idx="1048">
                <c:v>33</c:v>
              </c:pt>
              <c:pt idx="1049">
                <c:v>49</c:v>
              </c:pt>
              <c:pt idx="1050">
                <c:v>38</c:v>
              </c:pt>
              <c:pt idx="1051">
                <c:v>29</c:v>
              </c:pt>
              <c:pt idx="1052">
                <c:v>30</c:v>
              </c:pt>
              <c:pt idx="1053">
                <c:v>32</c:v>
              </c:pt>
              <c:pt idx="1054">
                <c:v>38</c:v>
              </c:pt>
              <c:pt idx="1055">
                <c:v>42</c:v>
              </c:pt>
              <c:pt idx="1056">
                <c:v>55</c:v>
              </c:pt>
              <c:pt idx="1057">
                <c:v>33</c:v>
              </c:pt>
              <c:pt idx="1058">
                <c:v>41</c:v>
              </c:pt>
              <c:pt idx="1059">
                <c:v>34</c:v>
              </c:pt>
              <c:pt idx="1060">
                <c:v>53</c:v>
              </c:pt>
              <c:pt idx="1061">
                <c:v>43</c:v>
              </c:pt>
              <c:pt idx="1062">
                <c:v>34</c:v>
              </c:pt>
              <c:pt idx="1063">
                <c:v>38</c:v>
              </c:pt>
              <c:pt idx="1064">
                <c:v>31</c:v>
              </c:pt>
              <c:pt idx="1065">
                <c:v>51</c:v>
              </c:pt>
              <c:pt idx="1066">
                <c:v>37</c:v>
              </c:pt>
              <c:pt idx="1067">
                <c:v>46</c:v>
              </c:pt>
              <c:pt idx="1068">
                <c:v>36</c:v>
              </c:pt>
              <c:pt idx="1069">
                <c:v>37</c:v>
              </c:pt>
              <c:pt idx="1070">
                <c:v>33</c:v>
              </c:pt>
              <c:pt idx="1071">
                <c:v>28</c:v>
              </c:pt>
              <c:pt idx="1072">
                <c:v>39</c:v>
              </c:pt>
              <c:pt idx="1073">
                <c:v>46</c:v>
              </c:pt>
              <c:pt idx="1074">
                <c:v>40</c:v>
              </c:pt>
              <c:pt idx="1075">
                <c:v>42</c:v>
              </c:pt>
              <c:pt idx="1076">
                <c:v>35</c:v>
              </c:pt>
              <c:pt idx="1077">
                <c:v>38</c:v>
              </c:pt>
              <c:pt idx="1078">
                <c:v>39</c:v>
              </c:pt>
              <c:pt idx="1079">
                <c:v>43</c:v>
              </c:pt>
              <c:pt idx="1080">
                <c:v>41</c:v>
              </c:pt>
              <c:pt idx="1081">
                <c:v>41</c:v>
              </c:pt>
              <c:pt idx="1082">
                <c:v>30</c:v>
              </c:pt>
              <c:pt idx="1083">
                <c:v>40</c:v>
              </c:pt>
              <c:pt idx="1084">
                <c:v>34</c:v>
              </c:pt>
              <c:pt idx="1085">
                <c:v>58</c:v>
              </c:pt>
              <c:pt idx="1086">
                <c:v>35</c:v>
              </c:pt>
              <c:pt idx="1087">
                <c:v>47</c:v>
              </c:pt>
              <c:pt idx="1088">
                <c:v>40</c:v>
              </c:pt>
              <c:pt idx="1089">
                <c:v>54</c:v>
              </c:pt>
              <c:pt idx="1090">
                <c:v>31</c:v>
              </c:pt>
              <c:pt idx="1091">
                <c:v>28</c:v>
              </c:pt>
              <c:pt idx="1092">
                <c:v>38</c:v>
              </c:pt>
              <c:pt idx="1093">
                <c:v>26</c:v>
              </c:pt>
              <c:pt idx="1094">
                <c:v>58</c:v>
              </c:pt>
              <c:pt idx="1095">
                <c:v>18</c:v>
              </c:pt>
              <c:pt idx="1096">
                <c:v>45</c:v>
              </c:pt>
              <c:pt idx="1097">
                <c:v>36</c:v>
              </c:pt>
              <c:pt idx="1098">
                <c:v>43</c:v>
              </c:pt>
              <c:pt idx="1099">
                <c:v>27</c:v>
              </c:pt>
              <c:pt idx="1100">
                <c:v>29</c:v>
              </c:pt>
              <c:pt idx="1101">
                <c:v>32</c:v>
              </c:pt>
              <c:pt idx="1102">
                <c:v>42</c:v>
              </c:pt>
              <c:pt idx="1103">
                <c:v>47</c:v>
              </c:pt>
              <c:pt idx="1104">
                <c:v>46</c:v>
              </c:pt>
              <c:pt idx="1105">
                <c:v>28</c:v>
              </c:pt>
              <c:pt idx="1106">
                <c:v>29</c:v>
              </c:pt>
              <c:pt idx="1107">
                <c:v>42</c:v>
              </c:pt>
              <c:pt idx="1108">
                <c:v>46</c:v>
              </c:pt>
              <c:pt idx="1109">
                <c:v>27</c:v>
              </c:pt>
              <c:pt idx="1110">
                <c:v>29</c:v>
              </c:pt>
              <c:pt idx="1111">
                <c:v>43</c:v>
              </c:pt>
              <c:pt idx="1112">
                <c:v>48</c:v>
              </c:pt>
              <c:pt idx="1113">
                <c:v>27</c:v>
              </c:pt>
              <c:pt idx="1114">
                <c:v>39</c:v>
              </c:pt>
              <c:pt idx="1115">
                <c:v>55</c:v>
              </c:pt>
              <c:pt idx="1116">
                <c:v>28</c:v>
              </c:pt>
              <c:pt idx="1117">
                <c:v>36</c:v>
              </c:pt>
              <c:pt idx="1118">
                <c:v>31</c:v>
              </c:pt>
              <c:pt idx="1119">
                <c:v>34</c:v>
              </c:pt>
              <c:pt idx="1120">
                <c:v>29</c:v>
              </c:pt>
              <c:pt idx="1121">
                <c:v>37</c:v>
              </c:pt>
              <c:pt idx="1122">
                <c:v>35</c:v>
              </c:pt>
              <c:pt idx="1123">
                <c:v>45</c:v>
              </c:pt>
              <c:pt idx="1124">
                <c:v>36</c:v>
              </c:pt>
              <c:pt idx="1125">
                <c:v>40</c:v>
              </c:pt>
              <c:pt idx="1126">
                <c:v>26</c:v>
              </c:pt>
              <c:pt idx="1127">
                <c:v>27</c:v>
              </c:pt>
              <c:pt idx="1128">
                <c:v>48</c:v>
              </c:pt>
              <c:pt idx="1129">
                <c:v>44</c:v>
              </c:pt>
              <c:pt idx="1130">
                <c:v>36</c:v>
              </c:pt>
              <c:pt idx="1131">
                <c:v>41</c:v>
              </c:pt>
              <c:pt idx="1132">
                <c:v>42</c:v>
              </c:pt>
              <c:pt idx="1133">
                <c:v>31</c:v>
              </c:pt>
              <c:pt idx="1134">
                <c:v>34</c:v>
              </c:pt>
              <c:pt idx="1135">
                <c:v>31</c:v>
              </c:pt>
              <c:pt idx="1136">
                <c:v>26</c:v>
              </c:pt>
              <c:pt idx="1137">
                <c:v>45</c:v>
              </c:pt>
              <c:pt idx="1138">
                <c:v>33</c:v>
              </c:pt>
              <c:pt idx="1139">
                <c:v>28</c:v>
              </c:pt>
              <c:pt idx="1140">
                <c:v>39</c:v>
              </c:pt>
              <c:pt idx="1141">
                <c:v>27</c:v>
              </c:pt>
              <c:pt idx="1142">
                <c:v>34</c:v>
              </c:pt>
              <c:pt idx="1143">
                <c:v>47</c:v>
              </c:pt>
              <c:pt idx="1144">
                <c:v>56</c:v>
              </c:pt>
              <c:pt idx="1145">
                <c:v>39</c:v>
              </c:pt>
              <c:pt idx="1146">
                <c:v>38</c:v>
              </c:pt>
              <c:pt idx="1147">
                <c:v>58</c:v>
              </c:pt>
              <c:pt idx="1148">
                <c:v>38</c:v>
              </c:pt>
              <c:pt idx="1149">
                <c:v>49</c:v>
              </c:pt>
              <c:pt idx="1150">
                <c:v>42</c:v>
              </c:pt>
              <c:pt idx="1151">
                <c:v>35</c:v>
              </c:pt>
              <c:pt idx="1152">
                <c:v>28</c:v>
              </c:pt>
              <c:pt idx="1153">
                <c:v>31</c:v>
              </c:pt>
              <c:pt idx="1154">
                <c:v>36</c:v>
              </c:pt>
              <c:pt idx="1155">
                <c:v>34</c:v>
              </c:pt>
              <c:pt idx="1156">
                <c:v>34</c:v>
              </c:pt>
              <c:pt idx="1157">
                <c:v>26</c:v>
              </c:pt>
              <c:pt idx="1158">
                <c:v>29</c:v>
              </c:pt>
              <c:pt idx="1159">
                <c:v>32</c:v>
              </c:pt>
              <c:pt idx="1160">
                <c:v>31</c:v>
              </c:pt>
              <c:pt idx="1161">
                <c:v>38</c:v>
              </c:pt>
              <c:pt idx="1162">
                <c:v>35</c:v>
              </c:pt>
              <c:pt idx="1163">
                <c:v>27</c:v>
              </c:pt>
              <c:pt idx="1164">
                <c:v>32</c:v>
              </c:pt>
              <c:pt idx="1165">
                <c:v>54</c:v>
              </c:pt>
              <c:pt idx="1166">
                <c:v>33</c:v>
              </c:pt>
              <c:pt idx="1167">
                <c:v>43</c:v>
              </c:pt>
              <c:pt idx="1168">
                <c:v>38</c:v>
              </c:pt>
              <c:pt idx="1169">
                <c:v>55</c:v>
              </c:pt>
              <c:pt idx="1170">
                <c:v>31</c:v>
              </c:pt>
              <c:pt idx="1171">
                <c:v>39</c:v>
              </c:pt>
              <c:pt idx="1172">
                <c:v>42</c:v>
              </c:pt>
              <c:pt idx="1173">
                <c:v>31</c:v>
              </c:pt>
              <c:pt idx="1174">
                <c:v>54</c:v>
              </c:pt>
              <c:pt idx="1175">
                <c:v>24</c:v>
              </c:pt>
              <c:pt idx="1176">
                <c:v>23</c:v>
              </c:pt>
              <c:pt idx="1177">
                <c:v>40</c:v>
              </c:pt>
              <c:pt idx="1178">
                <c:v>40</c:v>
              </c:pt>
              <c:pt idx="1179">
                <c:v>25</c:v>
              </c:pt>
              <c:pt idx="1180">
                <c:v>30</c:v>
              </c:pt>
              <c:pt idx="1181">
                <c:v>25</c:v>
              </c:pt>
              <c:pt idx="1182">
                <c:v>47</c:v>
              </c:pt>
              <c:pt idx="1183">
                <c:v>33</c:v>
              </c:pt>
              <c:pt idx="1184">
                <c:v>38</c:v>
              </c:pt>
              <c:pt idx="1185">
                <c:v>31</c:v>
              </c:pt>
              <c:pt idx="1186">
                <c:v>38</c:v>
              </c:pt>
              <c:pt idx="1187">
                <c:v>42</c:v>
              </c:pt>
              <c:pt idx="1188">
                <c:v>41</c:v>
              </c:pt>
              <c:pt idx="1189">
                <c:v>47</c:v>
              </c:pt>
              <c:pt idx="1190">
                <c:v>35</c:v>
              </c:pt>
              <c:pt idx="1191">
                <c:v>22</c:v>
              </c:pt>
              <c:pt idx="1192">
                <c:v>35</c:v>
              </c:pt>
              <c:pt idx="1193">
                <c:v>33</c:v>
              </c:pt>
              <c:pt idx="1194">
                <c:v>32</c:v>
              </c:pt>
              <c:pt idx="1195">
                <c:v>40</c:v>
              </c:pt>
              <c:pt idx="1196">
                <c:v>32</c:v>
              </c:pt>
              <c:pt idx="1197">
                <c:v>39</c:v>
              </c:pt>
              <c:pt idx="1198">
                <c:v>38</c:v>
              </c:pt>
              <c:pt idx="1199">
                <c:v>32</c:v>
              </c:pt>
              <c:pt idx="1200">
                <c:v>37</c:v>
              </c:pt>
              <c:pt idx="1201">
                <c:v>25</c:v>
              </c:pt>
              <c:pt idx="1202">
                <c:v>52</c:v>
              </c:pt>
              <c:pt idx="1203">
                <c:v>44</c:v>
              </c:pt>
              <c:pt idx="1204">
                <c:v>21</c:v>
              </c:pt>
              <c:pt idx="1205">
                <c:v>39</c:v>
              </c:pt>
              <c:pt idx="1206">
                <c:v>36</c:v>
              </c:pt>
              <c:pt idx="1207">
                <c:v>36</c:v>
              </c:pt>
              <c:pt idx="1208">
                <c:v>56</c:v>
              </c:pt>
              <c:pt idx="1209">
                <c:v>42</c:v>
              </c:pt>
              <c:pt idx="1210">
                <c:v>41</c:v>
              </c:pt>
              <c:pt idx="1211">
                <c:v>34</c:v>
              </c:pt>
              <c:pt idx="1212">
                <c:v>36</c:v>
              </c:pt>
              <c:pt idx="1213">
                <c:v>41</c:v>
              </c:pt>
              <c:pt idx="1214">
                <c:v>32</c:v>
              </c:pt>
              <c:pt idx="1215">
                <c:v>35</c:v>
              </c:pt>
              <c:pt idx="1216">
                <c:v>38</c:v>
              </c:pt>
              <c:pt idx="1217">
                <c:v>36</c:v>
              </c:pt>
              <c:pt idx="1218">
                <c:v>45</c:v>
              </c:pt>
              <c:pt idx="1219">
                <c:v>40</c:v>
              </c:pt>
              <c:pt idx="1220">
                <c:v>35</c:v>
              </c:pt>
              <c:pt idx="1221">
                <c:v>40</c:v>
              </c:pt>
              <c:pt idx="1222">
                <c:v>35</c:v>
              </c:pt>
              <c:pt idx="1223">
                <c:v>29</c:v>
              </c:pt>
              <c:pt idx="1224">
                <c:v>29</c:v>
              </c:pt>
              <c:pt idx="1225">
                <c:v>39</c:v>
              </c:pt>
              <c:pt idx="1226">
                <c:v>31</c:v>
              </c:pt>
              <c:pt idx="1227">
                <c:v>26</c:v>
              </c:pt>
              <c:pt idx="1228">
                <c:v>36</c:v>
              </c:pt>
              <c:pt idx="1229">
                <c:v>39</c:v>
              </c:pt>
              <c:pt idx="1230">
                <c:v>27</c:v>
              </c:pt>
              <c:pt idx="1231">
                <c:v>49</c:v>
              </c:pt>
              <c:pt idx="1232">
                <c:v>34</c:v>
              </c:pt>
            </c:numLit>
          </c:xVal>
          <c:yVal>
            <c:numLit>
              <c:formatCode>0</c:formatCode>
              <c:ptCount val="1233"/>
              <c:pt idx="0">
                <c:v>5130</c:v>
              </c:pt>
              <c:pt idx="1">
                <c:v>2909</c:v>
              </c:pt>
              <c:pt idx="2">
                <c:v>3468</c:v>
              </c:pt>
              <c:pt idx="3">
                <c:v>3068</c:v>
              </c:pt>
              <c:pt idx="4">
                <c:v>2670</c:v>
              </c:pt>
              <c:pt idx="5">
                <c:v>2693</c:v>
              </c:pt>
              <c:pt idx="6">
                <c:v>9526</c:v>
              </c:pt>
              <c:pt idx="7">
                <c:v>5237</c:v>
              </c:pt>
              <c:pt idx="8">
                <c:v>2426</c:v>
              </c:pt>
              <c:pt idx="9">
                <c:v>4193</c:v>
              </c:pt>
              <c:pt idx="10">
                <c:v>2911</c:v>
              </c:pt>
              <c:pt idx="11">
                <c:v>2661</c:v>
              </c:pt>
              <c:pt idx="12">
                <c:v>9980</c:v>
              </c:pt>
              <c:pt idx="13">
                <c:v>3298</c:v>
              </c:pt>
              <c:pt idx="14">
                <c:v>2935</c:v>
              </c:pt>
              <c:pt idx="15">
                <c:v>15427</c:v>
              </c:pt>
              <c:pt idx="16">
                <c:v>3944</c:v>
              </c:pt>
              <c:pt idx="17">
                <c:v>4011</c:v>
              </c:pt>
              <c:pt idx="18">
                <c:v>11994</c:v>
              </c:pt>
              <c:pt idx="19">
                <c:v>1232</c:v>
              </c:pt>
              <c:pt idx="20">
                <c:v>19094</c:v>
              </c:pt>
              <c:pt idx="21">
                <c:v>6825</c:v>
              </c:pt>
              <c:pt idx="22">
                <c:v>10248</c:v>
              </c:pt>
              <c:pt idx="23">
                <c:v>18947</c:v>
              </c:pt>
              <c:pt idx="24">
                <c:v>2496</c:v>
              </c:pt>
              <c:pt idx="25">
                <c:v>6465</c:v>
              </c:pt>
              <c:pt idx="26">
                <c:v>2206</c:v>
              </c:pt>
              <c:pt idx="27">
                <c:v>2645</c:v>
              </c:pt>
              <c:pt idx="28">
                <c:v>2014</c:v>
              </c:pt>
              <c:pt idx="29">
                <c:v>3419</c:v>
              </c:pt>
              <c:pt idx="30">
                <c:v>5376</c:v>
              </c:pt>
              <c:pt idx="31">
                <c:v>1951</c:v>
              </c:pt>
              <c:pt idx="32">
                <c:v>2341</c:v>
              </c:pt>
              <c:pt idx="33">
                <c:v>8726</c:v>
              </c:pt>
              <c:pt idx="34">
                <c:v>4011</c:v>
              </c:pt>
              <c:pt idx="35">
                <c:v>4568</c:v>
              </c:pt>
              <c:pt idx="36">
                <c:v>3022</c:v>
              </c:pt>
              <c:pt idx="37">
                <c:v>5772</c:v>
              </c:pt>
              <c:pt idx="38">
                <c:v>2269</c:v>
              </c:pt>
              <c:pt idx="39">
                <c:v>5454</c:v>
              </c:pt>
              <c:pt idx="40">
                <c:v>9884</c:v>
              </c:pt>
              <c:pt idx="41">
                <c:v>4157</c:v>
              </c:pt>
              <c:pt idx="42">
                <c:v>13458</c:v>
              </c:pt>
              <c:pt idx="43">
                <c:v>9069</c:v>
              </c:pt>
              <c:pt idx="44">
                <c:v>4014</c:v>
              </c:pt>
              <c:pt idx="45">
                <c:v>5915</c:v>
              </c:pt>
              <c:pt idx="46">
                <c:v>5993</c:v>
              </c:pt>
              <c:pt idx="47">
                <c:v>6162</c:v>
              </c:pt>
              <c:pt idx="48">
                <c:v>2406</c:v>
              </c:pt>
              <c:pt idx="49">
                <c:v>18740</c:v>
              </c:pt>
              <c:pt idx="50">
                <c:v>7637</c:v>
              </c:pt>
              <c:pt idx="51">
                <c:v>10096</c:v>
              </c:pt>
              <c:pt idx="52">
                <c:v>14756</c:v>
              </c:pt>
              <c:pt idx="53">
                <c:v>6499</c:v>
              </c:pt>
              <c:pt idx="54">
                <c:v>9724</c:v>
              </c:pt>
              <c:pt idx="55">
                <c:v>2194</c:v>
              </c:pt>
              <c:pt idx="56">
                <c:v>5473</c:v>
              </c:pt>
              <c:pt idx="57">
                <c:v>2703</c:v>
              </c:pt>
              <c:pt idx="58">
                <c:v>2501</c:v>
              </c:pt>
              <c:pt idx="59">
                <c:v>6220</c:v>
              </c:pt>
              <c:pt idx="60">
                <c:v>3038</c:v>
              </c:pt>
              <c:pt idx="61">
                <c:v>4424</c:v>
              </c:pt>
              <c:pt idx="62">
                <c:v>4312</c:v>
              </c:pt>
              <c:pt idx="63">
                <c:v>13245</c:v>
              </c:pt>
              <c:pt idx="64">
                <c:v>13664</c:v>
              </c:pt>
              <c:pt idx="65">
                <c:v>5021</c:v>
              </c:pt>
              <c:pt idx="66">
                <c:v>5126</c:v>
              </c:pt>
              <c:pt idx="67">
                <c:v>2859</c:v>
              </c:pt>
              <c:pt idx="68">
                <c:v>10239</c:v>
              </c:pt>
              <c:pt idx="69">
                <c:v>5329</c:v>
              </c:pt>
              <c:pt idx="70">
                <c:v>4325</c:v>
              </c:pt>
              <c:pt idx="71">
                <c:v>7260</c:v>
              </c:pt>
              <c:pt idx="72">
                <c:v>2322</c:v>
              </c:pt>
              <c:pt idx="73">
                <c:v>2075</c:v>
              </c:pt>
              <c:pt idx="74">
                <c:v>4152</c:v>
              </c:pt>
              <c:pt idx="75">
                <c:v>13503</c:v>
              </c:pt>
              <c:pt idx="76">
                <c:v>5441</c:v>
              </c:pt>
              <c:pt idx="77">
                <c:v>5209</c:v>
              </c:pt>
              <c:pt idx="78">
                <c:v>10673</c:v>
              </c:pt>
              <c:pt idx="79">
                <c:v>5010</c:v>
              </c:pt>
              <c:pt idx="80">
                <c:v>13549</c:v>
              </c:pt>
              <c:pt idx="81">
                <c:v>4999</c:v>
              </c:pt>
              <c:pt idx="82">
                <c:v>4221</c:v>
              </c:pt>
              <c:pt idx="83">
                <c:v>13872</c:v>
              </c:pt>
              <c:pt idx="84">
                <c:v>2042</c:v>
              </c:pt>
              <c:pt idx="85">
                <c:v>2956</c:v>
              </c:pt>
              <c:pt idx="86">
                <c:v>4809</c:v>
              </c:pt>
              <c:pt idx="87">
                <c:v>5163</c:v>
              </c:pt>
              <c:pt idx="88">
                <c:v>18844</c:v>
              </c:pt>
              <c:pt idx="89">
                <c:v>18172</c:v>
              </c:pt>
              <c:pt idx="90">
                <c:v>2889</c:v>
              </c:pt>
              <c:pt idx="91">
                <c:v>2871</c:v>
              </c:pt>
              <c:pt idx="92">
                <c:v>7484</c:v>
              </c:pt>
              <c:pt idx="93">
                <c:v>17328</c:v>
              </c:pt>
              <c:pt idx="94">
                <c:v>2774</c:v>
              </c:pt>
              <c:pt idx="95">
                <c:v>4505</c:v>
              </c:pt>
              <c:pt idx="96">
                <c:v>7428</c:v>
              </c:pt>
              <c:pt idx="97">
                <c:v>11631</c:v>
              </c:pt>
              <c:pt idx="98">
                <c:v>9738</c:v>
              </c:pt>
              <c:pt idx="99">
                <c:v>2835</c:v>
              </c:pt>
              <c:pt idx="100">
                <c:v>16959</c:v>
              </c:pt>
              <c:pt idx="101">
                <c:v>2613</c:v>
              </c:pt>
              <c:pt idx="102">
                <c:v>6146</c:v>
              </c:pt>
              <c:pt idx="103">
                <c:v>19537</c:v>
              </c:pt>
              <c:pt idx="104">
                <c:v>2368</c:v>
              </c:pt>
              <c:pt idx="105">
                <c:v>2523</c:v>
              </c:pt>
              <c:pt idx="106">
                <c:v>6567</c:v>
              </c:pt>
              <c:pt idx="107">
                <c:v>4739</c:v>
              </c:pt>
              <c:pt idx="108">
                <c:v>9208</c:v>
              </c:pt>
              <c:pt idx="109">
                <c:v>8189</c:v>
              </c:pt>
              <c:pt idx="110">
                <c:v>2942</c:v>
              </c:pt>
              <c:pt idx="111">
                <c:v>4941</c:v>
              </c:pt>
              <c:pt idx="112">
                <c:v>5902</c:v>
              </c:pt>
              <c:pt idx="113">
                <c:v>8639</c:v>
              </c:pt>
              <c:pt idx="114">
                <c:v>6347</c:v>
              </c:pt>
              <c:pt idx="115">
                <c:v>3452</c:v>
              </c:pt>
              <c:pt idx="116">
                <c:v>4317</c:v>
              </c:pt>
              <c:pt idx="117">
                <c:v>2632</c:v>
              </c:pt>
              <c:pt idx="118">
                <c:v>4668</c:v>
              </c:pt>
              <c:pt idx="119">
                <c:v>3204</c:v>
              </c:pt>
              <c:pt idx="120">
                <c:v>2720</c:v>
              </c:pt>
              <c:pt idx="121">
                <c:v>17181</c:v>
              </c:pt>
              <c:pt idx="122">
                <c:v>2238</c:v>
              </c:pt>
              <c:pt idx="123">
                <c:v>1483</c:v>
              </c:pt>
              <c:pt idx="124">
                <c:v>5605</c:v>
              </c:pt>
              <c:pt idx="125">
                <c:v>7295</c:v>
              </c:pt>
              <c:pt idx="126">
                <c:v>2306</c:v>
              </c:pt>
              <c:pt idx="127">
                <c:v>2348</c:v>
              </c:pt>
              <c:pt idx="128">
                <c:v>8998</c:v>
              </c:pt>
              <c:pt idx="129">
                <c:v>4319</c:v>
              </c:pt>
              <c:pt idx="130">
                <c:v>6132</c:v>
              </c:pt>
              <c:pt idx="131">
                <c:v>3346</c:v>
              </c:pt>
              <c:pt idx="132">
                <c:v>10855</c:v>
              </c:pt>
              <c:pt idx="133">
                <c:v>2231</c:v>
              </c:pt>
              <c:pt idx="134">
                <c:v>2323</c:v>
              </c:pt>
              <c:pt idx="135">
                <c:v>2024</c:v>
              </c:pt>
              <c:pt idx="136">
                <c:v>2713</c:v>
              </c:pt>
              <c:pt idx="137">
                <c:v>9439</c:v>
              </c:pt>
              <c:pt idx="138">
                <c:v>2566</c:v>
              </c:pt>
              <c:pt idx="139">
                <c:v>19926</c:v>
              </c:pt>
              <c:pt idx="140">
                <c:v>2451</c:v>
              </c:pt>
              <c:pt idx="141">
                <c:v>9419</c:v>
              </c:pt>
              <c:pt idx="142">
                <c:v>8686</c:v>
              </c:pt>
              <c:pt idx="143">
                <c:v>3038</c:v>
              </c:pt>
              <c:pt idx="144">
                <c:v>3058</c:v>
              </c:pt>
              <c:pt idx="145">
                <c:v>2088</c:v>
              </c:pt>
              <c:pt idx="146">
                <c:v>3072</c:v>
              </c:pt>
              <c:pt idx="147">
                <c:v>5006</c:v>
              </c:pt>
              <c:pt idx="148">
                <c:v>4257</c:v>
              </c:pt>
              <c:pt idx="149">
                <c:v>2500</c:v>
              </c:pt>
              <c:pt idx="150">
                <c:v>10453</c:v>
              </c:pt>
              <c:pt idx="151">
                <c:v>2288</c:v>
              </c:pt>
              <c:pt idx="152">
                <c:v>3929</c:v>
              </c:pt>
              <c:pt idx="153">
                <c:v>2311</c:v>
              </c:pt>
              <c:pt idx="154">
                <c:v>3690</c:v>
              </c:pt>
              <c:pt idx="155">
                <c:v>4450</c:v>
              </c:pt>
              <c:pt idx="156">
                <c:v>2756</c:v>
              </c:pt>
              <c:pt idx="157">
                <c:v>19033</c:v>
              </c:pt>
              <c:pt idx="158">
                <c:v>18722</c:v>
              </c:pt>
              <c:pt idx="159">
                <c:v>9547</c:v>
              </c:pt>
              <c:pt idx="160">
                <c:v>13734</c:v>
              </c:pt>
              <c:pt idx="161">
                <c:v>19999</c:v>
              </c:pt>
              <c:pt idx="162">
                <c:v>2279</c:v>
              </c:pt>
              <c:pt idx="163">
                <c:v>2089</c:v>
              </c:pt>
              <c:pt idx="164">
                <c:v>16792</c:v>
              </c:pt>
              <c:pt idx="165">
                <c:v>3564</c:v>
              </c:pt>
              <c:pt idx="166">
                <c:v>4425</c:v>
              </c:pt>
              <c:pt idx="167">
                <c:v>5265</c:v>
              </c:pt>
              <c:pt idx="168">
                <c:v>6553</c:v>
              </c:pt>
              <c:pt idx="169">
                <c:v>6261</c:v>
              </c:pt>
              <c:pt idx="170">
                <c:v>4298</c:v>
              </c:pt>
              <c:pt idx="171">
                <c:v>6804</c:v>
              </c:pt>
              <c:pt idx="172">
                <c:v>3815</c:v>
              </c:pt>
              <c:pt idx="173">
                <c:v>2741</c:v>
              </c:pt>
              <c:pt idx="174">
                <c:v>2328</c:v>
              </c:pt>
              <c:pt idx="175">
                <c:v>2153</c:v>
              </c:pt>
              <c:pt idx="176">
                <c:v>4876</c:v>
              </c:pt>
              <c:pt idx="177">
                <c:v>9396</c:v>
              </c:pt>
              <c:pt idx="178">
                <c:v>8474</c:v>
              </c:pt>
              <c:pt idx="179">
                <c:v>9981</c:v>
              </c:pt>
              <c:pt idx="180">
                <c:v>12490</c:v>
              </c:pt>
              <c:pt idx="181">
                <c:v>13591</c:v>
              </c:pt>
              <c:pt idx="182">
                <c:v>8865</c:v>
              </c:pt>
              <c:pt idx="183">
                <c:v>5940</c:v>
              </c:pt>
              <c:pt idx="184">
                <c:v>5914</c:v>
              </c:pt>
              <c:pt idx="185">
                <c:v>2622</c:v>
              </c:pt>
              <c:pt idx="186">
                <c:v>12185</c:v>
              </c:pt>
              <c:pt idx="187">
                <c:v>10609</c:v>
              </c:pt>
              <c:pt idx="188">
                <c:v>4345</c:v>
              </c:pt>
              <c:pt idx="189">
                <c:v>2177</c:v>
              </c:pt>
              <c:pt idx="190">
                <c:v>2793</c:v>
              </c:pt>
              <c:pt idx="191">
                <c:v>7918</c:v>
              </c:pt>
              <c:pt idx="192">
                <c:v>8789</c:v>
              </c:pt>
              <c:pt idx="193">
                <c:v>3212</c:v>
              </c:pt>
              <c:pt idx="194">
                <c:v>19232</c:v>
              </c:pt>
              <c:pt idx="195">
                <c:v>2267</c:v>
              </c:pt>
              <c:pt idx="196">
                <c:v>19517</c:v>
              </c:pt>
              <c:pt idx="197">
                <c:v>16064</c:v>
              </c:pt>
              <c:pt idx="198">
                <c:v>19068</c:v>
              </c:pt>
              <c:pt idx="199">
                <c:v>3931</c:v>
              </c:pt>
              <c:pt idx="200">
                <c:v>2232</c:v>
              </c:pt>
              <c:pt idx="201">
                <c:v>4465</c:v>
              </c:pt>
              <c:pt idx="202">
                <c:v>3072</c:v>
              </c:pt>
              <c:pt idx="203">
                <c:v>3319</c:v>
              </c:pt>
              <c:pt idx="204">
                <c:v>19202</c:v>
              </c:pt>
              <c:pt idx="205">
                <c:v>13675</c:v>
              </c:pt>
              <c:pt idx="206">
                <c:v>2911</c:v>
              </c:pt>
              <c:pt idx="207">
                <c:v>5957</c:v>
              </c:pt>
              <c:pt idx="208">
                <c:v>3920</c:v>
              </c:pt>
              <c:pt idx="209">
                <c:v>6434</c:v>
              </c:pt>
              <c:pt idx="210">
                <c:v>10938</c:v>
              </c:pt>
              <c:pt idx="211">
                <c:v>2340</c:v>
              </c:pt>
              <c:pt idx="212">
                <c:v>6545</c:v>
              </c:pt>
              <c:pt idx="213">
                <c:v>6931</c:v>
              </c:pt>
              <c:pt idx="214">
                <c:v>4898</c:v>
              </c:pt>
              <c:pt idx="215">
                <c:v>2593</c:v>
              </c:pt>
              <c:pt idx="216">
                <c:v>19436</c:v>
              </c:pt>
              <c:pt idx="217">
                <c:v>2723</c:v>
              </c:pt>
              <c:pt idx="218">
                <c:v>2794</c:v>
              </c:pt>
              <c:pt idx="219">
                <c:v>5249</c:v>
              </c:pt>
              <c:pt idx="220">
                <c:v>2176</c:v>
              </c:pt>
              <c:pt idx="221">
                <c:v>16872</c:v>
              </c:pt>
              <c:pt idx="222">
                <c:v>6644</c:v>
              </c:pt>
              <c:pt idx="223">
                <c:v>5582</c:v>
              </c:pt>
              <c:pt idx="224">
                <c:v>4000</c:v>
              </c:pt>
              <c:pt idx="225">
                <c:v>13496</c:v>
              </c:pt>
              <c:pt idx="226">
                <c:v>3210</c:v>
              </c:pt>
              <c:pt idx="227">
                <c:v>19045</c:v>
              </c:pt>
              <c:pt idx="228">
                <c:v>2070</c:v>
              </c:pt>
              <c:pt idx="229">
                <c:v>6502</c:v>
              </c:pt>
              <c:pt idx="230">
                <c:v>3230</c:v>
              </c:pt>
              <c:pt idx="231">
                <c:v>13603</c:v>
              </c:pt>
              <c:pt idx="232">
                <c:v>11996</c:v>
              </c:pt>
              <c:pt idx="233">
                <c:v>5605</c:v>
              </c:pt>
              <c:pt idx="234">
                <c:v>6397</c:v>
              </c:pt>
              <c:pt idx="235">
                <c:v>19144</c:v>
              </c:pt>
              <c:pt idx="236">
                <c:v>17584</c:v>
              </c:pt>
              <c:pt idx="237">
                <c:v>4907</c:v>
              </c:pt>
              <c:pt idx="238">
                <c:v>4554</c:v>
              </c:pt>
              <c:pt idx="239">
                <c:v>5415</c:v>
              </c:pt>
              <c:pt idx="240">
                <c:v>4741</c:v>
              </c:pt>
              <c:pt idx="241">
                <c:v>2115</c:v>
              </c:pt>
              <c:pt idx="242">
                <c:v>5745</c:v>
              </c:pt>
              <c:pt idx="243">
                <c:v>3310</c:v>
              </c:pt>
              <c:pt idx="244">
                <c:v>18665</c:v>
              </c:pt>
              <c:pt idx="245">
                <c:v>4485</c:v>
              </c:pt>
              <c:pt idx="246">
                <c:v>2789</c:v>
              </c:pt>
              <c:pt idx="247">
                <c:v>2326</c:v>
              </c:pt>
              <c:pt idx="248">
                <c:v>13525</c:v>
              </c:pt>
              <c:pt idx="249">
                <c:v>8020</c:v>
              </c:pt>
              <c:pt idx="250">
                <c:v>3688</c:v>
              </c:pt>
              <c:pt idx="251">
                <c:v>5482</c:v>
              </c:pt>
              <c:pt idx="252">
                <c:v>16015</c:v>
              </c:pt>
              <c:pt idx="253">
                <c:v>1200</c:v>
              </c:pt>
              <c:pt idx="254">
                <c:v>5661</c:v>
              </c:pt>
              <c:pt idx="255">
                <c:v>6929</c:v>
              </c:pt>
              <c:pt idx="256">
                <c:v>9613</c:v>
              </c:pt>
              <c:pt idx="257">
                <c:v>5674</c:v>
              </c:pt>
              <c:pt idx="258">
                <c:v>5484</c:v>
              </c:pt>
              <c:pt idx="259">
                <c:v>12061</c:v>
              </c:pt>
              <c:pt idx="260">
                <c:v>5660</c:v>
              </c:pt>
              <c:pt idx="261">
                <c:v>4821</c:v>
              </c:pt>
              <c:pt idx="262">
                <c:v>6410</c:v>
              </c:pt>
              <c:pt idx="263">
                <c:v>5210</c:v>
              </c:pt>
              <c:pt idx="264">
                <c:v>2695</c:v>
              </c:pt>
              <c:pt idx="265">
                <c:v>11878</c:v>
              </c:pt>
              <c:pt idx="266">
                <c:v>17068</c:v>
              </c:pt>
              <c:pt idx="267">
                <c:v>2455</c:v>
              </c:pt>
              <c:pt idx="268">
                <c:v>13964</c:v>
              </c:pt>
              <c:pt idx="269">
                <c:v>2478</c:v>
              </c:pt>
              <c:pt idx="270">
                <c:v>5228</c:v>
              </c:pt>
              <c:pt idx="271">
                <c:v>4478</c:v>
              </c:pt>
              <c:pt idx="272">
                <c:v>7547</c:v>
              </c:pt>
              <c:pt idx="273">
                <c:v>5055</c:v>
              </c:pt>
              <c:pt idx="274">
                <c:v>5775</c:v>
              </c:pt>
              <c:pt idx="275">
                <c:v>8943</c:v>
              </c:pt>
              <c:pt idx="276">
                <c:v>19272</c:v>
              </c:pt>
              <c:pt idx="277">
                <c:v>4682</c:v>
              </c:pt>
              <c:pt idx="278">
                <c:v>18300</c:v>
              </c:pt>
              <c:pt idx="279">
                <c:v>5257</c:v>
              </c:pt>
              <c:pt idx="280">
                <c:v>6349</c:v>
              </c:pt>
              <c:pt idx="281">
                <c:v>4869</c:v>
              </c:pt>
              <c:pt idx="282">
                <c:v>9985</c:v>
              </c:pt>
              <c:pt idx="283">
                <c:v>3697</c:v>
              </c:pt>
              <c:pt idx="284">
                <c:v>7457</c:v>
              </c:pt>
              <c:pt idx="285">
                <c:v>3983</c:v>
              </c:pt>
              <c:pt idx="286">
                <c:v>6118</c:v>
              </c:pt>
              <c:pt idx="287">
                <c:v>6214</c:v>
              </c:pt>
              <c:pt idx="288">
                <c:v>6347</c:v>
              </c:pt>
              <c:pt idx="289">
                <c:v>11510</c:v>
              </c:pt>
              <c:pt idx="290">
                <c:v>7143</c:v>
              </c:pt>
              <c:pt idx="291">
                <c:v>8268</c:v>
              </c:pt>
              <c:pt idx="292">
                <c:v>8095</c:v>
              </c:pt>
              <c:pt idx="293">
                <c:v>2904</c:v>
              </c:pt>
              <c:pt idx="294">
                <c:v>6032</c:v>
              </c:pt>
              <c:pt idx="295">
                <c:v>2976</c:v>
              </c:pt>
              <c:pt idx="296">
                <c:v>15992</c:v>
              </c:pt>
              <c:pt idx="297">
                <c:v>4649</c:v>
              </c:pt>
              <c:pt idx="298">
                <c:v>2696</c:v>
              </c:pt>
              <c:pt idx="299">
                <c:v>2370</c:v>
              </c:pt>
              <c:pt idx="300">
                <c:v>12504</c:v>
              </c:pt>
              <c:pt idx="301">
                <c:v>5974</c:v>
              </c:pt>
              <c:pt idx="302">
                <c:v>4736</c:v>
              </c:pt>
              <c:pt idx="303">
                <c:v>5296</c:v>
              </c:pt>
              <c:pt idx="304">
                <c:v>6781</c:v>
              </c:pt>
              <c:pt idx="305">
                <c:v>6653</c:v>
              </c:pt>
              <c:pt idx="306">
                <c:v>9699</c:v>
              </c:pt>
              <c:pt idx="307">
                <c:v>6755</c:v>
              </c:pt>
              <c:pt idx="308">
                <c:v>2213</c:v>
              </c:pt>
              <c:pt idx="309">
                <c:v>2610</c:v>
              </c:pt>
              <c:pt idx="310">
                <c:v>3452</c:v>
              </c:pt>
              <c:pt idx="311">
                <c:v>5258</c:v>
              </c:pt>
              <c:pt idx="312">
                <c:v>10496</c:v>
              </c:pt>
              <c:pt idx="313">
                <c:v>2657</c:v>
              </c:pt>
              <c:pt idx="314">
                <c:v>2201</c:v>
              </c:pt>
              <c:pt idx="315">
                <c:v>6540</c:v>
              </c:pt>
              <c:pt idx="316">
                <c:v>3816</c:v>
              </c:pt>
              <c:pt idx="317">
                <c:v>5253</c:v>
              </c:pt>
              <c:pt idx="318">
                <c:v>10965</c:v>
              </c:pt>
              <c:pt idx="319">
                <c:v>4936</c:v>
              </c:pt>
              <c:pt idx="320">
                <c:v>2543</c:v>
              </c:pt>
              <c:pt idx="321">
                <c:v>16659</c:v>
              </c:pt>
              <c:pt idx="322">
                <c:v>4260</c:v>
              </c:pt>
              <c:pt idx="323">
                <c:v>2476</c:v>
              </c:pt>
              <c:pt idx="324">
                <c:v>2244</c:v>
              </c:pt>
              <c:pt idx="325">
                <c:v>7596</c:v>
              </c:pt>
              <c:pt idx="326">
                <c:v>3034</c:v>
              </c:pt>
              <c:pt idx="327">
                <c:v>5715</c:v>
              </c:pt>
              <c:pt idx="328">
                <c:v>2576</c:v>
              </c:pt>
              <c:pt idx="329">
                <c:v>4197</c:v>
              </c:pt>
              <c:pt idx="330">
                <c:v>14336</c:v>
              </c:pt>
              <c:pt idx="331">
                <c:v>3448</c:v>
              </c:pt>
              <c:pt idx="332">
                <c:v>19406</c:v>
              </c:pt>
              <c:pt idx="333">
                <c:v>6538</c:v>
              </c:pt>
              <c:pt idx="334">
                <c:v>4306</c:v>
              </c:pt>
              <c:pt idx="335">
                <c:v>2258</c:v>
              </c:pt>
              <c:pt idx="336">
                <c:v>4522</c:v>
              </c:pt>
              <c:pt idx="337">
                <c:v>4487</c:v>
              </c:pt>
              <c:pt idx="338">
                <c:v>4449</c:v>
              </c:pt>
              <c:pt idx="339">
                <c:v>2218</c:v>
              </c:pt>
              <c:pt idx="340">
                <c:v>19197</c:v>
              </c:pt>
              <c:pt idx="341">
                <c:v>13212</c:v>
              </c:pt>
              <c:pt idx="342">
                <c:v>6577</c:v>
              </c:pt>
              <c:pt idx="343">
                <c:v>8392</c:v>
              </c:pt>
              <c:pt idx="344">
                <c:v>4558</c:v>
              </c:pt>
              <c:pt idx="345">
                <c:v>7969</c:v>
              </c:pt>
              <c:pt idx="346">
                <c:v>2654</c:v>
              </c:pt>
              <c:pt idx="347">
                <c:v>16555</c:v>
              </c:pt>
              <c:pt idx="348">
                <c:v>4556</c:v>
              </c:pt>
              <c:pt idx="349">
                <c:v>6091</c:v>
              </c:pt>
              <c:pt idx="350">
                <c:v>19566</c:v>
              </c:pt>
              <c:pt idx="351">
                <c:v>4810</c:v>
              </c:pt>
              <c:pt idx="352">
                <c:v>4523</c:v>
              </c:pt>
              <c:pt idx="353">
                <c:v>1702</c:v>
              </c:pt>
              <c:pt idx="354">
                <c:v>18041</c:v>
              </c:pt>
              <c:pt idx="355">
                <c:v>2886</c:v>
              </c:pt>
              <c:pt idx="356">
                <c:v>2097</c:v>
              </c:pt>
              <c:pt idx="357">
                <c:v>11935</c:v>
              </c:pt>
              <c:pt idx="358">
                <c:v>8412</c:v>
              </c:pt>
              <c:pt idx="359">
                <c:v>14118</c:v>
              </c:pt>
              <c:pt idx="360">
                <c:v>17046</c:v>
              </c:pt>
              <c:pt idx="361">
                <c:v>2564</c:v>
              </c:pt>
              <c:pt idx="362">
                <c:v>10266</c:v>
              </c:pt>
              <c:pt idx="363">
                <c:v>5070</c:v>
              </c:pt>
              <c:pt idx="364">
                <c:v>17861</c:v>
              </c:pt>
              <c:pt idx="365">
                <c:v>4230</c:v>
              </c:pt>
              <c:pt idx="366">
                <c:v>3780</c:v>
              </c:pt>
              <c:pt idx="367">
                <c:v>2768</c:v>
              </c:pt>
              <c:pt idx="368">
                <c:v>9071</c:v>
              </c:pt>
              <c:pt idx="369">
                <c:v>10648</c:v>
              </c:pt>
              <c:pt idx="370">
                <c:v>2983</c:v>
              </c:pt>
              <c:pt idx="371">
                <c:v>7632</c:v>
              </c:pt>
              <c:pt idx="372">
                <c:v>2093</c:v>
              </c:pt>
              <c:pt idx="373">
                <c:v>9980</c:v>
              </c:pt>
              <c:pt idx="374">
                <c:v>4051</c:v>
              </c:pt>
              <c:pt idx="375">
                <c:v>16835</c:v>
              </c:pt>
              <c:pt idx="376">
                <c:v>6230</c:v>
              </c:pt>
              <c:pt idx="377">
                <c:v>4717</c:v>
              </c:pt>
              <c:pt idx="378">
                <c:v>13237</c:v>
              </c:pt>
              <c:pt idx="379">
                <c:v>3755</c:v>
              </c:pt>
              <c:pt idx="380">
                <c:v>6582</c:v>
              </c:pt>
              <c:pt idx="381">
                <c:v>7406</c:v>
              </c:pt>
              <c:pt idx="382">
                <c:v>4805</c:v>
              </c:pt>
              <c:pt idx="383">
                <c:v>4262</c:v>
              </c:pt>
              <c:pt idx="384">
                <c:v>16184</c:v>
              </c:pt>
              <c:pt idx="385">
                <c:v>11557</c:v>
              </c:pt>
              <c:pt idx="386">
                <c:v>10932</c:v>
              </c:pt>
              <c:pt idx="387">
                <c:v>6811</c:v>
              </c:pt>
              <c:pt idx="388">
                <c:v>4306</c:v>
              </c:pt>
              <c:pt idx="389">
                <c:v>4859</c:v>
              </c:pt>
              <c:pt idx="390">
                <c:v>5337</c:v>
              </c:pt>
              <c:pt idx="391">
                <c:v>7491</c:v>
              </c:pt>
              <c:pt idx="392">
                <c:v>10527</c:v>
              </c:pt>
              <c:pt idx="393">
                <c:v>16595</c:v>
              </c:pt>
              <c:pt idx="394">
                <c:v>8834</c:v>
              </c:pt>
              <c:pt idx="395">
                <c:v>5577</c:v>
              </c:pt>
              <c:pt idx="396">
                <c:v>2400</c:v>
              </c:pt>
              <c:pt idx="397">
                <c:v>9824</c:v>
              </c:pt>
              <c:pt idx="398">
                <c:v>6447</c:v>
              </c:pt>
              <c:pt idx="399">
                <c:v>19502</c:v>
              </c:pt>
              <c:pt idx="400">
                <c:v>2725</c:v>
              </c:pt>
              <c:pt idx="401">
                <c:v>6272</c:v>
              </c:pt>
              <c:pt idx="402">
                <c:v>2127</c:v>
              </c:pt>
              <c:pt idx="403">
                <c:v>18200</c:v>
              </c:pt>
              <c:pt idx="404">
                <c:v>2096</c:v>
              </c:pt>
              <c:pt idx="405">
                <c:v>3622</c:v>
              </c:pt>
              <c:pt idx="406">
                <c:v>3681</c:v>
              </c:pt>
              <c:pt idx="407">
                <c:v>5460</c:v>
              </c:pt>
              <c:pt idx="408">
                <c:v>2187</c:v>
              </c:pt>
              <c:pt idx="409">
                <c:v>9602</c:v>
              </c:pt>
              <c:pt idx="410">
                <c:v>2836</c:v>
              </c:pt>
              <c:pt idx="411">
                <c:v>4089</c:v>
              </c:pt>
              <c:pt idx="412">
                <c:v>16627</c:v>
              </c:pt>
              <c:pt idx="413">
                <c:v>2619</c:v>
              </c:pt>
              <c:pt idx="414">
                <c:v>5679</c:v>
              </c:pt>
              <c:pt idx="415">
                <c:v>15402</c:v>
              </c:pt>
              <c:pt idx="416">
                <c:v>5985</c:v>
              </c:pt>
              <c:pt idx="417">
                <c:v>2579</c:v>
              </c:pt>
              <c:pt idx="418">
                <c:v>3447</c:v>
              </c:pt>
              <c:pt idx="419">
                <c:v>19513</c:v>
              </c:pt>
              <c:pt idx="420">
                <c:v>2773</c:v>
              </c:pt>
              <c:pt idx="421">
                <c:v>7104</c:v>
              </c:pt>
              <c:pt idx="422">
                <c:v>6322</c:v>
              </c:pt>
              <c:pt idx="423">
                <c:v>2083</c:v>
              </c:pt>
              <c:pt idx="424">
                <c:v>8381</c:v>
              </c:pt>
              <c:pt idx="425">
                <c:v>2691</c:v>
              </c:pt>
              <c:pt idx="426">
                <c:v>2659</c:v>
              </c:pt>
              <c:pt idx="427">
                <c:v>9434</c:v>
              </c:pt>
              <c:pt idx="428">
                <c:v>5561</c:v>
              </c:pt>
              <c:pt idx="429">
                <c:v>6646</c:v>
              </c:pt>
              <c:pt idx="430">
                <c:v>7725</c:v>
              </c:pt>
              <c:pt idx="431">
                <c:v>10725</c:v>
              </c:pt>
              <c:pt idx="432">
                <c:v>8847</c:v>
              </c:pt>
              <c:pt idx="433">
                <c:v>2045</c:v>
              </c:pt>
              <c:pt idx="434">
                <c:v>1281</c:v>
              </c:pt>
              <c:pt idx="435">
                <c:v>2819</c:v>
              </c:pt>
              <c:pt idx="436">
                <c:v>4851</c:v>
              </c:pt>
              <c:pt idx="437">
                <c:v>4028</c:v>
              </c:pt>
              <c:pt idx="438">
                <c:v>2720</c:v>
              </c:pt>
              <c:pt idx="439">
                <c:v>8120</c:v>
              </c:pt>
              <c:pt idx="440">
                <c:v>4647</c:v>
              </c:pt>
              <c:pt idx="441">
                <c:v>4680</c:v>
              </c:pt>
              <c:pt idx="442">
                <c:v>3221</c:v>
              </c:pt>
              <c:pt idx="443">
                <c:v>8621</c:v>
              </c:pt>
              <c:pt idx="444">
                <c:v>4553</c:v>
              </c:pt>
              <c:pt idx="445">
                <c:v>5396</c:v>
              </c:pt>
              <c:pt idx="446">
                <c:v>7625</c:v>
              </c:pt>
              <c:pt idx="447">
                <c:v>7412</c:v>
              </c:pt>
              <c:pt idx="448">
                <c:v>11159</c:v>
              </c:pt>
              <c:pt idx="449">
                <c:v>4960</c:v>
              </c:pt>
              <c:pt idx="450">
                <c:v>10475</c:v>
              </c:pt>
              <c:pt idx="451">
                <c:v>14814</c:v>
              </c:pt>
              <c:pt idx="452">
                <c:v>19141</c:v>
              </c:pt>
              <c:pt idx="453">
                <c:v>5405</c:v>
              </c:pt>
              <c:pt idx="454">
                <c:v>8793</c:v>
              </c:pt>
              <c:pt idx="455">
                <c:v>19189</c:v>
              </c:pt>
              <c:pt idx="456">
                <c:v>3875</c:v>
              </c:pt>
              <c:pt idx="457">
                <c:v>11713</c:v>
              </c:pt>
              <c:pt idx="458">
                <c:v>7861</c:v>
              </c:pt>
              <c:pt idx="459">
                <c:v>3708</c:v>
              </c:pt>
              <c:pt idx="460">
                <c:v>13770</c:v>
              </c:pt>
              <c:pt idx="461">
                <c:v>5304</c:v>
              </c:pt>
              <c:pt idx="462">
                <c:v>2642</c:v>
              </c:pt>
              <c:pt idx="463">
                <c:v>6804</c:v>
              </c:pt>
              <c:pt idx="464">
                <c:v>6142</c:v>
              </c:pt>
              <c:pt idx="465">
                <c:v>2500</c:v>
              </c:pt>
              <c:pt idx="466">
                <c:v>6389</c:v>
              </c:pt>
              <c:pt idx="467">
                <c:v>11103</c:v>
              </c:pt>
              <c:pt idx="468">
                <c:v>2342</c:v>
              </c:pt>
              <c:pt idx="469">
                <c:v>6811</c:v>
              </c:pt>
              <c:pt idx="470">
                <c:v>2297</c:v>
              </c:pt>
              <c:pt idx="471">
                <c:v>2450</c:v>
              </c:pt>
              <c:pt idx="472">
                <c:v>5093</c:v>
              </c:pt>
              <c:pt idx="473">
                <c:v>5309</c:v>
              </c:pt>
              <c:pt idx="474">
                <c:v>3057</c:v>
              </c:pt>
              <c:pt idx="475">
                <c:v>5121</c:v>
              </c:pt>
              <c:pt idx="476">
                <c:v>16856</c:v>
              </c:pt>
              <c:pt idx="477">
                <c:v>6180</c:v>
              </c:pt>
              <c:pt idx="478">
                <c:v>6632</c:v>
              </c:pt>
              <c:pt idx="479">
                <c:v>3505</c:v>
              </c:pt>
              <c:pt idx="480">
                <c:v>6274</c:v>
              </c:pt>
              <c:pt idx="481">
                <c:v>7587</c:v>
              </c:pt>
              <c:pt idx="482">
                <c:v>4258</c:v>
              </c:pt>
              <c:pt idx="483">
                <c:v>4364</c:v>
              </c:pt>
              <c:pt idx="484">
                <c:v>4335</c:v>
              </c:pt>
              <c:pt idx="485">
                <c:v>3280</c:v>
              </c:pt>
              <c:pt idx="486">
                <c:v>5485</c:v>
              </c:pt>
              <c:pt idx="487">
                <c:v>4342</c:v>
              </c:pt>
              <c:pt idx="488">
                <c:v>2782</c:v>
              </c:pt>
              <c:pt idx="489">
                <c:v>5980</c:v>
              </c:pt>
              <c:pt idx="490">
                <c:v>4381</c:v>
              </c:pt>
              <c:pt idx="491">
                <c:v>2572</c:v>
              </c:pt>
              <c:pt idx="492">
                <c:v>3833</c:v>
              </c:pt>
              <c:pt idx="493">
                <c:v>4244</c:v>
              </c:pt>
              <c:pt idx="494">
                <c:v>6500</c:v>
              </c:pt>
              <c:pt idx="495">
                <c:v>18430</c:v>
              </c:pt>
              <c:pt idx="496">
                <c:v>2694</c:v>
              </c:pt>
              <c:pt idx="497">
                <c:v>3149</c:v>
              </c:pt>
              <c:pt idx="498">
                <c:v>17639</c:v>
              </c:pt>
              <c:pt idx="499">
                <c:v>11691</c:v>
              </c:pt>
              <c:pt idx="500">
                <c:v>16752</c:v>
              </c:pt>
              <c:pt idx="501">
                <c:v>5228</c:v>
              </c:pt>
              <c:pt idx="502">
                <c:v>2700</c:v>
              </c:pt>
              <c:pt idx="503">
                <c:v>2506</c:v>
              </c:pt>
              <c:pt idx="504">
                <c:v>6062</c:v>
              </c:pt>
              <c:pt idx="505">
                <c:v>2143</c:v>
              </c:pt>
              <c:pt idx="506">
                <c:v>6162</c:v>
              </c:pt>
              <c:pt idx="507">
                <c:v>5094</c:v>
              </c:pt>
              <c:pt idx="508">
                <c:v>6877</c:v>
              </c:pt>
              <c:pt idx="509">
                <c:v>2274</c:v>
              </c:pt>
              <c:pt idx="510">
                <c:v>4434</c:v>
              </c:pt>
              <c:pt idx="511">
                <c:v>6288</c:v>
              </c:pt>
              <c:pt idx="512">
                <c:v>2553</c:v>
              </c:pt>
              <c:pt idx="513">
                <c:v>17159</c:v>
              </c:pt>
              <c:pt idx="514">
                <c:v>12808</c:v>
              </c:pt>
              <c:pt idx="515">
                <c:v>10221</c:v>
              </c:pt>
              <c:pt idx="516">
                <c:v>4779</c:v>
              </c:pt>
              <c:pt idx="517">
                <c:v>3737</c:v>
              </c:pt>
              <c:pt idx="518">
                <c:v>1706</c:v>
              </c:pt>
              <c:pt idx="519">
                <c:v>16307</c:v>
              </c:pt>
              <c:pt idx="520">
                <c:v>5933</c:v>
              </c:pt>
              <c:pt idx="521">
                <c:v>3424</c:v>
              </c:pt>
              <c:pt idx="522">
                <c:v>4037</c:v>
              </c:pt>
              <c:pt idx="523">
                <c:v>2559</c:v>
              </c:pt>
              <c:pt idx="524">
                <c:v>6201</c:v>
              </c:pt>
              <c:pt idx="525">
                <c:v>4403</c:v>
              </c:pt>
              <c:pt idx="526">
                <c:v>3761</c:v>
              </c:pt>
              <c:pt idx="527">
                <c:v>10934</c:v>
              </c:pt>
              <c:pt idx="528">
                <c:v>10761</c:v>
              </c:pt>
              <c:pt idx="529">
                <c:v>5175</c:v>
              </c:pt>
              <c:pt idx="530">
                <c:v>13826</c:v>
              </c:pt>
              <c:pt idx="531">
                <c:v>6334</c:v>
              </c:pt>
              <c:pt idx="532">
                <c:v>4936</c:v>
              </c:pt>
              <c:pt idx="533">
                <c:v>4775</c:v>
              </c:pt>
              <c:pt idx="534">
                <c:v>2818</c:v>
              </c:pt>
              <c:pt idx="535">
                <c:v>2515</c:v>
              </c:pt>
              <c:pt idx="536">
                <c:v>2342</c:v>
              </c:pt>
              <c:pt idx="537">
                <c:v>4194</c:v>
              </c:pt>
              <c:pt idx="538">
                <c:v>10685</c:v>
              </c:pt>
              <c:pt idx="539">
                <c:v>2314</c:v>
              </c:pt>
              <c:pt idx="540">
                <c:v>4256</c:v>
              </c:pt>
              <c:pt idx="541">
                <c:v>3580</c:v>
              </c:pt>
              <c:pt idx="542">
                <c:v>3162</c:v>
              </c:pt>
              <c:pt idx="543">
                <c:v>6524</c:v>
              </c:pt>
              <c:pt idx="544">
                <c:v>2899</c:v>
              </c:pt>
              <c:pt idx="545">
                <c:v>5231</c:v>
              </c:pt>
              <c:pt idx="546">
                <c:v>2356</c:v>
              </c:pt>
              <c:pt idx="547">
                <c:v>11836</c:v>
              </c:pt>
              <c:pt idx="548">
                <c:v>10903</c:v>
              </c:pt>
              <c:pt idx="549">
                <c:v>2973</c:v>
              </c:pt>
              <c:pt idx="550">
                <c:v>14275</c:v>
              </c:pt>
              <c:pt idx="551">
                <c:v>5562</c:v>
              </c:pt>
              <c:pt idx="552">
                <c:v>4537</c:v>
              </c:pt>
              <c:pt idx="553">
                <c:v>7642</c:v>
              </c:pt>
              <c:pt idx="554">
                <c:v>17924</c:v>
              </c:pt>
              <c:pt idx="555">
                <c:v>5204</c:v>
              </c:pt>
              <c:pt idx="556">
                <c:v>2277</c:v>
              </c:pt>
              <c:pt idx="557">
                <c:v>2532</c:v>
              </c:pt>
              <c:pt idx="558">
                <c:v>2559</c:v>
              </c:pt>
              <c:pt idx="559">
                <c:v>4908</c:v>
              </c:pt>
              <c:pt idx="560">
                <c:v>4765</c:v>
              </c:pt>
              <c:pt idx="561">
                <c:v>6586</c:v>
              </c:pt>
              <c:pt idx="562">
                <c:v>3294</c:v>
              </c:pt>
              <c:pt idx="563">
                <c:v>2377</c:v>
              </c:pt>
              <c:pt idx="564">
                <c:v>2318</c:v>
              </c:pt>
              <c:pt idx="565">
                <c:v>2008</c:v>
              </c:pt>
              <c:pt idx="566">
                <c:v>6244</c:v>
              </c:pt>
              <c:pt idx="567">
                <c:v>2799</c:v>
              </c:pt>
              <c:pt idx="568">
                <c:v>10552</c:v>
              </c:pt>
              <c:pt idx="569">
                <c:v>2329</c:v>
              </c:pt>
              <c:pt idx="570">
                <c:v>4014</c:v>
              </c:pt>
              <c:pt idx="571">
                <c:v>7403</c:v>
              </c:pt>
              <c:pt idx="572">
                <c:v>2259</c:v>
              </c:pt>
              <c:pt idx="573">
                <c:v>6932</c:v>
              </c:pt>
              <c:pt idx="574">
                <c:v>4678</c:v>
              </c:pt>
              <c:pt idx="575">
                <c:v>13582</c:v>
              </c:pt>
              <c:pt idx="576">
                <c:v>2332</c:v>
              </c:pt>
              <c:pt idx="577">
                <c:v>9705</c:v>
              </c:pt>
              <c:pt idx="578">
                <c:v>4294</c:v>
              </c:pt>
              <c:pt idx="579">
                <c:v>4721</c:v>
              </c:pt>
              <c:pt idx="580">
                <c:v>2519</c:v>
              </c:pt>
              <c:pt idx="581">
                <c:v>5855</c:v>
              </c:pt>
              <c:pt idx="582">
                <c:v>3617</c:v>
              </c:pt>
              <c:pt idx="583">
                <c:v>6725</c:v>
              </c:pt>
              <c:pt idx="584">
                <c:v>6949</c:v>
              </c:pt>
              <c:pt idx="585">
                <c:v>4447</c:v>
              </c:pt>
              <c:pt idx="586">
                <c:v>2157</c:v>
              </c:pt>
              <c:pt idx="587">
                <c:v>4601</c:v>
              </c:pt>
              <c:pt idx="588">
                <c:v>17099</c:v>
              </c:pt>
              <c:pt idx="589">
                <c:v>14852</c:v>
              </c:pt>
              <c:pt idx="590">
                <c:v>7264</c:v>
              </c:pt>
              <c:pt idx="591">
                <c:v>5666</c:v>
              </c:pt>
              <c:pt idx="592">
                <c:v>7823</c:v>
              </c:pt>
              <c:pt idx="593">
                <c:v>7880</c:v>
              </c:pt>
              <c:pt idx="594">
                <c:v>5067</c:v>
              </c:pt>
              <c:pt idx="595">
                <c:v>5079</c:v>
              </c:pt>
              <c:pt idx="596">
                <c:v>17444</c:v>
              </c:pt>
              <c:pt idx="597">
                <c:v>3452</c:v>
              </c:pt>
              <c:pt idx="598">
                <c:v>2270</c:v>
              </c:pt>
              <c:pt idx="599">
                <c:v>17399</c:v>
              </c:pt>
              <c:pt idx="600">
                <c:v>5488</c:v>
              </c:pt>
              <c:pt idx="601">
                <c:v>19419</c:v>
              </c:pt>
              <c:pt idx="602">
                <c:v>2811</c:v>
              </c:pt>
              <c:pt idx="603">
                <c:v>3633</c:v>
              </c:pt>
              <c:pt idx="604">
                <c:v>4163</c:v>
              </c:pt>
              <c:pt idx="605">
                <c:v>13973</c:v>
              </c:pt>
              <c:pt idx="606">
                <c:v>2684</c:v>
              </c:pt>
              <c:pt idx="607">
                <c:v>10845</c:v>
              </c:pt>
              <c:pt idx="608">
                <c:v>4377</c:v>
              </c:pt>
              <c:pt idx="609">
                <c:v>4148</c:v>
              </c:pt>
              <c:pt idx="610">
                <c:v>1051</c:v>
              </c:pt>
              <c:pt idx="611">
                <c:v>10739</c:v>
              </c:pt>
              <c:pt idx="612">
                <c:v>10388</c:v>
              </c:pt>
              <c:pt idx="613">
                <c:v>11416</c:v>
              </c:pt>
              <c:pt idx="614">
                <c:v>5472</c:v>
              </c:pt>
              <c:pt idx="615">
                <c:v>2451</c:v>
              </c:pt>
              <c:pt idx="616">
                <c:v>4240</c:v>
              </c:pt>
              <c:pt idx="617">
                <c:v>10999</c:v>
              </c:pt>
              <c:pt idx="618">
                <c:v>5003</c:v>
              </c:pt>
              <c:pt idx="619">
                <c:v>12742</c:v>
              </c:pt>
              <c:pt idx="620">
                <c:v>4227</c:v>
              </c:pt>
              <c:pt idx="621">
                <c:v>3917</c:v>
              </c:pt>
              <c:pt idx="622">
                <c:v>18303</c:v>
              </c:pt>
              <c:pt idx="623">
                <c:v>2380</c:v>
              </c:pt>
              <c:pt idx="624">
                <c:v>13726</c:v>
              </c:pt>
              <c:pt idx="625">
                <c:v>6385</c:v>
              </c:pt>
              <c:pt idx="626">
                <c:v>19973</c:v>
              </c:pt>
              <c:pt idx="627">
                <c:v>6861</c:v>
              </c:pt>
              <c:pt idx="628">
                <c:v>13320</c:v>
              </c:pt>
              <c:pt idx="629">
                <c:v>6347</c:v>
              </c:pt>
              <c:pt idx="630">
                <c:v>10880</c:v>
              </c:pt>
              <c:pt idx="631">
                <c:v>2342</c:v>
              </c:pt>
              <c:pt idx="632">
                <c:v>17650</c:v>
              </c:pt>
              <c:pt idx="633">
                <c:v>4025</c:v>
              </c:pt>
              <c:pt idx="634">
                <c:v>9725</c:v>
              </c:pt>
              <c:pt idx="635">
                <c:v>11904</c:v>
              </c:pt>
              <c:pt idx="636">
                <c:v>2177</c:v>
              </c:pt>
              <c:pt idx="637">
                <c:v>7525</c:v>
              </c:pt>
              <c:pt idx="638">
                <c:v>2220</c:v>
              </c:pt>
              <c:pt idx="639">
                <c:v>1052</c:v>
              </c:pt>
              <c:pt idx="640">
                <c:v>2821</c:v>
              </c:pt>
              <c:pt idx="641">
                <c:v>19237</c:v>
              </c:pt>
              <c:pt idx="642">
                <c:v>4107</c:v>
              </c:pt>
              <c:pt idx="643">
                <c:v>8396</c:v>
              </c:pt>
              <c:pt idx="644">
                <c:v>2007</c:v>
              </c:pt>
              <c:pt idx="645">
                <c:v>19627</c:v>
              </c:pt>
              <c:pt idx="646">
                <c:v>10686</c:v>
              </c:pt>
              <c:pt idx="647">
                <c:v>2942</c:v>
              </c:pt>
              <c:pt idx="648">
                <c:v>8858</c:v>
              </c:pt>
              <c:pt idx="649">
                <c:v>16756</c:v>
              </c:pt>
              <c:pt idx="650">
                <c:v>10798</c:v>
              </c:pt>
              <c:pt idx="651">
                <c:v>4615</c:v>
              </c:pt>
              <c:pt idx="652">
                <c:v>3955</c:v>
              </c:pt>
              <c:pt idx="653">
                <c:v>9957</c:v>
              </c:pt>
              <c:pt idx="654">
                <c:v>3376</c:v>
              </c:pt>
              <c:pt idx="655">
                <c:v>8823</c:v>
              </c:pt>
              <c:pt idx="656">
                <c:v>10322</c:v>
              </c:pt>
              <c:pt idx="657">
                <c:v>4621</c:v>
              </c:pt>
              <c:pt idx="658">
                <c:v>10976</c:v>
              </c:pt>
              <c:pt idx="659">
                <c:v>3660</c:v>
              </c:pt>
              <c:pt idx="660">
                <c:v>7119</c:v>
              </c:pt>
              <c:pt idx="661">
                <c:v>2207</c:v>
              </c:pt>
              <c:pt idx="662">
                <c:v>7756</c:v>
              </c:pt>
              <c:pt idx="663">
                <c:v>6694</c:v>
              </c:pt>
              <c:pt idx="664">
                <c:v>17665</c:v>
              </c:pt>
              <c:pt idx="665">
                <c:v>4302</c:v>
              </c:pt>
              <c:pt idx="666">
                <c:v>2979</c:v>
              </c:pt>
              <c:pt idx="667">
                <c:v>16885</c:v>
              </c:pt>
              <c:pt idx="668">
                <c:v>5593</c:v>
              </c:pt>
              <c:pt idx="669">
                <c:v>10445</c:v>
              </c:pt>
              <c:pt idx="670">
                <c:v>8740</c:v>
              </c:pt>
              <c:pt idx="671">
                <c:v>2514</c:v>
              </c:pt>
              <c:pt idx="672">
                <c:v>7655</c:v>
              </c:pt>
              <c:pt idx="673">
                <c:v>17465</c:v>
              </c:pt>
              <c:pt idx="674">
                <c:v>7351</c:v>
              </c:pt>
              <c:pt idx="675">
                <c:v>10820</c:v>
              </c:pt>
              <c:pt idx="676">
                <c:v>19626</c:v>
              </c:pt>
              <c:pt idx="677">
                <c:v>2070</c:v>
              </c:pt>
              <c:pt idx="678">
                <c:v>6782</c:v>
              </c:pt>
              <c:pt idx="679">
                <c:v>7779</c:v>
              </c:pt>
              <c:pt idx="680">
                <c:v>2791</c:v>
              </c:pt>
              <c:pt idx="681">
                <c:v>3201</c:v>
              </c:pt>
              <c:pt idx="682">
                <c:v>4968</c:v>
              </c:pt>
              <c:pt idx="683">
                <c:v>13120</c:v>
              </c:pt>
              <c:pt idx="684">
                <c:v>4033</c:v>
              </c:pt>
              <c:pt idx="685">
                <c:v>3291</c:v>
              </c:pt>
              <c:pt idx="686">
                <c:v>4272</c:v>
              </c:pt>
              <c:pt idx="687">
                <c:v>5056</c:v>
              </c:pt>
              <c:pt idx="688">
                <c:v>2844</c:v>
              </c:pt>
              <c:pt idx="689">
                <c:v>2703</c:v>
              </c:pt>
              <c:pt idx="690">
                <c:v>4766</c:v>
              </c:pt>
              <c:pt idx="691">
                <c:v>5731</c:v>
              </c:pt>
              <c:pt idx="692">
                <c:v>2539</c:v>
              </c:pt>
              <c:pt idx="693">
                <c:v>5714</c:v>
              </c:pt>
              <c:pt idx="694">
                <c:v>4323</c:v>
              </c:pt>
              <c:pt idx="695">
                <c:v>13499</c:v>
              </c:pt>
              <c:pt idx="696">
                <c:v>5155</c:v>
              </c:pt>
              <c:pt idx="697">
                <c:v>2258</c:v>
              </c:pt>
              <c:pt idx="698">
                <c:v>3597</c:v>
              </c:pt>
              <c:pt idx="699">
                <c:v>4420</c:v>
              </c:pt>
              <c:pt idx="700">
                <c:v>6578</c:v>
              </c:pt>
              <c:pt idx="701">
                <c:v>4422</c:v>
              </c:pt>
              <c:pt idx="702">
                <c:v>10274</c:v>
              </c:pt>
              <c:pt idx="703">
                <c:v>5343</c:v>
              </c:pt>
              <c:pt idx="704">
                <c:v>2376</c:v>
              </c:pt>
              <c:pt idx="705">
                <c:v>2827</c:v>
              </c:pt>
              <c:pt idx="706">
                <c:v>19943</c:v>
              </c:pt>
              <c:pt idx="707">
                <c:v>3131</c:v>
              </c:pt>
              <c:pt idx="708">
                <c:v>2552</c:v>
              </c:pt>
              <c:pt idx="709">
                <c:v>4477</c:v>
              </c:pt>
              <c:pt idx="710">
                <c:v>6474</c:v>
              </c:pt>
              <c:pt idx="711">
                <c:v>3033</c:v>
              </c:pt>
              <c:pt idx="712">
                <c:v>18606</c:v>
              </c:pt>
              <c:pt idx="713">
                <c:v>2168</c:v>
              </c:pt>
              <c:pt idx="714">
                <c:v>17048</c:v>
              </c:pt>
              <c:pt idx="715">
                <c:v>2290</c:v>
              </c:pt>
              <c:pt idx="716">
                <c:v>3600</c:v>
              </c:pt>
              <c:pt idx="717">
                <c:v>4115</c:v>
              </c:pt>
              <c:pt idx="718">
                <c:v>4327</c:v>
              </c:pt>
              <c:pt idx="719">
                <c:v>17856</c:v>
              </c:pt>
              <c:pt idx="720">
                <c:v>3196</c:v>
              </c:pt>
              <c:pt idx="721">
                <c:v>19081</c:v>
              </c:pt>
              <c:pt idx="722">
                <c:v>8966</c:v>
              </c:pt>
              <c:pt idx="723">
                <c:v>4539</c:v>
              </c:pt>
              <c:pt idx="724">
                <c:v>2741</c:v>
              </c:pt>
              <c:pt idx="725">
                <c:v>3491</c:v>
              </c:pt>
              <c:pt idx="726">
                <c:v>4541</c:v>
              </c:pt>
              <c:pt idx="727">
                <c:v>2678</c:v>
              </c:pt>
              <c:pt idx="728">
                <c:v>7379</c:v>
              </c:pt>
              <c:pt idx="729">
                <c:v>6272</c:v>
              </c:pt>
              <c:pt idx="730">
                <c:v>5220</c:v>
              </c:pt>
              <c:pt idx="731">
                <c:v>2743</c:v>
              </c:pt>
              <c:pt idx="732">
                <c:v>4998</c:v>
              </c:pt>
              <c:pt idx="733">
                <c:v>10252</c:v>
              </c:pt>
              <c:pt idx="734">
                <c:v>2781</c:v>
              </c:pt>
              <c:pt idx="735">
                <c:v>6852</c:v>
              </c:pt>
              <c:pt idx="736">
                <c:v>4950</c:v>
              </c:pt>
              <c:pt idx="737">
                <c:v>3579</c:v>
              </c:pt>
              <c:pt idx="738">
                <c:v>13191</c:v>
              </c:pt>
              <c:pt idx="739">
                <c:v>10377</c:v>
              </c:pt>
              <c:pt idx="740">
                <c:v>2235</c:v>
              </c:pt>
              <c:pt idx="741">
                <c:v>10502</c:v>
              </c:pt>
              <c:pt idx="742">
                <c:v>2011</c:v>
              </c:pt>
              <c:pt idx="743">
                <c:v>3760</c:v>
              </c:pt>
              <c:pt idx="744">
                <c:v>17779</c:v>
              </c:pt>
              <c:pt idx="745">
                <c:v>6833</c:v>
              </c:pt>
              <c:pt idx="746">
                <c:v>6812</c:v>
              </c:pt>
              <c:pt idx="747">
                <c:v>5171</c:v>
              </c:pt>
              <c:pt idx="748">
                <c:v>19740</c:v>
              </c:pt>
              <c:pt idx="749">
                <c:v>18711</c:v>
              </c:pt>
              <c:pt idx="750">
                <c:v>3692</c:v>
              </c:pt>
              <c:pt idx="751">
                <c:v>2559</c:v>
              </c:pt>
              <c:pt idx="752">
                <c:v>2517</c:v>
              </c:pt>
              <c:pt idx="753">
                <c:v>6623</c:v>
              </c:pt>
              <c:pt idx="754">
                <c:v>18265</c:v>
              </c:pt>
              <c:pt idx="755">
                <c:v>16124</c:v>
              </c:pt>
              <c:pt idx="756">
                <c:v>2585</c:v>
              </c:pt>
              <c:pt idx="757">
                <c:v>18213</c:v>
              </c:pt>
              <c:pt idx="758">
                <c:v>8380</c:v>
              </c:pt>
              <c:pt idx="759">
                <c:v>2994</c:v>
              </c:pt>
              <c:pt idx="760">
                <c:v>1223</c:v>
              </c:pt>
              <c:pt idx="761">
                <c:v>2875</c:v>
              </c:pt>
              <c:pt idx="762">
                <c:v>13577</c:v>
              </c:pt>
              <c:pt idx="763">
                <c:v>18789</c:v>
              </c:pt>
              <c:pt idx="764">
                <c:v>4538</c:v>
              </c:pt>
              <c:pt idx="765">
                <c:v>19847</c:v>
              </c:pt>
              <c:pt idx="766">
                <c:v>10512</c:v>
              </c:pt>
              <c:pt idx="767">
                <c:v>4444</c:v>
              </c:pt>
              <c:pt idx="768">
                <c:v>2154</c:v>
              </c:pt>
              <c:pt idx="769">
                <c:v>19190</c:v>
              </c:pt>
              <c:pt idx="770">
                <c:v>4490</c:v>
              </c:pt>
              <c:pt idx="771">
                <c:v>3506</c:v>
              </c:pt>
              <c:pt idx="772">
                <c:v>2372</c:v>
              </c:pt>
              <c:pt idx="773">
                <c:v>10231</c:v>
              </c:pt>
              <c:pt idx="774">
                <c:v>5410</c:v>
              </c:pt>
              <c:pt idx="775">
                <c:v>3867</c:v>
              </c:pt>
              <c:pt idx="776">
                <c:v>2838</c:v>
              </c:pt>
              <c:pt idx="777">
                <c:v>4695</c:v>
              </c:pt>
              <c:pt idx="778">
                <c:v>2080</c:v>
              </c:pt>
              <c:pt idx="779">
                <c:v>2096</c:v>
              </c:pt>
              <c:pt idx="780">
                <c:v>6209</c:v>
              </c:pt>
              <c:pt idx="781">
                <c:v>18061</c:v>
              </c:pt>
              <c:pt idx="782">
                <c:v>17123</c:v>
              </c:pt>
              <c:pt idx="783">
                <c:v>2372</c:v>
              </c:pt>
              <c:pt idx="784">
                <c:v>4627</c:v>
              </c:pt>
              <c:pt idx="785">
                <c:v>7094</c:v>
              </c:pt>
              <c:pt idx="786">
                <c:v>3423</c:v>
              </c:pt>
              <c:pt idx="787">
                <c:v>6674</c:v>
              </c:pt>
              <c:pt idx="788">
                <c:v>16880</c:v>
              </c:pt>
              <c:pt idx="789">
                <c:v>11916</c:v>
              </c:pt>
              <c:pt idx="790">
                <c:v>4534</c:v>
              </c:pt>
              <c:pt idx="791">
                <c:v>9852</c:v>
              </c:pt>
              <c:pt idx="792">
                <c:v>6151</c:v>
              </c:pt>
              <c:pt idx="793">
                <c:v>17861</c:v>
              </c:pt>
              <c:pt idx="794">
                <c:v>19187</c:v>
              </c:pt>
              <c:pt idx="795">
                <c:v>19717</c:v>
              </c:pt>
              <c:pt idx="796">
                <c:v>3544</c:v>
              </c:pt>
              <c:pt idx="797">
                <c:v>8500</c:v>
              </c:pt>
              <c:pt idx="798">
                <c:v>4661</c:v>
              </c:pt>
              <c:pt idx="799">
                <c:v>4103</c:v>
              </c:pt>
              <c:pt idx="800">
                <c:v>4249</c:v>
              </c:pt>
              <c:pt idx="801">
                <c:v>14026</c:v>
              </c:pt>
              <c:pt idx="802">
                <c:v>6893</c:v>
              </c:pt>
              <c:pt idx="803">
                <c:v>6125</c:v>
              </c:pt>
              <c:pt idx="804">
                <c:v>3669</c:v>
              </c:pt>
              <c:pt idx="805">
                <c:v>2387</c:v>
              </c:pt>
              <c:pt idx="806">
                <c:v>4639</c:v>
              </c:pt>
              <c:pt idx="807">
                <c:v>7898</c:v>
              </c:pt>
              <c:pt idx="808">
                <c:v>2534</c:v>
              </c:pt>
              <c:pt idx="809">
                <c:v>13142</c:v>
              </c:pt>
              <c:pt idx="810">
                <c:v>1611</c:v>
              </c:pt>
              <c:pt idx="811">
                <c:v>5363</c:v>
              </c:pt>
              <c:pt idx="812">
                <c:v>5071</c:v>
              </c:pt>
              <c:pt idx="813">
                <c:v>13402</c:v>
              </c:pt>
              <c:pt idx="814">
                <c:v>2029</c:v>
              </c:pt>
              <c:pt idx="815">
                <c:v>6377</c:v>
              </c:pt>
              <c:pt idx="816">
                <c:v>5429</c:v>
              </c:pt>
              <c:pt idx="817">
                <c:v>2610</c:v>
              </c:pt>
              <c:pt idx="818">
                <c:v>6687</c:v>
              </c:pt>
              <c:pt idx="819">
                <c:v>4724</c:v>
              </c:pt>
              <c:pt idx="820">
                <c:v>6120</c:v>
              </c:pt>
              <c:pt idx="821">
                <c:v>10596</c:v>
              </c:pt>
              <c:pt idx="822">
                <c:v>5467</c:v>
              </c:pt>
              <c:pt idx="823">
                <c:v>2996</c:v>
              </c:pt>
              <c:pt idx="824">
                <c:v>9998</c:v>
              </c:pt>
              <c:pt idx="825">
                <c:v>4078</c:v>
              </c:pt>
              <c:pt idx="826">
                <c:v>10920</c:v>
              </c:pt>
              <c:pt idx="827">
                <c:v>6232</c:v>
              </c:pt>
              <c:pt idx="828">
                <c:v>13247</c:v>
              </c:pt>
              <c:pt idx="829">
                <c:v>4081</c:v>
              </c:pt>
              <c:pt idx="830">
                <c:v>5769</c:v>
              </c:pt>
              <c:pt idx="831">
                <c:v>3904</c:v>
              </c:pt>
              <c:pt idx="832">
                <c:v>16799</c:v>
              </c:pt>
              <c:pt idx="833">
                <c:v>2950</c:v>
              </c:pt>
              <c:pt idx="834">
                <c:v>3629</c:v>
              </c:pt>
              <c:pt idx="835">
                <c:v>9362</c:v>
              </c:pt>
              <c:pt idx="836">
                <c:v>3229</c:v>
              </c:pt>
              <c:pt idx="837">
                <c:v>3578</c:v>
              </c:pt>
              <c:pt idx="838">
                <c:v>7988</c:v>
              </c:pt>
              <c:pt idx="839">
                <c:v>17328</c:v>
              </c:pt>
              <c:pt idx="840">
                <c:v>19701</c:v>
              </c:pt>
              <c:pt idx="841">
                <c:v>14732</c:v>
              </c:pt>
              <c:pt idx="842">
                <c:v>9278</c:v>
              </c:pt>
              <c:pt idx="843">
                <c:v>4779</c:v>
              </c:pt>
              <c:pt idx="844">
                <c:v>16422</c:v>
              </c:pt>
              <c:pt idx="845">
                <c:v>2996</c:v>
              </c:pt>
              <c:pt idx="846">
                <c:v>2099</c:v>
              </c:pt>
              <c:pt idx="847">
                <c:v>5810</c:v>
              </c:pt>
              <c:pt idx="848">
                <c:v>5647</c:v>
              </c:pt>
              <c:pt idx="849">
                <c:v>3420</c:v>
              </c:pt>
              <c:pt idx="850">
                <c:v>3500</c:v>
              </c:pt>
              <c:pt idx="851">
                <c:v>2066</c:v>
              </c:pt>
              <c:pt idx="852">
                <c:v>17169</c:v>
              </c:pt>
              <c:pt idx="853">
                <c:v>4162</c:v>
              </c:pt>
              <c:pt idx="854">
                <c:v>9204</c:v>
              </c:pt>
              <c:pt idx="855">
                <c:v>3294</c:v>
              </c:pt>
              <c:pt idx="856">
                <c:v>2127</c:v>
              </c:pt>
              <c:pt idx="857">
                <c:v>3975</c:v>
              </c:pt>
              <c:pt idx="858">
                <c:v>10793</c:v>
              </c:pt>
              <c:pt idx="859">
                <c:v>10851</c:v>
              </c:pt>
              <c:pt idx="860">
                <c:v>2109</c:v>
              </c:pt>
              <c:pt idx="861">
                <c:v>9380</c:v>
              </c:pt>
              <c:pt idx="862">
                <c:v>5486</c:v>
              </c:pt>
              <c:pt idx="863">
                <c:v>13757</c:v>
              </c:pt>
              <c:pt idx="864">
                <c:v>8463</c:v>
              </c:pt>
              <c:pt idx="865">
                <c:v>3162</c:v>
              </c:pt>
              <c:pt idx="866">
                <c:v>16598</c:v>
              </c:pt>
              <c:pt idx="867">
                <c:v>6651</c:v>
              </c:pt>
              <c:pt idx="868">
                <c:v>2345</c:v>
              </c:pt>
              <c:pt idx="869">
                <c:v>3420</c:v>
              </c:pt>
              <c:pt idx="870">
                <c:v>4373</c:v>
              </c:pt>
              <c:pt idx="871">
                <c:v>4759</c:v>
              </c:pt>
              <c:pt idx="872">
                <c:v>5301</c:v>
              </c:pt>
              <c:pt idx="873">
                <c:v>3673</c:v>
              </c:pt>
              <c:pt idx="874">
                <c:v>4768</c:v>
              </c:pt>
              <c:pt idx="875">
                <c:v>1274</c:v>
              </c:pt>
              <c:pt idx="876">
                <c:v>4900</c:v>
              </c:pt>
              <c:pt idx="877">
                <c:v>10466</c:v>
              </c:pt>
              <c:pt idx="878">
                <c:v>17007</c:v>
              </c:pt>
              <c:pt idx="879">
                <c:v>2404</c:v>
              </c:pt>
              <c:pt idx="880">
                <c:v>2033</c:v>
              </c:pt>
              <c:pt idx="881">
                <c:v>10209</c:v>
              </c:pt>
              <c:pt idx="882">
                <c:v>8620</c:v>
              </c:pt>
              <c:pt idx="883">
                <c:v>2064</c:v>
              </c:pt>
              <c:pt idx="884">
                <c:v>4035</c:v>
              </c:pt>
              <c:pt idx="885">
                <c:v>3838</c:v>
              </c:pt>
              <c:pt idx="886">
                <c:v>4591</c:v>
              </c:pt>
              <c:pt idx="887">
                <c:v>1563</c:v>
              </c:pt>
              <c:pt idx="888">
                <c:v>4898</c:v>
              </c:pt>
              <c:pt idx="889">
                <c:v>4789</c:v>
              </c:pt>
              <c:pt idx="890">
                <c:v>3180</c:v>
              </c:pt>
              <c:pt idx="891">
                <c:v>6549</c:v>
              </c:pt>
              <c:pt idx="892">
                <c:v>6388</c:v>
              </c:pt>
              <c:pt idx="893">
                <c:v>11244</c:v>
              </c:pt>
              <c:pt idx="894">
                <c:v>16032</c:v>
              </c:pt>
              <c:pt idx="895">
                <c:v>16328</c:v>
              </c:pt>
              <c:pt idx="896">
                <c:v>8376</c:v>
              </c:pt>
              <c:pt idx="897">
                <c:v>16606</c:v>
              </c:pt>
              <c:pt idx="898">
                <c:v>8606</c:v>
              </c:pt>
              <c:pt idx="899">
                <c:v>2272</c:v>
              </c:pt>
              <c:pt idx="900">
                <c:v>7083</c:v>
              </c:pt>
              <c:pt idx="901">
                <c:v>14411</c:v>
              </c:pt>
              <c:pt idx="902">
                <c:v>2308</c:v>
              </c:pt>
              <c:pt idx="903">
                <c:v>4841</c:v>
              </c:pt>
              <c:pt idx="904">
                <c:v>4285</c:v>
              </c:pt>
              <c:pt idx="905">
                <c:v>9715</c:v>
              </c:pt>
              <c:pt idx="906">
                <c:v>4320</c:v>
              </c:pt>
              <c:pt idx="907">
                <c:v>2132</c:v>
              </c:pt>
              <c:pt idx="908">
                <c:v>10124</c:v>
              </c:pt>
              <c:pt idx="909">
                <c:v>5473</c:v>
              </c:pt>
              <c:pt idx="910">
                <c:v>5207</c:v>
              </c:pt>
              <c:pt idx="911">
                <c:v>16437</c:v>
              </c:pt>
              <c:pt idx="912">
                <c:v>2296</c:v>
              </c:pt>
              <c:pt idx="913">
                <c:v>4069</c:v>
              </c:pt>
              <c:pt idx="914">
                <c:v>7441</c:v>
              </c:pt>
              <c:pt idx="915">
                <c:v>2430</c:v>
              </c:pt>
              <c:pt idx="916">
                <c:v>5878</c:v>
              </c:pt>
              <c:pt idx="917">
                <c:v>2644</c:v>
              </c:pt>
              <c:pt idx="918">
                <c:v>6439</c:v>
              </c:pt>
              <c:pt idx="919">
                <c:v>2451</c:v>
              </c:pt>
              <c:pt idx="920">
                <c:v>6392</c:v>
              </c:pt>
              <c:pt idx="921">
                <c:v>6077</c:v>
              </c:pt>
              <c:pt idx="922">
                <c:v>2450</c:v>
              </c:pt>
              <c:pt idx="923">
                <c:v>9250</c:v>
              </c:pt>
              <c:pt idx="924">
                <c:v>4087</c:v>
              </c:pt>
              <c:pt idx="925">
                <c:v>2367</c:v>
              </c:pt>
              <c:pt idx="926">
                <c:v>2972</c:v>
              </c:pt>
              <c:pt idx="927">
                <c:v>19586</c:v>
              </c:pt>
              <c:pt idx="928">
                <c:v>5484</c:v>
              </c:pt>
              <c:pt idx="929">
                <c:v>2061</c:v>
              </c:pt>
              <c:pt idx="930">
                <c:v>9924</c:v>
              </c:pt>
              <c:pt idx="931">
                <c:v>4198</c:v>
              </c:pt>
              <c:pt idx="932">
                <c:v>6815</c:v>
              </c:pt>
              <c:pt idx="933">
                <c:v>4723</c:v>
              </c:pt>
              <c:pt idx="934">
                <c:v>6142</c:v>
              </c:pt>
              <c:pt idx="935">
                <c:v>8237</c:v>
              </c:pt>
              <c:pt idx="936">
                <c:v>8853</c:v>
              </c:pt>
              <c:pt idx="937">
                <c:v>19331</c:v>
              </c:pt>
              <c:pt idx="938">
                <c:v>2073</c:v>
              </c:pt>
              <c:pt idx="939">
                <c:v>5562</c:v>
              </c:pt>
              <c:pt idx="940">
                <c:v>19613</c:v>
              </c:pt>
              <c:pt idx="941">
                <c:v>3407</c:v>
              </c:pt>
              <c:pt idx="942">
                <c:v>5063</c:v>
              </c:pt>
              <c:pt idx="943">
                <c:v>4639</c:v>
              </c:pt>
              <c:pt idx="944">
                <c:v>4876</c:v>
              </c:pt>
              <c:pt idx="945">
                <c:v>2690</c:v>
              </c:pt>
              <c:pt idx="946">
                <c:v>17567</c:v>
              </c:pt>
              <c:pt idx="947">
                <c:v>2814</c:v>
              </c:pt>
              <c:pt idx="948">
                <c:v>11245</c:v>
              </c:pt>
              <c:pt idx="949">
                <c:v>3312</c:v>
              </c:pt>
              <c:pt idx="950">
                <c:v>19049</c:v>
              </c:pt>
              <c:pt idx="951">
                <c:v>2141</c:v>
              </c:pt>
              <c:pt idx="952">
                <c:v>5769</c:v>
              </c:pt>
              <c:pt idx="953">
                <c:v>4385</c:v>
              </c:pt>
              <c:pt idx="954">
                <c:v>5332</c:v>
              </c:pt>
              <c:pt idx="955">
                <c:v>4663</c:v>
              </c:pt>
              <c:pt idx="956">
                <c:v>4724</c:v>
              </c:pt>
              <c:pt idx="957">
                <c:v>3211</c:v>
              </c:pt>
              <c:pt idx="958">
                <c:v>5377</c:v>
              </c:pt>
              <c:pt idx="959">
                <c:v>4066</c:v>
              </c:pt>
              <c:pt idx="960">
                <c:v>5208</c:v>
              </c:pt>
              <c:pt idx="961">
                <c:v>4877</c:v>
              </c:pt>
              <c:pt idx="962">
                <c:v>3117</c:v>
              </c:pt>
              <c:pt idx="963">
                <c:v>19658</c:v>
              </c:pt>
              <c:pt idx="964">
                <c:v>3069</c:v>
              </c:pt>
              <c:pt idx="965">
                <c:v>10435</c:v>
              </c:pt>
              <c:pt idx="966">
                <c:v>4148</c:v>
              </c:pt>
              <c:pt idx="967">
                <c:v>5768</c:v>
              </c:pt>
              <c:pt idx="968">
                <c:v>5042</c:v>
              </c:pt>
              <c:pt idx="969">
                <c:v>5770</c:v>
              </c:pt>
              <c:pt idx="970">
                <c:v>7756</c:v>
              </c:pt>
              <c:pt idx="971">
                <c:v>3936</c:v>
              </c:pt>
              <c:pt idx="972">
                <c:v>7945</c:v>
              </c:pt>
              <c:pt idx="973">
                <c:v>5743</c:v>
              </c:pt>
              <c:pt idx="974">
                <c:v>15202</c:v>
              </c:pt>
              <c:pt idx="975">
                <c:v>3760</c:v>
              </c:pt>
              <c:pt idx="976">
                <c:v>3517</c:v>
              </c:pt>
              <c:pt idx="977">
                <c:v>2580</c:v>
              </c:pt>
              <c:pt idx="978">
                <c:v>5869</c:v>
              </c:pt>
              <c:pt idx="979">
                <c:v>8008</c:v>
              </c:pt>
              <c:pt idx="980">
                <c:v>5206</c:v>
              </c:pt>
              <c:pt idx="981">
                <c:v>5295</c:v>
              </c:pt>
              <c:pt idx="982">
                <c:v>16413</c:v>
              </c:pt>
              <c:pt idx="983">
                <c:v>13269</c:v>
              </c:pt>
              <c:pt idx="984">
                <c:v>2783</c:v>
              </c:pt>
              <c:pt idx="985">
                <c:v>5433</c:v>
              </c:pt>
              <c:pt idx="986">
                <c:v>2013</c:v>
              </c:pt>
              <c:pt idx="987">
                <c:v>13966</c:v>
              </c:pt>
              <c:pt idx="988">
                <c:v>4374</c:v>
              </c:pt>
              <c:pt idx="989">
                <c:v>6842</c:v>
              </c:pt>
              <c:pt idx="990">
                <c:v>17426</c:v>
              </c:pt>
              <c:pt idx="991">
                <c:v>17603</c:v>
              </c:pt>
              <c:pt idx="992">
                <c:v>4735</c:v>
              </c:pt>
              <c:pt idx="993">
                <c:v>4187</c:v>
              </c:pt>
              <c:pt idx="994">
                <c:v>5505</c:v>
              </c:pt>
              <c:pt idx="995">
                <c:v>5470</c:v>
              </c:pt>
              <c:pt idx="996">
                <c:v>5476</c:v>
              </c:pt>
              <c:pt idx="997">
                <c:v>2587</c:v>
              </c:pt>
              <c:pt idx="998">
                <c:v>2440</c:v>
              </c:pt>
              <c:pt idx="999">
                <c:v>15972</c:v>
              </c:pt>
              <c:pt idx="1000">
                <c:v>15379</c:v>
              </c:pt>
              <c:pt idx="1001">
                <c:v>7082</c:v>
              </c:pt>
              <c:pt idx="1002">
                <c:v>2728</c:v>
              </c:pt>
              <c:pt idx="1003">
                <c:v>5368</c:v>
              </c:pt>
              <c:pt idx="1004">
                <c:v>5347</c:v>
              </c:pt>
              <c:pt idx="1005">
                <c:v>3195</c:v>
              </c:pt>
              <c:pt idx="1006">
                <c:v>3306</c:v>
              </c:pt>
              <c:pt idx="1007">
                <c:v>7005</c:v>
              </c:pt>
              <c:pt idx="1008">
                <c:v>2570</c:v>
              </c:pt>
              <c:pt idx="1009">
                <c:v>3537</c:v>
              </c:pt>
              <c:pt idx="1010">
                <c:v>3986</c:v>
              </c:pt>
              <c:pt idx="1011">
                <c:v>10883</c:v>
              </c:pt>
              <c:pt idx="1012">
                <c:v>2028</c:v>
              </c:pt>
              <c:pt idx="1013">
                <c:v>9525</c:v>
              </c:pt>
              <c:pt idx="1014">
                <c:v>2929</c:v>
              </c:pt>
              <c:pt idx="1015">
                <c:v>7879</c:v>
              </c:pt>
              <c:pt idx="1016">
                <c:v>4930</c:v>
              </c:pt>
              <c:pt idx="1017">
                <c:v>7847</c:v>
              </c:pt>
              <c:pt idx="1018">
                <c:v>4401</c:v>
              </c:pt>
              <c:pt idx="1019">
                <c:v>9241</c:v>
              </c:pt>
              <c:pt idx="1020">
                <c:v>2974</c:v>
              </c:pt>
              <c:pt idx="1021">
                <c:v>4502</c:v>
              </c:pt>
              <c:pt idx="1022">
                <c:v>10748</c:v>
              </c:pt>
              <c:pt idx="1023">
                <c:v>2305</c:v>
              </c:pt>
              <c:pt idx="1024">
                <c:v>16704</c:v>
              </c:pt>
              <c:pt idx="1025">
                <c:v>3433</c:v>
              </c:pt>
              <c:pt idx="1026">
                <c:v>3477</c:v>
              </c:pt>
              <c:pt idx="1027">
                <c:v>6430</c:v>
              </c:pt>
              <c:pt idx="1028">
                <c:v>6516</c:v>
              </c:pt>
              <c:pt idx="1029">
                <c:v>3907</c:v>
              </c:pt>
              <c:pt idx="1030">
                <c:v>5562</c:v>
              </c:pt>
              <c:pt idx="1031">
                <c:v>6883</c:v>
              </c:pt>
              <c:pt idx="1032">
                <c:v>2862</c:v>
              </c:pt>
              <c:pt idx="1033">
                <c:v>4978</c:v>
              </c:pt>
              <c:pt idx="1034">
                <c:v>10368</c:v>
              </c:pt>
              <c:pt idx="1035">
                <c:v>3295</c:v>
              </c:pt>
              <c:pt idx="1036">
                <c:v>5238</c:v>
              </c:pt>
              <c:pt idx="1037">
                <c:v>6472</c:v>
              </c:pt>
              <c:pt idx="1038">
                <c:v>9610</c:v>
              </c:pt>
              <c:pt idx="1039">
                <c:v>19833</c:v>
              </c:pt>
              <c:pt idx="1040">
                <c:v>9756</c:v>
              </c:pt>
              <c:pt idx="1041">
                <c:v>4968</c:v>
              </c:pt>
              <c:pt idx="1042">
                <c:v>2145</c:v>
              </c:pt>
              <c:pt idx="1043">
                <c:v>8346</c:v>
              </c:pt>
              <c:pt idx="1044">
                <c:v>3445</c:v>
              </c:pt>
              <c:pt idx="1045">
                <c:v>6294</c:v>
              </c:pt>
              <c:pt idx="1046">
                <c:v>7140</c:v>
              </c:pt>
              <c:pt idx="1047">
                <c:v>2932</c:v>
              </c:pt>
              <c:pt idx="1048">
                <c:v>5147</c:v>
              </c:pt>
              <c:pt idx="1049">
                <c:v>4507</c:v>
              </c:pt>
              <c:pt idx="1050">
                <c:v>2468</c:v>
              </c:pt>
              <c:pt idx="1051">
                <c:v>2109</c:v>
              </c:pt>
              <c:pt idx="1052">
                <c:v>5294</c:v>
              </c:pt>
              <c:pt idx="1053">
                <c:v>2718</c:v>
              </c:pt>
              <c:pt idx="1054">
                <c:v>5811</c:v>
              </c:pt>
              <c:pt idx="1055">
                <c:v>2766</c:v>
              </c:pt>
              <c:pt idx="1056">
                <c:v>19038</c:v>
              </c:pt>
              <c:pt idx="1057">
                <c:v>3055</c:v>
              </c:pt>
              <c:pt idx="1058">
                <c:v>2289</c:v>
              </c:pt>
              <c:pt idx="1059">
                <c:v>4001</c:v>
              </c:pt>
              <c:pt idx="1060">
                <c:v>12965</c:v>
              </c:pt>
              <c:pt idx="1061">
                <c:v>3539</c:v>
              </c:pt>
              <c:pt idx="1062">
                <c:v>6029</c:v>
              </c:pt>
              <c:pt idx="1063">
                <c:v>3702</c:v>
              </c:pt>
              <c:pt idx="1064">
                <c:v>5468</c:v>
              </c:pt>
              <c:pt idx="1065">
                <c:v>13116</c:v>
              </c:pt>
              <c:pt idx="1066">
                <c:v>4189</c:v>
              </c:pt>
              <c:pt idx="1067">
                <c:v>19328</c:v>
              </c:pt>
              <c:pt idx="1068">
                <c:v>8321</c:v>
              </c:pt>
              <c:pt idx="1069">
                <c:v>4071</c:v>
              </c:pt>
              <c:pt idx="1070">
                <c:v>3143</c:v>
              </c:pt>
              <c:pt idx="1071">
                <c:v>2044</c:v>
              </c:pt>
              <c:pt idx="1072">
                <c:v>13464</c:v>
              </c:pt>
              <c:pt idx="1073">
                <c:v>7991</c:v>
              </c:pt>
              <c:pt idx="1074">
                <c:v>3377</c:v>
              </c:pt>
              <c:pt idx="1075">
                <c:v>5538</c:v>
              </c:pt>
              <c:pt idx="1076">
                <c:v>5762</c:v>
              </c:pt>
              <c:pt idx="1077">
                <c:v>2592</c:v>
              </c:pt>
              <c:pt idx="1078">
                <c:v>4127</c:v>
              </c:pt>
              <c:pt idx="1079">
                <c:v>2438</c:v>
              </c:pt>
              <c:pt idx="1080">
                <c:v>6870</c:v>
              </c:pt>
              <c:pt idx="1081">
                <c:v>10447</c:v>
              </c:pt>
              <c:pt idx="1082">
                <c:v>9667</c:v>
              </c:pt>
              <c:pt idx="1083">
                <c:v>6513</c:v>
              </c:pt>
              <c:pt idx="1084">
                <c:v>6799</c:v>
              </c:pt>
              <c:pt idx="1085">
                <c:v>16291</c:v>
              </c:pt>
              <c:pt idx="1086">
                <c:v>2705</c:v>
              </c:pt>
              <c:pt idx="1087">
                <c:v>10333</c:v>
              </c:pt>
              <c:pt idx="1088">
                <c:v>4448</c:v>
              </c:pt>
              <c:pt idx="1089">
                <c:v>6854</c:v>
              </c:pt>
              <c:pt idx="1090">
                <c:v>9637</c:v>
              </c:pt>
              <c:pt idx="1091">
                <c:v>3591</c:v>
              </c:pt>
              <c:pt idx="1092">
                <c:v>5405</c:v>
              </c:pt>
              <c:pt idx="1093">
                <c:v>4684</c:v>
              </c:pt>
              <c:pt idx="1094">
                <c:v>15787</c:v>
              </c:pt>
              <c:pt idx="1095">
                <c:v>1514</c:v>
              </c:pt>
              <c:pt idx="1096">
                <c:v>5154</c:v>
              </c:pt>
              <c:pt idx="1097">
                <c:v>6962</c:v>
              </c:pt>
              <c:pt idx="1098">
                <c:v>5675</c:v>
              </c:pt>
              <c:pt idx="1099">
                <c:v>2379</c:v>
              </c:pt>
              <c:pt idx="1100">
                <c:v>3812</c:v>
              </c:pt>
              <c:pt idx="1101">
                <c:v>4648</c:v>
              </c:pt>
              <c:pt idx="1102">
                <c:v>2936</c:v>
              </c:pt>
              <c:pt idx="1103">
                <c:v>2105</c:v>
              </c:pt>
              <c:pt idx="1104">
                <c:v>8578</c:v>
              </c:pt>
              <c:pt idx="1105">
                <c:v>2706</c:v>
              </c:pt>
              <c:pt idx="1106">
                <c:v>6384</c:v>
              </c:pt>
              <c:pt idx="1107">
                <c:v>3968</c:v>
              </c:pt>
              <c:pt idx="1108">
                <c:v>13225</c:v>
              </c:pt>
              <c:pt idx="1109">
                <c:v>3540</c:v>
              </c:pt>
              <c:pt idx="1110">
                <c:v>2804</c:v>
              </c:pt>
              <c:pt idx="1111">
                <c:v>19392</c:v>
              </c:pt>
              <c:pt idx="1112">
                <c:v>19665</c:v>
              </c:pt>
              <c:pt idx="1113">
                <c:v>4774</c:v>
              </c:pt>
              <c:pt idx="1114">
                <c:v>3902</c:v>
              </c:pt>
              <c:pt idx="1115">
                <c:v>2662</c:v>
              </c:pt>
              <c:pt idx="1116">
                <c:v>2856</c:v>
              </c:pt>
              <c:pt idx="1117">
                <c:v>5673</c:v>
              </c:pt>
              <c:pt idx="1118">
                <c:v>4197</c:v>
              </c:pt>
              <c:pt idx="1119">
                <c:v>9713</c:v>
              </c:pt>
              <c:pt idx="1120">
                <c:v>2062</c:v>
              </c:pt>
              <c:pt idx="1121">
                <c:v>4284</c:v>
              </c:pt>
              <c:pt idx="1122">
                <c:v>4788</c:v>
              </c:pt>
              <c:pt idx="1123">
                <c:v>5906</c:v>
              </c:pt>
              <c:pt idx="1124">
                <c:v>3886</c:v>
              </c:pt>
              <c:pt idx="1125">
                <c:v>16823</c:v>
              </c:pt>
              <c:pt idx="1126">
                <c:v>2933</c:v>
              </c:pt>
              <c:pt idx="1127">
                <c:v>6500</c:v>
              </c:pt>
              <c:pt idx="1128">
                <c:v>17174</c:v>
              </c:pt>
              <c:pt idx="1129">
                <c:v>5033</c:v>
              </c:pt>
              <c:pt idx="1130">
                <c:v>5507</c:v>
              </c:pt>
              <c:pt idx="1131">
                <c:v>4393</c:v>
              </c:pt>
              <c:pt idx="1132">
                <c:v>13348</c:v>
              </c:pt>
              <c:pt idx="1133">
                <c:v>6583</c:v>
              </c:pt>
              <c:pt idx="1134">
                <c:v>8103</c:v>
              </c:pt>
              <c:pt idx="1135">
                <c:v>3978</c:v>
              </c:pt>
              <c:pt idx="1136">
                <c:v>2544</c:v>
              </c:pt>
              <c:pt idx="1137">
                <c:v>5399</c:v>
              </c:pt>
              <c:pt idx="1138">
                <c:v>5487</c:v>
              </c:pt>
              <c:pt idx="1139">
                <c:v>6834</c:v>
              </c:pt>
              <c:pt idx="1140">
                <c:v>5736</c:v>
              </c:pt>
              <c:pt idx="1141">
                <c:v>2226</c:v>
              </c:pt>
              <c:pt idx="1142">
                <c:v>5747</c:v>
              </c:pt>
              <c:pt idx="1143">
                <c:v>5467</c:v>
              </c:pt>
              <c:pt idx="1144">
                <c:v>5380</c:v>
              </c:pt>
              <c:pt idx="1145">
                <c:v>5151</c:v>
              </c:pt>
              <c:pt idx="1146">
                <c:v>2133</c:v>
              </c:pt>
              <c:pt idx="1147">
                <c:v>17875</c:v>
              </c:pt>
              <c:pt idx="1148">
                <c:v>4771</c:v>
              </c:pt>
              <c:pt idx="1149">
                <c:v>19161</c:v>
              </c:pt>
              <c:pt idx="1150">
                <c:v>5087</c:v>
              </c:pt>
              <c:pt idx="1151">
                <c:v>5561</c:v>
              </c:pt>
              <c:pt idx="1152">
                <c:v>2144</c:v>
              </c:pt>
              <c:pt idx="1153">
                <c:v>3065</c:v>
              </c:pt>
              <c:pt idx="1154">
                <c:v>2810</c:v>
              </c:pt>
              <c:pt idx="1155">
                <c:v>9888</c:v>
              </c:pt>
              <c:pt idx="1156">
                <c:v>8628</c:v>
              </c:pt>
              <c:pt idx="1157">
                <c:v>2867</c:v>
              </c:pt>
              <c:pt idx="1158">
                <c:v>5373</c:v>
              </c:pt>
              <c:pt idx="1159">
                <c:v>6667</c:v>
              </c:pt>
              <c:pt idx="1160">
                <c:v>5003</c:v>
              </c:pt>
              <c:pt idx="1161">
                <c:v>2858</c:v>
              </c:pt>
              <c:pt idx="1162">
                <c:v>5204</c:v>
              </c:pt>
              <c:pt idx="1163">
                <c:v>4105</c:v>
              </c:pt>
              <c:pt idx="1164">
                <c:v>9679</c:v>
              </c:pt>
              <c:pt idx="1165">
                <c:v>2897</c:v>
              </c:pt>
              <c:pt idx="1166">
                <c:v>5968</c:v>
              </c:pt>
              <c:pt idx="1167">
                <c:v>7510</c:v>
              </c:pt>
              <c:pt idx="1168">
                <c:v>2991</c:v>
              </c:pt>
              <c:pt idx="1169">
                <c:v>19636</c:v>
              </c:pt>
              <c:pt idx="1170">
                <c:v>1129</c:v>
              </c:pt>
              <c:pt idx="1171">
                <c:v>13341</c:v>
              </c:pt>
              <c:pt idx="1172">
                <c:v>4332</c:v>
              </c:pt>
              <c:pt idx="1173">
                <c:v>11031</c:v>
              </c:pt>
              <c:pt idx="1174">
                <c:v>4440</c:v>
              </c:pt>
              <c:pt idx="1175">
                <c:v>4617</c:v>
              </c:pt>
              <c:pt idx="1176">
                <c:v>2647</c:v>
              </c:pt>
              <c:pt idx="1177">
                <c:v>6323</c:v>
              </c:pt>
              <c:pt idx="1178">
                <c:v>5677</c:v>
              </c:pt>
              <c:pt idx="1179">
                <c:v>2187</c:v>
              </c:pt>
              <c:pt idx="1180">
                <c:v>3748</c:v>
              </c:pt>
              <c:pt idx="1181">
                <c:v>3977</c:v>
              </c:pt>
              <c:pt idx="1182">
                <c:v>8633</c:v>
              </c:pt>
              <c:pt idx="1183">
                <c:v>2008</c:v>
              </c:pt>
              <c:pt idx="1184">
                <c:v>4440</c:v>
              </c:pt>
              <c:pt idx="1185">
                <c:v>3067</c:v>
              </c:pt>
              <c:pt idx="1186">
                <c:v>5321</c:v>
              </c:pt>
              <c:pt idx="1187">
                <c:v>5410</c:v>
              </c:pt>
              <c:pt idx="1188">
                <c:v>2782</c:v>
              </c:pt>
              <c:pt idx="1189">
                <c:v>11957</c:v>
              </c:pt>
              <c:pt idx="1190">
                <c:v>2660</c:v>
              </c:pt>
              <c:pt idx="1191">
                <c:v>3375</c:v>
              </c:pt>
              <c:pt idx="1192">
                <c:v>5098</c:v>
              </c:pt>
              <c:pt idx="1193">
                <c:v>4878</c:v>
              </c:pt>
              <c:pt idx="1194">
                <c:v>2837</c:v>
              </c:pt>
              <c:pt idx="1195">
                <c:v>2406</c:v>
              </c:pt>
              <c:pt idx="1196">
                <c:v>2269</c:v>
              </c:pt>
              <c:pt idx="1197">
                <c:v>4108</c:v>
              </c:pt>
              <c:pt idx="1198">
                <c:v>13206</c:v>
              </c:pt>
              <c:pt idx="1199">
                <c:v>10422</c:v>
              </c:pt>
              <c:pt idx="1200">
                <c:v>13744</c:v>
              </c:pt>
              <c:pt idx="1201">
                <c:v>4907</c:v>
              </c:pt>
              <c:pt idx="1202">
                <c:v>3482</c:v>
              </c:pt>
              <c:pt idx="1203">
                <c:v>2436</c:v>
              </c:pt>
              <c:pt idx="1204">
                <c:v>2380</c:v>
              </c:pt>
              <c:pt idx="1205">
                <c:v>19431</c:v>
              </c:pt>
              <c:pt idx="1206">
                <c:v>7644</c:v>
              </c:pt>
              <c:pt idx="1207">
                <c:v>5131</c:v>
              </c:pt>
              <c:pt idx="1208">
                <c:v>6306</c:v>
              </c:pt>
              <c:pt idx="1209">
                <c:v>18880</c:v>
              </c:pt>
              <c:pt idx="1210">
                <c:v>13570</c:v>
              </c:pt>
              <c:pt idx="1211">
                <c:v>6712</c:v>
              </c:pt>
              <c:pt idx="1212">
                <c:v>5406</c:v>
              </c:pt>
              <c:pt idx="1213">
                <c:v>8938</c:v>
              </c:pt>
              <c:pt idx="1214">
                <c:v>2439</c:v>
              </c:pt>
              <c:pt idx="1215">
                <c:v>8837</c:v>
              </c:pt>
              <c:pt idx="1216">
                <c:v>5343</c:v>
              </c:pt>
              <c:pt idx="1217">
                <c:v>6652</c:v>
              </c:pt>
              <c:pt idx="1218">
                <c:v>4850</c:v>
              </c:pt>
              <c:pt idx="1219">
                <c:v>2809</c:v>
              </c:pt>
              <c:pt idx="1220">
                <c:v>5689</c:v>
              </c:pt>
              <c:pt idx="1221">
                <c:v>2001</c:v>
              </c:pt>
              <c:pt idx="1222">
                <c:v>2977</c:v>
              </c:pt>
              <c:pt idx="1223">
                <c:v>4025</c:v>
              </c:pt>
              <c:pt idx="1224">
                <c:v>3785</c:v>
              </c:pt>
              <c:pt idx="1225">
                <c:v>12031</c:v>
              </c:pt>
              <c:pt idx="1226">
                <c:v>9936</c:v>
              </c:pt>
              <c:pt idx="1227">
                <c:v>2966</c:v>
              </c:pt>
              <c:pt idx="1228">
                <c:v>2571</c:v>
              </c:pt>
              <c:pt idx="1229">
                <c:v>9991</c:v>
              </c:pt>
              <c:pt idx="1230">
                <c:v>6142</c:v>
              </c:pt>
              <c:pt idx="1231">
                <c:v>5390</c:v>
              </c:pt>
              <c:pt idx="1232">
                <c:v>4404</c:v>
              </c:pt>
            </c:numLit>
          </c:yVal>
        </c:ser>
        <c:ser>
          <c:idx val="1"/>
          <c:order val="1"/>
          <c:tx>
            <c:v>Partis</c:v>
          </c:tx>
          <c:spPr>
            <a:solidFill xmlns:a="http://schemas.openxmlformats.org/drawingml/2006/main">
              <a:srgbClr val="D95F4C"/>
            </a:solidFill>
            <a:ln xmlns:a="http://schemas.openxmlformats.org/drawingml/2006/main" w="0">
              <a:noFill/>
            </a:ln>
          </c:spPr>
          <c:marker>
            <c:symbol val="circle"/>
            <c:size val="5"/>
            <c:spPr>
              <a:noFill xmlns:a="http://schemas.openxmlformats.org/drawingml/2006/main"/>
            </c:spPr>
          </c:marker>
          <c:xVal>
            <c:numLit>
              <c:formatCode>General</c:formatCode>
              <c:ptCount val="237"/>
              <c:pt idx="0">
                <c:v>41</c:v>
              </c:pt>
              <c:pt idx="1">
                <c:v>37</c:v>
              </c:pt>
              <c:pt idx="2">
                <c:v>28</c:v>
              </c:pt>
              <c:pt idx="3">
                <c:v>36</c:v>
              </c:pt>
              <c:pt idx="4">
                <c:v>34</c:v>
              </c:pt>
              <c:pt idx="5">
                <c:v>32</c:v>
              </c:pt>
              <c:pt idx="6">
                <c:v>39</c:v>
              </c:pt>
              <c:pt idx="7">
                <c:v>24</c:v>
              </c:pt>
              <c:pt idx="8">
                <c:v>50</c:v>
              </c:pt>
              <c:pt idx="9">
                <c:v>26</c:v>
              </c:pt>
              <c:pt idx="10">
                <c:v>41</c:v>
              </c:pt>
              <c:pt idx="11">
                <c:v>48</c:v>
              </c:pt>
              <c:pt idx="12">
                <c:v>28</c:v>
              </c:pt>
              <c:pt idx="13">
                <c:v>36</c:v>
              </c:pt>
              <c:pt idx="14">
                <c:v>46</c:v>
              </c:pt>
              <c:pt idx="15">
                <c:v>37</c:v>
              </c:pt>
              <c:pt idx="16">
                <c:v>20</c:v>
              </c:pt>
              <c:pt idx="17">
                <c:v>25</c:v>
              </c:pt>
              <c:pt idx="18">
                <c:v>34</c:v>
              </c:pt>
              <c:pt idx="19">
                <c:v>56</c:v>
              </c:pt>
              <c:pt idx="20">
                <c:v>31</c:v>
              </c:pt>
              <c:pt idx="21">
                <c:v>58</c:v>
              </c:pt>
              <c:pt idx="22">
                <c:v>19</c:v>
              </c:pt>
              <c:pt idx="23">
                <c:v>31</c:v>
              </c:pt>
              <c:pt idx="24">
                <c:v>51</c:v>
              </c:pt>
              <c:pt idx="25">
                <c:v>32</c:v>
              </c:pt>
              <c:pt idx="26">
                <c:v>19</c:v>
              </c:pt>
              <c:pt idx="27">
                <c:v>19</c:v>
              </c:pt>
              <c:pt idx="28">
                <c:v>41</c:v>
              </c:pt>
              <c:pt idx="29">
                <c:v>35</c:v>
              </c:pt>
              <c:pt idx="30">
                <c:v>38</c:v>
              </c:pt>
              <c:pt idx="31">
                <c:v>29</c:v>
              </c:pt>
              <c:pt idx="32">
                <c:v>32</c:v>
              </c:pt>
              <c:pt idx="33">
                <c:v>30</c:v>
              </c:pt>
              <c:pt idx="34">
                <c:v>30</c:v>
              </c:pt>
              <c:pt idx="35">
                <c:v>29</c:v>
              </c:pt>
              <c:pt idx="36">
                <c:v>29</c:v>
              </c:pt>
              <c:pt idx="37">
                <c:v>33</c:v>
              </c:pt>
              <c:pt idx="38">
                <c:v>33</c:v>
              </c:pt>
              <c:pt idx="39">
                <c:v>32</c:v>
              </c:pt>
              <c:pt idx="40">
                <c:v>37</c:v>
              </c:pt>
              <c:pt idx="41">
                <c:v>31</c:v>
              </c:pt>
              <c:pt idx="42">
                <c:v>28</c:v>
              </c:pt>
              <c:pt idx="43">
                <c:v>47</c:v>
              </c:pt>
              <c:pt idx="44">
                <c:v>44</c:v>
              </c:pt>
              <c:pt idx="45">
                <c:v>26</c:v>
              </c:pt>
              <c:pt idx="46">
                <c:v>26</c:v>
              </c:pt>
              <c:pt idx="47">
                <c:v>18</c:v>
              </c:pt>
              <c:pt idx="48">
                <c:v>52</c:v>
              </c:pt>
              <c:pt idx="49">
                <c:v>28</c:v>
              </c:pt>
              <c:pt idx="50">
                <c:v>39</c:v>
              </c:pt>
              <c:pt idx="51">
                <c:v>29</c:v>
              </c:pt>
              <c:pt idx="52">
                <c:v>21</c:v>
              </c:pt>
              <c:pt idx="53">
                <c:v>33</c:v>
              </c:pt>
              <c:pt idx="54">
                <c:v>41</c:v>
              </c:pt>
              <c:pt idx="55">
                <c:v>40</c:v>
              </c:pt>
              <c:pt idx="56">
                <c:v>21</c:v>
              </c:pt>
              <c:pt idx="57">
                <c:v>34</c:v>
              </c:pt>
              <c:pt idx="58">
                <c:v>26</c:v>
              </c:pt>
              <c:pt idx="59">
                <c:v>30</c:v>
              </c:pt>
              <c:pt idx="60">
                <c:v>25</c:v>
              </c:pt>
              <c:pt idx="61">
                <c:v>24</c:v>
              </c:pt>
              <c:pt idx="62">
                <c:v>34</c:v>
              </c:pt>
              <c:pt idx="63">
                <c:v>29</c:v>
              </c:pt>
              <c:pt idx="64">
                <c:v>19</c:v>
              </c:pt>
              <c:pt idx="65">
                <c:v>33</c:v>
              </c:pt>
              <c:pt idx="66">
                <c:v>33</c:v>
              </c:pt>
              <c:pt idx="67">
                <c:v>31</c:v>
              </c:pt>
              <c:pt idx="68">
                <c:v>34</c:v>
              </c:pt>
              <c:pt idx="69">
                <c:v>22</c:v>
              </c:pt>
              <c:pt idx="70">
                <c:v>26</c:v>
              </c:pt>
              <c:pt idx="71">
                <c:v>18</c:v>
              </c:pt>
              <c:pt idx="72">
                <c:v>26</c:v>
              </c:pt>
              <c:pt idx="73">
                <c:v>32</c:v>
              </c:pt>
              <c:pt idx="74">
                <c:v>24</c:v>
              </c:pt>
              <c:pt idx="75">
                <c:v>30</c:v>
              </c:pt>
              <c:pt idx="76">
                <c:v>31</c:v>
              </c:pt>
              <c:pt idx="77">
                <c:v>27</c:v>
              </c:pt>
              <c:pt idx="78">
                <c:v>45</c:v>
              </c:pt>
              <c:pt idx="79">
                <c:v>20</c:v>
              </c:pt>
              <c:pt idx="80">
                <c:v>33</c:v>
              </c:pt>
              <c:pt idx="81">
                <c:v>24</c:v>
              </c:pt>
              <c:pt idx="82">
                <c:v>50</c:v>
              </c:pt>
              <c:pt idx="83">
                <c:v>28</c:v>
              </c:pt>
              <c:pt idx="84">
                <c:v>42</c:v>
              </c:pt>
              <c:pt idx="85">
                <c:v>33</c:v>
              </c:pt>
              <c:pt idx="86">
                <c:v>47</c:v>
              </c:pt>
              <c:pt idx="87">
                <c:v>55</c:v>
              </c:pt>
              <c:pt idx="88">
                <c:v>26</c:v>
              </c:pt>
              <c:pt idx="89">
                <c:v>23</c:v>
              </c:pt>
              <c:pt idx="90">
                <c:v>29</c:v>
              </c:pt>
              <c:pt idx="91">
                <c:v>33</c:v>
              </c:pt>
              <c:pt idx="92">
                <c:v>58</c:v>
              </c:pt>
              <c:pt idx="93">
                <c:v>28</c:v>
              </c:pt>
              <c:pt idx="94">
                <c:v>49</c:v>
              </c:pt>
              <c:pt idx="95">
                <c:v>55</c:v>
              </c:pt>
              <c:pt idx="96">
                <c:v>26</c:v>
              </c:pt>
              <c:pt idx="97">
                <c:v>35</c:v>
              </c:pt>
              <c:pt idx="98">
                <c:v>29</c:v>
              </c:pt>
              <c:pt idx="99">
                <c:v>32</c:v>
              </c:pt>
              <c:pt idx="100">
                <c:v>58</c:v>
              </c:pt>
              <c:pt idx="101">
                <c:v>20</c:v>
              </c:pt>
              <c:pt idx="102">
                <c:v>21</c:v>
              </c:pt>
              <c:pt idx="103">
                <c:v>22</c:v>
              </c:pt>
              <c:pt idx="104">
                <c:v>41</c:v>
              </c:pt>
              <c:pt idx="105">
                <c:v>39</c:v>
              </c:pt>
              <c:pt idx="106">
                <c:v>25</c:v>
              </c:pt>
              <c:pt idx="107">
                <c:v>19</c:v>
              </c:pt>
              <c:pt idx="108">
                <c:v>20</c:v>
              </c:pt>
              <c:pt idx="109">
                <c:v>36</c:v>
              </c:pt>
              <c:pt idx="110">
                <c:v>37</c:v>
              </c:pt>
              <c:pt idx="111">
                <c:v>58</c:v>
              </c:pt>
              <c:pt idx="112">
                <c:v>40</c:v>
              </c:pt>
              <c:pt idx="113">
                <c:v>31</c:v>
              </c:pt>
              <c:pt idx="114">
                <c:v>29</c:v>
              </c:pt>
              <c:pt idx="115">
                <c:v>30</c:v>
              </c:pt>
              <c:pt idx="116">
                <c:v>35</c:v>
              </c:pt>
              <c:pt idx="117">
                <c:v>20</c:v>
              </c:pt>
              <c:pt idx="118">
                <c:v>30</c:v>
              </c:pt>
              <c:pt idx="119">
                <c:v>37</c:v>
              </c:pt>
              <c:pt idx="120">
                <c:v>26</c:v>
              </c:pt>
              <c:pt idx="121">
                <c:v>52</c:v>
              </c:pt>
              <c:pt idx="122">
                <c:v>36</c:v>
              </c:pt>
              <c:pt idx="123">
                <c:v>36</c:v>
              </c:pt>
              <c:pt idx="124">
                <c:v>26</c:v>
              </c:pt>
              <c:pt idx="125">
                <c:v>20</c:v>
              </c:pt>
              <c:pt idx="126">
                <c:v>21</c:v>
              </c:pt>
              <c:pt idx="127">
                <c:v>51</c:v>
              </c:pt>
              <c:pt idx="128">
                <c:v>28</c:v>
              </c:pt>
              <c:pt idx="129">
                <c:v>44</c:v>
              </c:pt>
              <c:pt idx="130">
                <c:v>35</c:v>
              </c:pt>
              <c:pt idx="131">
                <c:v>33</c:v>
              </c:pt>
              <c:pt idx="132">
                <c:v>25</c:v>
              </c:pt>
              <c:pt idx="133">
                <c:v>26</c:v>
              </c:pt>
              <c:pt idx="134">
                <c:v>33</c:v>
              </c:pt>
              <c:pt idx="135">
                <c:v>28</c:v>
              </c:pt>
              <c:pt idx="136">
                <c:v>50</c:v>
              </c:pt>
              <c:pt idx="137">
                <c:v>39</c:v>
              </c:pt>
              <c:pt idx="138">
                <c:v>18</c:v>
              </c:pt>
              <c:pt idx="139">
                <c:v>33</c:v>
              </c:pt>
              <c:pt idx="140">
                <c:v>31</c:v>
              </c:pt>
              <c:pt idx="141">
                <c:v>29</c:v>
              </c:pt>
              <c:pt idx="142">
                <c:v>42</c:v>
              </c:pt>
              <c:pt idx="143">
                <c:v>28</c:v>
              </c:pt>
              <c:pt idx="144">
                <c:v>43</c:v>
              </c:pt>
              <c:pt idx="145">
                <c:v>44</c:v>
              </c:pt>
              <c:pt idx="146">
                <c:v>22</c:v>
              </c:pt>
              <c:pt idx="147">
                <c:v>41</c:v>
              </c:pt>
              <c:pt idx="148">
                <c:v>24</c:v>
              </c:pt>
              <c:pt idx="149">
                <c:v>19</c:v>
              </c:pt>
              <c:pt idx="150">
                <c:v>25</c:v>
              </c:pt>
              <c:pt idx="151">
                <c:v>45</c:v>
              </c:pt>
              <c:pt idx="152">
                <c:v>21</c:v>
              </c:pt>
              <c:pt idx="153">
                <c:v>44</c:v>
              </c:pt>
              <c:pt idx="154">
                <c:v>29</c:v>
              </c:pt>
              <c:pt idx="155">
                <c:v>32</c:v>
              </c:pt>
              <c:pt idx="156">
                <c:v>39</c:v>
              </c:pt>
              <c:pt idx="157">
                <c:v>40</c:v>
              </c:pt>
              <c:pt idx="158">
                <c:v>52</c:v>
              </c:pt>
              <c:pt idx="159">
                <c:v>31</c:v>
              </c:pt>
              <c:pt idx="160">
                <c:v>44</c:v>
              </c:pt>
              <c:pt idx="161">
                <c:v>58</c:v>
              </c:pt>
              <c:pt idx="162">
                <c:v>55</c:v>
              </c:pt>
              <c:pt idx="163">
                <c:v>31</c:v>
              </c:pt>
              <c:pt idx="164">
                <c:v>35</c:v>
              </c:pt>
              <c:pt idx="165">
                <c:v>31</c:v>
              </c:pt>
              <c:pt idx="166">
                <c:v>27</c:v>
              </c:pt>
              <c:pt idx="167">
                <c:v>49</c:v>
              </c:pt>
              <c:pt idx="168">
                <c:v>29</c:v>
              </c:pt>
              <c:pt idx="169">
                <c:v>31</c:v>
              </c:pt>
              <c:pt idx="170">
                <c:v>31</c:v>
              </c:pt>
              <c:pt idx="171">
                <c:v>25</c:v>
              </c:pt>
              <c:pt idx="172">
                <c:v>46</c:v>
              </c:pt>
              <c:pt idx="173">
                <c:v>39</c:v>
              </c:pt>
              <c:pt idx="174">
                <c:v>31</c:v>
              </c:pt>
              <c:pt idx="175">
                <c:v>31</c:v>
              </c:pt>
              <c:pt idx="176">
                <c:v>34</c:v>
              </c:pt>
              <c:pt idx="177">
                <c:v>28</c:v>
              </c:pt>
              <c:pt idx="178">
                <c:v>29</c:v>
              </c:pt>
              <c:pt idx="179">
                <c:v>34</c:v>
              </c:pt>
              <c:pt idx="180">
                <c:v>24</c:v>
              </c:pt>
              <c:pt idx="181">
                <c:v>28</c:v>
              </c:pt>
              <c:pt idx="182">
                <c:v>29</c:v>
              </c:pt>
              <c:pt idx="183">
                <c:v>40</c:v>
              </c:pt>
              <c:pt idx="184">
                <c:v>31</c:v>
              </c:pt>
              <c:pt idx="185">
                <c:v>30</c:v>
              </c:pt>
              <c:pt idx="186">
                <c:v>35</c:v>
              </c:pt>
              <c:pt idx="187">
                <c:v>53</c:v>
              </c:pt>
              <c:pt idx="188">
                <c:v>38</c:v>
              </c:pt>
              <c:pt idx="189">
                <c:v>28</c:v>
              </c:pt>
              <c:pt idx="190">
                <c:v>18</c:v>
              </c:pt>
              <c:pt idx="191">
                <c:v>35</c:v>
              </c:pt>
              <c:pt idx="192">
                <c:v>35</c:v>
              </c:pt>
              <c:pt idx="193">
                <c:v>40</c:v>
              </c:pt>
              <c:pt idx="194">
                <c:v>35</c:v>
              </c:pt>
              <c:pt idx="195">
                <c:v>23</c:v>
              </c:pt>
              <c:pt idx="196">
                <c:v>48</c:v>
              </c:pt>
              <c:pt idx="197">
                <c:v>32</c:v>
              </c:pt>
              <c:pt idx="198">
                <c:v>23</c:v>
              </c:pt>
              <c:pt idx="199">
                <c:v>24</c:v>
              </c:pt>
              <c:pt idx="200">
                <c:v>47</c:v>
              </c:pt>
              <c:pt idx="201">
                <c:v>36</c:v>
              </c:pt>
              <c:pt idx="202">
                <c:v>32</c:v>
              </c:pt>
              <c:pt idx="203">
                <c:v>30</c:v>
              </c:pt>
              <c:pt idx="204">
                <c:v>29</c:v>
              </c:pt>
              <c:pt idx="205">
                <c:v>33</c:v>
              </c:pt>
              <c:pt idx="206">
                <c:v>31</c:v>
              </c:pt>
              <c:pt idx="207">
                <c:v>43</c:v>
              </c:pt>
              <c:pt idx="208">
                <c:v>21</c:v>
              </c:pt>
              <c:pt idx="209">
                <c:v>22</c:v>
              </c:pt>
              <c:pt idx="210">
                <c:v>44</c:v>
              </c:pt>
              <c:pt idx="211">
                <c:v>35</c:v>
              </c:pt>
              <c:pt idx="212">
                <c:v>34</c:v>
              </c:pt>
              <c:pt idx="213">
                <c:v>37</c:v>
              </c:pt>
              <c:pt idx="214">
                <c:v>26</c:v>
              </c:pt>
              <c:pt idx="215">
                <c:v>46</c:v>
              </c:pt>
              <c:pt idx="216">
                <c:v>31</c:v>
              </c:pt>
              <c:pt idx="217">
                <c:v>29</c:v>
              </c:pt>
              <c:pt idx="218">
                <c:v>32</c:v>
              </c:pt>
              <c:pt idx="219">
                <c:v>29</c:v>
              </c:pt>
              <c:pt idx="220">
                <c:v>46</c:v>
              </c:pt>
              <c:pt idx="221">
                <c:v>30</c:v>
              </c:pt>
              <c:pt idx="222">
                <c:v>22</c:v>
              </c:pt>
              <c:pt idx="223">
                <c:v>34</c:v>
              </c:pt>
              <c:pt idx="224">
                <c:v>56</c:v>
              </c:pt>
              <c:pt idx="225">
                <c:v>29</c:v>
              </c:pt>
              <c:pt idx="226">
                <c:v>28</c:v>
              </c:pt>
              <c:pt idx="227">
                <c:v>32</c:v>
              </c:pt>
              <c:pt idx="228">
                <c:v>27</c:v>
              </c:pt>
              <c:pt idx="229">
                <c:v>28</c:v>
              </c:pt>
              <c:pt idx="230">
                <c:v>31</c:v>
              </c:pt>
              <c:pt idx="231">
                <c:v>53</c:v>
              </c:pt>
              <c:pt idx="232">
                <c:v>23</c:v>
              </c:pt>
              <c:pt idx="233">
                <c:v>29</c:v>
              </c:pt>
              <c:pt idx="234">
                <c:v>56</c:v>
              </c:pt>
              <c:pt idx="235">
                <c:v>50</c:v>
              </c:pt>
              <c:pt idx="236">
                <c:v>50</c:v>
              </c:pt>
            </c:numLit>
          </c:xVal>
          <c:yVal>
            <c:numLit>
              <c:formatCode>0</c:formatCode>
              <c:ptCount val="237"/>
              <c:pt idx="0">
                <c:v>5993</c:v>
              </c:pt>
              <c:pt idx="1">
                <c:v>2090</c:v>
              </c:pt>
              <c:pt idx="2">
                <c:v>2028</c:v>
              </c:pt>
              <c:pt idx="3">
                <c:v>3407</c:v>
              </c:pt>
              <c:pt idx="4">
                <c:v>2960</c:v>
              </c:pt>
              <c:pt idx="5">
                <c:v>3919</c:v>
              </c:pt>
              <c:pt idx="6">
                <c:v>2086</c:v>
              </c:pt>
              <c:pt idx="7">
                <c:v>2293</c:v>
              </c:pt>
              <c:pt idx="8">
                <c:v>2683</c:v>
              </c:pt>
              <c:pt idx="9">
                <c:v>2293</c:v>
              </c:pt>
              <c:pt idx="10">
                <c:v>19545</c:v>
              </c:pt>
              <c:pt idx="11">
                <c:v>5381</c:v>
              </c:pt>
              <c:pt idx="12">
                <c:v>3441</c:v>
              </c:pt>
              <c:pt idx="13">
                <c:v>3388</c:v>
              </c:pt>
              <c:pt idx="14">
                <c:v>9619</c:v>
              </c:pt>
              <c:pt idx="15">
                <c:v>2073</c:v>
              </c:pt>
              <c:pt idx="16">
                <c:v>2926</c:v>
              </c:pt>
              <c:pt idx="17">
                <c:v>5744</c:v>
              </c:pt>
              <c:pt idx="18">
                <c:v>6074</c:v>
              </c:pt>
              <c:pt idx="19">
                <c:v>4963</c:v>
              </c:pt>
              <c:pt idx="20">
                <c:v>6172</c:v>
              </c:pt>
              <c:pt idx="21">
                <c:v>10312</c:v>
              </c:pt>
              <c:pt idx="22">
                <c:v>1675</c:v>
              </c:pt>
              <c:pt idx="23">
                <c:v>4559</c:v>
              </c:pt>
              <c:pt idx="24">
                <c:v>10650</c:v>
              </c:pt>
              <c:pt idx="25">
                <c:v>4200</c:v>
              </c:pt>
              <c:pt idx="26">
                <c:v>2325</c:v>
              </c:pt>
              <c:pt idx="27">
                <c:v>1102</c:v>
              </c:pt>
              <c:pt idx="28">
                <c:v>3140</c:v>
              </c:pt>
              <c:pt idx="29">
                <c:v>5916</c:v>
              </c:pt>
              <c:pt idx="30">
                <c:v>6673</c:v>
              </c:pt>
              <c:pt idx="31">
                <c:v>7639</c:v>
              </c:pt>
              <c:pt idx="32">
                <c:v>10400</c:v>
              </c:pt>
              <c:pt idx="33">
                <c:v>2657</c:v>
              </c:pt>
              <c:pt idx="34">
                <c:v>6696</c:v>
              </c:pt>
              <c:pt idx="35">
                <c:v>2058</c:v>
              </c:pt>
              <c:pt idx="36">
                <c:v>2389</c:v>
              </c:pt>
              <c:pt idx="37">
                <c:v>2436</c:v>
              </c:pt>
              <c:pt idx="38">
                <c:v>2707</c:v>
              </c:pt>
              <c:pt idx="39">
                <c:v>3730</c:v>
              </c:pt>
              <c:pt idx="40">
                <c:v>10048</c:v>
              </c:pt>
              <c:pt idx="41">
                <c:v>3479</c:v>
              </c:pt>
              <c:pt idx="42">
                <c:v>3485</c:v>
              </c:pt>
              <c:pt idx="43">
                <c:v>11849</c:v>
              </c:pt>
              <c:pt idx="44">
                <c:v>3161</c:v>
              </c:pt>
              <c:pt idx="45">
                <c:v>2373</c:v>
              </c:pt>
              <c:pt idx="46">
                <c:v>5828</c:v>
              </c:pt>
              <c:pt idx="47">
                <c:v>1420</c:v>
              </c:pt>
              <c:pt idx="48">
                <c:v>4941</c:v>
              </c:pt>
              <c:pt idx="49">
                <c:v>3464</c:v>
              </c:pt>
              <c:pt idx="50">
                <c:v>5238</c:v>
              </c:pt>
              <c:pt idx="51">
                <c:v>2119</c:v>
              </c:pt>
              <c:pt idx="52">
                <c:v>2174</c:v>
              </c:pt>
              <c:pt idx="53">
                <c:v>2851</c:v>
              </c:pt>
              <c:pt idx="54">
                <c:v>9355</c:v>
              </c:pt>
              <c:pt idx="55">
                <c:v>6380</c:v>
              </c:pt>
              <c:pt idx="56">
                <c:v>2716</c:v>
              </c:pt>
              <c:pt idx="57">
                <c:v>5304</c:v>
              </c:pt>
              <c:pt idx="58">
                <c:v>3102</c:v>
              </c:pt>
              <c:pt idx="59">
                <c:v>2285</c:v>
              </c:pt>
              <c:pt idx="60">
                <c:v>4031</c:v>
              </c:pt>
              <c:pt idx="61">
                <c:v>3202</c:v>
              </c:pt>
              <c:pt idx="62">
                <c:v>2351</c:v>
              </c:pt>
              <c:pt idx="63">
                <c:v>2546</c:v>
              </c:pt>
              <c:pt idx="64">
                <c:v>2564</c:v>
              </c:pt>
              <c:pt idx="65">
                <c:v>13610</c:v>
              </c:pt>
              <c:pt idx="66">
                <c:v>3408</c:v>
              </c:pt>
              <c:pt idx="67">
                <c:v>9824</c:v>
              </c:pt>
              <c:pt idx="68">
                <c:v>9950</c:v>
              </c:pt>
              <c:pt idx="69">
                <c:v>3894</c:v>
              </c:pt>
              <c:pt idx="70">
                <c:v>2741</c:v>
              </c:pt>
              <c:pt idx="71">
                <c:v>1878</c:v>
              </c:pt>
              <c:pt idx="72">
                <c:v>2340</c:v>
              </c:pt>
              <c:pt idx="73">
                <c:v>4707</c:v>
              </c:pt>
              <c:pt idx="74">
                <c:v>2886</c:v>
              </c:pt>
              <c:pt idx="75">
                <c:v>2033</c:v>
              </c:pt>
              <c:pt idx="76">
                <c:v>4233</c:v>
              </c:pt>
              <c:pt idx="77">
                <c:v>3041</c:v>
              </c:pt>
              <c:pt idx="78">
                <c:v>4286</c:v>
              </c:pt>
              <c:pt idx="79">
                <c:v>1009</c:v>
              </c:pt>
              <c:pt idx="80">
                <c:v>3348</c:v>
              </c:pt>
              <c:pt idx="81">
                <c:v>4577</c:v>
              </c:pt>
              <c:pt idx="82">
                <c:v>6796</c:v>
              </c:pt>
              <c:pt idx="83">
                <c:v>2216</c:v>
              </c:pt>
              <c:pt idx="84">
                <c:v>2759</c:v>
              </c:pt>
              <c:pt idx="85">
                <c:v>2686</c:v>
              </c:pt>
              <c:pt idx="86">
                <c:v>6397</c:v>
              </c:pt>
              <c:pt idx="87">
                <c:v>19859</c:v>
              </c:pt>
              <c:pt idx="88">
                <c:v>5326</c:v>
              </c:pt>
              <c:pt idx="89">
                <c:v>1601</c:v>
              </c:pt>
              <c:pt idx="90">
                <c:v>2319</c:v>
              </c:pt>
              <c:pt idx="91">
                <c:v>5324</c:v>
              </c:pt>
              <c:pt idx="92">
                <c:v>19246</c:v>
              </c:pt>
              <c:pt idx="93">
                <c:v>4382</c:v>
              </c:pt>
              <c:pt idx="94">
                <c:v>7654</c:v>
              </c:pt>
              <c:pt idx="95">
                <c:v>5160</c:v>
              </c:pt>
              <c:pt idx="96">
                <c:v>2366</c:v>
              </c:pt>
              <c:pt idx="97">
                <c:v>2022</c:v>
              </c:pt>
              <c:pt idx="98">
                <c:v>2800</c:v>
              </c:pt>
              <c:pt idx="99">
                <c:v>2795</c:v>
              </c:pt>
              <c:pt idx="100">
                <c:v>2380</c:v>
              </c:pt>
              <c:pt idx="101">
                <c:v>2044</c:v>
              </c:pt>
              <c:pt idx="102">
                <c:v>2693</c:v>
              </c:pt>
              <c:pt idx="103">
                <c:v>4171</c:v>
              </c:pt>
              <c:pt idx="104">
                <c:v>2778</c:v>
              </c:pt>
              <c:pt idx="105">
                <c:v>2404</c:v>
              </c:pt>
              <c:pt idx="106">
                <c:v>2413</c:v>
              </c:pt>
              <c:pt idx="107">
                <c:v>2121</c:v>
              </c:pt>
              <c:pt idx="108">
                <c:v>2973</c:v>
              </c:pt>
              <c:pt idx="109">
                <c:v>10325</c:v>
              </c:pt>
              <c:pt idx="110">
                <c:v>10609</c:v>
              </c:pt>
              <c:pt idx="111">
                <c:v>2479</c:v>
              </c:pt>
              <c:pt idx="112">
                <c:v>13194</c:v>
              </c:pt>
              <c:pt idx="113">
                <c:v>2321</c:v>
              </c:pt>
              <c:pt idx="114">
                <c:v>2404</c:v>
              </c:pt>
              <c:pt idx="115">
                <c:v>2132</c:v>
              </c:pt>
              <c:pt idx="116">
                <c:v>3743</c:v>
              </c:pt>
              <c:pt idx="117">
                <c:v>2600</c:v>
              </c:pt>
              <c:pt idx="118">
                <c:v>2422</c:v>
              </c:pt>
              <c:pt idx="119">
                <c:v>4777</c:v>
              </c:pt>
              <c:pt idx="120">
                <c:v>4969</c:v>
              </c:pt>
              <c:pt idx="121">
                <c:v>19845</c:v>
              </c:pt>
              <c:pt idx="122">
                <c:v>2743</c:v>
              </c:pt>
              <c:pt idx="123">
                <c:v>4834</c:v>
              </c:pt>
              <c:pt idx="124">
                <c:v>2042</c:v>
              </c:pt>
              <c:pt idx="125">
                <c:v>2323</c:v>
              </c:pt>
              <c:pt idx="126">
                <c:v>1416</c:v>
              </c:pt>
              <c:pt idx="127">
                <c:v>2461</c:v>
              </c:pt>
              <c:pt idx="128">
                <c:v>8722</c:v>
              </c:pt>
              <c:pt idx="129">
                <c:v>10482</c:v>
              </c:pt>
              <c:pt idx="130">
                <c:v>9582</c:v>
              </c:pt>
              <c:pt idx="131">
                <c:v>4508</c:v>
              </c:pt>
              <c:pt idx="132">
                <c:v>3691</c:v>
              </c:pt>
              <c:pt idx="133">
                <c:v>2377</c:v>
              </c:pt>
              <c:pt idx="134">
                <c:v>2313</c:v>
              </c:pt>
              <c:pt idx="135">
                <c:v>2596</c:v>
              </c:pt>
              <c:pt idx="136">
                <c:v>4728</c:v>
              </c:pt>
              <c:pt idx="137">
                <c:v>12169</c:v>
              </c:pt>
              <c:pt idx="138">
                <c:v>1904</c:v>
              </c:pt>
              <c:pt idx="139">
                <c:v>8224</c:v>
              </c:pt>
              <c:pt idx="140">
                <c:v>2610</c:v>
              </c:pt>
              <c:pt idx="141">
                <c:v>7336</c:v>
              </c:pt>
              <c:pt idx="142">
                <c:v>13758</c:v>
              </c:pt>
              <c:pt idx="143">
                <c:v>2515</c:v>
              </c:pt>
              <c:pt idx="144">
                <c:v>5346</c:v>
              </c:pt>
              <c:pt idx="145">
                <c:v>2936</c:v>
              </c:pt>
              <c:pt idx="146">
                <c:v>2853</c:v>
              </c:pt>
              <c:pt idx="147">
                <c:v>2107</c:v>
              </c:pt>
              <c:pt idx="148">
                <c:v>2210</c:v>
              </c:pt>
              <c:pt idx="149">
                <c:v>1859</c:v>
              </c:pt>
              <c:pt idx="150">
                <c:v>1118</c:v>
              </c:pt>
              <c:pt idx="151">
                <c:v>18824</c:v>
              </c:pt>
              <c:pt idx="152">
                <c:v>2625</c:v>
              </c:pt>
              <c:pt idx="153">
                <c:v>7978</c:v>
              </c:pt>
              <c:pt idx="154">
                <c:v>3339</c:v>
              </c:pt>
              <c:pt idx="155">
                <c:v>4883</c:v>
              </c:pt>
              <c:pt idx="156">
                <c:v>3904</c:v>
              </c:pt>
              <c:pt idx="157">
                <c:v>9094</c:v>
              </c:pt>
              <c:pt idx="158">
                <c:v>8446</c:v>
              </c:pt>
              <c:pt idx="159">
                <c:v>2302</c:v>
              </c:pt>
              <c:pt idx="160">
                <c:v>2362</c:v>
              </c:pt>
              <c:pt idx="161">
                <c:v>10008</c:v>
              </c:pt>
              <c:pt idx="162">
                <c:v>13695</c:v>
              </c:pt>
              <c:pt idx="163">
                <c:v>2785</c:v>
              </c:pt>
              <c:pt idx="164">
                <c:v>4614</c:v>
              </c:pt>
              <c:pt idx="165">
                <c:v>6179</c:v>
              </c:pt>
              <c:pt idx="166">
                <c:v>2394</c:v>
              </c:pt>
              <c:pt idx="167">
                <c:v>4284</c:v>
              </c:pt>
              <c:pt idx="168">
                <c:v>7553</c:v>
              </c:pt>
              <c:pt idx="169">
                <c:v>1359</c:v>
              </c:pt>
              <c:pt idx="170">
                <c:v>1261</c:v>
              </c:pt>
              <c:pt idx="171">
                <c:v>4400</c:v>
              </c:pt>
              <c:pt idx="172">
                <c:v>10096</c:v>
              </c:pt>
              <c:pt idx="173">
                <c:v>3646</c:v>
              </c:pt>
              <c:pt idx="174">
                <c:v>7446</c:v>
              </c:pt>
              <c:pt idx="175">
                <c:v>3722</c:v>
              </c:pt>
              <c:pt idx="176">
                <c:v>2742</c:v>
              </c:pt>
              <c:pt idx="177">
                <c:v>2909</c:v>
              </c:pt>
              <c:pt idx="178">
                <c:v>5765</c:v>
              </c:pt>
              <c:pt idx="179">
                <c:v>4599</c:v>
              </c:pt>
              <c:pt idx="180">
                <c:v>3172</c:v>
              </c:pt>
              <c:pt idx="181">
                <c:v>2561</c:v>
              </c:pt>
              <c:pt idx="182">
                <c:v>2362</c:v>
              </c:pt>
              <c:pt idx="183">
                <c:v>2018</c:v>
              </c:pt>
              <c:pt idx="184">
                <c:v>4084</c:v>
              </c:pt>
              <c:pt idx="185">
                <c:v>9714</c:v>
              </c:pt>
              <c:pt idx="186">
                <c:v>2074</c:v>
              </c:pt>
              <c:pt idx="187">
                <c:v>10169</c:v>
              </c:pt>
              <c:pt idx="188">
                <c:v>4855</c:v>
              </c:pt>
              <c:pt idx="189">
                <c:v>2408</c:v>
              </c:pt>
              <c:pt idx="190">
                <c:v>1569</c:v>
              </c:pt>
              <c:pt idx="191">
                <c:v>10306</c:v>
              </c:pt>
              <c:pt idx="192">
                <c:v>5440</c:v>
              </c:pt>
              <c:pt idx="193">
                <c:v>2166</c:v>
              </c:pt>
              <c:pt idx="194">
                <c:v>4581</c:v>
              </c:pt>
              <c:pt idx="195">
                <c:v>3989</c:v>
              </c:pt>
              <c:pt idx="196">
                <c:v>2655</c:v>
              </c:pt>
              <c:pt idx="197">
                <c:v>1393</c:v>
              </c:pt>
              <c:pt idx="198">
                <c:v>2275</c:v>
              </c:pt>
              <c:pt idx="199">
                <c:v>1555</c:v>
              </c:pt>
              <c:pt idx="200">
                <c:v>12936</c:v>
              </c:pt>
              <c:pt idx="201">
                <c:v>6134</c:v>
              </c:pt>
              <c:pt idx="202">
                <c:v>6735</c:v>
              </c:pt>
              <c:pt idx="203">
                <c:v>2180</c:v>
              </c:pt>
              <c:pt idx="204">
                <c:v>2760</c:v>
              </c:pt>
              <c:pt idx="205">
                <c:v>8564</c:v>
              </c:pt>
              <c:pt idx="206">
                <c:v>8161</c:v>
              </c:pt>
              <c:pt idx="207">
                <c:v>2437</c:v>
              </c:pt>
              <c:pt idx="208">
                <c:v>2679</c:v>
              </c:pt>
              <c:pt idx="209">
                <c:v>2398</c:v>
              </c:pt>
              <c:pt idx="210">
                <c:v>2342</c:v>
              </c:pt>
              <c:pt idx="211">
                <c:v>5813</c:v>
              </c:pt>
              <c:pt idx="212">
                <c:v>5346</c:v>
              </c:pt>
              <c:pt idx="213">
                <c:v>4213</c:v>
              </c:pt>
              <c:pt idx="214">
                <c:v>2148</c:v>
              </c:pt>
              <c:pt idx="215">
                <c:v>8926</c:v>
              </c:pt>
              <c:pt idx="216">
                <c:v>2956</c:v>
              </c:pt>
              <c:pt idx="217">
                <c:v>2335</c:v>
              </c:pt>
              <c:pt idx="218">
                <c:v>9907</c:v>
              </c:pt>
              <c:pt idx="219">
                <c:v>2439</c:v>
              </c:pt>
              <c:pt idx="220">
                <c:v>7314</c:v>
              </c:pt>
              <c:pt idx="221">
                <c:v>1081</c:v>
              </c:pt>
              <c:pt idx="222">
                <c:v>2472</c:v>
              </c:pt>
              <c:pt idx="223">
                <c:v>2307</c:v>
              </c:pt>
              <c:pt idx="224">
                <c:v>2587</c:v>
              </c:pt>
              <c:pt idx="225">
                <c:v>1091</c:v>
              </c:pt>
              <c:pt idx="226">
                <c:v>9854</c:v>
              </c:pt>
              <c:pt idx="227">
                <c:v>2432</c:v>
              </c:pt>
              <c:pt idx="228">
                <c:v>2863</c:v>
              </c:pt>
              <c:pt idx="229">
                <c:v>2367</c:v>
              </c:pt>
              <c:pt idx="230">
                <c:v>5617</c:v>
              </c:pt>
              <c:pt idx="231">
                <c:v>10448</c:v>
              </c:pt>
              <c:pt idx="232">
                <c:v>1790</c:v>
              </c:pt>
              <c:pt idx="233">
                <c:v>4787</c:v>
              </c:pt>
              <c:pt idx="234">
                <c:v>2339</c:v>
              </c:pt>
              <c:pt idx="235">
                <c:v>6728</c:v>
              </c:pt>
              <c:pt idx="236">
                <c:v>10854</c:v>
              </c:pt>
            </c:numLit>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2000"/>
          <c:min val="0"/>
        </c:scaling>
        <c:delete val="0"/>
        <c:axPos val="l"/>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Revenu mensuel</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50112"/>
        <c:majorUnit val="5000"/>
      </c:valAx>
      <c:valAx>
        <c:axId val="48650112"/>
        <c:scaling>
          <c:orientation val="minMax"/>
          <c:max val="65"/>
          <c:min val="15"/>
        </c:scaling>
        <c:delete val="0"/>
        <c:axPos val="b"/>
        <c:majorGridlines>
          <c:spPr>
            <a:ln xmlns:a="http://schemas.openxmlformats.org/drawingml/2006/main" w="9525">
              <a:solidFill>
                <a:srgbClr val="D8E3E8"/>
              </a:solidFill>
            </a:ln>
          </c:spPr>
        </c:majorGridlines>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Âge en années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
        <c:majorTickMark val="none"/>
        <c:minorTickMark val="none"/>
        <c:spPr>
          <a:ln xmlns:a="http://schemas.openxmlformats.org/drawingml/2006/main" w="9525">
            <a:solidFill>
              <a:srgbClr val="D8E3E8"/>
            </a:solidFill>
          </a:ln>
        </c:spPr>
        <c:txPr>
          <a:bodyPr xmlns:a="http://schemas.openxmlformats.org/drawingml/2006/main" anchorCtr="1"/>
          <a:lstStyle xmlns:a="http://schemas.openxmlformats.org/drawingml/2006/main"/>
          <a:p xmlns:a="http://schemas.openxmlformats.org/drawingml/2006/main">
            <a:pPr>
              <a:defRPr sz="1575">
                <a:solidFill>
                  <a:srgbClr val="506677"/>
                </a:solidFill>
                <a:latin typeface="DejaVu Sans"/>
                <a:ea typeface="DejaVu Sans"/>
                <a:cs typeface="DejaVu Sans"/>
              </a:defRPr>
            </a:pPr>
          </a:p>
        </c:txPr>
        <c:crossAx val="48672768"/>
        <c:majorUnit val="10"/>
      </c:valAx>
      <c:spPr>
        <a:noFill xmlns:a="http://schemas.openxmlformats.org/drawingml/2006/main"/>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latin typeface="DejaVu Sans"/>
              <a:ea typeface="DejaVu Sans"/>
              <a:cs typeface="DejaVu Sans"/>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9568B2-780B-44DA-8725-9BA2EAD9C9A2}"/>
              </a:ext>
            </a:extLst>
          </p:cNvPr>
          <p:cNvSpPr>
            <a:spLocks xmlns:a="http://schemas.openxmlformats.org/drawingml/2006/main" noGrp="1"/>
          </p:cNvSpPr>
          <p:nvPr/>
        </p:nvSpPr>
        <p:spPr>
          <a:xfrm xmlns:a="http://schemas.openxmlformats.org/drawingml/2006/main">
            <a:off x="609600" y="6477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BD6CE"/>
                </a:solidFill>
                <a:latin typeface="DejaVu Sans"/>
                <a:ea typeface="DejaVu Sans"/>
                <a:cs typeface="DejaVu Sans"/>
              </a:defRPr>
            </a:pPr>
            <a:r>
              <a:rPr sz="2250" b="1">
                <a:solidFill>
                  <a:srgbClr val="8BD6CE"/>
                </a:solidFill>
                <a:latin typeface="DejaVu Sans"/>
                <a:ea typeface="DejaVu Sans"/>
                <a:cs typeface="DejaVu Sans"/>
              </a:rPr>
              <a:t>HRNOVA</a:t>
            </a:r>
          </a:p>
        </p:txBody>
      </p:sp>
      <p:sp>
        <p:nvSpPr>
          <p:cNvPr id="2" name="">
            <a:extLst xmlns:a="http://schemas.openxmlformats.org/drawingml/2006/main">
              <a:ext uri="{FF2B5EF4-FFF2-40B4-BE49-F238E27FC236}">
                <a16:creationId xmlns:a16="http://schemas.microsoft.com/office/drawing/2014/main" id="{854E49A6-3239-450E-9A7A-139056B01980}"/>
              </a:ext>
            </a:extLst>
          </p:cNvPr>
          <p:cNvSpPr>
            <a:spLocks xmlns:a="http://schemas.openxmlformats.org/drawingml/2006/main" noGrp="1"/>
          </p:cNvSpPr>
          <p:nvPr/>
        </p:nvSpPr>
        <p:spPr>
          <a:xfrm xmlns:a="http://schemas.openxmlformats.org/drawingml/2006/main">
            <a:off x="571500" y="1657350"/>
            <a:ext cx="1066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FFFFFF"/>
                </a:solidFill>
                <a:latin typeface="DejaVu Sans"/>
                <a:ea typeface="DejaVu Sans"/>
                <a:cs typeface="DejaVu Sans"/>
              </a:defRPr>
            </a:pPr>
            <a:r>
              <a:rPr sz="5775" b="1">
                <a:solidFill>
                  <a:srgbClr val="FFFFFF"/>
                </a:solidFill>
                <a:latin typeface="DejaVu Sans"/>
                <a:ea typeface="DejaVu Sans"/>
                <a:cs typeface="DejaVu Sans"/>
              </a:rPr>
              <a:t>Comprendre</a:t>
            </a:r>
          </a:p>
          <a:p xmlns:a="http://schemas.openxmlformats.org/drawingml/2006/main">
            <a:pPr algn="l">
              <a:defRPr sz="5775" b="1">
                <a:solidFill>
                  <a:srgbClr val="FFFFFF"/>
                </a:solidFill>
                <a:latin typeface="DejaVu Sans"/>
                <a:ea typeface="DejaVu Sans"/>
                <a:cs typeface="DejaVu Sans"/>
              </a:defRPr>
            </a:pPr>
            <a:r>
              <a:rPr sz="5775" b="1">
                <a:solidFill>
                  <a:srgbClr val="FFFFFF"/>
                </a:solidFill>
                <a:latin typeface="DejaVu Sans"/>
                <a:ea typeface="DejaVu Sans"/>
                <a:cs typeface="DejaVu Sans"/>
              </a:rPr>
              <a:t>et anticiper</a:t>
            </a:r>
          </a:p>
          <a:p xmlns:a="http://schemas.openxmlformats.org/drawingml/2006/main">
            <a:pPr algn="l">
              <a:defRPr sz="5775" b="1">
                <a:solidFill>
                  <a:srgbClr val="FFFFFF"/>
                </a:solidFill>
                <a:latin typeface="DejaVu Sans"/>
                <a:ea typeface="DejaVu Sans"/>
                <a:cs typeface="DejaVu Sans"/>
              </a:defRPr>
            </a:pPr>
            <a:r>
              <a:rPr sz="5775" b="1">
                <a:solidFill>
                  <a:srgbClr val="FFFFFF"/>
                </a:solidFill>
                <a:latin typeface="DejaVu Sans"/>
                <a:ea typeface="DejaVu Sans"/>
                <a:cs typeface="DejaVu Sans"/>
              </a:rPr>
              <a:t>les départs</a:t>
            </a:r>
          </a:p>
        </p:txBody>
      </p:sp>
      <p:sp>
        <p:nvSpPr>
          <p:cNvPr id="3" name="">
            <a:extLst xmlns:a="http://schemas.openxmlformats.org/drawingml/2006/main">
              <a:ext uri="{FF2B5EF4-FFF2-40B4-BE49-F238E27FC236}">
                <a16:creationId xmlns:a16="http://schemas.microsoft.com/office/drawing/2014/main" id="{093842DD-CCE5-4083-90AB-AE9E28A5F615}"/>
              </a:ext>
            </a:extLst>
          </p:cNvPr>
          <p:cNvSpPr>
            <a:spLocks xmlns:a="http://schemas.openxmlformats.org/drawingml/2006/main" noGrp="1"/>
          </p:cNvSpPr>
          <p:nvPr/>
        </p:nvSpPr>
        <p:spPr>
          <a:xfrm xmlns:a="http://schemas.openxmlformats.org/drawingml/2006/main">
            <a:off x="609600" y="481012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BDD5E0"/>
                </a:solidFill>
                <a:latin typeface="DejaVu Sans"/>
                <a:ea typeface="DejaVu Sans"/>
                <a:cs typeface="DejaVu Sans"/>
              </a:defRPr>
            </a:pPr>
            <a:r>
              <a:rPr sz="2175" b="0">
                <a:solidFill>
                  <a:srgbClr val="BDD5E0"/>
                </a:solidFill>
                <a:latin typeface="DejaVu Sans"/>
                <a:ea typeface="DejaVu Sans"/>
                <a:cs typeface="DejaVu Sans"/>
              </a:rPr>
              <a:t>Projet 4 · TechNova Partners</a:t>
            </a:r>
          </a:p>
        </p:txBody>
      </p:sp>
      <p:sp>
        <p:nvSpPr>
          <p:cNvPr id="4" name="">
            <a:extLst xmlns:a="http://schemas.openxmlformats.org/drawingml/2006/main">
              <a:ext uri="{FF2B5EF4-FFF2-40B4-BE49-F238E27FC236}">
                <a16:creationId xmlns:a16="http://schemas.microsoft.com/office/drawing/2014/main" id="{35A61A29-D4B3-4B9D-A002-E202E6D0265F}"/>
              </a:ext>
            </a:extLst>
          </p:cNvPr>
          <p:cNvSpPr>
            <a:spLocks xmlns:a="http://schemas.openxmlformats.org/drawingml/2006/main" noGrp="1"/>
          </p:cNvSpPr>
          <p:nvPr/>
        </p:nvSpPr>
        <p:spPr>
          <a:xfrm xmlns:a="http://schemas.openxmlformats.org/drawingml/2006/main">
            <a:off x="609600" y="58674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Samuel Ilan Gabbai</a:t>
            </a:r>
          </a:p>
        </p:txBody>
      </p:sp>
    </p:spTree>
    <p:extLst>
      <p:ext uri="{BB962C8B-B14F-4D97-AF65-F5344CB8AC3E}">
        <p14:creationId xmlns:p14="http://schemas.microsoft.com/office/powerpoint/2010/main" val="14655714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BF2688-1DC4-46D0-A12D-D23422B517D9}"/>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besoin métier</a:t>
            </a:r>
          </a:p>
        </p:txBody>
      </p:sp>
      <p:sp>
        <p:nvSpPr>
          <p:cNvPr id="2" name="">
            <a:extLst xmlns:a="http://schemas.openxmlformats.org/drawingml/2006/main">
              <a:ext uri="{FF2B5EF4-FFF2-40B4-BE49-F238E27FC236}">
                <a16:creationId xmlns:a16="http://schemas.microsoft.com/office/drawing/2014/main" id="{9C85B505-6F92-4743-9786-808A9E7C90B8}"/>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Un score de départ accompagné d’une explication</a:t>
            </a:r>
          </a:p>
        </p:txBody>
      </p:sp>
      <p:sp>
        <p:nvSpPr>
          <p:cNvPr id="3" name="">
            <a:extLst xmlns:a="http://schemas.openxmlformats.org/drawingml/2006/main">
              <a:ext uri="{FF2B5EF4-FFF2-40B4-BE49-F238E27FC236}">
                <a16:creationId xmlns:a16="http://schemas.microsoft.com/office/drawing/2014/main" id="{475DEB45-9853-48C9-9927-3AB43ADA0A6A}"/>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EB7D76FB-1602-4572-B958-E7F2ABDDC271}"/>
              </a:ext>
            </a:extLst>
          </p:cNvPr>
          <p:cNvSpPr>
            <a:spLocks xmlns:a="http://schemas.openxmlformats.org/drawingml/2006/main" noGrp="1"/>
          </p:cNvSpPr>
          <p:nvPr/>
        </p:nvSpPr>
        <p:spPr>
          <a:xfrm xmlns:a="http://schemas.openxmlformats.org/drawingml/2006/main">
            <a:off x="609600" y="20097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Le problème</a:t>
            </a:r>
          </a:p>
        </p:txBody>
      </p:sp>
      <p:sp>
        <p:nvSpPr>
          <p:cNvPr id="5" name="">
            <a:extLst xmlns:a="http://schemas.openxmlformats.org/drawingml/2006/main">
              <a:ext uri="{FF2B5EF4-FFF2-40B4-BE49-F238E27FC236}">
                <a16:creationId xmlns:a16="http://schemas.microsoft.com/office/drawing/2014/main" id="{34549E94-D809-4901-B3C1-F847E9EA95D4}"/>
              </a:ext>
            </a:extLst>
          </p:cNvPr>
          <p:cNvSpPr>
            <a:spLocks xmlns:a="http://schemas.openxmlformats.org/drawingml/2006/main" noGrp="1"/>
          </p:cNvSpPr>
          <p:nvPr/>
        </p:nvSpPr>
        <p:spPr>
          <a:xfrm xmlns:a="http://schemas.openxmlformats.org/drawingml/2006/main">
            <a:off x="609600" y="239077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06677"/>
                </a:solidFill>
                <a:latin typeface="DejaVu Sans"/>
                <a:ea typeface="DejaVu Sans"/>
                <a:cs typeface="DejaVu Sans"/>
              </a:defRPr>
            </a:pPr>
            <a:r>
              <a:rPr sz="1800" b="0">
                <a:solidFill>
                  <a:srgbClr val="506677"/>
                </a:solidFill>
                <a:latin typeface="DejaVu Sans"/>
                <a:ea typeface="DejaVu Sans"/>
                <a:cs typeface="DejaVu Sans"/>
              </a:rPr>
              <a:t>Mieux comprendre les départs pour orienter les actions de fidélisation.</a:t>
            </a:r>
          </a:p>
        </p:txBody>
      </p:sp>
      <p:sp>
        <p:nvSpPr>
          <p:cNvPr id="6" name="">
            <a:extLst xmlns:a="http://schemas.openxmlformats.org/drawingml/2006/main">
              <a:ext uri="{FF2B5EF4-FFF2-40B4-BE49-F238E27FC236}">
                <a16:creationId xmlns:a16="http://schemas.microsoft.com/office/drawing/2014/main" id="{CAD904D9-5969-419E-AFC5-0979B2430A02}"/>
              </a:ext>
            </a:extLst>
          </p:cNvPr>
          <p:cNvSpPr>
            <a:spLocks xmlns:a="http://schemas.openxmlformats.org/drawingml/2006/main" noGrp="1"/>
          </p:cNvSpPr>
          <p:nvPr/>
        </p:nvSpPr>
        <p:spPr>
          <a:xfrm xmlns:a="http://schemas.openxmlformats.org/drawingml/2006/main">
            <a:off x="609600" y="29432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L’apprentissage supervisé</a:t>
            </a:r>
          </a:p>
        </p:txBody>
      </p:sp>
      <p:sp>
        <p:nvSpPr>
          <p:cNvPr id="7" name="">
            <a:extLst xmlns:a="http://schemas.openxmlformats.org/drawingml/2006/main">
              <a:ext uri="{FF2B5EF4-FFF2-40B4-BE49-F238E27FC236}">
                <a16:creationId xmlns:a16="http://schemas.microsoft.com/office/drawing/2014/main" id="{1ACC8432-FB7D-4BB3-929A-6ECB51F2ADE5}"/>
              </a:ext>
            </a:extLst>
          </p:cNvPr>
          <p:cNvSpPr>
            <a:spLocks xmlns:a="http://schemas.openxmlformats.org/drawingml/2006/main" noGrp="1"/>
          </p:cNvSpPr>
          <p:nvPr/>
        </p:nvSpPr>
        <p:spPr>
          <a:xfrm xmlns:a="http://schemas.openxmlformats.org/drawingml/2006/main">
            <a:off x="609600" y="332422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06677"/>
                </a:solidFill>
                <a:latin typeface="DejaVu Sans"/>
                <a:ea typeface="DejaVu Sans"/>
                <a:cs typeface="DejaVu Sans"/>
              </a:defRPr>
            </a:pPr>
            <a:r>
              <a:rPr sz="1800" b="0">
                <a:solidFill>
                  <a:srgbClr val="506677"/>
                </a:solidFill>
                <a:latin typeface="DejaVu Sans"/>
                <a:ea typeface="DejaVu Sans"/>
                <a:cs typeface="DejaVu Sans"/>
              </a:rPr>
              <a:t>Le modèle apprend sur des salariés dont le départ est déjà connu.</a:t>
            </a:r>
          </a:p>
        </p:txBody>
      </p:sp>
      <p:sp>
        <p:nvSpPr>
          <p:cNvPr id="8" name="">
            <a:extLst xmlns:a="http://schemas.openxmlformats.org/drawingml/2006/main">
              <a:ext uri="{FF2B5EF4-FFF2-40B4-BE49-F238E27FC236}">
                <a16:creationId xmlns:a16="http://schemas.microsoft.com/office/drawing/2014/main" id="{C183F3A4-CD2E-402E-A736-04B2F6E793B9}"/>
              </a:ext>
            </a:extLst>
          </p:cNvPr>
          <p:cNvSpPr>
            <a:spLocks xmlns:a="http://schemas.openxmlformats.org/drawingml/2006/main" noGrp="1"/>
          </p:cNvSpPr>
          <p:nvPr/>
        </p:nvSpPr>
        <p:spPr>
          <a:xfrm xmlns:a="http://schemas.openxmlformats.org/drawingml/2006/main">
            <a:off x="609600" y="38766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La cible binaire y</a:t>
            </a:r>
          </a:p>
        </p:txBody>
      </p:sp>
      <p:sp>
        <p:nvSpPr>
          <p:cNvPr id="9" name="">
            <a:extLst xmlns:a="http://schemas.openxmlformats.org/drawingml/2006/main">
              <a:ext uri="{FF2B5EF4-FFF2-40B4-BE49-F238E27FC236}">
                <a16:creationId xmlns:a16="http://schemas.microsoft.com/office/drawing/2014/main" id="{6DB24CB1-BC18-4E9C-B21B-EB1DDBAD3AD8}"/>
              </a:ext>
            </a:extLst>
          </p:cNvPr>
          <p:cNvSpPr>
            <a:spLocks xmlns:a="http://schemas.openxmlformats.org/drawingml/2006/main" noGrp="1"/>
          </p:cNvSpPr>
          <p:nvPr/>
        </p:nvSpPr>
        <p:spPr>
          <a:xfrm xmlns:a="http://schemas.openxmlformats.org/drawingml/2006/main">
            <a:off x="609600" y="425767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06677"/>
                </a:solidFill>
                <a:latin typeface="DejaVu Sans"/>
                <a:ea typeface="DejaVu Sans"/>
                <a:cs typeface="DejaVu Sans"/>
              </a:defRPr>
            </a:pPr>
            <a:r>
              <a:rPr sz="1800" b="0">
                <a:solidFill>
                  <a:srgbClr val="506677"/>
                </a:solidFill>
                <a:latin typeface="DejaVu Sans"/>
                <a:ea typeface="DejaVu Sans"/>
                <a:cs typeface="DejaVu Sans"/>
              </a:rPr>
              <a:t>0 = salarié resté dans l’entreprise. 1 = salarié ayant quitté l’entreprise.</a:t>
            </a:r>
          </a:p>
        </p:txBody>
      </p:sp>
      <p:sp>
        <p:nvSpPr>
          <p:cNvPr id="10" name="">
            <a:extLst xmlns:a="http://schemas.openxmlformats.org/drawingml/2006/main">
              <a:ext uri="{FF2B5EF4-FFF2-40B4-BE49-F238E27FC236}">
                <a16:creationId xmlns:a16="http://schemas.microsoft.com/office/drawing/2014/main" id="{21B30592-30F2-4215-A20A-8328DCE9C9A8}"/>
              </a:ext>
            </a:extLst>
          </p:cNvPr>
          <p:cNvSpPr>
            <a:spLocks xmlns:a="http://schemas.openxmlformats.org/drawingml/2006/main" noGrp="1"/>
          </p:cNvSpPr>
          <p:nvPr/>
        </p:nvSpPr>
        <p:spPr>
          <a:xfrm xmlns:a="http://schemas.openxmlformats.org/drawingml/2006/main">
            <a:off x="609600" y="48101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Le résultat attendu</a:t>
            </a:r>
          </a:p>
        </p:txBody>
      </p:sp>
      <p:sp>
        <p:nvSpPr>
          <p:cNvPr id="11" name="">
            <a:extLst xmlns:a="http://schemas.openxmlformats.org/drawingml/2006/main">
              <a:ext uri="{FF2B5EF4-FFF2-40B4-BE49-F238E27FC236}">
                <a16:creationId xmlns:a16="http://schemas.microsoft.com/office/drawing/2014/main" id="{B141F5E3-2A31-491C-8B3C-37788AB733EB}"/>
              </a:ext>
            </a:extLst>
          </p:cNvPr>
          <p:cNvSpPr>
            <a:spLocks xmlns:a="http://schemas.openxmlformats.org/drawingml/2006/main" noGrp="1"/>
          </p:cNvSpPr>
          <p:nvPr/>
        </p:nvSpPr>
        <p:spPr>
          <a:xfrm xmlns:a="http://schemas.openxmlformats.org/drawingml/2006/main">
            <a:off x="609600" y="519112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06677"/>
                </a:solidFill>
                <a:latin typeface="DejaVu Sans"/>
                <a:ea typeface="DejaVu Sans"/>
                <a:cs typeface="DejaVu Sans"/>
              </a:defRPr>
            </a:pPr>
            <a:r>
              <a:rPr sz="1800" b="0">
                <a:solidFill>
                  <a:srgbClr val="506677"/>
                </a:solidFill>
                <a:latin typeface="DejaVu Sans"/>
                <a:ea typeface="DejaVu Sans"/>
                <a:cs typeface="DejaVu Sans"/>
              </a:rPr>
              <a:t>Une probabilité estimée, une règle de décision et les facteurs associés.</a:t>
            </a:r>
          </a:p>
        </p:txBody>
      </p:sp>
    </p:spTree>
    <p:extLst>
      <p:ext uri="{BB962C8B-B14F-4D97-AF65-F5344CB8AC3E}">
        <p14:creationId xmlns:p14="http://schemas.microsoft.com/office/powerpoint/2010/main" val="870937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F458B8-7B57-4525-836C-AD478EA0F10D}"/>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Trois sources, 1 470 salariés</a:t>
            </a:r>
          </a:p>
        </p:txBody>
      </p:sp>
      <p:sp>
        <p:nvSpPr>
          <p:cNvPr id="2" name="">
            <a:extLst xmlns:a="http://schemas.openxmlformats.org/drawingml/2006/main">
              <a:ext uri="{FF2B5EF4-FFF2-40B4-BE49-F238E27FC236}">
                <a16:creationId xmlns:a16="http://schemas.microsoft.com/office/drawing/2014/main" id="{DDBCFDE0-CBB2-4C7A-8B91-84C2C36CB7D7}"/>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La fusion réunit les informations utiles à la prédiction</a:t>
            </a:r>
          </a:p>
        </p:txBody>
      </p:sp>
      <p:sp>
        <p:nvSpPr>
          <p:cNvPr id="3" name="">
            <a:extLst xmlns:a="http://schemas.openxmlformats.org/drawingml/2006/main">
              <a:ext uri="{FF2B5EF4-FFF2-40B4-BE49-F238E27FC236}">
                <a16:creationId xmlns:a16="http://schemas.microsoft.com/office/drawing/2014/main" id="{8159DB23-A167-42C2-8E7A-0E30B1405493}"/>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03</a:t>
            </a:r>
          </a:p>
        </p:txBody>
      </p:sp>
      <p:graphicFrame>
        <p:nvGraphicFramePr>
          <p:cNvPr id="11" name=""/>
          <p:cNvGraphicFramePr/>
          <p:nvPr/>
        </p:nvGraphicFramePr>
        <p:xfrm>
          <a:off xmlns:a="http://schemas.openxmlformats.org/drawingml/2006/main" x="590550" y="2028825"/>
          <a:ext xmlns:a="http://schemas.openxmlformats.org/drawingml/2006/main" cx="11010900" cy="2476500"/>
        </p:xfrm>
        <a:graphic xmlns:a="http://schemas.openxmlformats.org/drawingml/2006/main">
          <a:graphicData uri="http://schemas.openxmlformats.org/drawingml/2006/table">
            <a:tbl>
              <a:tblPr firstRow="0" bandRow="0"/>
              <a:tblGrid>
                <a:gridCol w="1952625"/>
                <a:gridCol w="6391275"/>
                <a:gridCol w="2667000"/>
              </a:tblGrid>
              <a:tr h="619125">
                <a:tc>
                  <a:txBody>
                    <a:bodyPr lIns="114300" tIns="114300" rIns="95250" bIns="76200">
                      <a:noAutofit/>
                    </a:bodyPr>
                    <a:lstStyle/>
                    <a:p>
                      <a:r>
                        <a:rPr sz="1800" b="1">
                          <a:solidFill>
                            <a:srgbClr val="FFFFFF"/>
                          </a:solidFill>
                          <a:latin typeface="DejaVu Sans"/>
                          <a:ea typeface="DejaVu Sans"/>
                          <a:cs typeface="DejaVu Sans"/>
                        </a:rPr>
                        <a:t>Source</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Contenu</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Dimensions</a:t>
                      </a:r>
                    </a:p>
                  </a:txBody>
                  <a:tcPr marL="91440" marR="91440" marT="45720" marB="45720" anchor="ctr">
                    <a:solidFill>
                      <a:srgbClr val="102A43"/>
                    </a:solidFill>
                  </a:tcPr>
                </a:tc>
              </a:tr>
              <a:tr h="619125">
                <a:tc>
                  <a:txBody>
                    <a:bodyPr lIns="114300" tIns="114300" rIns="95250" bIns="76200">
                      <a:noAutofit/>
                    </a:bodyPr>
                    <a:lstStyle/>
                    <a:p>
                      <a:r>
                        <a:rPr sz="1800" b="0">
                          <a:solidFill>
                            <a:srgbClr val="17324D"/>
                          </a:solidFill>
                          <a:latin typeface="DejaVu Sans"/>
                          <a:ea typeface="DejaVu Sans"/>
                          <a:cs typeface="DejaVu Sans"/>
                        </a:rPr>
                        <a:t>Sondage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Départ, formation, mobilité, PEE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1 470 × 12</a:t>
                      </a:r>
                    </a:p>
                  </a:txBody>
                  <a:tcPr marL="91440" marR="91440" marT="45720" marB="45720" anchor="ctr">
                    <a:solidFill>
                      <a:srgbClr val="FFFFFF"/>
                    </a:solidFill>
                  </a:tcPr>
                </a:tc>
              </a:tr>
              <a:tr h="619125">
                <a:tc>
                  <a:txBody>
                    <a:bodyPr lIns="114300" tIns="114300" rIns="95250" bIns="76200">
                      <a:noAutofit/>
                    </a:bodyPr>
                    <a:lstStyle/>
                    <a:p>
                      <a:r>
                        <a:rPr sz="1800" b="0">
                          <a:solidFill>
                            <a:srgbClr val="17324D"/>
                          </a:solidFill>
                          <a:latin typeface="DejaVu Sans"/>
                          <a:ea typeface="DejaVu Sans"/>
                          <a:cs typeface="DejaVu Sans"/>
                        </a:rPr>
                        <a:t>SIRH</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Âge, revenu, poste, ancienneté</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1 470 × 12</a:t>
                      </a:r>
                    </a:p>
                  </a:txBody>
                  <a:tcPr marL="91440" marR="91440" marT="45720" marB="45720" anchor="ctr">
                    <a:solidFill>
                      <a:srgbClr val="FFFFFF"/>
                    </a:solidFill>
                  </a:tcPr>
                </a:tc>
              </a:tr>
              <a:tr h="619125">
                <a:tc>
                  <a:txBody>
                    <a:bodyPr lIns="114300" tIns="114300" rIns="95250" bIns="76200">
                      <a:noAutofit/>
                    </a:bodyPr>
                    <a:lstStyle/>
                    <a:p>
                      <a:r>
                        <a:rPr sz="1800" b="0">
                          <a:solidFill>
                            <a:srgbClr val="17324D"/>
                          </a:solidFill>
                          <a:latin typeface="DejaVu Sans"/>
                          <a:ea typeface="DejaVu Sans"/>
                          <a:cs typeface="DejaVu Sans"/>
                        </a:rPr>
                        <a:t>Évaluations</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Satisfaction, performance, heures supp.</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1 470 × 10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1240C88-3652-43A4-9435-E431A4F2C187}"/>
              </a:ext>
            </a:extLst>
          </p:cNvPr>
          <p:cNvSpPr>
            <a:spLocks xmlns:a="http://schemas.openxmlformats.org/drawingml/2006/main" noGrp="1"/>
          </p:cNvSpPr>
          <p:nvPr/>
        </p:nvSpPr>
        <p:spPr>
          <a:xfrm xmlns:a="http://schemas.openxmlformats.org/drawingml/2006/main">
            <a:off x="628650" y="47625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38A84"/>
                </a:solidFill>
                <a:latin typeface="DejaVu Sans"/>
                <a:ea typeface="DejaVu Sans"/>
                <a:cs typeface="DejaVu Sans"/>
              </a:defRPr>
            </a:pPr>
            <a:r>
              <a:rPr sz="1950" b="1">
                <a:solidFill>
                  <a:srgbClr val="138A84"/>
                </a:solidFill>
                <a:latin typeface="DejaVu Sans"/>
                <a:ea typeface="DejaVu Sans"/>
                <a:cs typeface="DejaVu Sans"/>
              </a:rPr>
              <a:t>Jointure sur l’identifiant salarié</a:t>
            </a:r>
          </a:p>
        </p:txBody>
      </p:sp>
      <p:sp>
        <p:nvSpPr>
          <p:cNvPr id="6" name="">
            <a:extLst xmlns:a="http://schemas.openxmlformats.org/drawingml/2006/main">
              <a:ext uri="{FF2B5EF4-FFF2-40B4-BE49-F238E27FC236}">
                <a16:creationId xmlns:a16="http://schemas.microsoft.com/office/drawing/2014/main" id="{C84A6937-ABB6-418F-BC9C-F790D7DC885B}"/>
              </a:ext>
            </a:extLst>
          </p:cNvPr>
          <p:cNvSpPr>
            <a:spLocks xmlns:a="http://schemas.openxmlformats.org/drawingml/2006/main" noGrp="1"/>
          </p:cNvSpPr>
          <p:nvPr/>
        </p:nvSpPr>
        <p:spPr>
          <a:xfrm xmlns:a="http://schemas.openxmlformats.org/drawingml/2006/main">
            <a:off x="628650" y="51911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324D"/>
                </a:solidFill>
                <a:latin typeface="DejaVu Sans"/>
                <a:ea typeface="DejaVu Sans"/>
                <a:cs typeface="DejaVu Sans"/>
              </a:defRPr>
            </a:pPr>
            <a:r>
              <a:rPr sz="1725" b="0">
                <a:solidFill>
                  <a:srgbClr val="17324D"/>
                </a:solidFill>
                <a:latin typeface="DejaVu Sans"/>
                <a:ea typeface="DejaVu Sans"/>
                <a:cs typeface="DejaVu Sans"/>
              </a:rPr>
              <a:t>code_sondage ↔ id_employee ↔ numéro extrait de eval_number</a:t>
            </a:r>
          </a:p>
        </p:txBody>
      </p:sp>
      <p:sp>
        <p:nvSpPr>
          <p:cNvPr id="7" name="">
            <a:extLst xmlns:a="http://schemas.openxmlformats.org/drawingml/2006/main">
              <a:ext uri="{FF2B5EF4-FFF2-40B4-BE49-F238E27FC236}">
                <a16:creationId xmlns:a16="http://schemas.microsoft.com/office/drawing/2014/main" id="{B95BF121-A156-4C83-B7D6-9B20E2E97E68}"/>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Après fusion : 1 470 lignes et 31 colonnes, cible incluse. Aucun doublon exact ni valeur manquante dans les fichiers sources.</a:t>
            </a:r>
          </a:p>
        </p:txBody>
      </p:sp>
    </p:spTree>
    <p:extLst>
      <p:ext uri="{BB962C8B-B14F-4D97-AF65-F5344CB8AC3E}">
        <p14:creationId xmlns:p14="http://schemas.microsoft.com/office/powerpoint/2010/main" val="21277714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5578FB-AF3C-4972-BE58-A4C0F3CAB283}"/>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Les départs représentent 16,1 % du jeu</a:t>
            </a:r>
          </a:p>
        </p:txBody>
      </p:sp>
      <p:sp>
        <p:nvSpPr>
          <p:cNvPr id="2" name="">
            <a:extLst xmlns:a="http://schemas.openxmlformats.org/drawingml/2006/main">
              <a:ext uri="{FF2B5EF4-FFF2-40B4-BE49-F238E27FC236}">
                <a16:creationId xmlns:a16="http://schemas.microsoft.com/office/drawing/2014/main" id="{0FF0559D-4E62-4395-8BC1-72ACDAFB29CE}"/>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 déséquilibre change la façon de mesurer la performance</a:t>
            </a:r>
          </a:p>
        </p:txBody>
      </p:sp>
      <p:sp>
        <p:nvSpPr>
          <p:cNvPr id="3" name="">
            <a:extLst xmlns:a="http://schemas.openxmlformats.org/drawingml/2006/main">
              <a:ext uri="{FF2B5EF4-FFF2-40B4-BE49-F238E27FC236}">
                <a16:creationId xmlns:a16="http://schemas.microsoft.com/office/drawing/2014/main" id="{432F1713-DCD1-471C-B353-99EE0FC27DE9}"/>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04</a:t>
            </a:r>
          </a:p>
        </p:txBody>
      </p:sp>
      <p:graphicFrame>
        <p:nvGraphicFramePr>
          <p:cNvPr id="12" name="Chart"/>
          <p:cNvGraphicFramePr/>
          <p:nvPr/>
        </p:nvGraphicFramePr>
        <p:xfrm>
          <a:off xmlns:a="http://schemas.openxmlformats.org/drawingml/2006/main" x="619125" y="2190750"/>
          <a:ext xmlns:a="http://schemas.openxmlformats.org/drawingml/2006/main" cx="6810375" cy="3314700"/>
        </p:xfrm>
        <a:graphic xmlns:a="http://schemas.openxmlformats.org/drawingml/2006/main">
          <a:graphicData uri="http://schemas.openxmlformats.org/drawingml/2006/chart">
            <c:chart xmlns:r="http://schemas.openxmlformats.org/officeDocument/2006/relationships" xmlns:c="http://schemas.openxmlformats.org/drawingml/2006/chart" r:id="Rbe95c73b7e874017"/>
          </a:graphicData>
        </a:graphic>
      </p:graphicFrame>
      <p:sp>
        <p:nvSpPr>
          <p:cNvPr id="5" name="">
            <a:extLst xmlns:a="http://schemas.openxmlformats.org/drawingml/2006/main">
              <a:ext uri="{FF2B5EF4-FFF2-40B4-BE49-F238E27FC236}">
                <a16:creationId xmlns:a16="http://schemas.microsoft.com/office/drawing/2014/main" id="{7226A2DC-E7CE-41FC-9904-CE0A1D34712E}"/>
              </a:ext>
            </a:extLst>
          </p:cNvPr>
          <p:cNvSpPr>
            <a:spLocks xmlns:a="http://schemas.openxmlformats.org/drawingml/2006/main" noGrp="1"/>
          </p:cNvSpPr>
          <p:nvPr/>
        </p:nvSpPr>
        <p:spPr>
          <a:xfrm xmlns:a="http://schemas.openxmlformats.org/drawingml/2006/main">
            <a:off x="8001000" y="2286000"/>
            <a:ext cx="3524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324D"/>
                </a:solidFill>
                <a:latin typeface="DejaVu Sans"/>
                <a:ea typeface="DejaVu Sans"/>
                <a:cs typeface="DejaVu Sans"/>
              </a:defRPr>
            </a:pPr>
            <a:r>
              <a:rPr sz="5250" b="1">
                <a:solidFill>
                  <a:srgbClr val="17324D"/>
                </a:solidFill>
                <a:latin typeface="DejaVu Sans"/>
                <a:ea typeface="DejaVu Sans"/>
                <a:cs typeface="DejaVu Sans"/>
              </a:rPr>
              <a:t>83,9 %</a:t>
            </a:r>
          </a:p>
        </p:txBody>
      </p:sp>
      <p:sp>
        <p:nvSpPr>
          <p:cNvPr id="6" name="">
            <a:extLst xmlns:a="http://schemas.openxmlformats.org/drawingml/2006/main">
              <a:ext uri="{FF2B5EF4-FFF2-40B4-BE49-F238E27FC236}">
                <a16:creationId xmlns:a16="http://schemas.microsoft.com/office/drawing/2014/main" id="{E7EC239F-C6BF-4EC2-8F20-CCB6CE8AE3A4}"/>
              </a:ext>
            </a:extLst>
          </p:cNvPr>
          <p:cNvSpPr>
            <a:spLocks xmlns:a="http://schemas.openxmlformats.org/drawingml/2006/main" noGrp="1"/>
          </p:cNvSpPr>
          <p:nvPr/>
        </p:nvSpPr>
        <p:spPr>
          <a:xfrm xmlns:a="http://schemas.openxmlformats.org/drawingml/2006/main">
            <a:off x="8001000" y="3314700"/>
            <a:ext cx="3524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d’accuracy en prédisant</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 tout le monde reste »</a:t>
            </a:r>
          </a:p>
        </p:txBody>
      </p:sp>
      <p:sp>
        <p:nvSpPr>
          <p:cNvPr id="7" name="">
            <a:extLst xmlns:a="http://schemas.openxmlformats.org/drawingml/2006/main">
              <a:ext uri="{FF2B5EF4-FFF2-40B4-BE49-F238E27FC236}">
                <a16:creationId xmlns:a16="http://schemas.microsoft.com/office/drawing/2014/main" id="{CFD695DF-B48C-45BB-9BAB-67471C19EB51}"/>
              </a:ext>
            </a:extLst>
          </p:cNvPr>
          <p:cNvSpPr>
            <a:spLocks xmlns:a="http://schemas.openxmlformats.org/drawingml/2006/main" noGrp="1"/>
          </p:cNvSpPr>
          <p:nvPr/>
        </p:nvSpPr>
        <p:spPr>
          <a:xfrm xmlns:a="http://schemas.openxmlformats.org/drawingml/2006/main">
            <a:off x="8001000" y="4429125"/>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D95F4C"/>
                </a:solidFill>
                <a:latin typeface="DejaVu Sans"/>
                <a:ea typeface="DejaVu Sans"/>
                <a:cs typeface="DejaVu Sans"/>
              </a:defRPr>
            </a:pPr>
            <a:r>
              <a:rPr sz="2325" b="1">
                <a:solidFill>
                  <a:srgbClr val="D95F4C"/>
                </a:solidFill>
                <a:latin typeface="DejaVu Sans"/>
                <a:ea typeface="DejaVu Sans"/>
                <a:cs typeface="DejaVu Sans"/>
              </a:rPr>
              <a:t>Mais 0 départ détecté</a:t>
            </a:r>
          </a:p>
        </p:txBody>
      </p:sp>
      <p:sp>
        <p:nvSpPr>
          <p:cNvPr id="8" name="">
            <a:extLst xmlns:a="http://schemas.openxmlformats.org/drawingml/2006/main">
              <a:ext uri="{FF2B5EF4-FFF2-40B4-BE49-F238E27FC236}">
                <a16:creationId xmlns:a16="http://schemas.microsoft.com/office/drawing/2014/main" id="{3C3C1D08-C4A1-411A-8D50-3813F363B77C}"/>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Ce contre-exemple majoritaire est pédagogique. Le DummyClassifier du notebook utilise la stratégie aléatoire stratifiée.</a:t>
            </a:r>
          </a:p>
        </p:txBody>
      </p:sp>
    </p:spTree>
    <p:extLst>
      <p:ext uri="{BB962C8B-B14F-4D97-AF65-F5344CB8AC3E}">
        <p14:creationId xmlns:p14="http://schemas.microsoft.com/office/powerpoint/2010/main" val="11474782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8A27C0-3B92-484C-A98E-35242D23BD17}"/>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Les premiers écarts observés</a:t>
            </a:r>
          </a:p>
        </p:txBody>
      </p:sp>
      <p:sp>
        <p:nvSpPr>
          <p:cNvPr id="2" name="">
            <a:extLst xmlns:a="http://schemas.openxmlformats.org/drawingml/2006/main">
              <a:ext uri="{FF2B5EF4-FFF2-40B4-BE49-F238E27FC236}">
                <a16:creationId xmlns:a16="http://schemas.microsoft.com/office/drawing/2014/main" id="{878B8990-8653-4B80-8970-EE9054E81C88}"/>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Des associations descriptives à approfondir</a:t>
            </a:r>
          </a:p>
        </p:txBody>
      </p:sp>
      <p:sp>
        <p:nvSpPr>
          <p:cNvPr id="3" name="">
            <a:extLst xmlns:a="http://schemas.openxmlformats.org/drawingml/2006/main">
              <a:ext uri="{FF2B5EF4-FFF2-40B4-BE49-F238E27FC236}">
                <a16:creationId xmlns:a16="http://schemas.microsoft.com/office/drawing/2014/main" id="{92AC4F6C-6973-4B12-9DD8-F95AFC0F18C5}"/>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1A29B27D-83DE-4C3D-8F91-CCE327C19577}"/>
              </a:ext>
            </a:extLst>
          </p:cNvPr>
          <p:cNvSpPr>
            <a:spLocks xmlns:a="http://schemas.openxmlformats.org/drawingml/2006/main" noGrp="1"/>
          </p:cNvSpPr>
          <p:nvPr/>
        </p:nvSpPr>
        <p:spPr>
          <a:xfrm xmlns:a="http://schemas.openxmlformats.org/drawingml/2006/main">
            <a:off x="600075" y="20097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24D"/>
                </a:solidFill>
                <a:latin typeface="DejaVu Sans"/>
                <a:ea typeface="DejaVu Sans"/>
                <a:cs typeface="DejaVu Sans"/>
              </a:defRPr>
            </a:pPr>
            <a:r>
              <a:rPr sz="2025" b="1">
                <a:solidFill>
                  <a:srgbClr val="17324D"/>
                </a:solidFill>
                <a:latin typeface="DejaVu Sans"/>
                <a:ea typeface="DejaVu Sans"/>
                <a:cs typeface="DejaVu Sans"/>
              </a:rPr>
              <a:t>Revenu mensuel médian</a:t>
            </a:r>
          </a:p>
        </p:txBody>
      </p:sp>
      <p:graphicFrame>
        <p:nvGraphicFramePr>
          <p:cNvPr id="13" name="Chart"/>
          <p:cNvGraphicFramePr/>
          <p:nvPr/>
        </p:nvGraphicFramePr>
        <p:xfrm>
          <a:off xmlns:a="http://schemas.openxmlformats.org/drawingml/2006/main" x="523875" y="2543175"/>
          <a:ext xmlns:a="http://schemas.openxmlformats.org/drawingml/2006/main" cx="5105400" cy="2857500"/>
        </p:xfrm>
        <a:graphic xmlns:a="http://schemas.openxmlformats.org/drawingml/2006/main">
          <a:graphicData uri="http://schemas.openxmlformats.org/drawingml/2006/chart">
            <c:chart xmlns:r="http://schemas.openxmlformats.org/officeDocument/2006/relationships" xmlns:c="http://schemas.openxmlformats.org/drawingml/2006/chart" r:id="Rdb32350711e742fb"/>
          </a:graphicData>
        </a:graphic>
      </p:graphicFrame>
      <p:sp>
        <p:nvSpPr>
          <p:cNvPr id="6" name="">
            <a:extLst xmlns:a="http://schemas.openxmlformats.org/drawingml/2006/main">
              <a:ext uri="{FF2B5EF4-FFF2-40B4-BE49-F238E27FC236}">
                <a16:creationId xmlns:a16="http://schemas.microsoft.com/office/drawing/2014/main" id="{F92DE15C-8F45-4CC0-9219-95232148D507}"/>
              </a:ext>
            </a:extLst>
          </p:cNvPr>
          <p:cNvSpPr>
            <a:spLocks xmlns:a="http://schemas.openxmlformats.org/drawingml/2006/main" noGrp="1"/>
          </p:cNvSpPr>
          <p:nvPr/>
        </p:nvSpPr>
        <p:spPr>
          <a:xfrm xmlns:a="http://schemas.openxmlformats.org/drawingml/2006/main">
            <a:off x="6400800" y="2009775"/>
            <a:ext cx="519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24D"/>
                </a:solidFill>
                <a:latin typeface="DejaVu Sans"/>
                <a:ea typeface="DejaVu Sans"/>
                <a:cs typeface="DejaVu Sans"/>
              </a:defRPr>
            </a:pPr>
            <a:r>
              <a:rPr sz="2025" b="1">
                <a:solidFill>
                  <a:srgbClr val="17324D"/>
                </a:solidFill>
                <a:latin typeface="DejaVu Sans"/>
                <a:ea typeface="DejaVu Sans"/>
                <a:cs typeface="DejaVu Sans"/>
              </a:rPr>
              <a:t>Départs par département</a:t>
            </a:r>
          </a:p>
        </p:txBody>
      </p:sp>
      <p:graphicFrame>
        <p:nvGraphicFramePr>
          <p:cNvPr id="15" name=""/>
          <p:cNvGraphicFramePr/>
          <p:nvPr/>
        </p:nvGraphicFramePr>
        <p:xfrm>
          <a:off xmlns:a="http://schemas.openxmlformats.org/drawingml/2006/main" x="6400800" y="2543175"/>
          <a:ext xmlns:a="http://schemas.openxmlformats.org/drawingml/2006/main" cx="5200650" cy="2857500"/>
        </p:xfrm>
        <a:graphic xmlns:a="http://schemas.openxmlformats.org/drawingml/2006/main">
          <a:graphicData uri="http://schemas.openxmlformats.org/drawingml/2006/table">
            <a:tbl>
              <a:tblPr firstRow="0" bandRow="0"/>
              <a:tblGrid>
                <a:gridCol w="2771775"/>
                <a:gridCol w="1238250"/>
                <a:gridCol w="1190625"/>
              </a:tblGrid>
              <a:tr h="714375">
                <a:tc>
                  <a:txBody>
                    <a:bodyPr lIns="114300" tIns="114300" rIns="95250" bIns="76200">
                      <a:noAutofit/>
                    </a:bodyPr>
                    <a:lstStyle/>
                    <a:p>
                      <a:r>
                        <a:rPr sz="1725" b="1">
                          <a:solidFill>
                            <a:srgbClr val="FFFFFF"/>
                          </a:solidFill>
                          <a:latin typeface="DejaVu Sans"/>
                          <a:ea typeface="DejaVu Sans"/>
                          <a:cs typeface="DejaVu Sans"/>
                        </a:rPr>
                        <a:t>Département</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Taux</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Effectif</a:t>
                      </a:r>
                    </a:p>
                  </a:txBody>
                  <a:tcPr marL="91440" marR="91440" marT="45720" marB="45720" anchor="ctr">
                    <a:solidFill>
                      <a:srgbClr val="102A43"/>
                    </a:solidFill>
                  </a:tcPr>
                </a:tc>
              </a:tr>
              <a:tr h="714375">
                <a:tc>
                  <a:txBody>
                    <a:bodyPr lIns="114300" tIns="114300" rIns="95250" bIns="76200">
                      <a:noAutofit/>
                    </a:bodyPr>
                    <a:lstStyle/>
                    <a:p>
                      <a:r>
                        <a:rPr sz="1725" b="0">
                          <a:solidFill>
                            <a:srgbClr val="17324D"/>
                          </a:solidFill>
                          <a:latin typeface="DejaVu Sans"/>
                          <a:ea typeface="DejaVu Sans"/>
                          <a:cs typeface="DejaVu Sans"/>
                        </a:rPr>
                        <a:t>Commercial</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20,6 %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446</a:t>
                      </a:r>
                    </a:p>
                  </a:txBody>
                  <a:tcPr marL="91440" marR="91440" marT="45720" marB="45720" anchor="ctr">
                    <a:solidFill>
                      <a:srgbClr val="FFFFFF"/>
                    </a:solidFill>
                  </a:tcPr>
                </a:tc>
              </a:tr>
              <a:tr h="714375">
                <a:tc>
                  <a:txBody>
                    <a:bodyPr lIns="114300" tIns="114300" rIns="95250" bIns="76200">
                      <a:noAutofit/>
                    </a:bodyPr>
                    <a:lstStyle/>
                    <a:p>
                      <a:r>
                        <a:rPr sz="1725" b="0">
                          <a:solidFill>
                            <a:srgbClr val="17324D"/>
                          </a:solidFill>
                          <a:latin typeface="DejaVu Sans"/>
                          <a:ea typeface="DejaVu Sans"/>
                          <a:cs typeface="DejaVu Sans"/>
                        </a:rPr>
                        <a:t>Ressources humaines</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19,0 %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63</a:t>
                      </a:r>
                    </a:p>
                  </a:txBody>
                  <a:tcPr marL="91440" marR="91440" marT="45720" marB="45720" anchor="ctr">
                    <a:solidFill>
                      <a:srgbClr val="FFFFFF"/>
                    </a:solidFill>
                  </a:tcPr>
                </a:tc>
              </a:tr>
              <a:tr h="714375">
                <a:tc>
                  <a:txBody>
                    <a:bodyPr lIns="114300" tIns="114300" rIns="95250" bIns="76200">
                      <a:noAutofit/>
                    </a:bodyPr>
                    <a:lstStyle/>
                    <a:p>
                      <a:r>
                        <a:rPr sz="1725" b="0">
                          <a:solidFill>
                            <a:srgbClr val="17324D"/>
                          </a:solidFill>
                          <a:latin typeface="DejaVu Sans"/>
                          <a:ea typeface="DejaVu Sans"/>
                          <a:cs typeface="DejaVu Sans"/>
                        </a:rPr>
                        <a:t>Consulting</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13,8 %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961</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79C867E-D00A-4A06-B5F2-0523D9CD3EDE}"/>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Revenu dans l’unité du fichier, devise non précisée. Un écart entre groupes ne démontre pas une causalité.</a:t>
            </a:r>
          </a:p>
        </p:txBody>
      </p:sp>
    </p:spTree>
    <p:extLst>
      <p:ext uri="{BB962C8B-B14F-4D97-AF65-F5344CB8AC3E}">
        <p14:creationId xmlns:p14="http://schemas.microsoft.com/office/powerpoint/2010/main" val="11719295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5ECA9D-4BB9-4E31-906B-25FE9814E60B}"/>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Les variables et leur encodage</a:t>
            </a:r>
          </a:p>
        </p:txBody>
      </p:sp>
      <p:sp>
        <p:nvSpPr>
          <p:cNvPr id="2" name="">
            <a:extLst xmlns:a="http://schemas.openxmlformats.org/drawingml/2006/main">
              <a:ext uri="{FF2B5EF4-FFF2-40B4-BE49-F238E27FC236}">
                <a16:creationId xmlns:a16="http://schemas.microsoft.com/office/drawing/2014/main" id="{49CEE6D2-8977-473C-B3DA-BFF61E3228A8}"/>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X contient 43 colonnes numériques. y contient le départ connu.</a:t>
            </a:r>
          </a:p>
        </p:txBody>
      </p:sp>
      <p:sp>
        <p:nvSpPr>
          <p:cNvPr id="3" name="">
            <a:extLst xmlns:a="http://schemas.openxmlformats.org/drawingml/2006/main">
              <a:ext uri="{FF2B5EF4-FFF2-40B4-BE49-F238E27FC236}">
                <a16:creationId xmlns:a16="http://schemas.microsoft.com/office/drawing/2014/main" id="{687DAADC-362D-4F38-AE57-4FBC6663329F}"/>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06</a:t>
            </a:r>
          </a:p>
        </p:txBody>
      </p:sp>
      <p:graphicFrame>
        <p:nvGraphicFramePr>
          <p:cNvPr id="10" name=""/>
          <p:cNvGraphicFramePr/>
          <p:nvPr/>
        </p:nvGraphicFramePr>
        <p:xfrm>
          <a:off xmlns:a="http://schemas.openxmlformats.org/drawingml/2006/main" x="590550" y="2028825"/>
          <a:ext xmlns:a="http://schemas.openxmlformats.org/drawingml/2006/main" cx="11010900" cy="3295650"/>
        </p:xfrm>
        <a:graphic xmlns:a="http://schemas.openxmlformats.org/drawingml/2006/main">
          <a:graphicData uri="http://schemas.openxmlformats.org/drawingml/2006/table">
            <a:tbl>
              <a:tblPr firstRow="0" bandRow="0"/>
              <a:tblGrid>
                <a:gridCol w="2428875"/>
                <a:gridCol w="3286125"/>
                <a:gridCol w="5295900"/>
              </a:tblGrid>
              <a:tr h="659130">
                <a:tc>
                  <a:txBody>
                    <a:bodyPr lIns="114300" tIns="114300" rIns="95250" bIns="76200">
                      <a:noAutofit/>
                    </a:bodyPr>
                    <a:lstStyle/>
                    <a:p>
                      <a:r>
                        <a:rPr sz="1800" b="1">
                          <a:solidFill>
                            <a:srgbClr val="FFFFFF"/>
                          </a:solidFill>
                          <a:latin typeface="DejaVu Sans"/>
                          <a:ea typeface="DejaVu Sans"/>
                          <a:cs typeface="DejaVu Sans"/>
                        </a:rPr>
                        <a:t>Type de variable</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Exemple</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Transformation</a:t>
                      </a:r>
                    </a:p>
                  </a:txBody>
                  <a:tcPr marL="91440" marR="91440" marT="45720" marB="45720" anchor="ctr">
                    <a:solidFill>
                      <a:srgbClr val="102A43"/>
                    </a:solidFill>
                  </a:tcPr>
                </a:tc>
              </a:tr>
              <a:tr h="659130">
                <a:tc>
                  <a:txBody>
                    <a:bodyPr lIns="114300" tIns="114300" rIns="95250" bIns="76200">
                      <a:noAutofit/>
                    </a:bodyPr>
                    <a:lstStyle/>
                    <a:p>
                      <a:r>
                        <a:rPr sz="1800" b="0">
                          <a:solidFill>
                            <a:srgbClr val="17324D"/>
                          </a:solidFill>
                          <a:latin typeface="DejaVu Sans"/>
                          <a:ea typeface="DejaVu Sans"/>
                          <a:cs typeface="DejaVu Sans"/>
                        </a:rPr>
                        <a:t>Quantitative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Âge, revenu, ancienneté</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Conserver une valeur numérique</a:t>
                      </a:r>
                    </a:p>
                  </a:txBody>
                  <a:tcPr marL="91440" marR="91440" marT="45720" marB="45720" anchor="ctr">
                    <a:solidFill>
                      <a:srgbClr val="FFFFFF"/>
                    </a:solidFill>
                  </a:tcPr>
                </a:tc>
              </a:tr>
              <a:tr h="659130">
                <a:tc>
                  <a:txBody>
                    <a:bodyPr lIns="114300" tIns="114300" rIns="95250" bIns="76200">
                      <a:noAutofit/>
                    </a:bodyPr>
                    <a:lstStyle/>
                    <a:p>
                      <a:r>
                        <a:rPr sz="1800" b="0">
                          <a:solidFill>
                            <a:srgbClr val="17324D"/>
                          </a:solidFill>
                          <a:latin typeface="DejaVu Sans"/>
                          <a:ea typeface="DejaVu Sans"/>
                          <a:cs typeface="DejaVu Sans"/>
                        </a:rPr>
                        <a:t>Binaire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Heures supplémentaires</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Non = 0, Oui = 1</a:t>
                      </a:r>
                    </a:p>
                  </a:txBody>
                  <a:tcPr marL="91440" marR="91440" marT="45720" marB="45720" anchor="ctr">
                    <a:solidFill>
                      <a:srgbClr val="FFFFFF"/>
                    </a:solidFill>
                  </a:tcPr>
                </a:tc>
              </a:tr>
              <a:tr h="659130">
                <a:tc>
                  <a:txBody>
                    <a:bodyPr lIns="114300" tIns="114300" rIns="95250" bIns="76200">
                      <a:noAutofit/>
                    </a:bodyPr>
                    <a:lstStyle/>
                    <a:p>
                      <a:r>
                        <a:rPr sz="1800" b="0">
                          <a:solidFill>
                            <a:srgbClr val="17324D"/>
                          </a:solidFill>
                          <a:latin typeface="DejaVu Sans"/>
                          <a:ea typeface="DejaVu Sans"/>
                          <a:cs typeface="DejaVu Sans"/>
                        </a:rPr>
                        <a:t>Ordinale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Fréquence de déplacement</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Aucun = 0, occasionnel = 1, fréquent = 2</a:t>
                      </a:r>
                    </a:p>
                  </a:txBody>
                  <a:tcPr marL="91440" marR="91440" marT="45720" marB="45720" anchor="ctr">
                    <a:solidFill>
                      <a:srgbClr val="FFFFFF"/>
                    </a:solidFill>
                  </a:tcPr>
                </a:tc>
              </a:tr>
              <a:tr h="659130">
                <a:tc>
                  <a:txBody>
                    <a:bodyPr lIns="114300" tIns="114300" rIns="95250" bIns="76200">
                      <a:noAutofit/>
                    </a:bodyPr>
                    <a:lstStyle/>
                    <a:p>
                      <a:r>
                        <a:rPr sz="1800" b="0">
                          <a:solidFill>
                            <a:srgbClr val="17324D"/>
                          </a:solidFill>
                          <a:latin typeface="DejaVu Sans"/>
                          <a:ea typeface="DejaVu Sans"/>
                          <a:cs typeface="DejaVu Sans"/>
                        </a:rPr>
                        <a:t>Nominale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Poste, département, domaine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One-Hot : indicateurs 0/1 par catégorie</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F03AE4-35D0-4F5D-AF40-9968FB68335F}"/>
              </a:ext>
            </a:extLst>
          </p:cNvPr>
          <p:cNvSpPr>
            <a:spLocks xmlns:a="http://schemas.openxmlformats.org/drawingml/2006/main" noGrp="1"/>
          </p:cNvSpPr>
          <p:nvPr/>
        </p:nvSpPr>
        <p:spPr>
          <a:xfrm xmlns:a="http://schemas.openxmlformats.org/drawingml/2006/main">
            <a:off x="619125" y="55626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38A84"/>
                </a:solidFill>
                <a:latin typeface="DejaVu Sans"/>
                <a:ea typeface="DejaVu Sans"/>
                <a:cs typeface="DejaVu Sans"/>
              </a:defRPr>
            </a:pPr>
            <a:r>
              <a:rPr sz="2100" b="1">
                <a:solidFill>
                  <a:srgbClr val="138A84"/>
                </a:solidFill>
                <a:latin typeface="DejaVu Sans"/>
                <a:ea typeface="DejaVu Sans"/>
                <a:cs typeface="DejaVu Sans"/>
              </a:rPr>
              <a:t>Une catégorie n’a pas toujours un ordre</a:t>
            </a:r>
          </a:p>
        </p:txBody>
      </p:sp>
      <p:sp>
        <p:nvSpPr>
          <p:cNvPr id="6" name="">
            <a:extLst xmlns:a="http://schemas.openxmlformats.org/drawingml/2006/main">
              <a:ext uri="{FF2B5EF4-FFF2-40B4-BE49-F238E27FC236}">
                <a16:creationId xmlns:a16="http://schemas.microsoft.com/office/drawing/2014/main" id="{0CFE4EC9-000D-42C2-AF29-0A7176EE2B16}"/>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 Commercial = 1, Consulting = 2 » créerait un ordre artificiel. Le One-Hot évite cette interprétation.</a:t>
            </a:r>
          </a:p>
        </p:txBody>
      </p:sp>
    </p:spTree>
    <p:extLst>
      <p:ext uri="{BB962C8B-B14F-4D97-AF65-F5344CB8AC3E}">
        <p14:creationId xmlns:p14="http://schemas.microsoft.com/office/powerpoint/2010/main" val="20602736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1DF684-0379-480B-962E-48544B16C51A}"/>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feature engineering</a:t>
            </a:r>
          </a:p>
        </p:txBody>
      </p:sp>
      <p:sp>
        <p:nvSpPr>
          <p:cNvPr id="2" name="">
            <a:extLst xmlns:a="http://schemas.openxmlformats.org/drawingml/2006/main">
              <a:ext uri="{FF2B5EF4-FFF2-40B4-BE49-F238E27FC236}">
                <a16:creationId xmlns:a16="http://schemas.microsoft.com/office/drawing/2014/main" id="{FC949ABB-3ED7-47AA-A333-D2280935AA3D}"/>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Créer des informations métier à partir des colonnes existantes</a:t>
            </a:r>
          </a:p>
        </p:txBody>
      </p:sp>
      <p:sp>
        <p:nvSpPr>
          <p:cNvPr id="3" name="">
            <a:extLst xmlns:a="http://schemas.openxmlformats.org/drawingml/2006/main">
              <a:ext uri="{FF2B5EF4-FFF2-40B4-BE49-F238E27FC236}">
                <a16:creationId xmlns:a16="http://schemas.microsoft.com/office/drawing/2014/main" id="{B4D7467F-2294-4D9F-B48A-6B29A66A9D07}"/>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07</a:t>
            </a:r>
          </a:p>
        </p:txBody>
      </p:sp>
      <p:graphicFrame>
        <p:nvGraphicFramePr>
          <p:cNvPr id="10" name=""/>
          <p:cNvGraphicFramePr/>
          <p:nvPr/>
        </p:nvGraphicFramePr>
        <p:xfrm>
          <a:off xmlns:a="http://schemas.openxmlformats.org/drawingml/2006/main" x="590550" y="2028825"/>
          <a:ext xmlns:a="http://schemas.openxmlformats.org/drawingml/2006/main" cx="11010900" cy="3295650"/>
        </p:xfrm>
        <a:graphic xmlns:a="http://schemas.openxmlformats.org/drawingml/2006/main">
          <a:graphicData uri="http://schemas.openxmlformats.org/drawingml/2006/table">
            <a:tbl>
              <a:tblPr firstRow="0" bandRow="0"/>
              <a:tblGrid>
                <a:gridCol w="3400425"/>
                <a:gridCol w="3819525"/>
                <a:gridCol w="3790950"/>
              </a:tblGrid>
              <a:tr h="659130">
                <a:tc>
                  <a:txBody>
                    <a:bodyPr lIns="114300" tIns="114300" rIns="95250" bIns="76200">
                      <a:noAutofit/>
                    </a:bodyPr>
                    <a:lstStyle/>
                    <a:p>
                      <a:r>
                        <a:rPr sz="1725" b="1">
                          <a:solidFill>
                            <a:srgbClr val="FFFFFF"/>
                          </a:solidFill>
                          <a:latin typeface="DejaVu Sans"/>
                          <a:ea typeface="DejaVu Sans"/>
                          <a:cs typeface="DejaVu Sans"/>
                        </a:rPr>
                        <a:t>Variable créée</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Calcul utilisé</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Intérêt recherché</a:t>
                      </a:r>
                    </a:p>
                  </a:txBody>
                  <a:tcPr marL="91440" marR="91440" marT="45720" marB="45720" anchor="ctr">
                    <a:solidFill>
                      <a:srgbClr val="102A43"/>
                    </a:solidFill>
                  </a:tcPr>
                </a:tc>
              </a:tr>
              <a:tr h="659130">
                <a:tc>
                  <a:txBody>
                    <a:bodyPr lIns="114300" tIns="114300" rIns="95250" bIns="76200">
                      <a:noAutofit/>
                    </a:bodyPr>
                    <a:lstStyle/>
                    <a:p>
                      <a:r>
                        <a:rPr sz="1725" b="0">
                          <a:solidFill>
                            <a:srgbClr val="17324D"/>
                          </a:solidFill>
                          <a:latin typeface="DejaVu Sans"/>
                          <a:ea typeface="DejaVu Sans"/>
                          <a:cs typeface="DejaVu Sans"/>
                        </a:rPr>
                        <a:t>jeune_sous_paye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Âge &lt; 30 et revenu &lt; médiane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Combiner âge et revenu</a:t>
                      </a:r>
                    </a:p>
                  </a:txBody>
                  <a:tcPr marL="91440" marR="91440" marT="45720" marB="45720" anchor="ctr">
                    <a:solidFill>
                      <a:srgbClr val="FFFFFF"/>
                    </a:solidFill>
                  </a:tcPr>
                </a:tc>
              </a:tr>
              <a:tr h="659130">
                <a:tc>
                  <a:txBody>
                    <a:bodyPr lIns="114300" tIns="114300" rIns="95250" bIns="76200">
                      <a:noAutofit/>
                    </a:bodyPr>
                    <a:lstStyle/>
                    <a:p>
                      <a:r>
                        <a:rPr sz="1725" b="0">
                          <a:solidFill>
                            <a:srgbClr val="17324D"/>
                          </a:solidFill>
                          <a:latin typeface="DejaVu Sans"/>
                          <a:ea typeface="DejaVu Sans"/>
                          <a:cs typeface="DejaVu Sans"/>
                        </a:rPr>
                        <a:t>sous_paye_moyenne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Revenu &lt; médiane globale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Repérer un revenu relatif faible</a:t>
                      </a:r>
                    </a:p>
                  </a:txBody>
                  <a:tcPr marL="91440" marR="91440" marT="45720" marB="45720" anchor="ctr">
                    <a:solidFill>
                      <a:srgbClr val="FFFFFF"/>
                    </a:solidFill>
                  </a:tcPr>
                </a:tc>
              </a:tr>
              <a:tr h="659130">
                <a:tc>
                  <a:txBody>
                    <a:bodyPr lIns="114300" tIns="114300" rIns="95250" bIns="76200">
                      <a:noAutofit/>
                    </a:bodyPr>
                    <a:lstStyle/>
                    <a:p>
                      <a:r>
                        <a:rPr sz="1725" b="0">
                          <a:solidFill>
                            <a:srgbClr val="17324D"/>
                          </a:solidFill>
                          <a:latin typeface="DejaVu Sans"/>
                          <a:ea typeface="DejaVu Sans"/>
                          <a:cs typeface="DejaVu Sans"/>
                        </a:rPr>
                        <a:t>ratio_salaire_edu_anciennete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Revenu / médiane du groupe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Comparer à éducation et ancienneté proches</a:t>
                      </a:r>
                    </a:p>
                  </a:txBody>
                  <a:tcPr marL="91440" marR="91440" marT="45720" marB="45720" anchor="ctr">
                    <a:solidFill>
                      <a:srgbClr val="FFFFFF"/>
                    </a:solidFill>
                  </a:tcPr>
                </a:tc>
              </a:tr>
              <a:tr h="659130">
                <a:tc>
                  <a:txBody>
                    <a:bodyPr lIns="114300" tIns="114300" rIns="95250" bIns="76200">
                      <a:noAutofit/>
                    </a:bodyPr>
                    <a:lstStyle/>
                    <a:p>
                      <a:r>
                        <a:rPr sz="1725" b="0">
                          <a:solidFill>
                            <a:srgbClr val="17324D"/>
                          </a:solidFill>
                          <a:latin typeface="DejaVu Sans"/>
                          <a:ea typeface="DejaVu Sans"/>
                          <a:cs typeface="DejaVu Sans"/>
                        </a:rPr>
                        <a:t>satisfaction_globale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Moyenne de 4 satisfactions</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Synthétiser les réponses au sondage</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6699714-FF68-420C-94DE-7403F335BB56}"/>
              </a:ext>
            </a:extLst>
          </p:cNvPr>
          <p:cNvSpPr>
            <a:spLocks xmlns:a="http://schemas.openxmlformats.org/drawingml/2006/main" noGrp="1"/>
          </p:cNvSpPr>
          <p:nvPr/>
        </p:nvSpPr>
        <p:spPr>
          <a:xfrm xmlns:a="http://schemas.openxmlformats.org/drawingml/2006/main">
            <a:off x="619125" y="55626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38A84"/>
                </a:solidFill>
                <a:latin typeface="DejaVu Sans"/>
                <a:ea typeface="DejaVu Sans"/>
                <a:cs typeface="DejaVu Sans"/>
              </a:defRPr>
            </a:pPr>
            <a:r>
              <a:rPr sz="2100" b="1">
                <a:solidFill>
                  <a:srgbClr val="138A84"/>
                </a:solidFill>
                <a:latin typeface="DejaVu Sans"/>
                <a:ea typeface="DejaVu Sans"/>
                <a:cs typeface="DejaVu Sans"/>
              </a:rPr>
              <a:t>Exemple : 4 000 / 5 000 = 0,80</a:t>
            </a:r>
          </a:p>
        </p:txBody>
      </p:sp>
      <p:sp>
        <p:nvSpPr>
          <p:cNvPr id="6" name="">
            <a:extLst xmlns:a="http://schemas.openxmlformats.org/drawingml/2006/main">
              <a:ext uri="{FF2B5EF4-FFF2-40B4-BE49-F238E27FC236}">
                <a16:creationId xmlns:a16="http://schemas.microsoft.com/office/drawing/2014/main" id="{4EB92C8A-265F-467A-A05C-765E0FF9FAE1}"/>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Exemple de ratio fictif. Ces indicateurs sont des hypothèses de modélisation, pas une preuve de sous-rémunération.</a:t>
            </a:r>
          </a:p>
        </p:txBody>
      </p:sp>
    </p:spTree>
    <p:extLst>
      <p:ext uri="{BB962C8B-B14F-4D97-AF65-F5344CB8AC3E}">
        <p14:creationId xmlns:p14="http://schemas.microsoft.com/office/powerpoint/2010/main" val="1751048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0B7A20-7019-4E23-A960-4DFF8FCC4F3B}"/>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séparation stratifiée 80 / 20</a:t>
            </a:r>
          </a:p>
        </p:txBody>
      </p:sp>
      <p:sp>
        <p:nvSpPr>
          <p:cNvPr id="2" name="">
            <a:extLst xmlns:a="http://schemas.openxmlformats.org/drawingml/2006/main">
              <a:ext uri="{FF2B5EF4-FFF2-40B4-BE49-F238E27FC236}">
                <a16:creationId xmlns:a16="http://schemas.microsoft.com/office/drawing/2014/main" id="{F82B8022-E922-4831-9426-3455E1C4CD06}"/>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Chaque sous-ensemble conserve environ 16 % de départs</a:t>
            </a:r>
          </a:p>
        </p:txBody>
      </p:sp>
      <p:sp>
        <p:nvSpPr>
          <p:cNvPr id="3" name="">
            <a:extLst xmlns:a="http://schemas.openxmlformats.org/drawingml/2006/main">
              <a:ext uri="{FF2B5EF4-FFF2-40B4-BE49-F238E27FC236}">
                <a16:creationId xmlns:a16="http://schemas.microsoft.com/office/drawing/2014/main" id="{407F1EFB-EAF7-4D72-A833-D3CF825FB04A}"/>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08</a:t>
            </a:r>
          </a:p>
        </p:txBody>
      </p:sp>
      <p:graphicFrame>
        <p:nvGraphicFramePr>
          <p:cNvPr id="12" name=""/>
          <p:cNvGraphicFramePr/>
          <p:nvPr/>
        </p:nvGraphicFramePr>
        <p:xfrm>
          <a:off xmlns:a="http://schemas.openxmlformats.org/drawingml/2006/main" x="590550" y="2028825"/>
          <a:ext xmlns:a="http://schemas.openxmlformats.org/drawingml/2006/main" cx="11010900" cy="2257425"/>
        </p:xfrm>
        <a:graphic xmlns:a="http://schemas.openxmlformats.org/drawingml/2006/main">
          <a:graphicData uri="http://schemas.openxmlformats.org/drawingml/2006/table">
            <a:tbl>
              <a:tblPr firstRow="0" bandRow="0"/>
              <a:tblGrid>
                <a:gridCol w="2981325"/>
                <a:gridCol w="1524000"/>
                <a:gridCol w="1428750"/>
                <a:gridCol w="1619250"/>
                <a:gridCol w="3457575"/>
              </a:tblGrid>
              <a:tr h="752475">
                <a:tc>
                  <a:txBody>
                    <a:bodyPr lIns="114300" tIns="114300" rIns="95250" bIns="76200">
                      <a:noAutofit/>
                    </a:bodyPr>
                    <a:lstStyle/>
                    <a:p>
                      <a:r>
                        <a:rPr sz="1875" b="1">
                          <a:solidFill>
                            <a:srgbClr val="FFFFFF"/>
                          </a:solidFill>
                          <a:latin typeface="DejaVu Sans"/>
                          <a:ea typeface="DejaVu Sans"/>
                          <a:cs typeface="DejaVu Sans"/>
                        </a:rPr>
                        <a:t>Sous-ensemble</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Restés</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Partis</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Total</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Part des départs</a:t>
                      </a:r>
                    </a:p>
                  </a:txBody>
                  <a:tcPr marL="91440" marR="91440" marT="45720" marB="45720" anchor="ctr">
                    <a:solidFill>
                      <a:srgbClr val="102A43"/>
                    </a:solidFill>
                  </a:tcPr>
                </a:tc>
              </a:tr>
              <a:tr h="752475">
                <a:tc>
                  <a:txBody>
                    <a:bodyPr lIns="114300" tIns="114300" rIns="95250" bIns="76200">
                      <a:noAutofit/>
                    </a:bodyPr>
                    <a:lstStyle/>
                    <a:p>
                      <a:r>
                        <a:rPr sz="1875" b="0">
                          <a:solidFill>
                            <a:srgbClr val="17324D"/>
                          </a:solidFill>
                          <a:latin typeface="DejaVu Sans"/>
                          <a:ea typeface="DejaVu Sans"/>
                          <a:cs typeface="DejaVu Sans"/>
                        </a:rPr>
                        <a:t>Entraînement</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986</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190</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1 176</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16,2 %</a:t>
                      </a:r>
                    </a:p>
                  </a:txBody>
                  <a:tcPr marL="91440" marR="91440" marT="45720" marB="45720" anchor="ctr">
                    <a:solidFill>
                      <a:srgbClr val="FFFFFF"/>
                    </a:solidFill>
                  </a:tcPr>
                </a:tc>
              </a:tr>
              <a:tr h="752475">
                <a:tc>
                  <a:txBody>
                    <a:bodyPr lIns="114300" tIns="114300" rIns="95250" bIns="76200">
                      <a:noAutofit/>
                    </a:bodyPr>
                    <a:lstStyle/>
                    <a:p>
                      <a:r>
                        <a:rPr sz="1875" b="0">
                          <a:solidFill>
                            <a:srgbClr val="17324D"/>
                          </a:solidFill>
                          <a:latin typeface="DejaVu Sans"/>
                          <a:ea typeface="DejaVu Sans"/>
                          <a:cs typeface="DejaVu Sans"/>
                        </a:rPr>
                        <a:t>Test final</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247</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47</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294</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16,0 %</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9C34EDC-0A01-4BFC-867F-1C2452624AE1}"/>
              </a:ext>
            </a:extLst>
          </p:cNvPr>
          <p:cNvSpPr>
            <a:spLocks xmlns:a="http://schemas.openxmlformats.org/drawingml/2006/main" noGrp="1"/>
          </p:cNvSpPr>
          <p:nvPr/>
        </p:nvSpPr>
        <p:spPr>
          <a:xfrm xmlns:a="http://schemas.openxmlformats.org/drawingml/2006/main">
            <a:off x="619125" y="46291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Pourquoi stratifier ?</a:t>
            </a:r>
          </a:p>
        </p:txBody>
      </p:sp>
      <p:sp>
        <p:nvSpPr>
          <p:cNvPr id="6" name="">
            <a:extLst xmlns:a="http://schemas.openxmlformats.org/drawingml/2006/main">
              <a:ext uri="{FF2B5EF4-FFF2-40B4-BE49-F238E27FC236}">
                <a16:creationId xmlns:a16="http://schemas.microsoft.com/office/drawing/2014/main" id="{4843805F-941F-488A-BFD1-61C1B589D25B}"/>
              </a:ext>
            </a:extLst>
          </p:cNvPr>
          <p:cNvSpPr>
            <a:spLocks xmlns:a="http://schemas.openxmlformats.org/drawingml/2006/main" noGrp="1"/>
          </p:cNvSpPr>
          <p:nvPr/>
        </p:nvSpPr>
        <p:spPr>
          <a:xfrm xmlns:a="http://schemas.openxmlformats.org/drawingml/2006/main">
            <a:off x="619125" y="50101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Éviter que le hasard déséquilibre fortement les classes entre les sous-ensembles.</a:t>
            </a:r>
          </a:p>
        </p:txBody>
      </p:sp>
      <p:sp>
        <p:nvSpPr>
          <p:cNvPr id="7" name="">
            <a:extLst xmlns:a="http://schemas.openxmlformats.org/drawingml/2006/main">
              <a:ext uri="{FF2B5EF4-FFF2-40B4-BE49-F238E27FC236}">
                <a16:creationId xmlns:a16="http://schemas.microsoft.com/office/drawing/2014/main" id="{12156C4E-0957-4228-A2A9-4DA99FF45A58}"/>
              </a:ext>
            </a:extLst>
          </p:cNvPr>
          <p:cNvSpPr>
            <a:spLocks xmlns:a="http://schemas.openxmlformats.org/drawingml/2006/main" noGrp="1"/>
          </p:cNvSpPr>
          <p:nvPr/>
        </p:nvSpPr>
        <p:spPr>
          <a:xfrm xmlns:a="http://schemas.openxmlformats.org/drawingml/2006/main">
            <a:off x="619125" y="54006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Quel risque sans stratification ?</a:t>
            </a:r>
          </a:p>
        </p:txBody>
      </p:sp>
      <p:sp>
        <p:nvSpPr>
          <p:cNvPr id="8" name="">
            <a:extLst xmlns:a="http://schemas.openxmlformats.org/drawingml/2006/main">
              <a:ext uri="{FF2B5EF4-FFF2-40B4-BE49-F238E27FC236}">
                <a16:creationId xmlns:a16="http://schemas.microsoft.com/office/drawing/2014/main" id="{105594AA-57CF-49DA-86AA-AAFFEDB06E12}"/>
              </a:ext>
            </a:extLst>
          </p:cNvPr>
          <p:cNvSpPr>
            <a:spLocks xmlns:a="http://schemas.openxmlformats.org/drawingml/2006/main" noGrp="1"/>
          </p:cNvSpPr>
          <p:nvPr/>
        </p:nvSpPr>
        <p:spPr>
          <a:xfrm xmlns:a="http://schemas.openxmlformats.org/drawingml/2006/main">
            <a:off x="619125" y="57816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Des scores moins comparables, surtout si les groupes ou la classe minoritaire sont petits.</a:t>
            </a:r>
          </a:p>
        </p:txBody>
      </p:sp>
    </p:spTree>
    <p:extLst>
      <p:ext uri="{BB962C8B-B14F-4D97-AF65-F5344CB8AC3E}">
        <p14:creationId xmlns:p14="http://schemas.microsoft.com/office/powerpoint/2010/main" val="12112646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682A91-E229-401D-9F8A-EBB2ED03CD49}"/>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validation croisée stratifiée</a:t>
            </a:r>
          </a:p>
        </p:txBody>
      </p:sp>
      <p:sp>
        <p:nvSpPr>
          <p:cNvPr id="2" name="">
            <a:extLst xmlns:a="http://schemas.openxmlformats.org/drawingml/2006/main">
              <a:ext uri="{FF2B5EF4-FFF2-40B4-BE49-F238E27FC236}">
                <a16:creationId xmlns:a16="http://schemas.microsoft.com/office/drawing/2014/main" id="{C6DFBAD3-563D-4D8F-B09E-D8BC4B980645}"/>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Cinq entraînements pour limiter la dépendance à un seul découpage</a:t>
            </a:r>
          </a:p>
        </p:txBody>
      </p:sp>
      <p:sp>
        <p:nvSpPr>
          <p:cNvPr id="3" name="">
            <a:extLst xmlns:a="http://schemas.openxmlformats.org/drawingml/2006/main">
              <a:ext uri="{FF2B5EF4-FFF2-40B4-BE49-F238E27FC236}">
                <a16:creationId xmlns:a16="http://schemas.microsoft.com/office/drawing/2014/main" id="{D4A11650-B51C-41EA-9B2A-BA526132DBA1}"/>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09</a:t>
            </a:r>
          </a:p>
        </p:txBody>
      </p:sp>
      <p:graphicFrame>
        <p:nvGraphicFramePr>
          <p:cNvPr id="10" name=""/>
          <p:cNvGraphicFramePr/>
          <p:nvPr/>
        </p:nvGraphicFramePr>
        <p:xfrm>
          <a:off xmlns:a="http://schemas.openxmlformats.org/drawingml/2006/main" x="619125" y="2076450"/>
          <a:ext xmlns:a="http://schemas.openxmlformats.org/drawingml/2006/main" cx="10953750" cy="2971800"/>
        </p:xfrm>
        <a:graphic xmlns:a="http://schemas.openxmlformats.org/drawingml/2006/main">
          <a:graphicData uri="http://schemas.openxmlformats.org/drawingml/2006/table">
            <a:tbl>
              <a:tblPr firstRow="0" bandRow="0"/>
              <a:tblGrid>
                <a:gridCol w="857250"/>
                <a:gridCol w="2019300"/>
                <a:gridCol w="2019300"/>
                <a:gridCol w="2019300"/>
                <a:gridCol w="2019300"/>
                <a:gridCol w="2019300"/>
              </a:tblGrid>
              <a:tr h="495300">
                <a:tc>
                  <a:txBody>
                    <a:bodyPr lIns="114300" tIns="114300" rIns="95250" bIns="76200">
                      <a:noAutofit/>
                    </a:bodyPr>
                    <a:lstStyle/>
                    <a:p>
                      <a:r>
                        <a:rPr sz="1500" b="1">
                          <a:solidFill>
                            <a:srgbClr val="FFFFFF"/>
                          </a:solidFill>
                          <a:latin typeface="DejaVu Sans"/>
                          <a:ea typeface="DejaVu Sans"/>
                          <a:cs typeface="DejaVu Sans"/>
                        </a:rPr>
                        <a:t>Tour</a:t>
                      </a:r>
                    </a:p>
                  </a:txBody>
                  <a:tcPr marL="91440" marR="91440" marT="45720" marB="45720" anchor="ctr">
                    <a:solidFill>
                      <a:srgbClr val="102A43"/>
                    </a:solidFill>
                  </a:tcPr>
                </a:tc>
                <a:tc>
                  <a:txBody>
                    <a:bodyPr lIns="114300" tIns="114300" rIns="95250" bIns="76200">
                      <a:noAutofit/>
                    </a:bodyPr>
                    <a:lstStyle/>
                    <a:p>
                      <a:r>
                        <a:rPr sz="1500" b="1">
                          <a:solidFill>
                            <a:srgbClr val="FFFFFF"/>
                          </a:solidFill>
                          <a:latin typeface="DejaVu Sans"/>
                          <a:ea typeface="DejaVu Sans"/>
                          <a:cs typeface="DejaVu Sans"/>
                        </a:rPr>
                        <a:t>Bloc 1</a:t>
                      </a:r>
                    </a:p>
                  </a:txBody>
                  <a:tcPr marL="91440" marR="91440" marT="45720" marB="45720" anchor="ctr">
                    <a:solidFill>
                      <a:srgbClr val="102A43"/>
                    </a:solidFill>
                  </a:tcPr>
                </a:tc>
                <a:tc>
                  <a:txBody>
                    <a:bodyPr lIns="114300" tIns="114300" rIns="95250" bIns="76200">
                      <a:noAutofit/>
                    </a:bodyPr>
                    <a:lstStyle/>
                    <a:p>
                      <a:r>
                        <a:rPr sz="1500" b="1">
                          <a:solidFill>
                            <a:srgbClr val="FFFFFF"/>
                          </a:solidFill>
                          <a:latin typeface="DejaVu Sans"/>
                          <a:ea typeface="DejaVu Sans"/>
                          <a:cs typeface="DejaVu Sans"/>
                        </a:rPr>
                        <a:t>Bloc 2</a:t>
                      </a:r>
                    </a:p>
                  </a:txBody>
                  <a:tcPr marL="91440" marR="91440" marT="45720" marB="45720" anchor="ctr">
                    <a:solidFill>
                      <a:srgbClr val="102A43"/>
                    </a:solidFill>
                  </a:tcPr>
                </a:tc>
                <a:tc>
                  <a:txBody>
                    <a:bodyPr lIns="114300" tIns="114300" rIns="95250" bIns="76200">
                      <a:noAutofit/>
                    </a:bodyPr>
                    <a:lstStyle/>
                    <a:p>
                      <a:r>
                        <a:rPr sz="1500" b="1">
                          <a:solidFill>
                            <a:srgbClr val="FFFFFF"/>
                          </a:solidFill>
                          <a:latin typeface="DejaVu Sans"/>
                          <a:ea typeface="DejaVu Sans"/>
                          <a:cs typeface="DejaVu Sans"/>
                        </a:rPr>
                        <a:t>Bloc 3</a:t>
                      </a:r>
                    </a:p>
                  </a:txBody>
                  <a:tcPr marL="91440" marR="91440" marT="45720" marB="45720" anchor="ctr">
                    <a:solidFill>
                      <a:srgbClr val="102A43"/>
                    </a:solidFill>
                  </a:tcPr>
                </a:tc>
                <a:tc>
                  <a:txBody>
                    <a:bodyPr lIns="114300" tIns="114300" rIns="95250" bIns="76200">
                      <a:noAutofit/>
                    </a:bodyPr>
                    <a:lstStyle/>
                    <a:p>
                      <a:r>
                        <a:rPr sz="1500" b="1">
                          <a:solidFill>
                            <a:srgbClr val="FFFFFF"/>
                          </a:solidFill>
                          <a:latin typeface="DejaVu Sans"/>
                          <a:ea typeface="DejaVu Sans"/>
                          <a:cs typeface="DejaVu Sans"/>
                        </a:rPr>
                        <a:t>Bloc 4</a:t>
                      </a:r>
                    </a:p>
                  </a:txBody>
                  <a:tcPr marL="91440" marR="91440" marT="45720" marB="45720" anchor="ctr">
                    <a:solidFill>
                      <a:srgbClr val="102A43"/>
                    </a:solidFill>
                  </a:tcPr>
                </a:tc>
                <a:tc>
                  <a:txBody>
                    <a:bodyPr lIns="114300" tIns="114300" rIns="95250" bIns="76200">
                      <a:noAutofit/>
                    </a:bodyPr>
                    <a:lstStyle/>
                    <a:p>
                      <a:r>
                        <a:rPr sz="1500" b="1">
                          <a:solidFill>
                            <a:srgbClr val="FFFFFF"/>
                          </a:solidFill>
                          <a:latin typeface="DejaVu Sans"/>
                          <a:ea typeface="DejaVu Sans"/>
                          <a:cs typeface="DejaVu Sans"/>
                        </a:rPr>
                        <a:t>Bloc 5</a:t>
                      </a:r>
                    </a:p>
                  </a:txBody>
                  <a:tcPr marL="91440" marR="91440" marT="45720" marB="45720" anchor="ctr">
                    <a:solidFill>
                      <a:srgbClr val="102A43"/>
                    </a:solidFill>
                  </a:tcPr>
                </a:tc>
              </a:tr>
              <a:tr h="495300">
                <a:tc>
                  <a:txBody>
                    <a:bodyPr lIns="114300" tIns="114300" rIns="95250" bIns="76200">
                      <a:noAutofit/>
                    </a:bodyPr>
                    <a:lstStyle/>
                    <a:p>
                      <a:r>
                        <a:rPr sz="1500" b="0">
                          <a:solidFill>
                            <a:srgbClr val="17324D"/>
                          </a:solidFill>
                          <a:latin typeface="DejaVu Sans"/>
                          <a:ea typeface="DejaVu Sans"/>
                          <a:cs typeface="DejaVu Sans"/>
                        </a:rPr>
                        <a:t>1</a:t>
                      </a:r>
                    </a:p>
                  </a:txBody>
                  <a:tcPr marL="91440" marR="91440" marT="45720" marB="45720" anchor="ctr">
                    <a:solidFill>
                      <a:srgbClr val="FFFFFF"/>
                    </a:solidFill>
                  </a:tcPr>
                </a:tc>
                <a:tc>
                  <a:txBody>
                    <a:bodyPr lIns="114300" tIns="114300" rIns="95250" bIns="76200">
                      <a:noAutofit/>
                    </a:bodyPr>
                    <a:lstStyle/>
                    <a:p>
                      <a:r>
                        <a:rPr sz="1650" b="1">
                          <a:solidFill>
                            <a:srgbClr val="FFFFFF"/>
                          </a:solidFill>
                          <a:latin typeface="DejaVu Sans"/>
                          <a:ea typeface="DejaVu Sans"/>
                          <a:cs typeface="DejaVu Sans"/>
                        </a:rPr>
                        <a:t>Validation</a:t>
                      </a:r>
                    </a:p>
                  </a:txBody>
                  <a:tcPr marL="91440" marR="91440" marT="45720" marB="45720" anchor="ctr">
                    <a:solidFill>
                      <a:srgbClr val="138A84"/>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r>
              <a:tr h="495300">
                <a:tc>
                  <a:txBody>
                    <a:bodyPr lIns="114300" tIns="114300" rIns="95250" bIns="76200">
                      <a:noAutofit/>
                    </a:bodyPr>
                    <a:lstStyle/>
                    <a:p>
                      <a:r>
                        <a:rPr sz="1500" b="0">
                          <a:solidFill>
                            <a:srgbClr val="17324D"/>
                          </a:solidFill>
                          <a:latin typeface="DejaVu Sans"/>
                          <a:ea typeface="DejaVu Sans"/>
                          <a:cs typeface="DejaVu Sans"/>
                        </a:rPr>
                        <a:t>2</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650" b="1">
                          <a:solidFill>
                            <a:srgbClr val="FFFFFF"/>
                          </a:solidFill>
                          <a:latin typeface="DejaVu Sans"/>
                          <a:ea typeface="DejaVu Sans"/>
                          <a:cs typeface="DejaVu Sans"/>
                        </a:rPr>
                        <a:t>Validation</a:t>
                      </a:r>
                    </a:p>
                  </a:txBody>
                  <a:tcPr marL="91440" marR="91440" marT="45720" marB="45720" anchor="ctr">
                    <a:solidFill>
                      <a:srgbClr val="138A84"/>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r>
              <a:tr h="495300">
                <a:tc>
                  <a:txBody>
                    <a:bodyPr lIns="114300" tIns="114300" rIns="95250" bIns="76200">
                      <a:noAutofit/>
                    </a:bodyPr>
                    <a:lstStyle/>
                    <a:p>
                      <a:r>
                        <a:rPr sz="1500" b="0">
                          <a:solidFill>
                            <a:srgbClr val="17324D"/>
                          </a:solidFill>
                          <a:latin typeface="DejaVu Sans"/>
                          <a:ea typeface="DejaVu Sans"/>
                          <a:cs typeface="DejaVu Sans"/>
                        </a:rPr>
                        <a:t>3</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650" b="1">
                          <a:solidFill>
                            <a:srgbClr val="FFFFFF"/>
                          </a:solidFill>
                          <a:latin typeface="DejaVu Sans"/>
                          <a:ea typeface="DejaVu Sans"/>
                          <a:cs typeface="DejaVu Sans"/>
                        </a:rPr>
                        <a:t>Validation</a:t>
                      </a:r>
                    </a:p>
                  </a:txBody>
                  <a:tcPr marL="91440" marR="91440" marT="45720" marB="45720" anchor="ctr">
                    <a:solidFill>
                      <a:srgbClr val="138A84"/>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r>
              <a:tr h="495300">
                <a:tc>
                  <a:txBody>
                    <a:bodyPr lIns="114300" tIns="114300" rIns="95250" bIns="76200">
                      <a:noAutofit/>
                    </a:bodyPr>
                    <a:lstStyle/>
                    <a:p>
                      <a:r>
                        <a:rPr sz="1500" b="0">
                          <a:solidFill>
                            <a:srgbClr val="17324D"/>
                          </a:solidFill>
                          <a:latin typeface="DejaVu Sans"/>
                          <a:ea typeface="DejaVu Sans"/>
                          <a:cs typeface="DejaVu Sans"/>
                        </a:rPr>
                        <a:t>4</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650" b="1">
                          <a:solidFill>
                            <a:srgbClr val="FFFFFF"/>
                          </a:solidFill>
                          <a:latin typeface="DejaVu Sans"/>
                          <a:ea typeface="DejaVu Sans"/>
                          <a:cs typeface="DejaVu Sans"/>
                        </a:rPr>
                        <a:t>Validation</a:t>
                      </a:r>
                    </a:p>
                  </a:txBody>
                  <a:tcPr marL="91440" marR="91440" marT="45720" marB="45720" anchor="ctr">
                    <a:solidFill>
                      <a:srgbClr val="138A84"/>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r>
              <a:tr h="495300">
                <a:tc>
                  <a:txBody>
                    <a:bodyPr lIns="114300" tIns="114300" rIns="95250" bIns="76200">
                      <a:noAutofit/>
                    </a:bodyPr>
                    <a:lstStyle/>
                    <a:p>
                      <a:r>
                        <a:rPr sz="1500" b="0">
                          <a:solidFill>
                            <a:srgbClr val="17324D"/>
                          </a:solidFill>
                          <a:latin typeface="DejaVu Sans"/>
                          <a:ea typeface="DejaVu Sans"/>
                          <a:cs typeface="DejaVu Sans"/>
                        </a:rPr>
                        <a:t>5</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500" b="0">
                          <a:solidFill>
                            <a:srgbClr val="17324D"/>
                          </a:solidFill>
                          <a:latin typeface="DejaVu Sans"/>
                          <a:ea typeface="DejaVu Sans"/>
                          <a:cs typeface="DejaVu Sans"/>
                        </a:rPr>
                        <a:t>Apprentissage</a:t>
                      </a:r>
                    </a:p>
                  </a:txBody>
                  <a:tcPr marL="91440" marR="91440" marT="45720" marB="45720" anchor="ctr">
                    <a:solidFill>
                      <a:srgbClr val="FFFFFF"/>
                    </a:solidFill>
                  </a:tcPr>
                </a:tc>
                <a:tc>
                  <a:txBody>
                    <a:bodyPr lIns="114300" tIns="114300" rIns="95250" bIns="76200">
                      <a:noAutofit/>
                    </a:bodyPr>
                    <a:lstStyle/>
                    <a:p>
                      <a:r>
                        <a:rPr sz="1650" b="1">
                          <a:solidFill>
                            <a:srgbClr val="FFFFFF"/>
                          </a:solidFill>
                          <a:latin typeface="DejaVu Sans"/>
                          <a:ea typeface="DejaVu Sans"/>
                          <a:cs typeface="DejaVu Sans"/>
                        </a:rPr>
                        <a:t>Validation</a:t>
                      </a:r>
                    </a:p>
                  </a:txBody>
                  <a:tcPr marL="91440" marR="91440" marT="45720" marB="45720" anchor="ctr">
                    <a:solidFill>
                      <a:srgbClr val="138A84"/>
                    </a:solidFill>
                  </a:tcPr>
                </a:tc>
              </a:tr>
            </a:tbl>
          </a:graphicData>
        </a:graphic>
      </p:graphicFrame>
      <p:sp>
        <p:nvSpPr>
          <p:cNvPr id="5" name="">
            <a:extLst xmlns:a="http://schemas.openxmlformats.org/drawingml/2006/main">
              <a:ext uri="{FF2B5EF4-FFF2-40B4-BE49-F238E27FC236}">
                <a16:creationId xmlns:a16="http://schemas.microsoft.com/office/drawing/2014/main" id="{BFEB550C-771C-4089-BC2C-BA0914AF5A58}"/>
              </a:ext>
            </a:extLst>
          </p:cNvPr>
          <p:cNvSpPr>
            <a:spLocks xmlns:a="http://schemas.openxmlformats.org/drawingml/2006/main" noGrp="1"/>
          </p:cNvSpPr>
          <p:nvPr/>
        </p:nvSpPr>
        <p:spPr>
          <a:xfrm xmlns:a="http://schemas.openxmlformats.org/drawingml/2006/main">
            <a:off x="628650" y="53721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38A84"/>
                </a:solidFill>
                <a:latin typeface="DejaVu Sans"/>
                <a:ea typeface="DejaVu Sans"/>
                <a:cs typeface="DejaVu Sans"/>
              </a:defRPr>
            </a:pPr>
            <a:r>
              <a:rPr sz="2175" b="1">
                <a:solidFill>
                  <a:srgbClr val="138A84"/>
                </a:solidFill>
                <a:latin typeface="DejaVu Sans"/>
                <a:ea typeface="DejaVu Sans"/>
                <a:cs typeface="DejaVu Sans"/>
              </a:rPr>
              <a:t>Chaque salarié reçoit une prédiction OOF</a:t>
            </a:r>
          </a:p>
        </p:txBody>
      </p:sp>
      <p:sp>
        <p:nvSpPr>
          <p:cNvPr id="6" name="">
            <a:extLst xmlns:a="http://schemas.openxmlformats.org/drawingml/2006/main">
              <a:ext uri="{FF2B5EF4-FFF2-40B4-BE49-F238E27FC236}">
                <a16:creationId xmlns:a16="http://schemas.microsoft.com/office/drawing/2014/main" id="{8F052F1A-39E3-4210-98CB-04B1CA949081}"/>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OOF = Out-Of-Fold : prédiction d’un salarié par un modèle qui ne l’a pas utilisé pour son ajustement.</a:t>
            </a:r>
          </a:p>
        </p:txBody>
      </p:sp>
    </p:spTree>
    <p:extLst>
      <p:ext uri="{BB962C8B-B14F-4D97-AF65-F5344CB8AC3E}">
        <p14:creationId xmlns:p14="http://schemas.microsoft.com/office/powerpoint/2010/main" val="19304510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E1BC27-E985-4A29-9E99-F4FB7200B632}"/>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régression logistique</a:t>
            </a:r>
          </a:p>
        </p:txBody>
      </p:sp>
      <p:sp>
        <p:nvSpPr>
          <p:cNvPr id="2" name="">
            <a:extLst xmlns:a="http://schemas.openxmlformats.org/drawingml/2006/main">
              <a:ext uri="{FF2B5EF4-FFF2-40B4-BE49-F238E27FC236}">
                <a16:creationId xmlns:a16="http://schemas.microsoft.com/office/drawing/2014/main" id="{24FDE70A-49B0-45A3-A411-9A46DD1105DE}"/>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Un score pondéré transformé en probabilité par une sigmoïde</a:t>
            </a:r>
          </a:p>
        </p:txBody>
      </p:sp>
      <p:sp>
        <p:nvSpPr>
          <p:cNvPr id="3" name="">
            <a:extLst xmlns:a="http://schemas.openxmlformats.org/drawingml/2006/main">
              <a:ext uri="{FF2B5EF4-FFF2-40B4-BE49-F238E27FC236}">
                <a16:creationId xmlns:a16="http://schemas.microsoft.com/office/drawing/2014/main" id="{EAB4AF4D-DC0D-4F31-81F4-F15EBA58AACD}"/>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10</a:t>
            </a:r>
          </a:p>
        </p:txBody>
      </p:sp>
      <p:graphicFrame>
        <p:nvGraphicFramePr>
          <p:cNvPr id="15" name="Chart"/>
          <p:cNvGraphicFramePr/>
          <p:nvPr/>
        </p:nvGraphicFramePr>
        <p:xfrm>
          <a:off xmlns:a="http://schemas.openxmlformats.org/drawingml/2006/main" x="495300" y="2066925"/>
          <a:ext xmlns:a="http://schemas.openxmlformats.org/drawingml/2006/main" cx="6400800" cy="3533775"/>
        </p:xfrm>
        <a:graphic xmlns:a="http://schemas.openxmlformats.org/drawingml/2006/main">
          <a:graphicData uri="http://schemas.openxmlformats.org/drawingml/2006/chart">
            <c:chart xmlns:r="http://schemas.openxmlformats.org/officeDocument/2006/relationships" xmlns:c="http://schemas.openxmlformats.org/drawingml/2006/chart" r:id="Ref637b2ced434410"/>
          </a:graphicData>
        </a:graphic>
      </p:graphicFrame>
      <p:sp>
        <p:nvSpPr>
          <p:cNvPr id="5" name="">
            <a:extLst xmlns:a="http://schemas.openxmlformats.org/drawingml/2006/main">
              <a:ext uri="{FF2B5EF4-FFF2-40B4-BE49-F238E27FC236}">
                <a16:creationId xmlns:a16="http://schemas.microsoft.com/office/drawing/2014/main" id="{46042F6B-7938-4E7D-A41C-D41873C26234}"/>
              </a:ext>
            </a:extLst>
          </p:cNvPr>
          <p:cNvSpPr>
            <a:spLocks xmlns:a="http://schemas.openxmlformats.org/drawingml/2006/main" noGrp="1"/>
          </p:cNvSpPr>
          <p:nvPr/>
        </p:nvSpPr>
        <p:spPr>
          <a:xfrm xmlns:a="http://schemas.openxmlformats.org/drawingml/2006/main">
            <a:off x="7419975" y="2124075"/>
            <a:ext cx="411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24D"/>
                </a:solidFill>
                <a:latin typeface="DejaVu Sans"/>
                <a:ea typeface="DejaVu Sans"/>
                <a:cs typeface="DejaVu Sans"/>
              </a:defRPr>
            </a:pPr>
            <a:r>
              <a:rPr sz="1800" b="1">
                <a:solidFill>
                  <a:srgbClr val="17324D"/>
                </a:solidFill>
                <a:latin typeface="DejaVu Sans"/>
                <a:ea typeface="DejaVu Sans"/>
                <a:cs typeface="DejaVu Sans"/>
              </a:rPr>
              <a:t>Le calcul</a:t>
            </a:r>
          </a:p>
        </p:txBody>
      </p:sp>
      <p:sp>
        <p:nvSpPr>
          <p:cNvPr id="6" name="">
            <a:extLst xmlns:a="http://schemas.openxmlformats.org/drawingml/2006/main">
              <a:ext uri="{FF2B5EF4-FFF2-40B4-BE49-F238E27FC236}">
                <a16:creationId xmlns:a16="http://schemas.microsoft.com/office/drawing/2014/main" id="{514C2323-C5E7-47DD-83B4-8757A03E8B0E}"/>
              </a:ext>
            </a:extLst>
          </p:cNvPr>
          <p:cNvSpPr>
            <a:spLocks xmlns:a="http://schemas.openxmlformats.org/drawingml/2006/main" noGrp="1"/>
          </p:cNvSpPr>
          <p:nvPr/>
        </p:nvSpPr>
        <p:spPr>
          <a:xfrm xmlns:a="http://schemas.openxmlformats.org/drawingml/2006/main">
            <a:off x="7419975" y="2505075"/>
            <a:ext cx="4114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06677"/>
                </a:solidFill>
                <a:latin typeface="DejaVu Sans"/>
                <a:ea typeface="DejaVu Sans"/>
                <a:cs typeface="DejaVu Sans"/>
              </a:defRPr>
            </a:pPr>
            <a:r>
              <a:rPr sz="1650" b="0">
                <a:solidFill>
                  <a:srgbClr val="506677"/>
                </a:solidFill>
                <a:latin typeface="DejaVu Sans"/>
                <a:ea typeface="DejaVu Sans"/>
                <a:cs typeface="DejaVu Sans"/>
              </a:rPr>
              <a:t>z = constante + somme des variables pondérées</a:t>
            </a:r>
          </a:p>
        </p:txBody>
      </p:sp>
      <p:sp>
        <p:nvSpPr>
          <p:cNvPr id="7" name="">
            <a:extLst xmlns:a="http://schemas.openxmlformats.org/drawingml/2006/main">
              <a:ext uri="{FF2B5EF4-FFF2-40B4-BE49-F238E27FC236}">
                <a16:creationId xmlns:a16="http://schemas.microsoft.com/office/drawing/2014/main" id="{31F11BF9-54DE-4776-AAEC-3FD7522C49C3}"/>
              </a:ext>
            </a:extLst>
          </p:cNvPr>
          <p:cNvSpPr>
            <a:spLocks xmlns:a="http://schemas.openxmlformats.org/drawingml/2006/main" noGrp="1"/>
          </p:cNvSpPr>
          <p:nvPr/>
        </p:nvSpPr>
        <p:spPr>
          <a:xfrm xmlns:a="http://schemas.openxmlformats.org/drawingml/2006/main">
            <a:off x="7419975" y="3219450"/>
            <a:ext cx="411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24D"/>
                </a:solidFill>
                <a:latin typeface="DejaVu Sans"/>
                <a:ea typeface="DejaVu Sans"/>
                <a:cs typeface="DejaVu Sans"/>
              </a:defRPr>
            </a:pPr>
            <a:r>
              <a:rPr sz="1800" b="1">
                <a:solidFill>
                  <a:srgbClr val="17324D"/>
                </a:solidFill>
                <a:latin typeface="DejaVu Sans"/>
                <a:ea typeface="DejaVu Sans"/>
                <a:cs typeface="DejaVu Sans"/>
              </a:rPr>
              <a:t>Le scaling</a:t>
            </a:r>
          </a:p>
        </p:txBody>
      </p:sp>
      <p:sp>
        <p:nvSpPr>
          <p:cNvPr id="8" name="">
            <a:extLst xmlns:a="http://schemas.openxmlformats.org/drawingml/2006/main">
              <a:ext uri="{FF2B5EF4-FFF2-40B4-BE49-F238E27FC236}">
                <a16:creationId xmlns:a16="http://schemas.microsoft.com/office/drawing/2014/main" id="{2BE60789-695F-42B5-A3C2-7A0414D3680B}"/>
              </a:ext>
            </a:extLst>
          </p:cNvPr>
          <p:cNvSpPr>
            <a:spLocks xmlns:a="http://schemas.openxmlformats.org/drawingml/2006/main" noGrp="1"/>
          </p:cNvSpPr>
          <p:nvPr/>
        </p:nvSpPr>
        <p:spPr>
          <a:xfrm xmlns:a="http://schemas.openxmlformats.org/drawingml/2006/main">
            <a:off x="7419975" y="3600450"/>
            <a:ext cx="4114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06677"/>
                </a:solidFill>
                <a:latin typeface="DejaVu Sans"/>
                <a:ea typeface="DejaVu Sans"/>
                <a:cs typeface="DejaVu Sans"/>
              </a:defRPr>
            </a:pPr>
            <a:r>
              <a:rPr sz="1650" b="0">
                <a:solidFill>
                  <a:srgbClr val="506677"/>
                </a:solidFill>
                <a:latin typeface="DejaVu Sans"/>
                <a:ea typeface="DejaVu Sans"/>
                <a:cs typeface="DejaVu Sans"/>
              </a:rPr>
              <a:t>StandardScaler centre et réduit les colonnes.</a:t>
            </a:r>
          </a:p>
        </p:txBody>
      </p:sp>
      <p:sp>
        <p:nvSpPr>
          <p:cNvPr id="9" name="">
            <a:extLst xmlns:a="http://schemas.openxmlformats.org/drawingml/2006/main">
              <a:ext uri="{FF2B5EF4-FFF2-40B4-BE49-F238E27FC236}">
                <a16:creationId xmlns:a16="http://schemas.microsoft.com/office/drawing/2014/main" id="{F0EACC03-B040-4DBC-B438-1DAB5FF8817F}"/>
              </a:ext>
            </a:extLst>
          </p:cNvPr>
          <p:cNvSpPr>
            <a:spLocks xmlns:a="http://schemas.openxmlformats.org/drawingml/2006/main" noGrp="1"/>
          </p:cNvSpPr>
          <p:nvPr/>
        </p:nvSpPr>
        <p:spPr>
          <a:xfrm xmlns:a="http://schemas.openxmlformats.org/drawingml/2006/main">
            <a:off x="7419975" y="4314825"/>
            <a:ext cx="411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24D"/>
                </a:solidFill>
                <a:latin typeface="DejaVu Sans"/>
                <a:ea typeface="DejaVu Sans"/>
                <a:cs typeface="DejaVu Sans"/>
              </a:defRPr>
            </a:pPr>
            <a:r>
              <a:rPr sz="1800" b="1">
                <a:solidFill>
                  <a:srgbClr val="17324D"/>
                </a:solidFill>
                <a:latin typeface="DejaVu Sans"/>
                <a:ea typeface="DejaVu Sans"/>
                <a:cs typeface="DejaVu Sans"/>
              </a:rPr>
              <a:t>L’intérêt</a:t>
            </a:r>
          </a:p>
        </p:txBody>
      </p:sp>
      <p:sp>
        <p:nvSpPr>
          <p:cNvPr id="10" name="">
            <a:extLst xmlns:a="http://schemas.openxmlformats.org/drawingml/2006/main">
              <a:ext uri="{FF2B5EF4-FFF2-40B4-BE49-F238E27FC236}">
                <a16:creationId xmlns:a16="http://schemas.microsoft.com/office/drawing/2014/main" id="{EB8C4AC7-61D8-47C1-8C62-B9CA6F7A60AF}"/>
              </a:ext>
            </a:extLst>
          </p:cNvPr>
          <p:cNvSpPr>
            <a:spLocks xmlns:a="http://schemas.openxmlformats.org/drawingml/2006/main" noGrp="1"/>
          </p:cNvSpPr>
          <p:nvPr/>
        </p:nvSpPr>
        <p:spPr>
          <a:xfrm xmlns:a="http://schemas.openxmlformats.org/drawingml/2006/main">
            <a:off x="7419975" y="4695825"/>
            <a:ext cx="4114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06677"/>
                </a:solidFill>
                <a:latin typeface="DejaVu Sans"/>
                <a:ea typeface="DejaVu Sans"/>
                <a:cs typeface="DejaVu Sans"/>
              </a:defRPr>
            </a:pPr>
            <a:r>
              <a:rPr sz="1650" b="0">
                <a:solidFill>
                  <a:srgbClr val="506677"/>
                </a:solidFill>
                <a:latin typeface="DejaVu Sans"/>
                <a:ea typeface="DejaVu Sans"/>
                <a:cs typeface="DejaVu Sans"/>
              </a:rPr>
              <a:t>Modèle simple et coefficients interprétables.</a:t>
            </a:r>
          </a:p>
        </p:txBody>
      </p:sp>
      <p:sp>
        <p:nvSpPr>
          <p:cNvPr id="11" name="">
            <a:extLst xmlns:a="http://schemas.openxmlformats.org/drawingml/2006/main">
              <a:ext uri="{FF2B5EF4-FFF2-40B4-BE49-F238E27FC236}">
                <a16:creationId xmlns:a16="http://schemas.microsoft.com/office/drawing/2014/main" id="{8626D234-D648-4C21-83E3-DF302A2597A9}"/>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Malgré son nom, la régression logistique réalise ici une classification. Courbe pédagogique de la fonction sigmoïde.</a:t>
            </a:r>
          </a:p>
        </p:txBody>
      </p:sp>
    </p:spTree>
    <p:extLst>
      <p:ext uri="{BB962C8B-B14F-4D97-AF65-F5344CB8AC3E}">
        <p14:creationId xmlns:p14="http://schemas.microsoft.com/office/powerpoint/2010/main" val="11238609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94477F-308C-4AAB-96EA-442194F1B2E9}"/>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Random Forest</a:t>
            </a:r>
          </a:p>
        </p:txBody>
      </p:sp>
      <p:sp>
        <p:nvSpPr>
          <p:cNvPr id="2" name="">
            <a:extLst xmlns:a="http://schemas.openxmlformats.org/drawingml/2006/main">
              <a:ext uri="{FF2B5EF4-FFF2-40B4-BE49-F238E27FC236}">
                <a16:creationId xmlns:a16="http://schemas.microsoft.com/office/drawing/2014/main" id="{1EBA354E-73C1-4747-A6E4-E2FF9E3FCFEA}"/>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Une forêt combine les prédictions de nombreux arbres de décision</a:t>
            </a:r>
          </a:p>
        </p:txBody>
      </p:sp>
      <p:sp>
        <p:nvSpPr>
          <p:cNvPr id="3" name="">
            <a:extLst xmlns:a="http://schemas.openxmlformats.org/drawingml/2006/main">
              <a:ext uri="{FF2B5EF4-FFF2-40B4-BE49-F238E27FC236}">
                <a16:creationId xmlns:a16="http://schemas.microsoft.com/office/drawing/2014/main" id="{8D5CE1E0-658A-40F4-B395-4E9B72CCEDD8}"/>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BCE894E8-9CA5-4234-97AD-90755C48E0B0}"/>
              </a:ext>
            </a:extLst>
          </p:cNvPr>
          <p:cNvSpPr>
            <a:spLocks xmlns:a="http://schemas.openxmlformats.org/drawingml/2006/main" noGrp="1"/>
          </p:cNvSpPr>
          <p:nvPr/>
        </p:nvSpPr>
        <p:spPr>
          <a:xfrm xmlns:a="http://schemas.openxmlformats.org/drawingml/2006/main">
            <a:off x="619125" y="2000250"/>
            <a:ext cx="10829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Un arbre</a:t>
            </a:r>
          </a:p>
        </p:txBody>
      </p:sp>
      <p:sp>
        <p:nvSpPr>
          <p:cNvPr id="5" name="">
            <a:extLst xmlns:a="http://schemas.openxmlformats.org/drawingml/2006/main">
              <a:ext uri="{FF2B5EF4-FFF2-40B4-BE49-F238E27FC236}">
                <a16:creationId xmlns:a16="http://schemas.microsoft.com/office/drawing/2014/main" id="{09783FC0-1D8B-41E5-8C53-83142F712291}"/>
              </a:ext>
            </a:extLst>
          </p:cNvPr>
          <p:cNvSpPr>
            <a:spLocks xmlns:a="http://schemas.openxmlformats.org/drawingml/2006/main" noGrp="1"/>
          </p:cNvSpPr>
          <p:nvPr/>
        </p:nvSpPr>
        <p:spPr>
          <a:xfrm xmlns:a="http://schemas.openxmlformats.org/drawingml/2006/main">
            <a:off x="619125" y="2381250"/>
            <a:ext cx="1082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Il enchaîne des questions sur les variables, puis produit une probabilité dans une feuille.</a:t>
            </a:r>
          </a:p>
        </p:txBody>
      </p:sp>
      <p:sp>
        <p:nvSpPr>
          <p:cNvPr id="6" name="">
            <a:extLst xmlns:a="http://schemas.openxmlformats.org/drawingml/2006/main">
              <a:ext uri="{FF2B5EF4-FFF2-40B4-BE49-F238E27FC236}">
                <a16:creationId xmlns:a16="http://schemas.microsoft.com/office/drawing/2014/main" id="{A2471CCA-A18A-4DF4-BDAB-2CA15B28A832}"/>
              </a:ext>
            </a:extLst>
          </p:cNvPr>
          <p:cNvSpPr>
            <a:spLocks xmlns:a="http://schemas.openxmlformats.org/drawingml/2006/main" noGrp="1"/>
          </p:cNvSpPr>
          <p:nvPr/>
        </p:nvSpPr>
        <p:spPr>
          <a:xfrm xmlns:a="http://schemas.openxmlformats.org/drawingml/2006/main">
            <a:off x="619125" y="2971800"/>
            <a:ext cx="10829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Une forêt</a:t>
            </a:r>
          </a:p>
        </p:txBody>
      </p:sp>
      <p:sp>
        <p:nvSpPr>
          <p:cNvPr id="7" name="">
            <a:extLst xmlns:a="http://schemas.openxmlformats.org/drawingml/2006/main">
              <a:ext uri="{FF2B5EF4-FFF2-40B4-BE49-F238E27FC236}">
                <a16:creationId xmlns:a16="http://schemas.microsoft.com/office/drawing/2014/main" id="{DE357E27-5B7A-48AF-81E4-14FB9D623CC5}"/>
              </a:ext>
            </a:extLst>
          </p:cNvPr>
          <p:cNvSpPr>
            <a:spLocks xmlns:a="http://schemas.openxmlformats.org/drawingml/2006/main" noGrp="1"/>
          </p:cNvSpPr>
          <p:nvPr/>
        </p:nvSpPr>
        <p:spPr>
          <a:xfrm xmlns:a="http://schemas.openxmlformats.org/drawingml/2006/main">
            <a:off x="619125" y="3352800"/>
            <a:ext cx="1082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Chaque arbre apprend sur un échantillon tiré avec remise et teste des variables aléatoires.</a:t>
            </a:r>
          </a:p>
        </p:txBody>
      </p:sp>
      <p:sp>
        <p:nvSpPr>
          <p:cNvPr id="8" name="">
            <a:extLst xmlns:a="http://schemas.openxmlformats.org/drawingml/2006/main">
              <a:ext uri="{FF2B5EF4-FFF2-40B4-BE49-F238E27FC236}">
                <a16:creationId xmlns:a16="http://schemas.microsoft.com/office/drawing/2014/main" id="{79429EED-6E47-4308-8EA4-F4D044312DBA}"/>
              </a:ext>
            </a:extLst>
          </p:cNvPr>
          <p:cNvSpPr>
            <a:spLocks xmlns:a="http://schemas.openxmlformats.org/drawingml/2006/main" noGrp="1"/>
          </p:cNvSpPr>
          <p:nvPr/>
        </p:nvSpPr>
        <p:spPr>
          <a:xfrm xmlns:a="http://schemas.openxmlformats.org/drawingml/2006/main">
            <a:off x="619125" y="3943350"/>
            <a:ext cx="10829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La combinaison</a:t>
            </a:r>
          </a:p>
        </p:txBody>
      </p:sp>
      <p:sp>
        <p:nvSpPr>
          <p:cNvPr id="9" name="">
            <a:extLst xmlns:a="http://schemas.openxmlformats.org/drawingml/2006/main">
              <a:ext uri="{FF2B5EF4-FFF2-40B4-BE49-F238E27FC236}">
                <a16:creationId xmlns:a16="http://schemas.microsoft.com/office/drawing/2014/main" id="{841EAB0C-1976-44A1-AF83-EA1F72E7BDC9}"/>
              </a:ext>
            </a:extLst>
          </p:cNvPr>
          <p:cNvSpPr>
            <a:spLocks xmlns:a="http://schemas.openxmlformats.org/drawingml/2006/main" noGrp="1"/>
          </p:cNvSpPr>
          <p:nvPr/>
        </p:nvSpPr>
        <p:spPr>
          <a:xfrm xmlns:a="http://schemas.openxmlformats.org/drawingml/2006/main">
            <a:off x="619125" y="4324350"/>
            <a:ext cx="1082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La forêt moyenne les probabilités produites par les arbres.</a:t>
            </a:r>
          </a:p>
        </p:txBody>
      </p:sp>
      <p:graphicFrame>
        <p:nvGraphicFramePr>
          <p:cNvPr id="21" name=""/>
          <p:cNvGraphicFramePr/>
          <p:nvPr/>
        </p:nvGraphicFramePr>
        <p:xfrm>
          <a:off xmlns:a="http://schemas.openxmlformats.org/drawingml/2006/main" x="609600" y="4933950"/>
          <a:ext xmlns:a="http://schemas.openxmlformats.org/drawingml/2006/main" cx="10972800" cy="857250"/>
        </p:xfrm>
        <a:graphic xmlns:a="http://schemas.openxmlformats.org/drawingml/2006/main">
          <a:graphicData uri="http://schemas.openxmlformats.org/drawingml/2006/table">
            <a:tbl>
              <a:tblPr firstRow="0" bandRow="0"/>
              <a:tblGrid>
                <a:gridCol w="3524250"/>
                <a:gridCol w="1676400"/>
                <a:gridCol w="1676400"/>
                <a:gridCol w="1676400"/>
                <a:gridCol w="2419350"/>
              </a:tblGrid>
              <a:tr h="428625">
                <a:tc>
                  <a:txBody>
                    <a:bodyPr lIns="114300" tIns="114300" rIns="95250" bIns="76200">
                      <a:noAutofit/>
                    </a:bodyPr>
                    <a:lstStyle/>
                    <a:p>
                      <a:r>
                        <a:rPr sz="1725" b="1">
                          <a:solidFill>
                            <a:srgbClr val="FFFFFF"/>
                          </a:solidFill>
                          <a:latin typeface="DejaVu Sans"/>
                          <a:ea typeface="DejaVu Sans"/>
                          <a:cs typeface="DejaVu Sans"/>
                        </a:rPr>
                        <a:t>Exemple fictif</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Arbre A</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Arbre B</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Arbre C</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Moyenne</a:t>
                      </a:r>
                    </a:p>
                  </a:txBody>
                  <a:tcPr marL="91440" marR="91440" marT="45720" marB="45720" anchor="ctr">
                    <a:solidFill>
                      <a:srgbClr val="102A43"/>
                    </a:solidFill>
                  </a:tcPr>
                </a:tc>
              </a:tr>
              <a:tr h="428625">
                <a:tc>
                  <a:txBody>
                    <a:bodyPr lIns="114300" tIns="114300" rIns="95250" bIns="76200">
                      <a:noAutofit/>
                    </a:bodyPr>
                    <a:lstStyle/>
                    <a:p>
                      <a:r>
                        <a:rPr sz="1725" b="0">
                          <a:solidFill>
                            <a:srgbClr val="17324D"/>
                          </a:solidFill>
                          <a:latin typeface="DejaVu Sans"/>
                          <a:ea typeface="DejaVu Sans"/>
                          <a:cs typeface="DejaVu Sans"/>
                        </a:rPr>
                        <a:t>Probabilité de départ</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20 %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60 %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40 %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40 %</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149B1F66-21F0-4B61-AD61-5022F9020CC3}"/>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class_weight="balanced" donne plus de poids à la classe rare. Aucun StandardScaler n’est nécessaire pour les arbres.</a:t>
            </a:r>
          </a:p>
        </p:txBody>
      </p:sp>
    </p:spTree>
    <p:extLst>
      <p:ext uri="{BB962C8B-B14F-4D97-AF65-F5344CB8AC3E}">
        <p14:creationId xmlns:p14="http://schemas.microsoft.com/office/powerpoint/2010/main" val="20498827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92DA40-0624-4957-A3A7-05FFCDB8E101}"/>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matrice de confusion</a:t>
            </a:r>
          </a:p>
        </p:txBody>
      </p:sp>
      <p:sp>
        <p:nvSpPr>
          <p:cNvPr id="2" name="">
            <a:extLst xmlns:a="http://schemas.openxmlformats.org/drawingml/2006/main">
              <a:ext uri="{FF2B5EF4-FFF2-40B4-BE49-F238E27FC236}">
                <a16:creationId xmlns:a16="http://schemas.microsoft.com/office/drawing/2014/main" id="{263E0CA6-2DAC-4524-ABF8-631530C0478B}"/>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Résultat du test final, au seuil de 22,3 %</a:t>
            </a:r>
          </a:p>
        </p:txBody>
      </p:sp>
      <p:sp>
        <p:nvSpPr>
          <p:cNvPr id="3" name="">
            <a:extLst xmlns:a="http://schemas.openxmlformats.org/drawingml/2006/main">
              <a:ext uri="{FF2B5EF4-FFF2-40B4-BE49-F238E27FC236}">
                <a16:creationId xmlns:a16="http://schemas.microsoft.com/office/drawing/2014/main" id="{03B5F680-B0DE-4929-9D10-00366DDA388B}"/>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12</a:t>
            </a:r>
          </a:p>
        </p:txBody>
      </p:sp>
      <p:graphicFrame>
        <p:nvGraphicFramePr>
          <p:cNvPr id="12" name=""/>
          <p:cNvGraphicFramePr/>
          <p:nvPr/>
        </p:nvGraphicFramePr>
        <p:xfrm>
          <a:off xmlns:a="http://schemas.openxmlformats.org/drawingml/2006/main" x="619125" y="2105025"/>
          <a:ext xmlns:a="http://schemas.openxmlformats.org/drawingml/2006/main" cx="7667625" cy="3238500"/>
        </p:xfrm>
        <a:graphic xmlns:a="http://schemas.openxmlformats.org/drawingml/2006/main">
          <a:graphicData uri="http://schemas.openxmlformats.org/drawingml/2006/table">
            <a:tbl>
              <a:tblPr firstRow="0" bandRow="0"/>
              <a:tblGrid>
                <a:gridCol w="2619375"/>
                <a:gridCol w="2524125"/>
                <a:gridCol w="2524125"/>
              </a:tblGrid>
              <a:tr h="1079500">
                <a:tc>
                  <a:txBody>
                    <a:bodyPr lIns="114300" tIns="114300" rIns="95250" bIns="76200">
                      <a:noAutofit/>
                    </a:bodyPr>
                    <a:lstStyle/>
                    <a:p>
                      <a:r>
                        <a:rPr sz="2175" b="1">
                          <a:solidFill>
                            <a:srgbClr val="FFFFFF"/>
                          </a:solidFill>
                          <a:latin typeface="DejaVu Sans"/>
                          <a:ea typeface="DejaVu Sans"/>
                          <a:cs typeface="DejaVu Sans"/>
                        </a:rPr>
                        <a:t>Réalité / Prédiction</a:t>
                      </a:r>
                    </a:p>
                  </a:txBody>
                  <a:tcPr marL="91440" marR="91440" marT="45720" marB="45720" anchor="ctr">
                    <a:solidFill>
                      <a:srgbClr val="102A43"/>
                    </a:solidFill>
                  </a:tcPr>
                </a:tc>
                <a:tc>
                  <a:txBody>
                    <a:bodyPr lIns="114300" tIns="114300" rIns="95250" bIns="76200">
                      <a:noAutofit/>
                    </a:bodyPr>
                    <a:lstStyle/>
                    <a:p>
                      <a:r>
                        <a:rPr sz="2175" b="1">
                          <a:solidFill>
                            <a:srgbClr val="FFFFFF"/>
                          </a:solidFill>
                          <a:latin typeface="DejaVu Sans"/>
                          <a:ea typeface="DejaVu Sans"/>
                          <a:cs typeface="DejaVu Sans"/>
                        </a:rPr>
                        <a:t>Reste prédit</a:t>
                      </a:r>
                    </a:p>
                  </a:txBody>
                  <a:tcPr marL="91440" marR="91440" marT="45720" marB="45720" anchor="ctr">
                    <a:solidFill>
                      <a:srgbClr val="102A43"/>
                    </a:solidFill>
                  </a:tcPr>
                </a:tc>
                <a:tc>
                  <a:txBody>
                    <a:bodyPr lIns="114300" tIns="114300" rIns="95250" bIns="76200">
                      <a:noAutofit/>
                    </a:bodyPr>
                    <a:lstStyle/>
                    <a:p>
                      <a:r>
                        <a:rPr sz="2175" b="1">
                          <a:solidFill>
                            <a:srgbClr val="FFFFFF"/>
                          </a:solidFill>
                          <a:latin typeface="DejaVu Sans"/>
                          <a:ea typeface="DejaVu Sans"/>
                          <a:cs typeface="DejaVu Sans"/>
                        </a:rPr>
                        <a:t>Départ prédit</a:t>
                      </a:r>
                    </a:p>
                  </a:txBody>
                  <a:tcPr marL="91440" marR="91440" marT="45720" marB="45720" anchor="ctr">
                    <a:solidFill>
                      <a:srgbClr val="102A43"/>
                    </a:solidFill>
                  </a:tcPr>
                </a:tc>
              </a:tr>
              <a:tr h="1079500">
                <a:tc>
                  <a:txBody>
                    <a:bodyPr lIns="114300" tIns="114300" rIns="95250" bIns="76200">
                      <a:noAutofit/>
                    </a:bodyPr>
                    <a:lstStyle/>
                    <a:p>
                      <a:r>
                        <a:rPr sz="2175" b="0">
                          <a:solidFill>
                            <a:srgbClr val="17324D"/>
                          </a:solidFill>
                          <a:latin typeface="DejaVu Sans"/>
                          <a:ea typeface="DejaVu Sans"/>
                          <a:cs typeface="DejaVu Sans"/>
                        </a:rPr>
                        <a:t>Salarié resté</a:t>
                      </a:r>
                    </a:p>
                  </a:txBody>
                  <a:tcPr marL="91440" marR="91440" marT="45720" marB="45720" anchor="ctr">
                    <a:solidFill>
                      <a:srgbClr val="FFFFFF"/>
                    </a:solidFill>
                  </a:tcPr>
                </a:tc>
                <a:tc>
                  <a:txBody>
                    <a:bodyPr lIns="114300" tIns="114300" rIns="95250" bIns="76200">
                      <a:noAutofit/>
                    </a:bodyPr>
                    <a:lstStyle/>
                    <a:p>
                      <a:r>
                        <a:rPr sz="2175" b="0">
                          <a:solidFill>
                            <a:srgbClr val="17324D"/>
                          </a:solidFill>
                          <a:latin typeface="DejaVu Sans"/>
                          <a:ea typeface="DejaVu Sans"/>
                          <a:cs typeface="DejaVu Sans"/>
                        </a:rPr>
                        <a:t>207</a:t>
                      </a:r>
                    </a:p>
                    <a:p>
                      <a:r>
                        <a:rPr sz="2175" b="0">
                          <a:solidFill>
                            <a:srgbClr val="17324D"/>
                          </a:solidFill>
                          <a:latin typeface="DejaVu Sans"/>
                          <a:ea typeface="DejaVu Sans"/>
                          <a:cs typeface="DejaVu Sans"/>
                        </a:rPr>
                        <a:t>Vrais négatifs (VN)</a:t>
                      </a:r>
                    </a:p>
                  </a:txBody>
                  <a:tcPr marL="91440" marR="91440" marT="45720" marB="45720" anchor="ctr">
                    <a:solidFill>
                      <a:srgbClr val="E8F4F2"/>
                    </a:solidFill>
                  </a:tcPr>
                </a:tc>
                <a:tc>
                  <a:txBody>
                    <a:bodyPr lIns="114300" tIns="114300" rIns="95250" bIns="76200">
                      <a:noAutofit/>
                    </a:bodyPr>
                    <a:lstStyle/>
                    <a:p>
                      <a:r>
                        <a:rPr sz="2175" b="0">
                          <a:solidFill>
                            <a:srgbClr val="17324D"/>
                          </a:solidFill>
                          <a:latin typeface="DejaVu Sans"/>
                          <a:ea typeface="DejaVu Sans"/>
                          <a:cs typeface="DejaVu Sans"/>
                        </a:rPr>
                        <a:t>40</a:t>
                      </a:r>
                    </a:p>
                    <a:p>
                      <a:r>
                        <a:rPr sz="2175" b="0">
                          <a:solidFill>
                            <a:srgbClr val="17324D"/>
                          </a:solidFill>
                          <a:latin typeface="DejaVu Sans"/>
                          <a:ea typeface="DejaVu Sans"/>
                          <a:cs typeface="DejaVu Sans"/>
                        </a:rPr>
                        <a:t>Faux positifs (FP)</a:t>
                      </a:r>
                    </a:p>
                  </a:txBody>
                  <a:tcPr marL="91440" marR="91440" marT="45720" marB="45720" anchor="ctr">
                    <a:solidFill>
                      <a:srgbClr val="FCEEEA"/>
                    </a:solidFill>
                  </a:tcPr>
                </a:tc>
              </a:tr>
              <a:tr h="1079500">
                <a:tc>
                  <a:txBody>
                    <a:bodyPr lIns="114300" tIns="114300" rIns="95250" bIns="76200">
                      <a:noAutofit/>
                    </a:bodyPr>
                    <a:lstStyle/>
                    <a:p>
                      <a:r>
                        <a:rPr sz="2175" b="0">
                          <a:solidFill>
                            <a:srgbClr val="17324D"/>
                          </a:solidFill>
                          <a:latin typeface="DejaVu Sans"/>
                          <a:ea typeface="DejaVu Sans"/>
                          <a:cs typeface="DejaVu Sans"/>
                        </a:rPr>
                        <a:t>Salarié parti</a:t>
                      </a:r>
                    </a:p>
                  </a:txBody>
                  <a:tcPr marL="91440" marR="91440" marT="45720" marB="45720" anchor="ctr">
                    <a:solidFill>
                      <a:srgbClr val="FFFFFF"/>
                    </a:solidFill>
                  </a:tcPr>
                </a:tc>
                <a:tc>
                  <a:txBody>
                    <a:bodyPr lIns="114300" tIns="114300" rIns="95250" bIns="76200">
                      <a:noAutofit/>
                    </a:bodyPr>
                    <a:lstStyle/>
                    <a:p>
                      <a:r>
                        <a:rPr sz="2175" b="0">
                          <a:solidFill>
                            <a:srgbClr val="17324D"/>
                          </a:solidFill>
                          <a:latin typeface="DejaVu Sans"/>
                          <a:ea typeface="DejaVu Sans"/>
                          <a:cs typeface="DejaVu Sans"/>
                        </a:rPr>
                        <a:t>18</a:t>
                      </a:r>
                    </a:p>
                    <a:p>
                      <a:r>
                        <a:rPr sz="2175" b="0">
                          <a:solidFill>
                            <a:srgbClr val="17324D"/>
                          </a:solidFill>
                          <a:latin typeface="DejaVu Sans"/>
                          <a:ea typeface="DejaVu Sans"/>
                          <a:cs typeface="DejaVu Sans"/>
                        </a:rPr>
                        <a:t>Faux négatifs (FN)</a:t>
                      </a:r>
                    </a:p>
                  </a:txBody>
                  <a:tcPr marL="91440" marR="91440" marT="45720" marB="45720" anchor="ctr">
                    <a:solidFill>
                      <a:srgbClr val="FCEEEA"/>
                    </a:solidFill>
                  </a:tcPr>
                </a:tc>
                <a:tc>
                  <a:txBody>
                    <a:bodyPr lIns="114300" tIns="114300" rIns="95250" bIns="76200">
                      <a:noAutofit/>
                    </a:bodyPr>
                    <a:lstStyle/>
                    <a:p>
                      <a:r>
                        <a:rPr sz="2175" b="0">
                          <a:solidFill>
                            <a:srgbClr val="17324D"/>
                          </a:solidFill>
                          <a:latin typeface="DejaVu Sans"/>
                          <a:ea typeface="DejaVu Sans"/>
                          <a:cs typeface="DejaVu Sans"/>
                        </a:rPr>
                        <a:t>29</a:t>
                      </a:r>
                    </a:p>
                    <a:p>
                      <a:r>
                        <a:rPr sz="2175" b="0">
                          <a:solidFill>
                            <a:srgbClr val="17324D"/>
                          </a:solidFill>
                          <a:latin typeface="DejaVu Sans"/>
                          <a:ea typeface="DejaVu Sans"/>
                          <a:cs typeface="DejaVu Sans"/>
                        </a:rPr>
                        <a:t>Vrais positifs (VP)</a:t>
                      </a:r>
                    </a:p>
                  </a:txBody>
                  <a:tcPr marL="91440" marR="91440" marT="45720" marB="45720" anchor="ctr">
                    <a:solidFill>
                      <a:srgbClr val="E8F4F2"/>
                    </a:solidFill>
                  </a:tcPr>
                </a:tc>
              </a:tr>
            </a:tbl>
          </a:graphicData>
        </a:graphic>
      </p:graphicFrame>
      <p:sp>
        <p:nvSpPr>
          <p:cNvPr id="5" name="">
            <a:extLst xmlns:a="http://schemas.openxmlformats.org/drawingml/2006/main">
              <a:ext uri="{FF2B5EF4-FFF2-40B4-BE49-F238E27FC236}">
                <a16:creationId xmlns:a16="http://schemas.microsoft.com/office/drawing/2014/main" id="{CE9E2ECD-9513-4821-B7AD-FE473593FA7E}"/>
              </a:ext>
            </a:extLst>
          </p:cNvPr>
          <p:cNvSpPr>
            <a:spLocks xmlns:a="http://schemas.openxmlformats.org/drawingml/2006/main" noGrp="1"/>
          </p:cNvSpPr>
          <p:nvPr/>
        </p:nvSpPr>
        <p:spPr>
          <a:xfrm xmlns:a="http://schemas.openxmlformats.org/drawingml/2006/main">
            <a:off x="8839200" y="2305050"/>
            <a:ext cx="2733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4C"/>
                </a:solidFill>
                <a:latin typeface="DejaVu Sans"/>
                <a:ea typeface="DejaVu Sans"/>
                <a:cs typeface="DejaVu Sans"/>
              </a:defRPr>
            </a:pPr>
            <a:r>
              <a:rPr sz="2400" b="1">
                <a:solidFill>
                  <a:srgbClr val="D95F4C"/>
                </a:solidFill>
                <a:latin typeface="DejaVu Sans"/>
                <a:ea typeface="DejaVu Sans"/>
                <a:cs typeface="DejaVu Sans"/>
              </a:rPr>
              <a:t>40 fausses alertes</a:t>
            </a:r>
          </a:p>
        </p:txBody>
      </p:sp>
      <p:sp>
        <p:nvSpPr>
          <p:cNvPr id="6" name="">
            <a:extLst xmlns:a="http://schemas.openxmlformats.org/drawingml/2006/main">
              <a:ext uri="{FF2B5EF4-FFF2-40B4-BE49-F238E27FC236}">
                <a16:creationId xmlns:a16="http://schemas.microsoft.com/office/drawing/2014/main" id="{DF20C047-6C40-4F38-AF73-1DB0F3F9D201}"/>
              </a:ext>
            </a:extLst>
          </p:cNvPr>
          <p:cNvSpPr>
            <a:spLocks xmlns:a="http://schemas.openxmlformats.org/drawingml/2006/main" noGrp="1"/>
          </p:cNvSpPr>
          <p:nvPr/>
        </p:nvSpPr>
        <p:spPr>
          <a:xfrm xmlns:a="http://schemas.openxmlformats.org/drawingml/2006/main">
            <a:off x="8839200" y="3228975"/>
            <a:ext cx="27336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Le modèle alerte sur un salarié qui est resté.</a:t>
            </a:r>
          </a:p>
        </p:txBody>
      </p:sp>
      <p:sp>
        <p:nvSpPr>
          <p:cNvPr id="7" name="">
            <a:extLst xmlns:a="http://schemas.openxmlformats.org/drawingml/2006/main">
              <a:ext uri="{FF2B5EF4-FFF2-40B4-BE49-F238E27FC236}">
                <a16:creationId xmlns:a16="http://schemas.microsoft.com/office/drawing/2014/main" id="{0DC9442D-01E0-4C64-92AA-93271A611E76}"/>
              </a:ext>
            </a:extLst>
          </p:cNvPr>
          <p:cNvSpPr>
            <a:spLocks xmlns:a="http://schemas.openxmlformats.org/drawingml/2006/main" noGrp="1"/>
          </p:cNvSpPr>
          <p:nvPr/>
        </p:nvSpPr>
        <p:spPr>
          <a:xfrm xmlns:a="http://schemas.openxmlformats.org/drawingml/2006/main">
            <a:off x="8839200" y="4400550"/>
            <a:ext cx="2733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4C"/>
                </a:solidFill>
                <a:latin typeface="DejaVu Sans"/>
                <a:ea typeface="DejaVu Sans"/>
                <a:cs typeface="DejaVu Sans"/>
              </a:defRPr>
            </a:pPr>
            <a:r>
              <a:rPr sz="2400" b="1">
                <a:solidFill>
                  <a:srgbClr val="D95F4C"/>
                </a:solidFill>
                <a:latin typeface="DejaVu Sans"/>
                <a:ea typeface="DejaVu Sans"/>
                <a:cs typeface="DejaVu Sans"/>
              </a:rPr>
              <a:t>18 départs manqués</a:t>
            </a:r>
          </a:p>
        </p:txBody>
      </p:sp>
      <p:sp>
        <p:nvSpPr>
          <p:cNvPr id="8" name="">
            <a:extLst xmlns:a="http://schemas.openxmlformats.org/drawingml/2006/main">
              <a:ext uri="{FF2B5EF4-FFF2-40B4-BE49-F238E27FC236}">
                <a16:creationId xmlns:a16="http://schemas.microsoft.com/office/drawing/2014/main" id="{6584B737-3438-46BD-BA90-C132C6C51F2A}"/>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Lecture : les lignes décrivent la réalité et les colonnes décrivent la prédiction. Total : 294 salariés.</a:t>
            </a:r>
          </a:p>
        </p:txBody>
      </p:sp>
    </p:spTree>
    <p:extLst>
      <p:ext uri="{BB962C8B-B14F-4D97-AF65-F5344CB8AC3E}">
        <p14:creationId xmlns:p14="http://schemas.microsoft.com/office/powerpoint/2010/main" val="7822062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EE14AE-D6A9-4534-B623-3005251A869F}"/>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Précision et rappel</a:t>
            </a:r>
          </a:p>
        </p:txBody>
      </p:sp>
      <p:sp>
        <p:nvSpPr>
          <p:cNvPr id="2" name="">
            <a:extLst xmlns:a="http://schemas.openxmlformats.org/drawingml/2006/main">
              <a:ext uri="{FF2B5EF4-FFF2-40B4-BE49-F238E27FC236}">
                <a16:creationId xmlns:a16="http://schemas.microsoft.com/office/drawing/2014/main" id="{6AF44188-60C2-4FCD-B974-21D43D88E7D9}"/>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Deux questions différentes sur les mêmes prédictions</a:t>
            </a:r>
          </a:p>
        </p:txBody>
      </p:sp>
      <p:sp>
        <p:nvSpPr>
          <p:cNvPr id="3" name="">
            <a:extLst xmlns:a="http://schemas.openxmlformats.org/drawingml/2006/main">
              <a:ext uri="{FF2B5EF4-FFF2-40B4-BE49-F238E27FC236}">
                <a16:creationId xmlns:a16="http://schemas.microsoft.com/office/drawing/2014/main" id="{23391AC4-F4B9-4161-9498-DD3EC922BA29}"/>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5871FA67-0B5F-436A-BBBE-FED028E8E536}"/>
              </a:ext>
            </a:extLst>
          </p:cNvPr>
          <p:cNvSpPr>
            <a:spLocks xmlns:a="http://schemas.openxmlformats.org/drawingml/2006/main" noGrp="1"/>
          </p:cNvSpPr>
          <p:nvPr/>
        </p:nvSpPr>
        <p:spPr>
          <a:xfrm xmlns:a="http://schemas.openxmlformats.org/drawingml/2006/main">
            <a:off x="619125" y="2085975"/>
            <a:ext cx="49244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38A84"/>
                </a:solidFill>
                <a:latin typeface="DejaVu Sans"/>
                <a:ea typeface="DejaVu Sans"/>
                <a:cs typeface="DejaVu Sans"/>
              </a:defRPr>
            </a:pPr>
            <a:r>
              <a:rPr sz="5250" b="1">
                <a:solidFill>
                  <a:srgbClr val="138A84"/>
                </a:solidFill>
                <a:latin typeface="DejaVu Sans"/>
                <a:ea typeface="DejaVu Sans"/>
                <a:cs typeface="DejaVu Sans"/>
              </a:rPr>
              <a:t>42,0 %</a:t>
            </a:r>
          </a:p>
        </p:txBody>
      </p:sp>
      <p:sp>
        <p:nvSpPr>
          <p:cNvPr id="5" name="">
            <a:extLst xmlns:a="http://schemas.openxmlformats.org/drawingml/2006/main">
              <a:ext uri="{FF2B5EF4-FFF2-40B4-BE49-F238E27FC236}">
                <a16:creationId xmlns:a16="http://schemas.microsoft.com/office/drawing/2014/main" id="{F4651626-6699-4634-A138-8086F19FBA70}"/>
              </a:ext>
            </a:extLst>
          </p:cNvPr>
          <p:cNvSpPr>
            <a:spLocks xmlns:a="http://schemas.openxmlformats.org/drawingml/2006/main" noGrp="1"/>
          </p:cNvSpPr>
          <p:nvPr/>
        </p:nvSpPr>
        <p:spPr>
          <a:xfrm xmlns:a="http://schemas.openxmlformats.org/drawingml/2006/main">
            <a:off x="619125" y="3114675"/>
            <a:ext cx="4924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Précision</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Parmi les alertes,</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combien sont justes ?</a:t>
            </a:r>
          </a:p>
        </p:txBody>
      </p:sp>
      <p:sp>
        <p:nvSpPr>
          <p:cNvPr id="6" name="">
            <a:extLst xmlns:a="http://schemas.openxmlformats.org/drawingml/2006/main">
              <a:ext uri="{FF2B5EF4-FFF2-40B4-BE49-F238E27FC236}">
                <a16:creationId xmlns:a16="http://schemas.microsoft.com/office/drawing/2014/main" id="{FD02063C-5AAD-43FD-84D1-306C9CC31280}"/>
              </a:ext>
            </a:extLst>
          </p:cNvPr>
          <p:cNvSpPr>
            <a:spLocks xmlns:a="http://schemas.openxmlformats.org/drawingml/2006/main" noGrp="1"/>
          </p:cNvSpPr>
          <p:nvPr/>
        </p:nvSpPr>
        <p:spPr>
          <a:xfrm xmlns:a="http://schemas.openxmlformats.org/drawingml/2006/main">
            <a:off x="619125" y="4600575"/>
            <a:ext cx="4924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324D"/>
                </a:solidFill>
                <a:latin typeface="DejaVu Sans"/>
                <a:ea typeface="DejaVu Sans"/>
                <a:cs typeface="DejaVu Sans"/>
              </a:defRPr>
            </a:pPr>
            <a:r>
              <a:rPr sz="3000" b="1">
                <a:solidFill>
                  <a:srgbClr val="17324D"/>
                </a:solidFill>
                <a:latin typeface="DejaVu Sans"/>
                <a:ea typeface="DejaVu Sans"/>
                <a:cs typeface="DejaVu Sans"/>
              </a:rPr>
              <a:t>29 / (29 + 40)</a:t>
            </a:r>
          </a:p>
        </p:txBody>
      </p:sp>
      <p:sp>
        <p:nvSpPr>
          <p:cNvPr id="7" name="">
            <a:extLst xmlns:a="http://schemas.openxmlformats.org/drawingml/2006/main">
              <a:ext uri="{FF2B5EF4-FFF2-40B4-BE49-F238E27FC236}">
                <a16:creationId xmlns:a16="http://schemas.microsoft.com/office/drawing/2014/main" id="{28DCF341-D624-46BF-A631-46F284AA2006}"/>
              </a:ext>
            </a:extLst>
          </p:cNvPr>
          <p:cNvSpPr>
            <a:spLocks xmlns:a="http://schemas.openxmlformats.org/drawingml/2006/main" noGrp="1"/>
          </p:cNvSpPr>
          <p:nvPr/>
        </p:nvSpPr>
        <p:spPr>
          <a:xfrm xmlns:a="http://schemas.openxmlformats.org/drawingml/2006/main">
            <a:off x="6581775" y="2085975"/>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D95F4C"/>
                </a:solidFill>
                <a:latin typeface="DejaVu Sans"/>
                <a:ea typeface="DejaVu Sans"/>
                <a:cs typeface="DejaVu Sans"/>
              </a:defRPr>
            </a:pPr>
            <a:r>
              <a:rPr sz="5250" b="1">
                <a:solidFill>
                  <a:srgbClr val="D95F4C"/>
                </a:solidFill>
                <a:latin typeface="DejaVu Sans"/>
                <a:ea typeface="DejaVu Sans"/>
                <a:cs typeface="DejaVu Sans"/>
              </a:rPr>
              <a:t>61,7 %</a:t>
            </a:r>
          </a:p>
        </p:txBody>
      </p:sp>
      <p:sp>
        <p:nvSpPr>
          <p:cNvPr id="8" name="">
            <a:extLst xmlns:a="http://schemas.openxmlformats.org/drawingml/2006/main">
              <a:ext uri="{FF2B5EF4-FFF2-40B4-BE49-F238E27FC236}">
                <a16:creationId xmlns:a16="http://schemas.microsoft.com/office/drawing/2014/main" id="{03600683-0AF3-4E0E-A0D5-C4A05E3CB680}"/>
              </a:ext>
            </a:extLst>
          </p:cNvPr>
          <p:cNvSpPr>
            <a:spLocks xmlns:a="http://schemas.openxmlformats.org/drawingml/2006/main" noGrp="1"/>
          </p:cNvSpPr>
          <p:nvPr/>
        </p:nvSpPr>
        <p:spPr>
          <a:xfrm xmlns:a="http://schemas.openxmlformats.org/drawingml/2006/main">
            <a:off x="6581775" y="311467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Rappel / recall</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Parmi les départs réels,</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combien sont détectés ?</a:t>
            </a:r>
          </a:p>
        </p:txBody>
      </p:sp>
      <p:sp>
        <p:nvSpPr>
          <p:cNvPr id="9" name="">
            <a:extLst xmlns:a="http://schemas.openxmlformats.org/drawingml/2006/main">
              <a:ext uri="{FF2B5EF4-FFF2-40B4-BE49-F238E27FC236}">
                <a16:creationId xmlns:a16="http://schemas.microsoft.com/office/drawing/2014/main" id="{0A41F10C-CC1D-4F96-9745-3CDA87782D77}"/>
              </a:ext>
            </a:extLst>
          </p:cNvPr>
          <p:cNvSpPr>
            <a:spLocks xmlns:a="http://schemas.openxmlformats.org/drawingml/2006/main" noGrp="1"/>
          </p:cNvSpPr>
          <p:nvPr/>
        </p:nvSpPr>
        <p:spPr>
          <a:xfrm xmlns:a="http://schemas.openxmlformats.org/drawingml/2006/main">
            <a:off x="6581775" y="460057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324D"/>
                </a:solidFill>
                <a:latin typeface="DejaVu Sans"/>
                <a:ea typeface="DejaVu Sans"/>
                <a:cs typeface="DejaVu Sans"/>
              </a:defRPr>
            </a:pPr>
            <a:r>
              <a:rPr sz="3000" b="1">
                <a:solidFill>
                  <a:srgbClr val="17324D"/>
                </a:solidFill>
                <a:latin typeface="DejaVu Sans"/>
                <a:ea typeface="DejaVu Sans"/>
                <a:cs typeface="DejaVu Sans"/>
              </a:rPr>
              <a:t>29 / (29 + 18)</a:t>
            </a:r>
          </a:p>
        </p:txBody>
      </p:sp>
      <p:sp>
        <p:nvSpPr>
          <p:cNvPr id="10" name="">
            <a:extLst xmlns:a="http://schemas.openxmlformats.org/drawingml/2006/main">
              <a:ext uri="{FF2B5EF4-FFF2-40B4-BE49-F238E27FC236}">
                <a16:creationId xmlns:a16="http://schemas.microsoft.com/office/drawing/2014/main" id="{14861D33-4F2A-4F5A-9050-E84A47329D51}"/>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Précision = VP / (VP + FP). Rappel = VP / (VP + FN). Ici, la classe positive est « départ ».</a:t>
            </a:r>
          </a:p>
        </p:txBody>
      </p:sp>
    </p:spTree>
    <p:extLst>
      <p:ext uri="{BB962C8B-B14F-4D97-AF65-F5344CB8AC3E}">
        <p14:creationId xmlns:p14="http://schemas.microsoft.com/office/powerpoint/2010/main" val="4628742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2CF712-BACE-4AD4-979A-7CC9B4BE78FD}"/>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F1-score et accuracy</a:t>
            </a:r>
          </a:p>
        </p:txBody>
      </p:sp>
      <p:sp>
        <p:nvSpPr>
          <p:cNvPr id="2" name="">
            <a:extLst xmlns:a="http://schemas.openxmlformats.org/drawingml/2006/main">
              <a:ext uri="{FF2B5EF4-FFF2-40B4-BE49-F238E27FC236}">
                <a16:creationId xmlns:a16="http://schemas.microsoft.com/office/drawing/2014/main" id="{994B2D92-133E-4C69-A87C-24DC9C5CE793}"/>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 F1 équilibre précision et rappel. L’accuracy mesure toutes les réponses correctes.</a:t>
            </a:r>
          </a:p>
        </p:txBody>
      </p:sp>
      <p:sp>
        <p:nvSpPr>
          <p:cNvPr id="3" name="">
            <a:extLst xmlns:a="http://schemas.openxmlformats.org/drawingml/2006/main">
              <a:ext uri="{FF2B5EF4-FFF2-40B4-BE49-F238E27FC236}">
                <a16:creationId xmlns:a16="http://schemas.microsoft.com/office/drawing/2014/main" id="{A5E9C32D-8082-4A9E-9AEC-73BF3651327D}"/>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74698FAF-54BE-41E4-8C27-493256D841B0}"/>
              </a:ext>
            </a:extLst>
          </p:cNvPr>
          <p:cNvSpPr>
            <a:spLocks xmlns:a="http://schemas.openxmlformats.org/drawingml/2006/main" noGrp="1"/>
          </p:cNvSpPr>
          <p:nvPr/>
        </p:nvSpPr>
        <p:spPr>
          <a:xfrm xmlns:a="http://schemas.openxmlformats.org/drawingml/2006/main">
            <a:off x="619125" y="2066925"/>
            <a:ext cx="493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38A84"/>
                </a:solidFill>
                <a:latin typeface="DejaVu Sans"/>
                <a:ea typeface="DejaVu Sans"/>
                <a:cs typeface="DejaVu Sans"/>
              </a:defRPr>
            </a:pPr>
            <a:r>
              <a:rPr sz="5250" b="1">
                <a:solidFill>
                  <a:srgbClr val="138A84"/>
                </a:solidFill>
                <a:latin typeface="DejaVu Sans"/>
                <a:ea typeface="DejaVu Sans"/>
                <a:cs typeface="DejaVu Sans"/>
              </a:rPr>
              <a:t>0,500</a:t>
            </a:r>
          </a:p>
        </p:txBody>
      </p:sp>
      <p:sp>
        <p:nvSpPr>
          <p:cNvPr id="5" name="">
            <a:extLst xmlns:a="http://schemas.openxmlformats.org/drawingml/2006/main">
              <a:ext uri="{FF2B5EF4-FFF2-40B4-BE49-F238E27FC236}">
                <a16:creationId xmlns:a16="http://schemas.microsoft.com/office/drawing/2014/main" id="{EA72AF89-A500-49F9-B781-EA52973BEC35}"/>
              </a:ext>
            </a:extLst>
          </p:cNvPr>
          <p:cNvSpPr>
            <a:spLocks xmlns:a="http://schemas.openxmlformats.org/drawingml/2006/main" noGrp="1"/>
          </p:cNvSpPr>
          <p:nvPr/>
        </p:nvSpPr>
        <p:spPr>
          <a:xfrm xmlns:a="http://schemas.openxmlformats.org/drawingml/2006/main">
            <a:off x="619125" y="3095625"/>
            <a:ext cx="4933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F1-score</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Moyenne harmonique de la précision et du rappel</a:t>
            </a:r>
          </a:p>
        </p:txBody>
      </p:sp>
      <p:sp>
        <p:nvSpPr>
          <p:cNvPr id="6" name="">
            <a:extLst xmlns:a="http://schemas.openxmlformats.org/drawingml/2006/main">
              <a:ext uri="{FF2B5EF4-FFF2-40B4-BE49-F238E27FC236}">
                <a16:creationId xmlns:a16="http://schemas.microsoft.com/office/drawing/2014/main" id="{B1CB2DB3-A18F-45F4-89E9-DA207DB22E89}"/>
              </a:ext>
            </a:extLst>
          </p:cNvPr>
          <p:cNvSpPr>
            <a:spLocks xmlns:a="http://schemas.openxmlformats.org/drawingml/2006/main" noGrp="1"/>
          </p:cNvSpPr>
          <p:nvPr/>
        </p:nvSpPr>
        <p:spPr>
          <a:xfrm xmlns:a="http://schemas.openxmlformats.org/drawingml/2006/main">
            <a:off x="619125" y="4581525"/>
            <a:ext cx="5162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2 × 29 / (2 × 29 + 40 + 18)</a:t>
            </a:r>
          </a:p>
        </p:txBody>
      </p:sp>
      <p:sp>
        <p:nvSpPr>
          <p:cNvPr id="7" name="">
            <a:extLst xmlns:a="http://schemas.openxmlformats.org/drawingml/2006/main">
              <a:ext uri="{FF2B5EF4-FFF2-40B4-BE49-F238E27FC236}">
                <a16:creationId xmlns:a16="http://schemas.microsoft.com/office/drawing/2014/main" id="{CD396AB4-CDBD-409C-B539-F561B598DF8A}"/>
              </a:ext>
            </a:extLst>
          </p:cNvPr>
          <p:cNvSpPr>
            <a:spLocks xmlns:a="http://schemas.openxmlformats.org/drawingml/2006/main" noGrp="1"/>
          </p:cNvSpPr>
          <p:nvPr/>
        </p:nvSpPr>
        <p:spPr>
          <a:xfrm xmlns:a="http://schemas.openxmlformats.org/drawingml/2006/main">
            <a:off x="6610350" y="2066925"/>
            <a:ext cx="49149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324D"/>
                </a:solidFill>
                <a:latin typeface="DejaVu Sans"/>
                <a:ea typeface="DejaVu Sans"/>
                <a:cs typeface="DejaVu Sans"/>
              </a:defRPr>
            </a:pPr>
            <a:r>
              <a:rPr sz="5250" b="1">
                <a:solidFill>
                  <a:srgbClr val="17324D"/>
                </a:solidFill>
                <a:latin typeface="DejaVu Sans"/>
                <a:ea typeface="DejaVu Sans"/>
                <a:cs typeface="DejaVu Sans"/>
              </a:rPr>
              <a:t>80,3 %</a:t>
            </a:r>
          </a:p>
        </p:txBody>
      </p:sp>
      <p:sp>
        <p:nvSpPr>
          <p:cNvPr id="8" name="">
            <a:extLst xmlns:a="http://schemas.openxmlformats.org/drawingml/2006/main">
              <a:ext uri="{FF2B5EF4-FFF2-40B4-BE49-F238E27FC236}">
                <a16:creationId xmlns:a16="http://schemas.microsoft.com/office/drawing/2014/main" id="{5C1CD552-848F-435F-B5C2-4F687480A206}"/>
              </a:ext>
            </a:extLst>
          </p:cNvPr>
          <p:cNvSpPr>
            <a:spLocks xmlns:a="http://schemas.openxmlformats.org/drawingml/2006/main" noGrp="1"/>
          </p:cNvSpPr>
          <p:nvPr/>
        </p:nvSpPr>
        <p:spPr>
          <a:xfrm xmlns:a="http://schemas.openxmlformats.org/drawingml/2006/main">
            <a:off x="6610350" y="3095625"/>
            <a:ext cx="49149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Accuracy / exactitude</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Part de bonnes réponses parmi les 294 salariés</a:t>
            </a:r>
          </a:p>
        </p:txBody>
      </p:sp>
      <p:sp>
        <p:nvSpPr>
          <p:cNvPr id="9" name="">
            <a:extLst xmlns:a="http://schemas.openxmlformats.org/drawingml/2006/main">
              <a:ext uri="{FF2B5EF4-FFF2-40B4-BE49-F238E27FC236}">
                <a16:creationId xmlns:a16="http://schemas.microsoft.com/office/drawing/2014/main" id="{52696FFA-CA1B-4BA9-B696-8F7BF73762B6}"/>
              </a:ext>
            </a:extLst>
          </p:cNvPr>
          <p:cNvSpPr>
            <a:spLocks xmlns:a="http://schemas.openxmlformats.org/drawingml/2006/main" noGrp="1"/>
          </p:cNvSpPr>
          <p:nvPr/>
        </p:nvSpPr>
        <p:spPr>
          <a:xfrm xmlns:a="http://schemas.openxmlformats.org/drawingml/2006/main">
            <a:off x="6610350" y="4581525"/>
            <a:ext cx="4914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24D"/>
                </a:solidFill>
                <a:latin typeface="DejaVu Sans"/>
                <a:ea typeface="DejaVu Sans"/>
                <a:cs typeface="DejaVu Sans"/>
              </a:defRPr>
            </a:pPr>
            <a:r>
              <a:rPr sz="2550" b="1">
                <a:solidFill>
                  <a:srgbClr val="17324D"/>
                </a:solidFill>
                <a:latin typeface="DejaVu Sans"/>
                <a:ea typeface="DejaVu Sans"/>
                <a:cs typeface="DejaVu Sans"/>
              </a:rPr>
              <a:t>(207 + 29) / 294</a:t>
            </a:r>
          </a:p>
        </p:txBody>
      </p:sp>
      <p:sp>
        <p:nvSpPr>
          <p:cNvPr id="10" name="">
            <a:extLst xmlns:a="http://schemas.openxmlformats.org/drawingml/2006/main">
              <a:ext uri="{FF2B5EF4-FFF2-40B4-BE49-F238E27FC236}">
                <a16:creationId xmlns:a16="http://schemas.microsoft.com/office/drawing/2014/main" id="{53B858EF-75A4-41E5-BF69-FDCE0561EC19}"/>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F1 = 2 × précision × rappel / (précision + rappel). Il ne prend pas directement les vrais négatifs en compte.</a:t>
            </a:r>
          </a:p>
        </p:txBody>
      </p:sp>
    </p:spTree>
    <p:extLst>
      <p:ext uri="{BB962C8B-B14F-4D97-AF65-F5344CB8AC3E}">
        <p14:creationId xmlns:p14="http://schemas.microsoft.com/office/powerpoint/2010/main" val="19079476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7374EC-DBA6-46FA-B8E5-47C1F8B7D1ED}"/>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courbe ROC et l’AUC</a:t>
            </a:r>
          </a:p>
        </p:txBody>
      </p:sp>
      <p:sp>
        <p:nvSpPr>
          <p:cNvPr id="2" name="">
            <a:extLst xmlns:a="http://schemas.openxmlformats.org/drawingml/2006/main">
              <a:ext uri="{FF2B5EF4-FFF2-40B4-BE49-F238E27FC236}">
                <a16:creationId xmlns:a16="http://schemas.microsoft.com/office/drawing/2014/main" id="{D7ED471D-F459-447B-96AF-9A6A42DFCB6E}"/>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La capacité du modèle à classer les départs au-dessus des non-départs</a:t>
            </a:r>
          </a:p>
        </p:txBody>
      </p:sp>
      <p:sp>
        <p:nvSpPr>
          <p:cNvPr id="3" name="">
            <a:extLst xmlns:a="http://schemas.openxmlformats.org/drawingml/2006/main">
              <a:ext uri="{FF2B5EF4-FFF2-40B4-BE49-F238E27FC236}">
                <a16:creationId xmlns:a16="http://schemas.microsoft.com/office/drawing/2014/main" id="{65E2111D-1632-4C6D-AABA-9F6F13B3A6E2}"/>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15</a:t>
            </a:r>
          </a:p>
        </p:txBody>
      </p:sp>
      <p:graphicFrame>
        <p:nvGraphicFramePr>
          <p:cNvPr id="12" name="Chart"/>
          <p:cNvGraphicFramePr/>
          <p:nvPr/>
        </p:nvGraphicFramePr>
        <p:xfrm>
          <a:off xmlns:a="http://schemas.openxmlformats.org/drawingml/2006/main" x="447675" y="1971675"/>
          <a:ext xmlns:a="http://schemas.openxmlformats.org/drawingml/2006/main" cx="7191375" cy="3895725"/>
        </p:xfrm>
        <a:graphic xmlns:a="http://schemas.openxmlformats.org/drawingml/2006/main">
          <a:graphicData uri="http://schemas.openxmlformats.org/drawingml/2006/chart">
            <c:chart xmlns:r="http://schemas.openxmlformats.org/officeDocument/2006/relationships" xmlns:c="http://schemas.openxmlformats.org/drawingml/2006/chart" r:id="R5820cce83e8740a6"/>
          </a:graphicData>
        </a:graphic>
      </p:graphicFrame>
      <p:sp>
        <p:nvSpPr>
          <p:cNvPr id="5" name="">
            <a:extLst xmlns:a="http://schemas.openxmlformats.org/drawingml/2006/main">
              <a:ext uri="{FF2B5EF4-FFF2-40B4-BE49-F238E27FC236}">
                <a16:creationId xmlns:a16="http://schemas.microsoft.com/office/drawing/2014/main" id="{C32E436A-4230-45DF-8ABC-88D941E73824}"/>
              </a:ext>
            </a:extLst>
          </p:cNvPr>
          <p:cNvSpPr>
            <a:spLocks xmlns:a="http://schemas.openxmlformats.org/drawingml/2006/main" noGrp="1"/>
          </p:cNvSpPr>
          <p:nvPr/>
        </p:nvSpPr>
        <p:spPr>
          <a:xfrm xmlns:a="http://schemas.openxmlformats.org/drawingml/2006/main">
            <a:off x="8048625" y="2171700"/>
            <a:ext cx="34575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38A84"/>
                </a:solidFill>
                <a:latin typeface="DejaVu Sans"/>
                <a:ea typeface="DejaVu Sans"/>
                <a:cs typeface="DejaVu Sans"/>
              </a:defRPr>
            </a:pPr>
            <a:r>
              <a:rPr sz="5250" b="1">
                <a:solidFill>
                  <a:srgbClr val="138A84"/>
                </a:solidFill>
                <a:latin typeface="DejaVu Sans"/>
                <a:ea typeface="DejaVu Sans"/>
                <a:cs typeface="DejaVu Sans"/>
              </a:rPr>
              <a:t>0,769</a:t>
            </a:r>
          </a:p>
        </p:txBody>
      </p:sp>
      <p:sp>
        <p:nvSpPr>
          <p:cNvPr id="6" name="">
            <a:extLst xmlns:a="http://schemas.openxmlformats.org/drawingml/2006/main">
              <a:ext uri="{FF2B5EF4-FFF2-40B4-BE49-F238E27FC236}">
                <a16:creationId xmlns:a16="http://schemas.microsoft.com/office/drawing/2014/main" id="{948B31A9-CE79-43F3-8FCB-94DD37972B45}"/>
              </a:ext>
            </a:extLst>
          </p:cNvPr>
          <p:cNvSpPr>
            <a:spLocks xmlns:a="http://schemas.openxmlformats.org/drawingml/2006/main" noGrp="1"/>
          </p:cNvSpPr>
          <p:nvPr/>
        </p:nvSpPr>
        <p:spPr>
          <a:xfrm xmlns:a="http://schemas.openxmlformats.org/drawingml/2006/main">
            <a:off x="8048625" y="3200400"/>
            <a:ext cx="34575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ROC-AUC</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sur le test final</a:t>
            </a:r>
          </a:p>
        </p:txBody>
      </p:sp>
      <p:sp>
        <p:nvSpPr>
          <p:cNvPr id="7" name="">
            <a:extLst xmlns:a="http://schemas.openxmlformats.org/drawingml/2006/main">
              <a:ext uri="{FF2B5EF4-FFF2-40B4-BE49-F238E27FC236}">
                <a16:creationId xmlns:a16="http://schemas.microsoft.com/office/drawing/2014/main" id="{DDBC7201-F505-4845-B054-E4134ED21FBE}"/>
              </a:ext>
            </a:extLst>
          </p:cNvPr>
          <p:cNvSpPr>
            <a:spLocks xmlns:a="http://schemas.openxmlformats.org/drawingml/2006/main" noGrp="1"/>
          </p:cNvSpPr>
          <p:nvPr/>
        </p:nvSpPr>
        <p:spPr>
          <a:xfrm xmlns:a="http://schemas.openxmlformats.org/drawingml/2006/main">
            <a:off x="8048625" y="4371975"/>
            <a:ext cx="34575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24D"/>
                </a:solidFill>
                <a:latin typeface="DejaVu Sans"/>
                <a:ea typeface="DejaVu Sans"/>
                <a:cs typeface="DejaVu Sans"/>
              </a:defRPr>
            </a:pPr>
            <a:r>
              <a:rPr sz="1800" b="0">
                <a:solidFill>
                  <a:srgbClr val="17324D"/>
                </a:solidFill>
                <a:latin typeface="DejaVu Sans"/>
                <a:ea typeface="DejaVu Sans"/>
                <a:cs typeface="DejaVu Sans"/>
              </a:rPr>
              <a:t>0,5 : classement aléatoire</a:t>
            </a:r>
          </a:p>
          <a:p xmlns:a="http://schemas.openxmlformats.org/drawingml/2006/main">
            <a:pPr algn="l">
              <a:defRPr sz="1800" b="0">
                <a:solidFill>
                  <a:srgbClr val="17324D"/>
                </a:solidFill>
                <a:latin typeface="DejaVu Sans"/>
                <a:ea typeface="DejaVu Sans"/>
                <a:cs typeface="DejaVu Sans"/>
              </a:defRPr>
            </a:pPr>
            <a:r>
              <a:rPr sz="1800" b="0">
                <a:solidFill>
                  <a:srgbClr val="17324D"/>
                </a:solidFill>
                <a:latin typeface="DejaVu Sans"/>
                <a:ea typeface="DejaVu Sans"/>
                <a:cs typeface="DejaVu Sans"/>
              </a:rPr>
              <a:t>1,0 : classement parfait</a:t>
            </a:r>
          </a:p>
        </p:txBody>
      </p:sp>
      <p:sp>
        <p:nvSpPr>
          <p:cNvPr id="8" name="">
            <a:extLst xmlns:a="http://schemas.openxmlformats.org/drawingml/2006/main">
              <a:ext uri="{FF2B5EF4-FFF2-40B4-BE49-F238E27FC236}">
                <a16:creationId xmlns:a16="http://schemas.microsoft.com/office/drawing/2014/main" id="{C9E1DE3F-6F26-4DE7-9FFE-700A2D54C905}"/>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L’AUC résume la courbe sur tous les seuils. Ce n’est ni une accuracy ni le pourcentage de départs détectés.</a:t>
            </a:r>
          </a:p>
        </p:txBody>
      </p:sp>
    </p:spTree>
    <p:extLst>
      <p:ext uri="{BB962C8B-B14F-4D97-AF65-F5344CB8AC3E}">
        <p14:creationId xmlns:p14="http://schemas.microsoft.com/office/powerpoint/2010/main" val="283529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376D24-39A2-4535-A718-02B58F399440}"/>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comparaison initiale des modèles</a:t>
            </a:r>
          </a:p>
        </p:txBody>
      </p:sp>
      <p:sp>
        <p:nvSpPr>
          <p:cNvPr id="2" name="">
            <a:extLst xmlns:a="http://schemas.openxmlformats.org/drawingml/2006/main">
              <a:ext uri="{FF2B5EF4-FFF2-40B4-BE49-F238E27FC236}">
                <a16:creationId xmlns:a16="http://schemas.microsoft.com/office/drawing/2014/main" id="{23795958-CFF9-4AC8-A030-1270A8F47DE2}"/>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Moyennes sur les 5 folds d’entraînement, avant optimisation du Random Forest</a:t>
            </a:r>
          </a:p>
        </p:txBody>
      </p:sp>
      <p:sp>
        <p:nvSpPr>
          <p:cNvPr id="3" name="">
            <a:extLst xmlns:a="http://schemas.openxmlformats.org/drawingml/2006/main">
              <a:ext uri="{FF2B5EF4-FFF2-40B4-BE49-F238E27FC236}">
                <a16:creationId xmlns:a16="http://schemas.microsoft.com/office/drawing/2014/main" id="{35AC37C7-CA8A-4B67-B9A8-C14CAA575116}"/>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16</a:t>
            </a:r>
          </a:p>
        </p:txBody>
      </p:sp>
      <p:graphicFrame>
        <p:nvGraphicFramePr>
          <p:cNvPr id="10" name=""/>
          <p:cNvGraphicFramePr/>
          <p:nvPr/>
        </p:nvGraphicFramePr>
        <p:xfrm>
          <a:off xmlns:a="http://schemas.openxmlformats.org/drawingml/2006/main" x="590550" y="2028825"/>
          <a:ext xmlns:a="http://schemas.openxmlformats.org/drawingml/2006/main" cx="11010900" cy="2686050"/>
        </p:xfrm>
        <a:graphic xmlns:a="http://schemas.openxmlformats.org/drawingml/2006/main">
          <a:graphicData uri="http://schemas.openxmlformats.org/drawingml/2006/table">
            <a:tbl>
              <a:tblPr firstRow="0" bandRow="0"/>
              <a:tblGrid>
                <a:gridCol w="2914650"/>
                <a:gridCol w="1619250"/>
                <a:gridCol w="1619250"/>
                <a:gridCol w="1619250"/>
                <a:gridCol w="1619250"/>
                <a:gridCol w="1619250"/>
              </a:tblGrid>
              <a:tr h="671513">
                <a:tc>
                  <a:txBody>
                    <a:bodyPr lIns="114300" tIns="114300" rIns="95250" bIns="76200">
                      <a:noAutofit/>
                    </a:bodyPr>
                    <a:lstStyle/>
                    <a:p>
                      <a:r>
                        <a:rPr sz="1875" b="1">
                          <a:solidFill>
                            <a:srgbClr val="FFFFFF"/>
                          </a:solidFill>
                          <a:latin typeface="DejaVu Sans"/>
                          <a:ea typeface="DejaVu Sans"/>
                          <a:cs typeface="DejaVu Sans"/>
                        </a:rPr>
                        <a:t>Modèle</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Accuracy</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Précision</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Rappel</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F1</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ROC-AUC</a:t>
                      </a:r>
                    </a:p>
                  </a:txBody>
                  <a:tcPr marL="91440" marR="91440" marT="45720" marB="45720" anchor="ctr">
                    <a:solidFill>
                      <a:srgbClr val="102A43"/>
                    </a:solidFill>
                  </a:tcPr>
                </a:tc>
              </a:tr>
              <a:tr h="671513">
                <a:tc>
                  <a:txBody>
                    <a:bodyPr lIns="114300" tIns="114300" rIns="95250" bIns="76200">
                      <a:noAutofit/>
                    </a:bodyPr>
                    <a:lstStyle/>
                    <a:p>
                      <a:r>
                        <a:rPr sz="1875" b="0">
                          <a:solidFill>
                            <a:srgbClr val="17324D"/>
                          </a:solidFill>
                          <a:latin typeface="DejaVu Sans"/>
                          <a:ea typeface="DejaVu Sans"/>
                          <a:cs typeface="DejaVu Sans"/>
                        </a:rPr>
                        <a:t>Dummy stratifié</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0,7406</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0,1714</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0,1579</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0,1644</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0,5054</a:t>
                      </a:r>
                    </a:p>
                  </a:txBody>
                  <a:tcPr marL="91440" marR="91440" marT="45720" marB="45720" anchor="ctr">
                    <a:solidFill>
                      <a:srgbClr val="FFFFFF"/>
                    </a:solidFill>
                  </a:tcPr>
                </a:tc>
              </a:tr>
              <a:tr h="671513">
                <a:tc>
                  <a:txBody>
                    <a:bodyPr lIns="114300" tIns="114300" rIns="95250" bIns="76200">
                      <a:noAutofit/>
                    </a:bodyPr>
                    <a:lstStyle/>
                    <a:p>
                      <a:r>
                        <a:rPr sz="1875" b="0">
                          <a:solidFill>
                            <a:srgbClr val="17324D"/>
                          </a:solidFill>
                          <a:latin typeface="DejaVu Sans"/>
                          <a:ea typeface="DejaVu Sans"/>
                          <a:cs typeface="DejaVu Sans"/>
                        </a:rPr>
                        <a:t>Logistique</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0,7576</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0,3786</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0,7368</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0,4968</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0,8279</a:t>
                      </a:r>
                    </a:p>
                  </a:txBody>
                  <a:tcPr marL="91440" marR="91440" marT="45720" marB="45720" anchor="ctr">
                    <a:solidFill>
                      <a:srgbClr val="E8F4F2"/>
                    </a:solidFill>
                  </a:tcPr>
                </a:tc>
              </a:tr>
              <a:tr h="671513">
                <a:tc>
                  <a:txBody>
                    <a:bodyPr lIns="114300" tIns="114300" rIns="95250" bIns="76200">
                      <a:noAutofit/>
                    </a:bodyPr>
                    <a:lstStyle/>
                    <a:p>
                      <a:r>
                        <a:rPr sz="1875" b="0">
                          <a:solidFill>
                            <a:srgbClr val="17324D"/>
                          </a:solidFill>
                          <a:latin typeface="DejaVu Sans"/>
                          <a:ea typeface="DejaVu Sans"/>
                          <a:cs typeface="DejaVu Sans"/>
                        </a:rPr>
                        <a:t>Random Forest</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0,8656</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0,7151</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0,3053</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0,4189</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0,8024</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816AE0-A429-4D7D-9766-617FB6DF6466}"/>
              </a:ext>
            </a:extLst>
          </p:cNvPr>
          <p:cNvSpPr>
            <a:spLocks xmlns:a="http://schemas.openxmlformats.org/drawingml/2006/main" noGrp="1"/>
          </p:cNvSpPr>
          <p:nvPr/>
        </p:nvSpPr>
        <p:spPr>
          <a:xfrm xmlns:a="http://schemas.openxmlformats.org/drawingml/2006/main">
            <a:off x="619125" y="51339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8A84"/>
                </a:solidFill>
                <a:latin typeface="DejaVu Sans"/>
                <a:ea typeface="DejaVu Sans"/>
                <a:cs typeface="DejaVu Sans"/>
              </a:defRPr>
            </a:pPr>
            <a:r>
              <a:rPr sz="2325" b="1">
                <a:solidFill>
                  <a:srgbClr val="138A84"/>
                </a:solidFill>
                <a:latin typeface="DejaVu Sans"/>
                <a:ea typeface="DejaVu Sans"/>
                <a:cs typeface="DejaVu Sans"/>
              </a:rPr>
              <a:t>La logistique détecte davantage de départs</a:t>
            </a:r>
          </a:p>
        </p:txBody>
      </p:sp>
      <p:sp>
        <p:nvSpPr>
          <p:cNvPr id="6" name="">
            <a:extLst xmlns:a="http://schemas.openxmlformats.org/drawingml/2006/main">
              <a:ext uri="{FF2B5EF4-FFF2-40B4-BE49-F238E27FC236}">
                <a16:creationId xmlns:a16="http://schemas.microsoft.com/office/drawing/2014/main" id="{864C2F83-5CF1-4CBC-B783-768072447656}"/>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 Random Forest initial produit des alertes plus précises, mais manque davantage de départs au seuil standard.</a:t>
            </a:r>
          </a:p>
        </p:txBody>
      </p:sp>
    </p:spTree>
    <p:extLst>
      <p:ext uri="{BB962C8B-B14F-4D97-AF65-F5344CB8AC3E}">
        <p14:creationId xmlns:p14="http://schemas.microsoft.com/office/powerpoint/2010/main" val="10493812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876A41-B52C-491C-9F4D-45C7DBEFE1C1}"/>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L’optimisation du Random Forest</a:t>
            </a:r>
          </a:p>
        </p:txBody>
      </p:sp>
      <p:sp>
        <p:nvSpPr>
          <p:cNvPr id="2" name="">
            <a:extLst xmlns:a="http://schemas.openxmlformats.org/drawingml/2006/main">
              <a:ext uri="{FF2B5EF4-FFF2-40B4-BE49-F238E27FC236}">
                <a16:creationId xmlns:a16="http://schemas.microsoft.com/office/drawing/2014/main" id="{33BED992-B70B-4845-AF98-E18286AB4752}"/>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GridSearchCV compare 16 configurations, soit 80 ajustements sur 5 folds</a:t>
            </a:r>
          </a:p>
        </p:txBody>
      </p:sp>
      <p:sp>
        <p:nvSpPr>
          <p:cNvPr id="3" name="">
            <a:extLst xmlns:a="http://schemas.openxmlformats.org/drawingml/2006/main">
              <a:ext uri="{FF2B5EF4-FFF2-40B4-BE49-F238E27FC236}">
                <a16:creationId xmlns:a16="http://schemas.microsoft.com/office/drawing/2014/main" id="{83215201-82DC-4E1D-BD66-98F036C45E04}"/>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17</a:t>
            </a:r>
          </a:p>
        </p:txBody>
      </p:sp>
      <p:graphicFrame>
        <p:nvGraphicFramePr>
          <p:cNvPr id="11" name=""/>
          <p:cNvGraphicFramePr/>
          <p:nvPr/>
        </p:nvGraphicFramePr>
        <p:xfrm>
          <a:off xmlns:a="http://schemas.openxmlformats.org/drawingml/2006/main" x="590550" y="2028825"/>
          <a:ext xmlns:a="http://schemas.openxmlformats.org/drawingml/2006/main" cx="11010900" cy="2857500"/>
        </p:xfrm>
        <a:graphic xmlns:a="http://schemas.openxmlformats.org/drawingml/2006/main">
          <a:graphicData uri="http://schemas.openxmlformats.org/drawingml/2006/table">
            <a:tbl>
              <a:tblPr firstRow="0" bandRow="0"/>
              <a:tblGrid>
                <a:gridCol w="5791200"/>
                <a:gridCol w="2743200"/>
                <a:gridCol w="2476500"/>
              </a:tblGrid>
              <a:tr h="571500">
                <a:tc>
                  <a:txBody>
                    <a:bodyPr lIns="114300" tIns="114300" rIns="95250" bIns="76200">
                      <a:noAutofit/>
                    </a:bodyPr>
                    <a:lstStyle/>
                    <a:p>
                      <a:r>
                        <a:rPr sz="1800" b="1">
                          <a:solidFill>
                            <a:srgbClr val="FFFFFF"/>
                          </a:solidFill>
                          <a:latin typeface="DejaVu Sans"/>
                          <a:ea typeface="DejaVu Sans"/>
                          <a:cs typeface="DejaVu Sans"/>
                        </a:rPr>
                        <a:t>Hyperparamètre</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Valeurs essayées</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Valeur retenue</a:t>
                      </a:r>
                    </a:p>
                  </a:txBody>
                  <a:tcPr marL="91440" marR="91440" marT="45720" marB="45720" anchor="ctr">
                    <a:solidFill>
                      <a:srgbClr val="102A43"/>
                    </a:solidFill>
                  </a:tcPr>
                </a:tc>
              </a:tr>
              <a:tr h="571500">
                <a:tc>
                  <a:txBody>
                    <a:bodyPr lIns="114300" tIns="114300" rIns="95250" bIns="76200">
                      <a:noAutofit/>
                    </a:bodyPr>
                    <a:lstStyle/>
                    <a:p>
                      <a:r>
                        <a:rPr sz="1800" b="0">
                          <a:solidFill>
                            <a:srgbClr val="17324D"/>
                          </a:solidFill>
                          <a:latin typeface="DejaVu Sans"/>
                          <a:ea typeface="DejaVu Sans"/>
                          <a:cs typeface="DejaVu Sans"/>
                        </a:rPr>
                        <a:t>Nombre d’arbres</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200, 300</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300</a:t>
                      </a:r>
                    </a:p>
                  </a:txBody>
                  <a:tcPr marL="91440" marR="91440" marT="45720" marB="45720" anchor="ctr">
                    <a:solidFill>
                      <a:srgbClr val="FFFFFF"/>
                    </a:solidFill>
                  </a:tcPr>
                </a:tc>
              </a:tr>
              <a:tr h="571500">
                <a:tc>
                  <a:txBody>
                    <a:bodyPr lIns="114300" tIns="114300" rIns="95250" bIns="76200">
                      <a:noAutofit/>
                    </a:bodyPr>
                    <a:lstStyle/>
                    <a:p>
                      <a:r>
                        <a:rPr sz="1800" b="0">
                          <a:solidFill>
                            <a:srgbClr val="17324D"/>
                          </a:solidFill>
                          <a:latin typeface="DejaVu Sans"/>
                          <a:ea typeface="DejaVu Sans"/>
                          <a:cs typeface="DejaVu Sans"/>
                        </a:rPr>
                        <a:t>Profondeur maximale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5, 10</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5</a:t>
                      </a:r>
                    </a:p>
                  </a:txBody>
                  <a:tcPr marL="91440" marR="91440" marT="45720" marB="45720" anchor="ctr">
                    <a:solidFill>
                      <a:srgbClr val="FFFFFF"/>
                    </a:solidFill>
                  </a:tcPr>
                </a:tc>
              </a:tr>
              <a:tr h="571500">
                <a:tc>
                  <a:txBody>
                    <a:bodyPr lIns="114300" tIns="114300" rIns="95250" bIns="76200">
                      <a:noAutofit/>
                    </a:bodyPr>
                    <a:lstStyle/>
                    <a:p>
                      <a:r>
                        <a:rPr sz="1800" b="0">
                          <a:solidFill>
                            <a:srgbClr val="17324D"/>
                          </a:solidFill>
                          <a:latin typeface="DejaVu Sans"/>
                          <a:ea typeface="DejaVu Sans"/>
                          <a:cs typeface="DejaVu Sans"/>
                        </a:rPr>
                        <a:t>Minimum pour séparer un nœud</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2, 5</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5</a:t>
                      </a:r>
                    </a:p>
                  </a:txBody>
                  <a:tcPr marL="91440" marR="91440" marT="45720" marB="45720" anchor="ctr">
                    <a:solidFill>
                      <a:srgbClr val="FFFFFF"/>
                    </a:solidFill>
                  </a:tcPr>
                </a:tc>
              </a:tr>
              <a:tr h="571500">
                <a:tc>
                  <a:txBody>
                    <a:bodyPr lIns="114300" tIns="114300" rIns="95250" bIns="76200">
                      <a:noAutofit/>
                    </a:bodyPr>
                    <a:lstStyle/>
                    <a:p>
                      <a:r>
                        <a:rPr sz="1800" b="0">
                          <a:solidFill>
                            <a:srgbClr val="17324D"/>
                          </a:solidFill>
                          <a:latin typeface="DejaVu Sans"/>
                          <a:ea typeface="DejaVu Sans"/>
                          <a:cs typeface="DejaVu Sans"/>
                        </a:rPr>
                        <a:t>Minimum de salariés dans une feuille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1, 2</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2</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1D90EE1-C1B9-4D7E-9B79-9B1A5DC8BDB0}"/>
              </a:ext>
            </a:extLst>
          </p:cNvPr>
          <p:cNvSpPr>
            <a:spLocks xmlns:a="http://schemas.openxmlformats.org/drawingml/2006/main" noGrp="1"/>
          </p:cNvSpPr>
          <p:nvPr/>
        </p:nvSpPr>
        <p:spPr>
          <a:xfrm xmlns:a="http://schemas.openxmlformats.org/drawingml/2006/main">
            <a:off x="619125" y="5238750"/>
            <a:ext cx="6486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38A84"/>
                </a:solidFill>
                <a:latin typeface="DejaVu Sans"/>
                <a:ea typeface="DejaVu Sans"/>
                <a:cs typeface="DejaVu Sans"/>
              </a:defRPr>
            </a:pPr>
            <a:r>
              <a:rPr sz="2550" b="1">
                <a:solidFill>
                  <a:srgbClr val="138A84"/>
                </a:solidFill>
                <a:latin typeface="DejaVu Sans"/>
                <a:ea typeface="DejaVu Sans"/>
                <a:cs typeface="DejaVu Sans"/>
              </a:rPr>
              <a:t>F1 moyen en CV : 0,5048</a:t>
            </a:r>
          </a:p>
        </p:txBody>
      </p:sp>
      <p:sp>
        <p:nvSpPr>
          <p:cNvPr id="6" name="">
            <a:extLst xmlns:a="http://schemas.openxmlformats.org/drawingml/2006/main">
              <a:ext uri="{FF2B5EF4-FFF2-40B4-BE49-F238E27FC236}">
                <a16:creationId xmlns:a16="http://schemas.microsoft.com/office/drawing/2014/main" id="{2B837A3F-D01E-445C-8C1F-B2560653BF95}"/>
              </a:ext>
            </a:extLst>
          </p:cNvPr>
          <p:cNvSpPr>
            <a:spLocks xmlns:a="http://schemas.openxmlformats.org/drawingml/2006/main" noGrp="1"/>
          </p:cNvSpPr>
          <p:nvPr/>
        </p:nvSpPr>
        <p:spPr>
          <a:xfrm xmlns:a="http://schemas.openxmlformats.org/drawingml/2006/main">
            <a:off x="7353300" y="5238750"/>
            <a:ext cx="4181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06677"/>
                </a:solidFill>
                <a:latin typeface="DejaVu Sans"/>
                <a:ea typeface="DejaVu Sans"/>
                <a:cs typeface="DejaVu Sans"/>
              </a:defRPr>
            </a:pPr>
            <a:r>
              <a:rPr sz="1875" b="0">
                <a:solidFill>
                  <a:srgbClr val="506677"/>
                </a:solidFill>
                <a:latin typeface="DejaVu Sans"/>
                <a:ea typeface="DejaVu Sans"/>
                <a:cs typeface="DejaVu Sans"/>
              </a:rPr>
              <a:t>F1 d’apprentissage : 0,7446</a:t>
            </a:r>
          </a:p>
        </p:txBody>
      </p:sp>
      <p:sp>
        <p:nvSpPr>
          <p:cNvPr id="7" name="">
            <a:extLst xmlns:a="http://schemas.openxmlformats.org/drawingml/2006/main">
              <a:ext uri="{FF2B5EF4-FFF2-40B4-BE49-F238E27FC236}">
                <a16:creationId xmlns:a16="http://schemas.microsoft.com/office/drawing/2014/main" id="{8ADCC9A1-25FA-4C14-B05E-B86F12A0C8EE}"/>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L’écart entre apprentissage et validation montre qu’une évaluation sur des données non apprises reste indispensable.</a:t>
            </a:r>
          </a:p>
        </p:txBody>
      </p:sp>
    </p:spTree>
    <p:extLst>
      <p:ext uri="{BB962C8B-B14F-4D97-AF65-F5344CB8AC3E}">
        <p14:creationId xmlns:p14="http://schemas.microsoft.com/office/powerpoint/2010/main" val="19871613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839067-B8D3-4463-A32B-3A2D1F956188}"/>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La calibration des probabilités</a:t>
            </a:r>
          </a:p>
        </p:txBody>
      </p:sp>
      <p:sp>
        <p:nvSpPr>
          <p:cNvPr id="2" name="">
            <a:extLst xmlns:a="http://schemas.openxmlformats.org/drawingml/2006/main">
              <a:ext uri="{FF2B5EF4-FFF2-40B4-BE49-F238E27FC236}">
                <a16:creationId xmlns:a16="http://schemas.microsoft.com/office/drawing/2014/main" id="{E25DE6CC-3AD1-4CB3-B467-308CF2BE1189}"/>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Une probabilité annoncée doit correspondre à une fréquence observée</a:t>
            </a:r>
          </a:p>
        </p:txBody>
      </p:sp>
      <p:sp>
        <p:nvSpPr>
          <p:cNvPr id="3" name="">
            <a:extLst xmlns:a="http://schemas.openxmlformats.org/drawingml/2006/main">
              <a:ext uri="{FF2B5EF4-FFF2-40B4-BE49-F238E27FC236}">
                <a16:creationId xmlns:a16="http://schemas.microsoft.com/office/drawing/2014/main" id="{DBBEDAF2-FCD3-475B-AF0C-8E3E04A95D93}"/>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18</a:t>
            </a:r>
          </a:p>
        </p:txBody>
      </p:sp>
      <p:sp>
        <p:nvSpPr>
          <p:cNvPr id="4" name="">
            <a:extLst xmlns:a="http://schemas.openxmlformats.org/drawingml/2006/main">
              <a:ext uri="{FF2B5EF4-FFF2-40B4-BE49-F238E27FC236}">
                <a16:creationId xmlns:a16="http://schemas.microsoft.com/office/drawing/2014/main" id="{D747FA6C-3ADA-4214-9204-3230A94703AA}"/>
              </a:ext>
            </a:extLst>
          </p:cNvPr>
          <p:cNvSpPr>
            <a:spLocks xmlns:a="http://schemas.openxmlformats.org/drawingml/2006/main" noGrp="1"/>
          </p:cNvSpPr>
          <p:nvPr/>
        </p:nvSpPr>
        <p:spPr>
          <a:xfrm xmlns:a="http://schemas.openxmlformats.org/drawingml/2006/main">
            <a:off x="619125" y="20859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24D"/>
                </a:solidFill>
                <a:latin typeface="DejaVu Sans"/>
                <a:ea typeface="DejaVu Sans"/>
                <a:cs typeface="DejaVu Sans"/>
              </a:defRPr>
            </a:pPr>
            <a:r>
              <a:rPr sz="2550" b="1">
                <a:solidFill>
                  <a:srgbClr val="17324D"/>
                </a:solidFill>
                <a:latin typeface="DejaVu Sans"/>
                <a:ea typeface="DejaVu Sans"/>
                <a:cs typeface="DejaVu Sans"/>
              </a:rPr>
              <a:t>Si 100 salariés reçoivent un score proche de 20 %…</a:t>
            </a:r>
          </a:p>
        </p:txBody>
      </p:sp>
      <p:sp>
        <p:nvSpPr>
          <p:cNvPr id="5" name="">
            <a:extLst xmlns:a="http://schemas.openxmlformats.org/drawingml/2006/main">
              <a:ext uri="{FF2B5EF4-FFF2-40B4-BE49-F238E27FC236}">
                <a16:creationId xmlns:a16="http://schemas.microsoft.com/office/drawing/2014/main" id="{33D12696-38DD-4260-937A-ABD9173BA061}"/>
              </a:ext>
            </a:extLst>
          </p:cNvPr>
          <p:cNvSpPr>
            <a:spLocks xmlns:a="http://schemas.openxmlformats.org/drawingml/2006/main" noGrp="1"/>
          </p:cNvSpPr>
          <p:nvPr/>
        </p:nvSpPr>
        <p:spPr>
          <a:xfrm xmlns:a="http://schemas.openxmlformats.org/drawingml/2006/main">
            <a:off x="619125" y="271462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38A84"/>
                </a:solidFill>
                <a:latin typeface="DejaVu Sans"/>
                <a:ea typeface="DejaVu Sans"/>
                <a:cs typeface="DejaVu Sans"/>
              </a:defRPr>
            </a:pPr>
            <a:r>
              <a:rPr sz="2325" b="0">
                <a:solidFill>
                  <a:srgbClr val="138A84"/>
                </a:solidFill>
                <a:latin typeface="DejaVu Sans"/>
                <a:ea typeface="DejaVu Sans"/>
                <a:cs typeface="DejaVu Sans"/>
              </a:rPr>
              <a:t>…un modèle bien calibré observe environ 20 départs dans ce groupe.</a:t>
            </a:r>
          </a:p>
        </p:txBody>
      </p:sp>
      <p:graphicFrame>
        <p:nvGraphicFramePr>
          <p:cNvPr id="13" name=""/>
          <p:cNvGraphicFramePr/>
          <p:nvPr/>
        </p:nvGraphicFramePr>
        <p:xfrm>
          <a:off xmlns:a="http://schemas.openxmlformats.org/drawingml/2006/main" x="590550" y="3886200"/>
          <a:ext xmlns:a="http://schemas.openxmlformats.org/drawingml/2006/main" cx="11010900" cy="1657350"/>
        </p:xfrm>
        <a:graphic xmlns:a="http://schemas.openxmlformats.org/drawingml/2006/main">
          <a:graphicData uri="http://schemas.openxmlformats.org/drawingml/2006/table">
            <a:tbl>
              <a:tblPr firstRow="0" bandRow="0"/>
              <a:tblGrid>
                <a:gridCol w="2905125"/>
                <a:gridCol w="2095500"/>
                <a:gridCol w="6010275"/>
              </a:tblGrid>
              <a:tr h="552450">
                <a:tc>
                  <a:txBody>
                    <a:bodyPr lIns="114300" tIns="114300" rIns="95250" bIns="76200">
                      <a:noAutofit/>
                    </a:bodyPr>
                    <a:lstStyle/>
                    <a:p>
                      <a:r>
                        <a:rPr sz="1800" b="1">
                          <a:solidFill>
                            <a:srgbClr val="FFFFFF"/>
                          </a:solidFill>
                          <a:latin typeface="DejaVu Sans"/>
                          <a:ea typeface="DejaVu Sans"/>
                          <a:cs typeface="DejaVu Sans"/>
                        </a:rPr>
                        <a:t>Mesure sur le test</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Valeur</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Ce qu’elle évalue</a:t>
                      </a:r>
                    </a:p>
                  </a:txBody>
                  <a:tcPr marL="91440" marR="91440" marT="45720" marB="45720" anchor="ctr">
                    <a:solidFill>
                      <a:srgbClr val="102A43"/>
                    </a:solidFill>
                  </a:tcPr>
                </a:tc>
              </a:tr>
              <a:tr h="552450">
                <a:tc>
                  <a:txBody>
                    <a:bodyPr lIns="114300" tIns="114300" rIns="95250" bIns="76200">
                      <a:noAutofit/>
                    </a:bodyPr>
                    <a:lstStyle/>
                    <a:p>
                      <a:r>
                        <a:rPr sz="1800" b="0">
                          <a:solidFill>
                            <a:srgbClr val="17324D"/>
                          </a:solidFill>
                          <a:latin typeface="DejaVu Sans"/>
                          <a:ea typeface="DejaVu Sans"/>
                          <a:cs typeface="DejaVu Sans"/>
                        </a:rPr>
                        <a:t>Brier score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0,1226</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Erreur quadratique des probabilités</a:t>
                      </a:r>
                    </a:p>
                  </a:txBody>
                  <a:tcPr marL="91440" marR="91440" marT="45720" marB="45720" anchor="ctr">
                    <a:solidFill>
                      <a:srgbClr val="FFFFFF"/>
                    </a:solidFill>
                  </a:tcPr>
                </a:tc>
              </a:tr>
              <a:tr h="552450">
                <a:tc>
                  <a:txBody>
                    <a:bodyPr lIns="114300" tIns="114300" rIns="95250" bIns="76200">
                      <a:noAutofit/>
                    </a:bodyPr>
                    <a:lstStyle/>
                    <a:p>
                      <a:r>
                        <a:rPr sz="1800" b="0">
                          <a:solidFill>
                            <a:srgbClr val="17324D"/>
                          </a:solidFill>
                          <a:latin typeface="DejaVu Sans"/>
                          <a:ea typeface="DejaVu Sans"/>
                          <a:cs typeface="DejaVu Sans"/>
                        </a:rPr>
                        <a:t>Log Loss</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0,3890</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Pénalisation des erreurs très confiantes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DB23514-8037-43AB-99DF-D841A1CD61FF}"/>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CalibratedClassifierCV(method="sigmoid", cv=5). Pour Brier et Log Loss, une valeur plus faible est préférable.</a:t>
            </a:r>
          </a:p>
        </p:txBody>
      </p:sp>
    </p:spTree>
    <p:extLst>
      <p:ext uri="{BB962C8B-B14F-4D97-AF65-F5344CB8AC3E}">
        <p14:creationId xmlns:p14="http://schemas.microsoft.com/office/powerpoint/2010/main" val="14234550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229842-E2A8-48D7-BEEE-ECF13C184DEE}"/>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seuil transforme un score en classe</a:t>
            </a:r>
          </a:p>
        </p:txBody>
      </p:sp>
      <p:sp>
        <p:nvSpPr>
          <p:cNvPr id="2" name="">
            <a:extLst xmlns:a="http://schemas.openxmlformats.org/drawingml/2006/main">
              <a:ext uri="{FF2B5EF4-FFF2-40B4-BE49-F238E27FC236}">
                <a16:creationId xmlns:a16="http://schemas.microsoft.com/office/drawing/2014/main" id="{3DCCFEAE-CCEA-4C06-8088-404B7993D3F4}"/>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Prédire un départ lorsque la probabilité estimée est supérieure ou égale au seuil</a:t>
            </a:r>
          </a:p>
        </p:txBody>
      </p:sp>
      <p:sp>
        <p:nvSpPr>
          <p:cNvPr id="3" name="">
            <a:extLst xmlns:a="http://schemas.openxmlformats.org/drawingml/2006/main">
              <a:ext uri="{FF2B5EF4-FFF2-40B4-BE49-F238E27FC236}">
                <a16:creationId xmlns:a16="http://schemas.microsoft.com/office/drawing/2014/main" id="{272C0A86-FF84-4684-AFBB-1FC1B6875E82}"/>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19</a:t>
            </a:r>
          </a:p>
        </p:txBody>
      </p:sp>
      <p:graphicFrame>
        <p:nvGraphicFramePr>
          <p:cNvPr id="11" name=""/>
          <p:cNvGraphicFramePr/>
          <p:nvPr/>
        </p:nvGraphicFramePr>
        <p:xfrm>
          <a:off xmlns:a="http://schemas.openxmlformats.org/drawingml/2006/main" x="590550" y="2124075"/>
          <a:ext xmlns:a="http://schemas.openxmlformats.org/drawingml/2006/main" cx="11010900" cy="2047875"/>
        </p:xfrm>
        <a:graphic xmlns:a="http://schemas.openxmlformats.org/drawingml/2006/main">
          <a:graphicData uri="http://schemas.openxmlformats.org/drawingml/2006/table">
            <a:tbl>
              <a:tblPr firstRow="0" bandRow="0"/>
              <a:tblGrid>
                <a:gridCol w="4543425"/>
                <a:gridCol w="2867025"/>
                <a:gridCol w="3600450"/>
              </a:tblGrid>
              <a:tr h="682625">
                <a:tc>
                  <a:txBody>
                    <a:bodyPr lIns="114300" tIns="114300" rIns="95250" bIns="76200">
                      <a:noAutofit/>
                    </a:bodyPr>
                    <a:lstStyle/>
                    <a:p>
                      <a:r>
                        <a:rPr sz="2175" b="1">
                          <a:solidFill>
                            <a:srgbClr val="FFFFFF"/>
                          </a:solidFill>
                          <a:latin typeface="DejaVu Sans"/>
                          <a:ea typeface="DejaVu Sans"/>
                          <a:cs typeface="DejaVu Sans"/>
                        </a:rPr>
                        <a:t>Même probabilité estimée</a:t>
                      </a:r>
                    </a:p>
                  </a:txBody>
                  <a:tcPr marL="91440" marR="91440" marT="45720" marB="45720" anchor="ctr">
                    <a:solidFill>
                      <a:srgbClr val="102A43"/>
                    </a:solidFill>
                  </a:tcPr>
                </a:tc>
                <a:tc>
                  <a:txBody>
                    <a:bodyPr lIns="114300" tIns="114300" rIns="95250" bIns="76200">
                      <a:noAutofit/>
                    </a:bodyPr>
                    <a:lstStyle/>
                    <a:p>
                      <a:r>
                        <a:rPr sz="2175" b="1">
                          <a:solidFill>
                            <a:srgbClr val="FFFFFF"/>
                          </a:solidFill>
                          <a:latin typeface="DejaVu Sans"/>
                          <a:ea typeface="DejaVu Sans"/>
                          <a:cs typeface="DejaVu Sans"/>
                        </a:rPr>
                        <a:t>Seuil de décision</a:t>
                      </a:r>
                    </a:p>
                  </a:txBody>
                  <a:tcPr marL="91440" marR="91440" marT="45720" marB="45720" anchor="ctr">
                    <a:solidFill>
                      <a:srgbClr val="102A43"/>
                    </a:solidFill>
                  </a:tcPr>
                </a:tc>
                <a:tc>
                  <a:txBody>
                    <a:bodyPr lIns="114300" tIns="114300" rIns="95250" bIns="76200">
                      <a:noAutofit/>
                    </a:bodyPr>
                    <a:lstStyle/>
                    <a:p>
                      <a:r>
                        <a:rPr sz="2175" b="1">
                          <a:solidFill>
                            <a:srgbClr val="FFFFFF"/>
                          </a:solidFill>
                          <a:latin typeface="DejaVu Sans"/>
                          <a:ea typeface="DejaVu Sans"/>
                          <a:cs typeface="DejaVu Sans"/>
                        </a:rPr>
                        <a:t>Classe prédite</a:t>
                      </a:r>
                    </a:p>
                  </a:txBody>
                  <a:tcPr marL="91440" marR="91440" marT="45720" marB="45720" anchor="ctr">
                    <a:solidFill>
                      <a:srgbClr val="102A43"/>
                    </a:solidFill>
                  </a:tcPr>
                </a:tc>
              </a:tr>
              <a:tr h="682625">
                <a:tc>
                  <a:txBody>
                    <a:bodyPr lIns="114300" tIns="114300" rIns="95250" bIns="76200">
                      <a:noAutofit/>
                    </a:bodyPr>
                    <a:lstStyle/>
                    <a:p>
                      <a:r>
                        <a:rPr sz="2175" b="0">
                          <a:solidFill>
                            <a:srgbClr val="17324D"/>
                          </a:solidFill>
                          <a:latin typeface="DejaVu Sans"/>
                          <a:ea typeface="DejaVu Sans"/>
                          <a:cs typeface="DejaVu Sans"/>
                        </a:rPr>
                        <a:t>30 %</a:t>
                      </a:r>
                    </a:p>
                  </a:txBody>
                  <a:tcPr marL="91440" marR="91440" marT="45720" marB="45720" anchor="ctr">
                    <a:solidFill>
                      <a:srgbClr val="FFFFFF"/>
                    </a:solidFill>
                  </a:tcPr>
                </a:tc>
                <a:tc>
                  <a:txBody>
                    <a:bodyPr lIns="114300" tIns="114300" rIns="95250" bIns="76200">
                      <a:noAutofit/>
                    </a:bodyPr>
                    <a:lstStyle/>
                    <a:p>
                      <a:r>
                        <a:rPr sz="2175" b="0">
                          <a:solidFill>
                            <a:srgbClr val="17324D"/>
                          </a:solidFill>
                          <a:latin typeface="DejaVu Sans"/>
                          <a:ea typeface="DejaVu Sans"/>
                          <a:cs typeface="DejaVu Sans"/>
                        </a:rPr>
                        <a:t>50 %</a:t>
                      </a:r>
                    </a:p>
                  </a:txBody>
                  <a:tcPr marL="91440" marR="91440" marT="45720" marB="45720" anchor="ctr">
                    <a:solidFill>
                      <a:srgbClr val="FFFFFF"/>
                    </a:solidFill>
                  </a:tcPr>
                </a:tc>
                <a:tc>
                  <a:txBody>
                    <a:bodyPr lIns="114300" tIns="114300" rIns="95250" bIns="76200">
                      <a:noAutofit/>
                    </a:bodyPr>
                    <a:lstStyle/>
                    <a:p>
                      <a:r>
                        <a:rPr sz="2175" b="0">
                          <a:solidFill>
                            <a:srgbClr val="17324D"/>
                          </a:solidFill>
                          <a:latin typeface="DejaVu Sans"/>
                          <a:ea typeface="DejaVu Sans"/>
                          <a:cs typeface="DejaVu Sans"/>
                        </a:rPr>
                        <a:t>0 : reste prédit</a:t>
                      </a:r>
                    </a:p>
                  </a:txBody>
                  <a:tcPr marL="91440" marR="91440" marT="45720" marB="45720" anchor="ctr">
                    <a:solidFill>
                      <a:srgbClr val="FFFFFF"/>
                    </a:solidFill>
                  </a:tcPr>
                </a:tc>
              </a:tr>
              <a:tr h="682625">
                <a:tc>
                  <a:txBody>
                    <a:bodyPr lIns="114300" tIns="114300" rIns="95250" bIns="76200">
                      <a:noAutofit/>
                    </a:bodyPr>
                    <a:lstStyle/>
                    <a:p>
                      <a:r>
                        <a:rPr sz="2175" b="0">
                          <a:solidFill>
                            <a:srgbClr val="17324D"/>
                          </a:solidFill>
                          <a:latin typeface="DejaVu Sans"/>
                          <a:ea typeface="DejaVu Sans"/>
                          <a:cs typeface="DejaVu Sans"/>
                        </a:rPr>
                        <a:t>30 %</a:t>
                      </a:r>
                    </a:p>
                  </a:txBody>
                  <a:tcPr marL="91440" marR="91440" marT="45720" marB="45720" anchor="ctr">
                    <a:solidFill>
                      <a:srgbClr val="E8F4F2"/>
                    </a:solidFill>
                  </a:tcPr>
                </a:tc>
                <a:tc>
                  <a:txBody>
                    <a:bodyPr lIns="114300" tIns="114300" rIns="95250" bIns="76200">
                      <a:noAutofit/>
                    </a:bodyPr>
                    <a:lstStyle/>
                    <a:p>
                      <a:r>
                        <a:rPr sz="2175" b="0">
                          <a:solidFill>
                            <a:srgbClr val="17324D"/>
                          </a:solidFill>
                          <a:latin typeface="DejaVu Sans"/>
                          <a:ea typeface="DejaVu Sans"/>
                          <a:cs typeface="DejaVu Sans"/>
                        </a:rPr>
                        <a:t>22,3 %</a:t>
                      </a:r>
                    </a:p>
                  </a:txBody>
                  <a:tcPr marL="91440" marR="91440" marT="45720" marB="45720" anchor="ctr">
                    <a:solidFill>
                      <a:srgbClr val="E8F4F2"/>
                    </a:solidFill>
                  </a:tcPr>
                </a:tc>
                <a:tc>
                  <a:txBody>
                    <a:bodyPr lIns="114300" tIns="114300" rIns="95250" bIns="76200">
                      <a:noAutofit/>
                    </a:bodyPr>
                    <a:lstStyle/>
                    <a:p>
                      <a:r>
                        <a:rPr sz="2175" b="0">
                          <a:solidFill>
                            <a:srgbClr val="17324D"/>
                          </a:solidFill>
                          <a:latin typeface="DejaVu Sans"/>
                          <a:ea typeface="DejaVu Sans"/>
                          <a:cs typeface="DejaVu Sans"/>
                        </a:rPr>
                        <a:t>1 : départ prédit</a:t>
                      </a:r>
                    </a:p>
                  </a:txBody>
                  <a:tcPr marL="91440" marR="91440" marT="45720" marB="45720" anchor="ctr">
                    <a:solidFill>
                      <a:srgbClr val="E8F4F2"/>
                    </a:solidFill>
                  </a:tcPr>
                </a:tc>
              </a:tr>
            </a:tbl>
          </a:graphicData>
        </a:graphic>
      </p:graphicFrame>
      <p:sp>
        <p:nvSpPr>
          <p:cNvPr id="5" name="">
            <a:extLst xmlns:a="http://schemas.openxmlformats.org/drawingml/2006/main">
              <a:ext uri="{FF2B5EF4-FFF2-40B4-BE49-F238E27FC236}">
                <a16:creationId xmlns:a16="http://schemas.microsoft.com/office/drawing/2014/main" id="{B9CBB55A-E919-4851-97CC-8AF9FFFDE86C}"/>
              </a:ext>
            </a:extLst>
          </p:cNvPr>
          <p:cNvSpPr>
            <a:spLocks xmlns:a="http://schemas.openxmlformats.org/drawingml/2006/main" noGrp="1"/>
          </p:cNvSpPr>
          <p:nvPr/>
        </p:nvSpPr>
        <p:spPr>
          <a:xfrm xmlns:a="http://schemas.openxmlformats.org/drawingml/2006/main">
            <a:off x="619125" y="46101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8A84"/>
                </a:solidFill>
                <a:latin typeface="DejaVu Sans"/>
                <a:ea typeface="DejaVu Sans"/>
                <a:cs typeface="DejaVu Sans"/>
              </a:defRPr>
            </a:pPr>
            <a:r>
              <a:rPr sz="2400" b="1">
                <a:solidFill>
                  <a:srgbClr val="138A84"/>
                </a:solidFill>
                <a:latin typeface="DejaVu Sans"/>
                <a:ea typeface="DejaVu Sans"/>
                <a:cs typeface="DejaVu Sans"/>
              </a:rPr>
              <a:t>Baisser le seuil augmente le nombre d’alertes</a:t>
            </a:r>
          </a:p>
        </p:txBody>
      </p:sp>
      <p:sp>
        <p:nvSpPr>
          <p:cNvPr id="6" name="">
            <a:extLst xmlns:a="http://schemas.openxmlformats.org/drawingml/2006/main">
              <a:ext uri="{FF2B5EF4-FFF2-40B4-BE49-F238E27FC236}">
                <a16:creationId xmlns:a16="http://schemas.microsoft.com/office/drawing/2014/main" id="{84DC90A2-54D1-4DE3-8A56-508A2907C8CA}"/>
              </a:ext>
            </a:extLst>
          </p:cNvPr>
          <p:cNvSpPr>
            <a:spLocks xmlns:a="http://schemas.openxmlformats.org/drawingml/2006/main" noGrp="1"/>
          </p:cNvSpPr>
          <p:nvPr/>
        </p:nvSpPr>
        <p:spPr>
          <a:xfrm xmlns:a="http://schemas.openxmlformats.org/drawingml/2006/main">
            <a:off x="619125" y="52197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On récupère des départs supplémentaires et l’on peut aussi créer des fausses alertes.</a:t>
            </a:r>
          </a:p>
        </p:txBody>
      </p:sp>
      <p:sp>
        <p:nvSpPr>
          <p:cNvPr id="7" name="">
            <a:extLst xmlns:a="http://schemas.openxmlformats.org/drawingml/2006/main">
              <a:ext uri="{FF2B5EF4-FFF2-40B4-BE49-F238E27FC236}">
                <a16:creationId xmlns:a16="http://schemas.microsoft.com/office/drawing/2014/main" id="{537B9B0D-DE28-4FF1-932B-21393F63B99B}"/>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Exemple fictif à 30 %. Le seuil exact enregistré dans le notebook est d’environ 0,223181.</a:t>
            </a:r>
          </a:p>
        </p:txBody>
      </p:sp>
    </p:spTree>
    <p:extLst>
      <p:ext uri="{BB962C8B-B14F-4D97-AF65-F5344CB8AC3E}">
        <p14:creationId xmlns:p14="http://schemas.microsoft.com/office/powerpoint/2010/main" val="27668746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B718DA-AC42-4B59-AE8C-60DD558DFA4D}"/>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choix du seuil sur les prédictions OOF</a:t>
            </a:r>
          </a:p>
        </p:txBody>
      </p:sp>
      <p:sp>
        <p:nvSpPr>
          <p:cNvPr id="2" name="">
            <a:extLst xmlns:a="http://schemas.openxmlformats.org/drawingml/2006/main">
              <a:ext uri="{FF2B5EF4-FFF2-40B4-BE49-F238E27FC236}">
                <a16:creationId xmlns:a16="http://schemas.microsoft.com/office/drawing/2014/main" id="{82D4959A-3B92-46EC-98F1-DAAE1FF4F7BD}"/>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 notebook retient le seuil qui maximise le F1 sur l’entraînement</a:t>
            </a:r>
          </a:p>
        </p:txBody>
      </p:sp>
      <p:sp>
        <p:nvSpPr>
          <p:cNvPr id="3" name="">
            <a:extLst xmlns:a="http://schemas.openxmlformats.org/drawingml/2006/main">
              <a:ext uri="{FF2B5EF4-FFF2-40B4-BE49-F238E27FC236}">
                <a16:creationId xmlns:a16="http://schemas.microsoft.com/office/drawing/2014/main" id="{E867BC0C-0149-48A2-9DF5-1661536ADC92}"/>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b571b8de2c640b7"/>
          <a:stretch xmlns:a="http://schemas.openxmlformats.org/drawingml/2006/main"/>
        </p:blipFill>
        <p:spPr>
          <a:xfrm xmlns:a="http://schemas.openxmlformats.org/drawingml/2006/main">
            <a:off x="923483" y="2028825"/>
            <a:ext cx="6630283" cy="3933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FA84818-7783-4609-A115-59041A60914F}"/>
              </a:ext>
            </a:extLst>
          </p:cNvPr>
          <p:cNvSpPr>
            <a:spLocks xmlns:a="http://schemas.openxmlformats.org/drawingml/2006/main" noGrp="1"/>
          </p:cNvSpPr>
          <p:nvPr/>
        </p:nvSpPr>
        <p:spPr>
          <a:xfrm xmlns:a="http://schemas.openxmlformats.org/drawingml/2006/main">
            <a:off x="8420100" y="2143125"/>
            <a:ext cx="31337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38A84"/>
                </a:solidFill>
                <a:latin typeface="DejaVu Sans"/>
                <a:ea typeface="DejaVu Sans"/>
                <a:cs typeface="DejaVu Sans"/>
              </a:defRPr>
            </a:pPr>
            <a:r>
              <a:rPr sz="5250" b="1">
                <a:solidFill>
                  <a:srgbClr val="138A84"/>
                </a:solidFill>
                <a:latin typeface="DejaVu Sans"/>
                <a:ea typeface="DejaVu Sans"/>
                <a:cs typeface="DejaVu Sans"/>
              </a:rPr>
              <a:t>22,3 %</a:t>
            </a:r>
          </a:p>
        </p:txBody>
      </p:sp>
      <p:sp>
        <p:nvSpPr>
          <p:cNvPr id="6" name="">
            <a:extLst xmlns:a="http://schemas.openxmlformats.org/drawingml/2006/main">
              <a:ext uri="{FF2B5EF4-FFF2-40B4-BE49-F238E27FC236}">
                <a16:creationId xmlns:a16="http://schemas.microsoft.com/office/drawing/2014/main" id="{970322A8-2252-4E49-A09E-D9DCC9C9AAFD}"/>
              </a:ext>
            </a:extLst>
          </p:cNvPr>
          <p:cNvSpPr>
            <a:spLocks xmlns:a="http://schemas.openxmlformats.org/drawingml/2006/main" noGrp="1"/>
          </p:cNvSpPr>
          <p:nvPr/>
        </p:nvSpPr>
        <p:spPr>
          <a:xfrm xmlns:a="http://schemas.openxmlformats.org/drawingml/2006/main">
            <a:off x="8420100" y="3171825"/>
            <a:ext cx="31337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Seuil retenu</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F1 OOF = 0,518</a:t>
            </a:r>
          </a:p>
        </p:txBody>
      </p:sp>
      <p:sp>
        <p:nvSpPr>
          <p:cNvPr id="7" name="">
            <a:extLst xmlns:a="http://schemas.openxmlformats.org/drawingml/2006/main">
              <a:ext uri="{FF2B5EF4-FFF2-40B4-BE49-F238E27FC236}">
                <a16:creationId xmlns:a16="http://schemas.microsoft.com/office/drawing/2014/main" id="{83E9A33D-E1BF-4E76-8D93-842F14D93A42}"/>
              </a:ext>
            </a:extLst>
          </p:cNvPr>
          <p:cNvSpPr>
            <a:spLocks xmlns:a="http://schemas.openxmlformats.org/drawingml/2006/main" noGrp="1"/>
          </p:cNvSpPr>
          <p:nvPr/>
        </p:nvSpPr>
        <p:spPr>
          <a:xfrm xmlns:a="http://schemas.openxmlformats.org/drawingml/2006/main">
            <a:off x="8420100" y="4457700"/>
            <a:ext cx="3133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324D"/>
                </a:solidFill>
                <a:latin typeface="DejaVu Sans"/>
                <a:ea typeface="DejaVu Sans"/>
                <a:cs typeface="DejaVu Sans"/>
              </a:defRPr>
            </a:pPr>
            <a:r>
              <a:rPr sz="1950" b="0">
                <a:solidFill>
                  <a:srgbClr val="17324D"/>
                </a:solidFill>
                <a:latin typeface="DejaVu Sans"/>
                <a:ea typeface="DejaVu Sans"/>
                <a:cs typeface="DejaVu Sans"/>
              </a:rPr>
              <a:t>Précision : 47,6 %</a:t>
            </a:r>
          </a:p>
          <a:p xmlns:a="http://schemas.openxmlformats.org/drawingml/2006/main">
            <a:pPr algn="l">
              <a:defRPr sz="1950" b="0">
                <a:solidFill>
                  <a:srgbClr val="17324D"/>
                </a:solidFill>
                <a:latin typeface="DejaVu Sans"/>
                <a:ea typeface="DejaVu Sans"/>
                <a:cs typeface="DejaVu Sans"/>
              </a:defRPr>
            </a:pPr>
            <a:r>
              <a:rPr sz="1950" b="0">
                <a:solidFill>
                  <a:srgbClr val="17324D"/>
                </a:solidFill>
                <a:latin typeface="DejaVu Sans"/>
                <a:ea typeface="DejaVu Sans"/>
                <a:cs typeface="DejaVu Sans"/>
              </a:rPr>
              <a:t>Rappel : 56,8 %</a:t>
            </a:r>
          </a:p>
        </p:txBody>
      </p:sp>
      <p:sp>
        <p:nvSpPr>
          <p:cNvPr id="8" name="">
            <a:extLst xmlns:a="http://schemas.openxmlformats.org/drawingml/2006/main">
              <a:ext uri="{FF2B5EF4-FFF2-40B4-BE49-F238E27FC236}">
                <a16:creationId xmlns:a16="http://schemas.microsoft.com/office/drawing/2014/main" id="{40EB5974-6E17-45ED-84B5-0C8093D105D6}"/>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 test de 294 salariés ne sert pas à choisir le seuil. La courbe reproduit la sortie enregistrée dans le notebook.</a:t>
            </a:r>
          </a:p>
        </p:txBody>
      </p:sp>
    </p:spTree>
    <p:extLst>
      <p:ext uri="{BB962C8B-B14F-4D97-AF65-F5344CB8AC3E}">
        <p14:creationId xmlns:p14="http://schemas.microsoft.com/office/powerpoint/2010/main" val="16431888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0809C9-E1B5-418D-B28F-1A9BAA696626}"/>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résultat sur le test final</a:t>
            </a:r>
          </a:p>
        </p:txBody>
      </p:sp>
      <p:sp>
        <p:nvSpPr>
          <p:cNvPr id="2" name="">
            <a:extLst xmlns:a="http://schemas.openxmlformats.org/drawingml/2006/main">
              <a:ext uri="{FF2B5EF4-FFF2-40B4-BE49-F238E27FC236}">
                <a16:creationId xmlns:a16="http://schemas.microsoft.com/office/drawing/2014/main" id="{525C87C0-C6DF-4AD1-BD08-E3D2C21FFB8C}"/>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Même modèle calibré, mêmes 294 salariés, deux seuils</a:t>
            </a:r>
          </a:p>
        </p:txBody>
      </p:sp>
      <p:sp>
        <p:nvSpPr>
          <p:cNvPr id="3" name="">
            <a:extLst xmlns:a="http://schemas.openxmlformats.org/drawingml/2006/main">
              <a:ext uri="{FF2B5EF4-FFF2-40B4-BE49-F238E27FC236}">
                <a16:creationId xmlns:a16="http://schemas.microsoft.com/office/drawing/2014/main" id="{704481E2-926C-418A-82B3-00D15C2121E1}"/>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21</a:t>
            </a:r>
          </a:p>
        </p:txBody>
      </p:sp>
      <p:graphicFrame>
        <p:nvGraphicFramePr>
          <p:cNvPr id="9" name=""/>
          <p:cNvGraphicFramePr/>
          <p:nvPr/>
        </p:nvGraphicFramePr>
        <p:xfrm>
          <a:off xmlns:a="http://schemas.openxmlformats.org/drawingml/2006/main" x="590550" y="2009775"/>
          <a:ext xmlns:a="http://schemas.openxmlformats.org/drawingml/2006/main" cx="11010900" cy="3619500"/>
        </p:xfrm>
        <a:graphic xmlns:a="http://schemas.openxmlformats.org/drawingml/2006/main">
          <a:graphicData uri="http://schemas.openxmlformats.org/drawingml/2006/table">
            <a:tbl>
              <a:tblPr firstRow="0" bandRow="0"/>
              <a:tblGrid>
                <a:gridCol w="5238750"/>
                <a:gridCol w="2886075"/>
                <a:gridCol w="2886075"/>
              </a:tblGrid>
              <a:tr h="517071">
                <a:tc>
                  <a:txBody>
                    <a:bodyPr lIns="114300" tIns="114300" rIns="95250" bIns="76200">
                      <a:noAutofit/>
                    </a:bodyPr>
                    <a:lstStyle/>
                    <a:p>
                      <a:r>
                        <a:rPr sz="1800" b="1">
                          <a:solidFill>
                            <a:srgbClr val="FFFFFF"/>
                          </a:solidFill>
                          <a:latin typeface="DejaVu Sans"/>
                          <a:ea typeface="DejaVu Sans"/>
                          <a:cs typeface="DejaVu Sans"/>
                        </a:rPr>
                        <a:t>Mesure</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Seuil 50 %</a:t>
                      </a:r>
                    </a:p>
                  </a:txBody>
                  <a:tcPr marL="91440" marR="91440" marT="45720" marB="45720" anchor="ctr">
                    <a:solidFill>
                      <a:srgbClr val="102A43"/>
                    </a:solidFill>
                  </a:tcPr>
                </a:tc>
                <a:tc>
                  <a:txBody>
                    <a:bodyPr lIns="114300" tIns="114300" rIns="95250" bIns="76200">
                      <a:noAutofit/>
                    </a:bodyPr>
                    <a:lstStyle/>
                    <a:p>
                      <a:r>
                        <a:rPr sz="1800" b="1">
                          <a:solidFill>
                            <a:srgbClr val="FFFFFF"/>
                          </a:solidFill>
                          <a:latin typeface="DejaVu Sans"/>
                          <a:ea typeface="DejaVu Sans"/>
                          <a:cs typeface="DejaVu Sans"/>
                        </a:rPr>
                        <a:t>Seuil 22,3 %</a:t>
                      </a:r>
                    </a:p>
                  </a:txBody>
                  <a:tcPr marL="91440" marR="91440" marT="45720" marB="45720" anchor="ctr">
                    <a:solidFill>
                      <a:srgbClr val="102A43"/>
                    </a:solidFill>
                  </a:tcPr>
                </a:tc>
              </a:tr>
              <a:tr h="517071">
                <a:tc>
                  <a:txBody>
                    <a:bodyPr lIns="114300" tIns="114300" rIns="95250" bIns="76200">
                      <a:noAutofit/>
                    </a:bodyPr>
                    <a:lstStyle/>
                    <a:p>
                      <a:r>
                        <a:rPr sz="1800" b="0">
                          <a:solidFill>
                            <a:srgbClr val="17324D"/>
                          </a:solidFill>
                          <a:latin typeface="DejaVu Sans"/>
                          <a:ea typeface="DejaVu Sans"/>
                          <a:cs typeface="DejaVu Sans"/>
                        </a:rPr>
                        <a:t>Départs détectés / 47</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8</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29</a:t>
                      </a:r>
                    </a:p>
                  </a:txBody>
                  <a:tcPr marL="91440" marR="91440" marT="45720" marB="45720" anchor="ctr">
                    <a:solidFill>
                      <a:srgbClr val="FFFFFF"/>
                    </a:solidFill>
                  </a:tcPr>
                </a:tc>
              </a:tr>
              <a:tr h="517071">
                <a:tc>
                  <a:txBody>
                    <a:bodyPr lIns="114300" tIns="114300" rIns="95250" bIns="76200">
                      <a:noAutofit/>
                    </a:bodyPr>
                    <a:lstStyle/>
                    <a:p>
                      <a:r>
                        <a:rPr sz="1800" b="0">
                          <a:solidFill>
                            <a:srgbClr val="17324D"/>
                          </a:solidFill>
                          <a:latin typeface="DejaVu Sans"/>
                          <a:ea typeface="DejaVu Sans"/>
                          <a:cs typeface="DejaVu Sans"/>
                        </a:rPr>
                        <a:t>Fausses alertes</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15</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40</a:t>
                      </a:r>
                    </a:p>
                  </a:txBody>
                  <a:tcPr marL="91440" marR="91440" marT="45720" marB="45720" anchor="ctr">
                    <a:solidFill>
                      <a:srgbClr val="FFFFFF"/>
                    </a:solidFill>
                  </a:tcPr>
                </a:tc>
              </a:tr>
              <a:tr h="517071">
                <a:tc>
                  <a:txBody>
                    <a:bodyPr lIns="114300" tIns="114300" rIns="95250" bIns="76200">
                      <a:noAutofit/>
                    </a:bodyPr>
                    <a:lstStyle/>
                    <a:p>
                      <a:r>
                        <a:rPr sz="1800" b="0">
                          <a:solidFill>
                            <a:srgbClr val="17324D"/>
                          </a:solidFill>
                          <a:latin typeface="DejaVu Sans"/>
                          <a:ea typeface="DejaVu Sans"/>
                          <a:cs typeface="DejaVu Sans"/>
                        </a:rPr>
                        <a:t>Précision</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34,8 %</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42,0 %</a:t>
                      </a:r>
                    </a:p>
                  </a:txBody>
                  <a:tcPr marL="91440" marR="91440" marT="45720" marB="45720" anchor="ctr">
                    <a:solidFill>
                      <a:srgbClr val="FFFFFF"/>
                    </a:solidFill>
                  </a:tcPr>
                </a:tc>
              </a:tr>
              <a:tr h="517071">
                <a:tc>
                  <a:txBody>
                    <a:bodyPr lIns="114300" tIns="114300" rIns="95250" bIns="76200">
                      <a:noAutofit/>
                    </a:bodyPr>
                    <a:lstStyle/>
                    <a:p>
                      <a:r>
                        <a:rPr sz="1800" b="0">
                          <a:solidFill>
                            <a:srgbClr val="17324D"/>
                          </a:solidFill>
                          <a:latin typeface="DejaVu Sans"/>
                          <a:ea typeface="DejaVu Sans"/>
                          <a:cs typeface="DejaVu Sans"/>
                        </a:rPr>
                        <a:t>Rappel</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17,0 %</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61,7 %</a:t>
                      </a:r>
                    </a:p>
                  </a:txBody>
                  <a:tcPr marL="91440" marR="91440" marT="45720" marB="45720" anchor="ctr">
                    <a:solidFill>
                      <a:srgbClr val="FFFFFF"/>
                    </a:solidFill>
                  </a:tcPr>
                </a:tc>
              </a:tr>
              <a:tr h="517071">
                <a:tc>
                  <a:txBody>
                    <a:bodyPr lIns="114300" tIns="114300" rIns="95250" bIns="76200">
                      <a:noAutofit/>
                    </a:bodyPr>
                    <a:lstStyle/>
                    <a:p>
                      <a:r>
                        <a:rPr sz="1800" b="0">
                          <a:solidFill>
                            <a:srgbClr val="17324D"/>
                          </a:solidFill>
                          <a:latin typeface="DejaVu Sans"/>
                          <a:ea typeface="DejaVu Sans"/>
                          <a:cs typeface="DejaVu Sans"/>
                        </a:rPr>
                        <a:t>F1-score</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0,2286</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0,5000</a:t>
                      </a:r>
                    </a:p>
                  </a:txBody>
                  <a:tcPr marL="91440" marR="91440" marT="45720" marB="45720" anchor="ctr">
                    <a:solidFill>
                      <a:srgbClr val="FFFFFF"/>
                    </a:solidFill>
                  </a:tcPr>
                </a:tc>
              </a:tr>
              <a:tr h="517071">
                <a:tc>
                  <a:txBody>
                    <a:bodyPr lIns="114300" tIns="114300" rIns="95250" bIns="76200">
                      <a:noAutofit/>
                    </a:bodyPr>
                    <a:lstStyle/>
                    <a:p>
                      <a:r>
                        <a:rPr sz="1800" b="0">
                          <a:solidFill>
                            <a:srgbClr val="17324D"/>
                          </a:solidFill>
                          <a:latin typeface="DejaVu Sans"/>
                          <a:ea typeface="DejaVu Sans"/>
                          <a:cs typeface="DejaVu Sans"/>
                        </a:rPr>
                        <a:t>Accuracy</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81,6 %</a:t>
                      </a:r>
                    </a:p>
                  </a:txBody>
                  <a:tcPr marL="91440" marR="91440" marT="45720" marB="45720" anchor="ctr">
                    <a:solidFill>
                      <a:srgbClr val="FFFFFF"/>
                    </a:solidFill>
                  </a:tcPr>
                </a:tc>
                <a:tc>
                  <a:txBody>
                    <a:bodyPr lIns="114300" tIns="114300" rIns="95250" bIns="76200">
                      <a:noAutofit/>
                    </a:bodyPr>
                    <a:lstStyle/>
                    <a:p>
                      <a:r>
                        <a:rPr sz="1800" b="0">
                          <a:solidFill>
                            <a:srgbClr val="17324D"/>
                          </a:solidFill>
                          <a:latin typeface="DejaVu Sans"/>
                          <a:ea typeface="DejaVu Sans"/>
                          <a:cs typeface="DejaVu Sans"/>
                        </a:rPr>
                        <a:t>80,3 %</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69F60D8-5C2F-4195-88A6-2A090E2D3190}"/>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21 départs détectés de plus et 25 fausses alertes de plus. ROC-AUC inchangée à 0,7692, car les probabilités sont identiques.</a:t>
            </a:r>
          </a:p>
        </p:txBody>
      </p:sp>
    </p:spTree>
    <p:extLst>
      <p:ext uri="{BB962C8B-B14F-4D97-AF65-F5344CB8AC3E}">
        <p14:creationId xmlns:p14="http://schemas.microsoft.com/office/powerpoint/2010/main" val="8731081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8ED2AD-D065-4337-8168-7F3C29D7B352}"/>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L’importance des variables</a:t>
            </a:r>
          </a:p>
        </p:txBody>
      </p:sp>
      <p:sp>
        <p:nvSpPr>
          <p:cNvPr id="2" name="">
            <a:extLst xmlns:a="http://schemas.openxmlformats.org/drawingml/2006/main">
              <a:ext uri="{FF2B5EF4-FFF2-40B4-BE49-F238E27FC236}">
                <a16:creationId xmlns:a16="http://schemas.microsoft.com/office/drawing/2014/main" id="{20CB7205-8553-4796-A4B3-B6AAABC50C43}"/>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Trois lectures complémentaires du comportement du modèle</a:t>
            </a:r>
          </a:p>
        </p:txBody>
      </p:sp>
      <p:sp>
        <p:nvSpPr>
          <p:cNvPr id="3" name="">
            <a:extLst xmlns:a="http://schemas.openxmlformats.org/drawingml/2006/main">
              <a:ext uri="{FF2B5EF4-FFF2-40B4-BE49-F238E27FC236}">
                <a16:creationId xmlns:a16="http://schemas.microsoft.com/office/drawing/2014/main" id="{FF0DFFE1-224C-4370-B057-7C0652B58256}"/>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22</a:t>
            </a:r>
          </a:p>
        </p:txBody>
      </p:sp>
      <p:graphicFrame>
        <p:nvGraphicFramePr>
          <p:cNvPr id="9" name=""/>
          <p:cNvGraphicFramePr/>
          <p:nvPr/>
        </p:nvGraphicFramePr>
        <p:xfrm>
          <a:off xmlns:a="http://schemas.openxmlformats.org/drawingml/2006/main" x="590550" y="2028825"/>
          <a:ext xmlns:a="http://schemas.openxmlformats.org/drawingml/2006/main" cx="11010900" cy="3200400"/>
        </p:xfrm>
        <a:graphic xmlns:a="http://schemas.openxmlformats.org/drawingml/2006/main">
          <a:graphicData uri="http://schemas.openxmlformats.org/drawingml/2006/table">
            <a:tbl>
              <a:tblPr firstRow="0" bandRow="0"/>
              <a:tblGrid>
                <a:gridCol w="3067050"/>
                <a:gridCol w="4572000"/>
                <a:gridCol w="3371850"/>
              </a:tblGrid>
              <a:tr h="800100">
                <a:tc>
                  <a:txBody>
                    <a:bodyPr lIns="114300" tIns="114300" rIns="95250" bIns="76200">
                      <a:noAutofit/>
                    </a:bodyPr>
                    <a:lstStyle/>
                    <a:p>
                      <a:r>
                        <a:rPr sz="1725" b="1">
                          <a:solidFill>
                            <a:srgbClr val="FFFFFF"/>
                          </a:solidFill>
                          <a:latin typeface="DejaVu Sans"/>
                          <a:ea typeface="DejaVu Sans"/>
                          <a:cs typeface="DejaVu Sans"/>
                        </a:rPr>
                        <a:t>Méthode</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Question posée</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Point d’attention</a:t>
                      </a:r>
                    </a:p>
                  </a:txBody>
                  <a:tcPr marL="91440" marR="91440" marT="45720" marB="45720" anchor="ctr">
                    <a:solidFill>
                      <a:srgbClr val="102A43"/>
                    </a:solidFill>
                  </a:tcPr>
                </a:tc>
              </a:tr>
              <a:tr h="800100">
                <a:tc>
                  <a:txBody>
                    <a:bodyPr lIns="114300" tIns="114300" rIns="95250" bIns="76200">
                      <a:noAutofit/>
                    </a:bodyPr>
                    <a:lstStyle/>
                    <a:p>
                      <a:r>
                        <a:rPr sz="1725" b="0">
                          <a:solidFill>
                            <a:srgbClr val="17324D"/>
                          </a:solidFill>
                          <a:latin typeface="DejaVu Sans"/>
                          <a:ea typeface="DejaVu Sans"/>
                          <a:cs typeface="DejaVu Sans"/>
                        </a:rPr>
                        <a:t>Importance native du RF</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Quelles variables améliorent les séparations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Peut favoriser des variables riches en valeurs</a:t>
                      </a:r>
                    </a:p>
                  </a:txBody>
                  <a:tcPr marL="91440" marR="91440" marT="45720" marB="45720" anchor="ctr">
                    <a:solidFill>
                      <a:srgbClr val="FFFFFF"/>
                    </a:solidFill>
                  </a:tcPr>
                </a:tc>
              </a:tr>
              <a:tr h="800100">
                <a:tc>
                  <a:txBody>
                    <a:bodyPr lIns="114300" tIns="114300" rIns="95250" bIns="76200">
                      <a:noAutofit/>
                    </a:bodyPr>
                    <a:lstStyle/>
                    <a:p>
                      <a:r>
                        <a:rPr sz="1725" b="0">
                          <a:solidFill>
                            <a:srgbClr val="17324D"/>
                          </a:solidFill>
                          <a:latin typeface="DejaVu Sans"/>
                          <a:ea typeface="DejaVu Sans"/>
                          <a:cs typeface="DejaVu Sans"/>
                        </a:rPr>
                        <a:t>Permutation importance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Le score baisse-t-il si je mélange une colonne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Dépend du score choisi et des corrélations</a:t>
                      </a:r>
                    </a:p>
                  </a:txBody>
                  <a:tcPr marL="91440" marR="91440" marT="45720" marB="45720" anchor="ctr">
                    <a:solidFill>
                      <a:srgbClr val="FFFFFF"/>
                    </a:solidFill>
                  </a:tcPr>
                </a:tc>
              </a:tr>
              <a:tr h="800100">
                <a:tc>
                  <a:txBody>
                    <a:bodyPr lIns="114300" tIns="114300" rIns="95250" bIns="76200">
                      <a:noAutofit/>
                    </a:bodyPr>
                    <a:lstStyle/>
                    <a:p>
                      <a:r>
                        <a:rPr sz="1725" b="0">
                          <a:solidFill>
                            <a:srgbClr val="17324D"/>
                          </a:solidFill>
                          <a:latin typeface="DejaVu Sans"/>
                          <a:ea typeface="DejaVu Sans"/>
                          <a:cs typeface="DejaVu Sans"/>
                        </a:rPr>
                        <a:t>SHAP</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Quelle contribution attribuer à chaque variable ?</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Explique le modèle, globalement et localement</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E7F1DCC-E855-4A54-815E-769E81691BEC}"/>
              </a:ext>
            </a:extLst>
          </p:cNvPr>
          <p:cNvSpPr>
            <a:spLocks xmlns:a="http://schemas.openxmlformats.org/drawingml/2006/main" noGrp="1"/>
          </p:cNvSpPr>
          <p:nvPr/>
        </p:nvSpPr>
        <p:spPr>
          <a:xfrm xmlns:a="http://schemas.openxmlformats.org/drawingml/2006/main">
            <a:off x="619125" y="55626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38A84"/>
                </a:solidFill>
                <a:latin typeface="DejaVu Sans"/>
                <a:ea typeface="DejaVu Sans"/>
                <a:cs typeface="DejaVu Sans"/>
              </a:defRPr>
            </a:pPr>
            <a:r>
              <a:rPr sz="2250" b="1">
                <a:solidFill>
                  <a:srgbClr val="138A84"/>
                </a:solidFill>
                <a:latin typeface="DejaVu Sans"/>
                <a:ea typeface="DejaVu Sans"/>
                <a:cs typeface="DejaVu Sans"/>
              </a:rPr>
              <a:t>Importance prédictive et causalité sont différentes</a:t>
            </a:r>
          </a:p>
        </p:txBody>
      </p:sp>
    </p:spTree>
    <p:extLst>
      <p:ext uri="{BB962C8B-B14F-4D97-AF65-F5344CB8AC3E}">
        <p14:creationId xmlns:p14="http://schemas.microsoft.com/office/powerpoint/2010/main" val="14506759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40F097-26B5-47A0-AA56-08EE1F79FF04}"/>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 principe de SHAP</a:t>
            </a:r>
          </a:p>
        </p:txBody>
      </p:sp>
      <p:sp>
        <p:nvSpPr>
          <p:cNvPr id="2" name="">
            <a:extLst xmlns:a="http://schemas.openxmlformats.org/drawingml/2006/main">
              <a:ext uri="{FF2B5EF4-FFF2-40B4-BE49-F238E27FC236}">
                <a16:creationId xmlns:a16="http://schemas.microsoft.com/office/drawing/2014/main" id="{578AD36A-C87E-47CC-82E5-490BF632AAFD}"/>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Une prédiction se décompose en une référence et des contributions</a:t>
            </a:r>
          </a:p>
        </p:txBody>
      </p:sp>
      <p:sp>
        <p:nvSpPr>
          <p:cNvPr id="3" name="">
            <a:extLst xmlns:a="http://schemas.openxmlformats.org/drawingml/2006/main">
              <a:ext uri="{FF2B5EF4-FFF2-40B4-BE49-F238E27FC236}">
                <a16:creationId xmlns:a16="http://schemas.microsoft.com/office/drawing/2014/main" id="{EECFFA3D-3731-42D5-B364-8B299CE7FB1E}"/>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23</a:t>
            </a:r>
          </a:p>
        </p:txBody>
      </p:sp>
      <p:sp>
        <p:nvSpPr>
          <p:cNvPr id="4" name="">
            <a:extLst xmlns:a="http://schemas.openxmlformats.org/drawingml/2006/main">
              <a:ext uri="{FF2B5EF4-FFF2-40B4-BE49-F238E27FC236}">
                <a16:creationId xmlns:a16="http://schemas.microsoft.com/office/drawing/2014/main" id="{82874E14-5E51-4787-A501-7B6C1E2E38BB}"/>
              </a:ext>
            </a:extLst>
          </p:cNvPr>
          <p:cNvSpPr>
            <a:spLocks xmlns:a="http://schemas.openxmlformats.org/drawingml/2006/main" noGrp="1"/>
          </p:cNvSpPr>
          <p:nvPr/>
        </p:nvSpPr>
        <p:spPr>
          <a:xfrm xmlns:a="http://schemas.openxmlformats.org/drawingml/2006/main">
            <a:off x="619125" y="205740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8A84"/>
                </a:solidFill>
                <a:latin typeface="DejaVu Sans"/>
                <a:ea typeface="DejaVu Sans"/>
                <a:cs typeface="DejaVu Sans"/>
              </a:defRPr>
            </a:pPr>
            <a:r>
              <a:rPr sz="2325" b="1">
                <a:solidFill>
                  <a:srgbClr val="138A84"/>
                </a:solidFill>
                <a:latin typeface="DejaVu Sans"/>
                <a:ea typeface="DejaVu Sans"/>
                <a:cs typeface="DejaVu Sans"/>
              </a:rPr>
              <a:t>Score expliqué = référence + somme des contributions</a:t>
            </a:r>
          </a:p>
        </p:txBody>
      </p:sp>
      <p:graphicFrame>
        <p:nvGraphicFramePr>
          <p:cNvPr id="15" name=""/>
          <p:cNvGraphicFramePr/>
          <p:nvPr/>
        </p:nvGraphicFramePr>
        <p:xfrm>
          <a:off xmlns:a="http://schemas.openxmlformats.org/drawingml/2006/main" x="619125" y="2905125"/>
          <a:ext xmlns:a="http://schemas.openxmlformats.org/drawingml/2006/main" cx="7191375" cy="2781300"/>
        </p:xfrm>
        <a:graphic xmlns:a="http://schemas.openxmlformats.org/drawingml/2006/main">
          <a:graphicData uri="http://schemas.openxmlformats.org/drawingml/2006/table">
            <a:tbl>
              <a:tblPr firstRow="0" bandRow="0"/>
              <a:tblGrid>
                <a:gridCol w="4857750"/>
                <a:gridCol w="2333625"/>
              </a:tblGrid>
              <a:tr h="463550">
                <a:tc>
                  <a:txBody>
                    <a:bodyPr lIns="114300" tIns="114300" rIns="95250" bIns="76200">
                      <a:noAutofit/>
                    </a:bodyPr>
                    <a:lstStyle/>
                    <a:p>
                      <a:r>
                        <a:rPr sz="1875" b="1">
                          <a:solidFill>
                            <a:srgbClr val="FFFFFF"/>
                          </a:solidFill>
                          <a:latin typeface="DejaVu Sans"/>
                          <a:ea typeface="DejaVu Sans"/>
                          <a:cs typeface="DejaVu Sans"/>
                        </a:rPr>
                        <a:t>Exemple fictif</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Contribution</a:t>
                      </a:r>
                    </a:p>
                  </a:txBody>
                  <a:tcPr marL="91440" marR="91440" marT="45720" marB="45720" anchor="ctr">
                    <a:solidFill>
                      <a:srgbClr val="102A43"/>
                    </a:solidFill>
                  </a:tcPr>
                </a:tc>
              </a:tr>
              <a:tr h="463550">
                <a:tc>
                  <a:txBody>
                    <a:bodyPr lIns="114300" tIns="114300" rIns="95250" bIns="76200">
                      <a:noAutofit/>
                    </a:bodyPr>
                    <a:lstStyle/>
                    <a:p>
                      <a:r>
                        <a:rPr sz="1875" b="0">
                          <a:solidFill>
                            <a:srgbClr val="17324D"/>
                          </a:solidFill>
                          <a:latin typeface="DejaVu Sans"/>
                          <a:ea typeface="DejaVu Sans"/>
                          <a:cs typeface="DejaVu Sans"/>
                        </a:rPr>
                        <a:t>Valeur de référence</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20 %</a:t>
                      </a:r>
                    </a:p>
                  </a:txBody>
                  <a:tcPr marL="91440" marR="91440" marT="45720" marB="45720" anchor="ctr">
                    <a:solidFill>
                      <a:srgbClr val="FFFFFF"/>
                    </a:solidFill>
                  </a:tcPr>
                </a:tc>
              </a:tr>
              <a:tr h="463550">
                <a:tc>
                  <a:txBody>
                    <a:bodyPr lIns="114300" tIns="114300" rIns="95250" bIns="76200">
                      <a:noAutofit/>
                    </a:bodyPr>
                    <a:lstStyle/>
                    <a:p>
                      <a:r>
                        <a:rPr sz="1875" b="0">
                          <a:solidFill>
                            <a:srgbClr val="17324D"/>
                          </a:solidFill>
                          <a:latin typeface="DejaVu Sans"/>
                          <a:ea typeface="DejaVu Sans"/>
                          <a:cs typeface="DejaVu Sans"/>
                        </a:rPr>
                        <a:t>Heures supplémentaires</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+8 points</a:t>
                      </a:r>
                    </a:p>
                  </a:txBody>
                  <a:tcPr marL="91440" marR="91440" marT="45720" marB="45720" anchor="ctr">
                    <a:solidFill>
                      <a:srgbClr val="FFFFFF"/>
                    </a:solidFill>
                  </a:tcPr>
                </a:tc>
              </a:tr>
              <a:tr h="463550">
                <a:tc>
                  <a:txBody>
                    <a:bodyPr lIns="114300" tIns="114300" rIns="95250" bIns="76200">
                      <a:noAutofit/>
                    </a:bodyPr>
                    <a:lstStyle/>
                    <a:p>
                      <a:r>
                        <a:rPr sz="1875" b="0">
                          <a:solidFill>
                            <a:srgbClr val="17324D"/>
                          </a:solidFill>
                          <a:latin typeface="DejaVu Sans"/>
                          <a:ea typeface="DejaVu Sans"/>
                          <a:cs typeface="DejaVu Sans"/>
                        </a:rPr>
                        <a:t>Satisfaction</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−3 points</a:t>
                      </a:r>
                    </a:p>
                  </a:txBody>
                  <a:tcPr marL="91440" marR="91440" marT="45720" marB="45720" anchor="ctr">
                    <a:solidFill>
                      <a:srgbClr val="FFFFFF"/>
                    </a:solidFill>
                  </a:tcPr>
                </a:tc>
              </a:tr>
              <a:tr h="463550">
                <a:tc>
                  <a:txBody>
                    <a:bodyPr lIns="114300" tIns="114300" rIns="95250" bIns="76200">
                      <a:noAutofit/>
                    </a:bodyPr>
                    <a:lstStyle/>
                    <a:p>
                      <a:r>
                        <a:rPr sz="1875" b="0">
                          <a:solidFill>
                            <a:srgbClr val="17324D"/>
                          </a:solidFill>
                          <a:latin typeface="DejaVu Sans"/>
                          <a:ea typeface="DejaVu Sans"/>
                          <a:cs typeface="DejaVu Sans"/>
                        </a:rPr>
                        <a:t>Ancienneté</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+5 points</a:t>
                      </a:r>
                    </a:p>
                  </a:txBody>
                  <a:tcPr marL="91440" marR="91440" marT="45720" marB="45720" anchor="ctr">
                    <a:solidFill>
                      <a:srgbClr val="FFFFFF"/>
                    </a:solidFill>
                  </a:tcPr>
                </a:tc>
              </a:tr>
              <a:tr h="463550">
                <a:tc>
                  <a:txBody>
                    <a:bodyPr lIns="114300" tIns="114300" rIns="95250" bIns="76200">
                      <a:noAutofit/>
                    </a:bodyPr>
                    <a:lstStyle/>
                    <a:p>
                      <a:r>
                        <a:rPr sz="1875" b="0">
                          <a:solidFill>
                            <a:srgbClr val="17324D"/>
                          </a:solidFill>
                          <a:latin typeface="DejaVu Sans"/>
                          <a:ea typeface="DejaVu Sans"/>
                          <a:cs typeface="DejaVu Sans"/>
                        </a:rPr>
                        <a:t>Score expliqué</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30 %</a:t>
                      </a:r>
                    </a:p>
                  </a:txBody>
                  <a:tcPr marL="91440" marR="91440" marT="45720" marB="45720" anchor="ctr">
                    <a:solidFill>
                      <a:srgbClr val="E8F4F2"/>
                    </a:solidFill>
                  </a:tcPr>
                </a:tc>
              </a:tr>
            </a:tbl>
          </a:graphicData>
        </a:graphic>
      </p:graphicFrame>
      <p:sp>
        <p:nvSpPr>
          <p:cNvPr id="6" name="">
            <a:extLst xmlns:a="http://schemas.openxmlformats.org/drawingml/2006/main">
              <a:ext uri="{FF2B5EF4-FFF2-40B4-BE49-F238E27FC236}">
                <a16:creationId xmlns:a16="http://schemas.microsoft.com/office/drawing/2014/main" id="{D18E68F2-EF90-4AD5-8724-623A2C9D2723}"/>
              </a:ext>
            </a:extLst>
          </p:cNvPr>
          <p:cNvSpPr>
            <a:spLocks xmlns:a="http://schemas.openxmlformats.org/drawingml/2006/main" noGrp="1"/>
          </p:cNvSpPr>
          <p:nvPr/>
        </p:nvSpPr>
        <p:spPr>
          <a:xfrm xmlns:a="http://schemas.openxmlformats.org/drawingml/2006/main">
            <a:off x="8505825" y="3009900"/>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95F4C"/>
                </a:solidFill>
                <a:latin typeface="DejaVu Sans"/>
                <a:ea typeface="DejaVu Sans"/>
                <a:cs typeface="DejaVu Sans"/>
              </a:defRPr>
            </a:pPr>
            <a:r>
              <a:rPr sz="2175" b="1">
                <a:solidFill>
                  <a:srgbClr val="D95F4C"/>
                </a:solidFill>
                <a:latin typeface="DejaVu Sans"/>
                <a:ea typeface="DejaVu Sans"/>
                <a:cs typeface="DejaVu Sans"/>
              </a:rPr>
              <a:t>Un effet positif</a:t>
            </a:r>
          </a:p>
        </p:txBody>
      </p:sp>
      <p:sp>
        <p:nvSpPr>
          <p:cNvPr id="7" name="">
            <a:extLst xmlns:a="http://schemas.openxmlformats.org/drawingml/2006/main">
              <a:ext uri="{FF2B5EF4-FFF2-40B4-BE49-F238E27FC236}">
                <a16:creationId xmlns:a16="http://schemas.microsoft.com/office/drawing/2014/main" id="{5E769DA3-70AC-4FAA-97AD-542E7112536C}"/>
              </a:ext>
            </a:extLst>
          </p:cNvPr>
          <p:cNvSpPr>
            <a:spLocks xmlns:a="http://schemas.openxmlformats.org/drawingml/2006/main" noGrp="1"/>
          </p:cNvSpPr>
          <p:nvPr/>
        </p:nvSpPr>
        <p:spPr>
          <a:xfrm xmlns:a="http://schemas.openxmlformats.org/drawingml/2006/main">
            <a:off x="8505825" y="3533775"/>
            <a:ext cx="3076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Il pousse le score au-dessus de la référence.</a:t>
            </a:r>
          </a:p>
        </p:txBody>
      </p:sp>
      <p:sp>
        <p:nvSpPr>
          <p:cNvPr id="8" name="">
            <a:extLst xmlns:a="http://schemas.openxmlformats.org/drawingml/2006/main">
              <a:ext uri="{FF2B5EF4-FFF2-40B4-BE49-F238E27FC236}">
                <a16:creationId xmlns:a16="http://schemas.microsoft.com/office/drawing/2014/main" id="{098FC698-D97F-4B2C-A5AE-DFE61620D323}"/>
              </a:ext>
            </a:extLst>
          </p:cNvPr>
          <p:cNvSpPr>
            <a:spLocks xmlns:a="http://schemas.openxmlformats.org/drawingml/2006/main" noGrp="1"/>
          </p:cNvSpPr>
          <p:nvPr/>
        </p:nvSpPr>
        <p:spPr>
          <a:xfrm xmlns:a="http://schemas.openxmlformats.org/drawingml/2006/main">
            <a:off x="8505825" y="46577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57ABE"/>
                </a:solidFill>
                <a:latin typeface="DejaVu Sans"/>
                <a:ea typeface="DejaVu Sans"/>
                <a:cs typeface="DejaVu Sans"/>
              </a:defRPr>
            </a:pPr>
            <a:r>
              <a:rPr sz="2175" b="1">
                <a:solidFill>
                  <a:srgbClr val="357ABE"/>
                </a:solidFill>
                <a:latin typeface="DejaVu Sans"/>
                <a:ea typeface="DejaVu Sans"/>
                <a:cs typeface="DejaVu Sans"/>
              </a:rPr>
              <a:t>Un effet négatif</a:t>
            </a:r>
          </a:p>
        </p:txBody>
      </p:sp>
      <p:sp>
        <p:nvSpPr>
          <p:cNvPr id="9" name="">
            <a:extLst xmlns:a="http://schemas.openxmlformats.org/drawingml/2006/main">
              <a:ext uri="{FF2B5EF4-FFF2-40B4-BE49-F238E27FC236}">
                <a16:creationId xmlns:a16="http://schemas.microsoft.com/office/drawing/2014/main" id="{8AB9129A-840D-4A9A-B92D-F28BCF612873}"/>
              </a:ext>
            </a:extLst>
          </p:cNvPr>
          <p:cNvSpPr>
            <a:spLocks xmlns:a="http://schemas.openxmlformats.org/drawingml/2006/main" noGrp="1"/>
          </p:cNvSpPr>
          <p:nvPr/>
        </p:nvSpPr>
        <p:spPr>
          <a:xfrm xmlns:a="http://schemas.openxmlformats.org/drawingml/2006/main">
            <a:off x="8505825" y="5181600"/>
            <a:ext cx="30765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Il pousse le score vers le bas.</a:t>
            </a:r>
          </a:p>
        </p:txBody>
      </p:sp>
      <p:sp>
        <p:nvSpPr>
          <p:cNvPr id="10" name="">
            <a:extLst xmlns:a="http://schemas.openxmlformats.org/drawingml/2006/main">
              <a:ext uri="{FF2B5EF4-FFF2-40B4-BE49-F238E27FC236}">
                <a16:creationId xmlns:a16="http://schemas.microsoft.com/office/drawing/2014/main" id="{AB5D76E6-FB08-471D-B0A3-C031EFDB147C}"/>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Exemple pédagogique : 20 + 8 − 3 + 5 = 30. La référence dépend du modèle et des données utilisées par SHAP.</a:t>
            </a:r>
          </a:p>
        </p:txBody>
      </p:sp>
    </p:spTree>
    <p:extLst>
      <p:ext uri="{BB962C8B-B14F-4D97-AF65-F5344CB8AC3E}">
        <p14:creationId xmlns:p14="http://schemas.microsoft.com/office/powerpoint/2010/main" val="726967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7DA0C1-26F6-491C-9EC9-073C6B04B72F}"/>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SHAP : l’explication globale</a:t>
            </a:r>
          </a:p>
        </p:txBody>
      </p:sp>
      <p:sp>
        <p:nvSpPr>
          <p:cNvPr id="2" name="">
            <a:extLst xmlns:a="http://schemas.openxmlformats.org/drawingml/2006/main">
              <a:ext uri="{FF2B5EF4-FFF2-40B4-BE49-F238E27FC236}">
                <a16:creationId xmlns:a16="http://schemas.microsoft.com/office/drawing/2014/main" id="{F1B6B3FC-E64F-4E40-A4CB-DCCC58F8D18B}"/>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variables qui font le plus varier le score du Random Forest brut</a:t>
            </a:r>
          </a:p>
        </p:txBody>
      </p:sp>
      <p:sp>
        <p:nvSpPr>
          <p:cNvPr id="3" name="">
            <a:extLst xmlns:a="http://schemas.openxmlformats.org/drawingml/2006/main">
              <a:ext uri="{FF2B5EF4-FFF2-40B4-BE49-F238E27FC236}">
                <a16:creationId xmlns:a16="http://schemas.microsoft.com/office/drawing/2014/main" id="{FBBC07F6-ADC8-4330-AD09-42526946DC7F}"/>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24</a:t>
            </a:r>
          </a:p>
        </p:txBody>
      </p:sp>
      <p:graphicFrame>
        <p:nvGraphicFramePr>
          <p:cNvPr id="13" name="Chart"/>
          <p:cNvGraphicFramePr/>
          <p:nvPr/>
        </p:nvGraphicFramePr>
        <p:xfrm>
          <a:off xmlns:a="http://schemas.openxmlformats.org/drawingml/2006/main" x="523875" y="1971675"/>
          <a:ext xmlns:a="http://schemas.openxmlformats.org/drawingml/2006/main" cx="7524750" cy="3962400"/>
        </p:xfrm>
        <a:graphic xmlns:a="http://schemas.openxmlformats.org/drawingml/2006/main">
          <a:graphicData uri="http://schemas.openxmlformats.org/drawingml/2006/chart">
            <c:chart xmlns:r="http://schemas.openxmlformats.org/officeDocument/2006/relationships" xmlns:c="http://schemas.openxmlformats.org/drawingml/2006/chart" r:id="Rc0c97dea518b469c"/>
          </a:graphicData>
        </a:graphic>
      </p:graphicFrame>
      <p:sp>
        <p:nvSpPr>
          <p:cNvPr id="5" name="">
            <a:extLst xmlns:a="http://schemas.openxmlformats.org/drawingml/2006/main">
              <a:ext uri="{FF2B5EF4-FFF2-40B4-BE49-F238E27FC236}">
                <a16:creationId xmlns:a16="http://schemas.microsoft.com/office/drawing/2014/main" id="{D2B6EDB4-3733-4BEB-853D-AD0B60E52430}"/>
              </a:ext>
            </a:extLst>
          </p:cNvPr>
          <p:cNvSpPr>
            <a:spLocks xmlns:a="http://schemas.openxmlformats.org/drawingml/2006/main" noGrp="1"/>
          </p:cNvSpPr>
          <p:nvPr/>
        </p:nvSpPr>
        <p:spPr>
          <a:xfrm xmlns:a="http://schemas.openxmlformats.org/drawingml/2006/main">
            <a:off x="8467725" y="22193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38A84"/>
                </a:solidFill>
                <a:latin typeface="DejaVu Sans"/>
                <a:ea typeface="DejaVu Sans"/>
                <a:cs typeface="DejaVu Sans"/>
              </a:defRPr>
            </a:pPr>
            <a:r>
              <a:rPr sz="2175" b="1">
                <a:solidFill>
                  <a:srgbClr val="138A84"/>
                </a:solidFill>
                <a:latin typeface="DejaVu Sans"/>
                <a:ea typeface="DejaVu Sans"/>
                <a:cs typeface="DejaVu Sans"/>
              </a:rPr>
              <a:t>Une barre longue</a:t>
            </a:r>
          </a:p>
        </p:txBody>
      </p:sp>
      <p:sp>
        <p:nvSpPr>
          <p:cNvPr id="6" name="">
            <a:extLst xmlns:a="http://schemas.openxmlformats.org/drawingml/2006/main">
              <a:ext uri="{FF2B5EF4-FFF2-40B4-BE49-F238E27FC236}">
                <a16:creationId xmlns:a16="http://schemas.microsoft.com/office/drawing/2014/main" id="{B2BD7052-A6C9-4B6B-B3F2-D10E6D49F876}"/>
              </a:ext>
            </a:extLst>
          </p:cNvPr>
          <p:cNvSpPr>
            <a:spLocks xmlns:a="http://schemas.openxmlformats.org/drawingml/2006/main" noGrp="1"/>
          </p:cNvSpPr>
          <p:nvPr/>
        </p:nvSpPr>
        <p:spPr>
          <a:xfrm xmlns:a="http://schemas.openxmlformats.org/drawingml/2006/main">
            <a:off x="8467725" y="2800350"/>
            <a:ext cx="3095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324D"/>
                </a:solidFill>
                <a:latin typeface="DejaVu Sans"/>
                <a:ea typeface="DejaVu Sans"/>
                <a:cs typeface="DejaVu Sans"/>
              </a:defRPr>
            </a:pPr>
            <a:r>
              <a:rPr sz="1950" b="0">
                <a:solidFill>
                  <a:srgbClr val="17324D"/>
                </a:solidFill>
                <a:latin typeface="DejaVu Sans"/>
                <a:ea typeface="DejaVu Sans"/>
                <a:cs typeface="DejaVu Sans"/>
              </a:rPr>
              <a:t>La variable influence fortement les prédictions, en moyenne.</a:t>
            </a:r>
          </a:p>
        </p:txBody>
      </p:sp>
      <p:sp>
        <p:nvSpPr>
          <p:cNvPr id="7" name="">
            <a:extLst xmlns:a="http://schemas.openxmlformats.org/drawingml/2006/main">
              <a:ext uri="{FF2B5EF4-FFF2-40B4-BE49-F238E27FC236}">
                <a16:creationId xmlns:a16="http://schemas.microsoft.com/office/drawing/2014/main" id="{819BBC47-E7B2-4CDD-BB3E-16730875EB06}"/>
              </a:ext>
            </a:extLst>
          </p:cNvPr>
          <p:cNvSpPr>
            <a:spLocks xmlns:a="http://schemas.openxmlformats.org/drawingml/2006/main" noGrp="1"/>
          </p:cNvSpPr>
          <p:nvPr/>
        </p:nvSpPr>
        <p:spPr>
          <a:xfrm xmlns:a="http://schemas.openxmlformats.org/drawingml/2006/main">
            <a:off x="8467725" y="4248150"/>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Le signe disparaît</a:t>
            </a:r>
          </a:p>
        </p:txBody>
      </p:sp>
      <p:sp>
        <p:nvSpPr>
          <p:cNvPr id="8" name="">
            <a:extLst xmlns:a="http://schemas.openxmlformats.org/drawingml/2006/main">
              <a:ext uri="{FF2B5EF4-FFF2-40B4-BE49-F238E27FC236}">
                <a16:creationId xmlns:a16="http://schemas.microsoft.com/office/drawing/2014/main" id="{217E7A77-E029-4CE2-942B-74F1E09CD338}"/>
              </a:ext>
            </a:extLst>
          </p:cNvPr>
          <p:cNvSpPr>
            <a:spLocks xmlns:a="http://schemas.openxmlformats.org/drawingml/2006/main" noGrp="1"/>
          </p:cNvSpPr>
          <p:nvPr/>
        </p:nvSpPr>
        <p:spPr>
          <a:xfrm xmlns:a="http://schemas.openxmlformats.org/drawingml/2006/main">
            <a:off x="8467725" y="4810125"/>
            <a:ext cx="3095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La barre ne dit pas si le risque augmente ou diminue.</a:t>
            </a:r>
          </a:p>
        </p:txBody>
      </p:sp>
      <p:sp>
        <p:nvSpPr>
          <p:cNvPr id="9" name="">
            <a:extLst xmlns:a="http://schemas.openxmlformats.org/drawingml/2006/main">
              <a:ext uri="{FF2B5EF4-FFF2-40B4-BE49-F238E27FC236}">
                <a16:creationId xmlns:a16="http://schemas.microsoft.com/office/drawing/2014/main" id="{CCCE9739-9161-45A2-9F93-AAA0AF245ECE}"/>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Moyenne de |SHAP| sur les 294 salariés du test. SHAP explique rf_explicable, le RF non calibré.</a:t>
            </a:r>
          </a:p>
        </p:txBody>
      </p:sp>
    </p:spTree>
    <p:extLst>
      <p:ext uri="{BB962C8B-B14F-4D97-AF65-F5344CB8AC3E}">
        <p14:creationId xmlns:p14="http://schemas.microsoft.com/office/powerpoint/2010/main" val="12084718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729F50-11F8-45CE-85FD-2804AD85770E}"/>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SHAP : un salarié qui déclenche une alerte</a:t>
            </a:r>
          </a:p>
        </p:txBody>
      </p:sp>
      <p:sp>
        <p:nvSpPr>
          <p:cNvPr id="2" name="">
            <a:extLst xmlns:a="http://schemas.openxmlformats.org/drawingml/2006/main">
              <a:ext uri="{FF2B5EF4-FFF2-40B4-BE49-F238E27FC236}">
                <a16:creationId xmlns:a16="http://schemas.microsoft.com/office/drawing/2014/main" id="{AD59E8AB-E9CC-449D-BA12-B42E68448B03}"/>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Position 4 du test, index source 69</a:t>
            </a:r>
          </a:p>
        </p:txBody>
      </p:sp>
      <p:sp>
        <p:nvSpPr>
          <p:cNvPr id="3" name="">
            <a:extLst xmlns:a="http://schemas.openxmlformats.org/drawingml/2006/main">
              <a:ext uri="{FF2B5EF4-FFF2-40B4-BE49-F238E27FC236}">
                <a16:creationId xmlns:a16="http://schemas.microsoft.com/office/drawing/2014/main" id="{F0AF3B92-D377-4B6F-9471-3ACE7263003B}"/>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25</a:t>
            </a:r>
          </a:p>
        </p:txBody>
      </p:sp>
      <p:graphicFrame>
        <p:nvGraphicFramePr>
          <p:cNvPr id="12" name=""/>
          <p:cNvGraphicFramePr/>
          <p:nvPr/>
        </p:nvGraphicFramePr>
        <p:xfrm>
          <a:off xmlns:a="http://schemas.openxmlformats.org/drawingml/2006/main" x="609600" y="2085975"/>
          <a:ext xmlns:a="http://schemas.openxmlformats.org/drawingml/2006/main" cx="7620000" cy="3524250"/>
        </p:xfrm>
        <a:graphic xmlns:a="http://schemas.openxmlformats.org/drawingml/2006/main">
          <a:graphicData uri="http://schemas.openxmlformats.org/drawingml/2006/table">
            <a:tbl>
              <a:tblPr firstRow="0" bandRow="0"/>
              <a:tblGrid>
                <a:gridCol w="5305425"/>
                <a:gridCol w="2314575"/>
              </a:tblGrid>
              <a:tr h="503464">
                <a:tc>
                  <a:txBody>
                    <a:bodyPr lIns="114300" tIns="114300" rIns="95250" bIns="76200">
                      <a:noAutofit/>
                    </a:bodyPr>
                    <a:lstStyle/>
                    <a:p>
                      <a:r>
                        <a:rPr sz="1875" b="1">
                          <a:solidFill>
                            <a:srgbClr val="FFFFFF"/>
                          </a:solidFill>
                          <a:latin typeface="DejaVu Sans"/>
                          <a:ea typeface="DejaVu Sans"/>
                          <a:cs typeface="DejaVu Sans"/>
                        </a:rPr>
                        <a:t>Variable et valeur</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Contribution SHAP</a:t>
                      </a:r>
                    </a:p>
                  </a:txBody>
                  <a:tcPr marL="91440" marR="91440" marT="45720" marB="45720" anchor="ctr">
                    <a:solidFill>
                      <a:srgbClr val="102A43"/>
                    </a:solidFill>
                  </a:tcPr>
                </a:tc>
              </a:tr>
              <a:tr h="503464">
                <a:tc>
                  <a:txBody>
                    <a:bodyPr lIns="114300" tIns="114300" rIns="95250" bIns="76200">
                      <a:noAutofit/>
                    </a:bodyPr>
                    <a:lstStyle/>
                    <a:p>
                      <a:r>
                        <a:rPr sz="1875" b="0">
                          <a:solidFill>
                            <a:srgbClr val="17324D"/>
                          </a:solidFill>
                          <a:latin typeface="DejaVu Sans"/>
                          <a:ea typeface="DejaVu Sans"/>
                          <a:cs typeface="DejaVu Sans"/>
                        </a:rPr>
                        <a:t>Heures supp. : oui</a:t>
                      </a:r>
                    </a:p>
                  </a:txBody>
                  <a:tcPr marL="91440" marR="91440" marT="45720" marB="45720" anchor="ctr">
                    <a:solidFill>
                      <a:srgbClr val="FFFFFF"/>
                    </a:solidFill>
                  </a:tcPr>
                </a:tc>
                <a:tc>
                  <a:txBody>
                    <a:bodyPr lIns="114300" tIns="114300" rIns="95250" bIns="76200">
                      <a:noAutofit/>
                    </a:bodyPr>
                    <a:lstStyle/>
                    <a:p>
                      <a:r>
                        <a:rPr sz="1950" b="1">
                          <a:solidFill>
                            <a:srgbClr val="D95F4C"/>
                          </a:solidFill>
                          <a:latin typeface="DejaVu Sans"/>
                          <a:ea typeface="DejaVu Sans"/>
                          <a:cs typeface="DejaVu Sans"/>
                        </a:rPr>
                        <a:t>+0,054</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Âge : 36 ans</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-0,046</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Ancienneté : 1 an</a:t>
                      </a:r>
                    </a:p>
                  </a:txBody>
                  <a:tcPr marL="91440" marR="91440" marT="45720" marB="45720" anchor="ctr">
                    <a:solidFill>
                      <a:srgbClr val="FFFFFF"/>
                    </a:solidFill>
                  </a:tcPr>
                </a:tc>
                <a:tc>
                  <a:txBody>
                    <a:bodyPr lIns="114300" tIns="114300" rIns="95250" bIns="76200">
                      <a:noAutofit/>
                    </a:bodyPr>
                    <a:lstStyle/>
                    <a:p>
                      <a:r>
                        <a:rPr sz="1950" b="1">
                          <a:solidFill>
                            <a:srgbClr val="D95F4C"/>
                          </a:solidFill>
                          <a:latin typeface="DejaVu Sans"/>
                          <a:ea typeface="DejaVu Sans"/>
                          <a:cs typeface="DejaVu Sans"/>
                        </a:rPr>
                        <a:t>+0,041</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Manager : 0 an</a:t>
                      </a:r>
                    </a:p>
                  </a:txBody>
                  <a:tcPr marL="91440" marR="91440" marT="45720" marB="45720" anchor="ctr">
                    <a:solidFill>
                      <a:srgbClr val="FFFFFF"/>
                    </a:solidFill>
                  </a:tcPr>
                </a:tc>
                <a:tc>
                  <a:txBody>
                    <a:bodyPr lIns="114300" tIns="114300" rIns="95250" bIns="76200">
                      <a:noAutofit/>
                    </a:bodyPr>
                    <a:lstStyle/>
                    <a:p>
                      <a:r>
                        <a:rPr sz="1950" b="1">
                          <a:solidFill>
                            <a:srgbClr val="D95F4C"/>
                          </a:solidFill>
                          <a:latin typeface="DejaVu Sans"/>
                          <a:ea typeface="DejaVu Sans"/>
                          <a:cs typeface="DejaVu Sans"/>
                        </a:rPr>
                        <a:t>+0,040</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PEE : 1</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-0,030</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Expérience : 2 ans</a:t>
                      </a:r>
                    </a:p>
                  </a:txBody>
                  <a:tcPr marL="91440" marR="91440" marT="45720" marB="45720" anchor="ctr">
                    <a:solidFill>
                      <a:srgbClr val="FFFFFF"/>
                    </a:solidFill>
                  </a:tcPr>
                </a:tc>
                <a:tc>
                  <a:txBody>
                    <a:bodyPr lIns="114300" tIns="114300" rIns="95250" bIns="76200">
                      <a:noAutofit/>
                    </a:bodyPr>
                    <a:lstStyle/>
                    <a:p>
                      <a:r>
                        <a:rPr sz="1950" b="1">
                          <a:solidFill>
                            <a:srgbClr val="D95F4C"/>
                          </a:solidFill>
                          <a:latin typeface="DejaVu Sans"/>
                          <a:ea typeface="DejaVu Sans"/>
                          <a:cs typeface="DejaVu Sans"/>
                        </a:rPr>
                        <a:t>+0,025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BA9783-08AA-4C2F-B4C6-C7C33FC2C3A3}"/>
              </a:ext>
            </a:extLst>
          </p:cNvPr>
          <p:cNvSpPr>
            <a:spLocks xmlns:a="http://schemas.openxmlformats.org/drawingml/2006/main" noGrp="1"/>
          </p:cNvSpPr>
          <p:nvPr/>
        </p:nvSpPr>
        <p:spPr>
          <a:xfrm xmlns:a="http://schemas.openxmlformats.org/drawingml/2006/main">
            <a:off x="8620125" y="2114550"/>
            <a:ext cx="29432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D95F4C"/>
                </a:solidFill>
                <a:latin typeface="DejaVu Sans"/>
                <a:ea typeface="DejaVu Sans"/>
                <a:cs typeface="DejaVu Sans"/>
              </a:defRPr>
            </a:pPr>
            <a:r>
              <a:rPr sz="5250" b="1">
                <a:solidFill>
                  <a:srgbClr val="D95F4C"/>
                </a:solidFill>
                <a:latin typeface="DejaVu Sans"/>
                <a:ea typeface="DejaVu Sans"/>
                <a:cs typeface="DejaVu Sans"/>
              </a:rPr>
              <a:t>28,9 %</a:t>
            </a:r>
          </a:p>
        </p:txBody>
      </p:sp>
      <p:sp>
        <p:nvSpPr>
          <p:cNvPr id="6" name="">
            <a:extLst xmlns:a="http://schemas.openxmlformats.org/drawingml/2006/main">
              <a:ext uri="{FF2B5EF4-FFF2-40B4-BE49-F238E27FC236}">
                <a16:creationId xmlns:a16="http://schemas.microsoft.com/office/drawing/2014/main" id="{1F3A0DEB-1944-45F6-85D4-20BA6773107B}"/>
              </a:ext>
            </a:extLst>
          </p:cNvPr>
          <p:cNvSpPr>
            <a:spLocks xmlns:a="http://schemas.openxmlformats.org/drawingml/2006/main" noGrp="1"/>
          </p:cNvSpPr>
          <p:nvPr/>
        </p:nvSpPr>
        <p:spPr>
          <a:xfrm xmlns:a="http://schemas.openxmlformats.org/drawingml/2006/main">
            <a:off x="8620125" y="3143250"/>
            <a:ext cx="29432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Probabilité calibrée</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Au-dessus du seuil de 22,3 %</a:t>
            </a:r>
          </a:p>
        </p:txBody>
      </p:sp>
      <p:sp>
        <p:nvSpPr>
          <p:cNvPr id="7" name="">
            <a:extLst xmlns:a="http://schemas.openxmlformats.org/drawingml/2006/main">
              <a:ext uri="{FF2B5EF4-FFF2-40B4-BE49-F238E27FC236}">
                <a16:creationId xmlns:a16="http://schemas.microsoft.com/office/drawing/2014/main" id="{9F82375C-F88B-4961-8C27-34FB462B13A5}"/>
              </a:ext>
            </a:extLst>
          </p:cNvPr>
          <p:cNvSpPr>
            <a:spLocks xmlns:a="http://schemas.openxmlformats.org/drawingml/2006/main" noGrp="1"/>
          </p:cNvSpPr>
          <p:nvPr/>
        </p:nvSpPr>
        <p:spPr>
          <a:xfrm xmlns:a="http://schemas.openxmlformats.org/drawingml/2006/main">
            <a:off x="8620125" y="4781550"/>
            <a:ext cx="2943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Score brut ≈ 53,9 %</a:t>
            </a:r>
          </a:p>
        </p:txBody>
      </p:sp>
      <p:sp>
        <p:nvSpPr>
          <p:cNvPr id="8" name="">
            <a:extLst xmlns:a="http://schemas.openxmlformats.org/drawingml/2006/main">
              <a:ext uri="{FF2B5EF4-FFF2-40B4-BE49-F238E27FC236}">
                <a16:creationId xmlns:a16="http://schemas.microsoft.com/office/drawing/2014/main" id="{0277CFE5-9650-4747-BF82-F7DA8346CC2C}"/>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Rouge : contribution positive. Bleu : contribution négative. Six contributions dominantes du RF brut.</a:t>
            </a:r>
          </a:p>
        </p:txBody>
      </p:sp>
    </p:spTree>
    <p:extLst>
      <p:ext uri="{BB962C8B-B14F-4D97-AF65-F5344CB8AC3E}">
        <p14:creationId xmlns:p14="http://schemas.microsoft.com/office/powerpoint/2010/main" val="34443409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52DD9D-F99D-42C9-8E8D-919B7BA5186B}"/>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SHAP : un salarié sous le seuil d’alerte</a:t>
            </a:r>
          </a:p>
        </p:txBody>
      </p:sp>
      <p:sp>
        <p:nvSpPr>
          <p:cNvPr id="2" name="">
            <a:extLst xmlns:a="http://schemas.openxmlformats.org/drawingml/2006/main">
              <a:ext uri="{FF2B5EF4-FFF2-40B4-BE49-F238E27FC236}">
                <a16:creationId xmlns:a16="http://schemas.microsoft.com/office/drawing/2014/main" id="{12BE0658-7B5B-4907-AE68-19F781F297BC}"/>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Position 61 du test, index source 1210</a:t>
            </a:r>
          </a:p>
        </p:txBody>
      </p:sp>
      <p:sp>
        <p:nvSpPr>
          <p:cNvPr id="3" name="">
            <a:extLst xmlns:a="http://schemas.openxmlformats.org/drawingml/2006/main">
              <a:ext uri="{FF2B5EF4-FFF2-40B4-BE49-F238E27FC236}">
                <a16:creationId xmlns:a16="http://schemas.microsoft.com/office/drawing/2014/main" id="{5E9B9337-6246-4064-9952-3EC48B809C08}"/>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26</a:t>
            </a:r>
          </a:p>
        </p:txBody>
      </p:sp>
      <p:graphicFrame>
        <p:nvGraphicFramePr>
          <p:cNvPr id="12" name=""/>
          <p:cNvGraphicFramePr/>
          <p:nvPr/>
        </p:nvGraphicFramePr>
        <p:xfrm>
          <a:off xmlns:a="http://schemas.openxmlformats.org/drawingml/2006/main" x="609600" y="2085975"/>
          <a:ext xmlns:a="http://schemas.openxmlformats.org/drawingml/2006/main" cx="7620000" cy="3524250"/>
        </p:xfrm>
        <a:graphic xmlns:a="http://schemas.openxmlformats.org/drawingml/2006/main">
          <a:graphicData uri="http://schemas.openxmlformats.org/drawingml/2006/table">
            <a:tbl>
              <a:tblPr firstRow="0" bandRow="0"/>
              <a:tblGrid>
                <a:gridCol w="5305425"/>
                <a:gridCol w="2314575"/>
              </a:tblGrid>
              <a:tr h="503464">
                <a:tc>
                  <a:txBody>
                    <a:bodyPr lIns="114300" tIns="114300" rIns="95250" bIns="76200">
                      <a:noAutofit/>
                    </a:bodyPr>
                    <a:lstStyle/>
                    <a:p>
                      <a:r>
                        <a:rPr sz="1875" b="1">
                          <a:solidFill>
                            <a:srgbClr val="FFFFFF"/>
                          </a:solidFill>
                          <a:latin typeface="DejaVu Sans"/>
                          <a:ea typeface="DejaVu Sans"/>
                          <a:cs typeface="DejaVu Sans"/>
                        </a:rPr>
                        <a:t>Variable et valeur</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Contribution SHAP</a:t>
                      </a:r>
                    </a:p>
                  </a:txBody>
                  <a:tcPr marL="91440" marR="91440" marT="45720" marB="45720" anchor="ctr">
                    <a:solidFill>
                      <a:srgbClr val="102A43"/>
                    </a:solidFill>
                  </a:tcPr>
                </a:tc>
              </a:tr>
              <a:tr h="503464">
                <a:tc>
                  <a:txBody>
                    <a:bodyPr lIns="114300" tIns="114300" rIns="95250" bIns="76200">
                      <a:noAutofit/>
                    </a:bodyPr>
                    <a:lstStyle/>
                    <a:p>
                      <a:r>
                        <a:rPr sz="1875" b="0">
                          <a:solidFill>
                            <a:srgbClr val="17324D"/>
                          </a:solidFill>
                          <a:latin typeface="DejaVu Sans"/>
                          <a:ea typeface="DejaVu Sans"/>
                          <a:cs typeface="DejaVu Sans"/>
                        </a:rPr>
                        <a:t>Revenu : 2 028</a:t>
                      </a:r>
                    </a:p>
                  </a:txBody>
                  <a:tcPr marL="91440" marR="91440" marT="45720" marB="45720" anchor="ctr">
                    <a:solidFill>
                      <a:srgbClr val="FFFFFF"/>
                    </a:solidFill>
                  </a:tcPr>
                </a:tc>
                <a:tc>
                  <a:txBody>
                    <a:bodyPr lIns="114300" tIns="114300" rIns="95250" bIns="76200">
                      <a:noAutofit/>
                    </a:bodyPr>
                    <a:lstStyle/>
                    <a:p>
                      <a:r>
                        <a:rPr sz="1950" b="1">
                          <a:solidFill>
                            <a:srgbClr val="D95F4C"/>
                          </a:solidFill>
                          <a:latin typeface="DejaVu Sans"/>
                          <a:ea typeface="DejaVu Sans"/>
                          <a:cs typeface="DejaVu Sans"/>
                        </a:rPr>
                        <a:t>+0,046</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PEE : 3</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-0,036</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Manager : 13 ans</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-0,036</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Heures supp. : non</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-0,032</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Ancienneté : 14 ans</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-0,032</a:t>
                      </a:r>
                    </a:p>
                  </a:txBody>
                  <a:tcPr marL="91440" marR="91440" marT="45720" marB="45720" anchor="ctr">
                    <a:solidFill>
                      <a:srgbClr val="FFFFFF"/>
                    </a:solidFill>
                  </a:tcPr>
                </a:tc>
              </a:tr>
              <a:tr h="503464">
                <a:tc>
                  <a:txBody>
                    <a:bodyPr lIns="114300" tIns="114300" rIns="95250" bIns="76200">
                      <a:noAutofit/>
                    </a:bodyPr>
                    <a:lstStyle/>
                    <a:p>
                      <a:r>
                        <a:rPr sz="1875" b="0">
                          <a:solidFill>
                            <a:srgbClr val="17324D"/>
                          </a:solidFill>
                          <a:latin typeface="DejaVu Sans"/>
                          <a:ea typeface="DejaVu Sans"/>
                          <a:cs typeface="DejaVu Sans"/>
                        </a:rPr>
                        <a:t>Poste : 11 ans</a:t>
                      </a:r>
                    </a:p>
                  </a:txBody>
                  <a:tcPr marL="91440" marR="91440" marT="45720" marB="45720" anchor="ctr">
                    <a:solidFill>
                      <a:srgbClr val="FFFFFF"/>
                    </a:solidFill>
                  </a:tcPr>
                </a:tc>
                <a:tc>
                  <a:txBody>
                    <a:bodyPr lIns="114300" tIns="114300" rIns="95250" bIns="76200">
                      <a:noAutofit/>
                    </a:bodyPr>
                    <a:lstStyle/>
                    <a:p>
                      <a:r>
                        <a:rPr sz="1950" b="1">
                          <a:solidFill>
                            <a:srgbClr val="357ABE"/>
                          </a:solidFill>
                          <a:latin typeface="DejaVu Sans"/>
                          <a:ea typeface="DejaVu Sans"/>
                          <a:cs typeface="DejaVu Sans"/>
                        </a:rPr>
                        <a:t>-0,025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3F7E641-FDF0-4CC9-B19C-C2188FDCADEB}"/>
              </a:ext>
            </a:extLst>
          </p:cNvPr>
          <p:cNvSpPr>
            <a:spLocks xmlns:a="http://schemas.openxmlformats.org/drawingml/2006/main" noGrp="1"/>
          </p:cNvSpPr>
          <p:nvPr/>
        </p:nvSpPr>
        <p:spPr>
          <a:xfrm xmlns:a="http://schemas.openxmlformats.org/drawingml/2006/main">
            <a:off x="8620125" y="2114550"/>
            <a:ext cx="29432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38A84"/>
                </a:solidFill>
                <a:latin typeface="DejaVu Sans"/>
                <a:ea typeface="DejaVu Sans"/>
                <a:cs typeface="DejaVu Sans"/>
              </a:defRPr>
            </a:pPr>
            <a:r>
              <a:rPr sz="5250" b="1">
                <a:solidFill>
                  <a:srgbClr val="138A84"/>
                </a:solidFill>
                <a:latin typeface="DejaVu Sans"/>
                <a:ea typeface="DejaVu Sans"/>
                <a:cs typeface="DejaVu Sans"/>
              </a:rPr>
              <a:t>7,3 %</a:t>
            </a:r>
          </a:p>
        </p:txBody>
      </p:sp>
      <p:sp>
        <p:nvSpPr>
          <p:cNvPr id="6" name="">
            <a:extLst xmlns:a="http://schemas.openxmlformats.org/drawingml/2006/main">
              <a:ext uri="{FF2B5EF4-FFF2-40B4-BE49-F238E27FC236}">
                <a16:creationId xmlns:a16="http://schemas.microsoft.com/office/drawing/2014/main" id="{81DD31BE-2B64-403E-A7B9-E36D0CC5B586}"/>
              </a:ext>
            </a:extLst>
          </p:cNvPr>
          <p:cNvSpPr>
            <a:spLocks xmlns:a="http://schemas.openxmlformats.org/drawingml/2006/main" noGrp="1"/>
          </p:cNvSpPr>
          <p:nvPr/>
        </p:nvSpPr>
        <p:spPr>
          <a:xfrm xmlns:a="http://schemas.openxmlformats.org/drawingml/2006/main">
            <a:off x="8620125" y="3143250"/>
            <a:ext cx="29432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Probabilité calibrée</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Sous le seuil</a:t>
            </a:r>
          </a:p>
          <a:p xmlns:a="http://schemas.openxmlformats.org/drawingml/2006/main">
            <a:pPr algn="l">
              <a:defRPr sz="2025" b="0">
                <a:solidFill>
                  <a:srgbClr val="17324D"/>
                </a:solidFill>
                <a:latin typeface="DejaVu Sans"/>
                <a:ea typeface="DejaVu Sans"/>
                <a:cs typeface="DejaVu Sans"/>
              </a:defRPr>
            </a:pPr>
            <a:r>
              <a:rPr sz="2025" b="0">
                <a:solidFill>
                  <a:srgbClr val="17324D"/>
                </a:solidFill>
                <a:latin typeface="DejaVu Sans"/>
                <a:ea typeface="DejaVu Sans"/>
                <a:cs typeface="DejaVu Sans"/>
              </a:rPr>
              <a:t>de 22,3 %</a:t>
            </a:r>
          </a:p>
        </p:txBody>
      </p:sp>
      <p:sp>
        <p:nvSpPr>
          <p:cNvPr id="7" name="">
            <a:extLst xmlns:a="http://schemas.openxmlformats.org/drawingml/2006/main">
              <a:ext uri="{FF2B5EF4-FFF2-40B4-BE49-F238E27FC236}">
                <a16:creationId xmlns:a16="http://schemas.microsoft.com/office/drawing/2014/main" id="{666CCD51-C9DE-4198-B347-9F1955EB9194}"/>
              </a:ext>
            </a:extLst>
          </p:cNvPr>
          <p:cNvSpPr>
            <a:spLocks xmlns:a="http://schemas.openxmlformats.org/drawingml/2006/main" noGrp="1"/>
          </p:cNvSpPr>
          <p:nvPr/>
        </p:nvSpPr>
        <p:spPr>
          <a:xfrm xmlns:a="http://schemas.openxmlformats.org/drawingml/2006/main">
            <a:off x="8620125" y="4781550"/>
            <a:ext cx="2943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24D"/>
                </a:solidFill>
                <a:latin typeface="DejaVu Sans"/>
                <a:ea typeface="DejaVu Sans"/>
                <a:cs typeface="DejaVu Sans"/>
              </a:defRPr>
            </a:pPr>
            <a:r>
              <a:rPr sz="1950" b="1">
                <a:solidFill>
                  <a:srgbClr val="17324D"/>
                </a:solidFill>
                <a:latin typeface="DejaVu Sans"/>
                <a:ea typeface="DejaVu Sans"/>
                <a:cs typeface="DejaVu Sans"/>
              </a:rPr>
              <a:t>Score brut ≈ 31,5 %</a:t>
            </a:r>
          </a:p>
        </p:txBody>
      </p:sp>
      <p:sp>
        <p:nvSpPr>
          <p:cNvPr id="8" name="">
            <a:extLst xmlns:a="http://schemas.openxmlformats.org/drawingml/2006/main">
              <a:ext uri="{FF2B5EF4-FFF2-40B4-BE49-F238E27FC236}">
                <a16:creationId xmlns:a16="http://schemas.microsoft.com/office/drawing/2014/main" id="{4E9489D6-6A8E-4E36-B14C-CDA5BEB33684}"/>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 revenu pousse le score vers le haut, mais plusieurs autres contributions vont dans le sens opposé.</a:t>
            </a:r>
          </a:p>
        </p:txBody>
      </p:sp>
    </p:spTree>
    <p:extLst>
      <p:ext uri="{BB962C8B-B14F-4D97-AF65-F5344CB8AC3E}">
        <p14:creationId xmlns:p14="http://schemas.microsoft.com/office/powerpoint/2010/main" val="8842106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2564F3-9031-4CED-95EB-6B2D7F145414}"/>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Les expériences complémentaires</a:t>
            </a:r>
          </a:p>
        </p:txBody>
      </p:sp>
      <p:sp>
        <p:nvSpPr>
          <p:cNvPr id="2" name="">
            <a:extLst xmlns:a="http://schemas.openxmlformats.org/drawingml/2006/main">
              <a:ext uri="{FF2B5EF4-FFF2-40B4-BE49-F238E27FC236}">
                <a16:creationId xmlns:a16="http://schemas.microsoft.com/office/drawing/2014/main" id="{A042B442-F1D0-4184-B6AF-7DC8CEA2C053}"/>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LightGBM et SMOTE complètent la comparaison en validation croisée</a:t>
            </a:r>
          </a:p>
        </p:txBody>
      </p:sp>
      <p:sp>
        <p:nvSpPr>
          <p:cNvPr id="3" name="">
            <a:extLst xmlns:a="http://schemas.openxmlformats.org/drawingml/2006/main">
              <a:ext uri="{FF2B5EF4-FFF2-40B4-BE49-F238E27FC236}">
                <a16:creationId xmlns:a16="http://schemas.microsoft.com/office/drawing/2014/main" id="{FE2A9088-6649-4E15-973C-1783F0AC3502}"/>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27</a:t>
            </a:r>
          </a:p>
        </p:txBody>
      </p:sp>
      <p:graphicFrame>
        <p:nvGraphicFramePr>
          <p:cNvPr id="13" name=""/>
          <p:cNvGraphicFramePr/>
          <p:nvPr/>
        </p:nvGraphicFramePr>
        <p:xfrm>
          <a:off xmlns:a="http://schemas.openxmlformats.org/drawingml/2006/main" x="590550" y="2028825"/>
          <a:ext xmlns:a="http://schemas.openxmlformats.org/drawingml/2006/main" cx="11010900" cy="2143125"/>
        </p:xfrm>
        <a:graphic xmlns:a="http://schemas.openxmlformats.org/drawingml/2006/main">
          <a:graphicData uri="http://schemas.openxmlformats.org/drawingml/2006/table">
            <a:tbl>
              <a:tblPr firstRow="0" bandRow="0"/>
              <a:tblGrid>
                <a:gridCol w="4343400"/>
                <a:gridCol w="1666875"/>
                <a:gridCol w="1666875"/>
                <a:gridCol w="1666875"/>
                <a:gridCol w="1666875"/>
              </a:tblGrid>
              <a:tr h="714375">
                <a:tc>
                  <a:txBody>
                    <a:bodyPr lIns="114300" tIns="114300" rIns="95250" bIns="76200">
                      <a:noAutofit/>
                    </a:bodyPr>
                    <a:lstStyle/>
                    <a:p>
                      <a:r>
                        <a:rPr sz="1875" b="1">
                          <a:solidFill>
                            <a:srgbClr val="FFFFFF"/>
                          </a:solidFill>
                          <a:latin typeface="DejaVu Sans"/>
                          <a:ea typeface="DejaVu Sans"/>
                          <a:cs typeface="DejaVu Sans"/>
                        </a:rPr>
                        <a:t>Modèle, seuil standard</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Précision</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Rappel</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F1</a:t>
                      </a:r>
                    </a:p>
                  </a:txBody>
                  <a:tcPr marL="91440" marR="91440" marT="45720" marB="45720" anchor="ctr">
                    <a:solidFill>
                      <a:srgbClr val="102A43"/>
                    </a:solidFill>
                  </a:tcPr>
                </a:tc>
                <a:tc>
                  <a:txBody>
                    <a:bodyPr lIns="114300" tIns="114300" rIns="95250" bIns="76200">
                      <a:noAutofit/>
                    </a:bodyPr>
                    <a:lstStyle/>
                    <a:p>
                      <a:r>
                        <a:rPr sz="1875" b="1">
                          <a:solidFill>
                            <a:srgbClr val="FFFFFF"/>
                          </a:solidFill>
                          <a:latin typeface="DejaVu Sans"/>
                          <a:ea typeface="DejaVu Sans"/>
                          <a:cs typeface="DejaVu Sans"/>
                        </a:rPr>
                        <a:t>ROC-AUC</a:t>
                      </a:r>
                    </a:p>
                  </a:txBody>
                  <a:tcPr marL="91440" marR="91440" marT="45720" marB="45720" anchor="ctr">
                    <a:solidFill>
                      <a:srgbClr val="102A43"/>
                    </a:solidFill>
                  </a:tcPr>
                </a:tc>
              </a:tr>
              <a:tr h="714375">
                <a:tc>
                  <a:txBody>
                    <a:bodyPr lIns="114300" tIns="114300" rIns="95250" bIns="76200">
                      <a:noAutofit/>
                    </a:bodyPr>
                    <a:lstStyle/>
                    <a:p>
                      <a:r>
                        <a:rPr sz="1875" b="0">
                          <a:solidFill>
                            <a:srgbClr val="17324D"/>
                          </a:solidFill>
                          <a:latin typeface="DejaVu Sans"/>
                          <a:ea typeface="DejaVu Sans"/>
                          <a:cs typeface="DejaVu Sans"/>
                        </a:rPr>
                        <a:t>LightGBM</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0,6204</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0,4526</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0,5226</a:t>
                      </a:r>
                    </a:p>
                  </a:txBody>
                  <a:tcPr marL="91440" marR="91440" marT="45720" marB="45720" anchor="ctr">
                    <a:solidFill>
                      <a:srgbClr val="E8F4F2"/>
                    </a:solidFill>
                  </a:tcPr>
                </a:tc>
                <a:tc>
                  <a:txBody>
                    <a:bodyPr lIns="114300" tIns="114300" rIns="95250" bIns="76200">
                      <a:noAutofit/>
                    </a:bodyPr>
                    <a:lstStyle/>
                    <a:p>
                      <a:r>
                        <a:rPr sz="1875" b="0">
                          <a:solidFill>
                            <a:srgbClr val="17324D"/>
                          </a:solidFill>
                          <a:latin typeface="DejaVu Sans"/>
                          <a:ea typeface="DejaVu Sans"/>
                          <a:cs typeface="DejaVu Sans"/>
                        </a:rPr>
                        <a:t>0,8030</a:t>
                      </a:r>
                    </a:p>
                  </a:txBody>
                  <a:tcPr marL="91440" marR="91440" marT="45720" marB="45720" anchor="ctr">
                    <a:solidFill>
                      <a:srgbClr val="E8F4F2"/>
                    </a:solidFill>
                  </a:tcPr>
                </a:tc>
              </a:tr>
              <a:tr h="714375">
                <a:tc>
                  <a:txBody>
                    <a:bodyPr lIns="114300" tIns="114300" rIns="95250" bIns="76200">
                      <a:noAutofit/>
                    </a:bodyPr>
                    <a:lstStyle/>
                    <a:p>
                      <a:r>
                        <a:rPr sz="1875" b="0">
                          <a:solidFill>
                            <a:srgbClr val="17324D"/>
                          </a:solidFill>
                          <a:latin typeface="DejaVu Sans"/>
                          <a:ea typeface="DejaVu Sans"/>
                          <a:cs typeface="DejaVu Sans"/>
                        </a:rPr>
                        <a:t>Random Forest + SMOTE</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0,5375</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0,4053</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0,4600</a:t>
                      </a:r>
                    </a:p>
                  </a:txBody>
                  <a:tcPr marL="91440" marR="91440" marT="45720" marB="45720" anchor="ctr">
                    <a:solidFill>
                      <a:srgbClr val="FFFFFF"/>
                    </a:solidFill>
                  </a:tcPr>
                </a:tc>
                <a:tc>
                  <a:txBody>
                    <a:bodyPr lIns="114300" tIns="114300" rIns="95250" bIns="76200">
                      <a:noAutofit/>
                    </a:bodyPr>
                    <a:lstStyle/>
                    <a:p>
                      <a:r>
                        <a:rPr sz="1875" b="0">
                          <a:solidFill>
                            <a:srgbClr val="17324D"/>
                          </a:solidFill>
                          <a:latin typeface="DejaVu Sans"/>
                          <a:ea typeface="DejaVu Sans"/>
                          <a:cs typeface="DejaVu Sans"/>
                        </a:rPr>
                        <a:t>0,7689</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F188E9F-7641-449A-91BC-525A3E836ACE}"/>
              </a:ext>
            </a:extLst>
          </p:cNvPr>
          <p:cNvSpPr>
            <a:spLocks xmlns:a="http://schemas.openxmlformats.org/drawingml/2006/main" noGrp="1"/>
          </p:cNvSpPr>
          <p:nvPr/>
        </p:nvSpPr>
        <p:spPr>
          <a:xfrm xmlns:a="http://schemas.openxmlformats.org/drawingml/2006/main">
            <a:off x="619125" y="44577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24D"/>
                </a:solidFill>
                <a:latin typeface="DejaVu Sans"/>
                <a:ea typeface="DejaVu Sans"/>
                <a:cs typeface="DejaVu Sans"/>
              </a:defRPr>
            </a:pPr>
            <a:r>
              <a:rPr sz="1800" b="1">
                <a:solidFill>
                  <a:srgbClr val="17324D"/>
                </a:solidFill>
                <a:latin typeface="DejaVu Sans"/>
                <a:ea typeface="DejaVu Sans"/>
                <a:cs typeface="DejaVu Sans"/>
              </a:rPr>
              <a:t>LightGBM</a:t>
            </a:r>
          </a:p>
        </p:txBody>
      </p:sp>
      <p:sp>
        <p:nvSpPr>
          <p:cNvPr id="6" name="">
            <a:extLst xmlns:a="http://schemas.openxmlformats.org/drawingml/2006/main">
              <a:ext uri="{FF2B5EF4-FFF2-40B4-BE49-F238E27FC236}">
                <a16:creationId xmlns:a16="http://schemas.microsoft.com/office/drawing/2014/main" id="{93127126-5E83-4A99-A625-8E465F9217B8}"/>
              </a:ext>
            </a:extLst>
          </p:cNvPr>
          <p:cNvSpPr>
            <a:spLocks xmlns:a="http://schemas.openxmlformats.org/drawingml/2006/main" noGrp="1"/>
          </p:cNvSpPr>
          <p:nvPr/>
        </p:nvSpPr>
        <p:spPr>
          <a:xfrm xmlns:a="http://schemas.openxmlformats.org/drawingml/2006/main">
            <a:off x="619125" y="483870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06677"/>
                </a:solidFill>
                <a:latin typeface="DejaVu Sans"/>
                <a:ea typeface="DejaVu Sans"/>
                <a:cs typeface="DejaVu Sans"/>
              </a:defRPr>
            </a:pPr>
            <a:r>
              <a:rPr sz="1650" b="0">
                <a:solidFill>
                  <a:srgbClr val="506677"/>
                </a:solidFill>
                <a:latin typeface="DejaVu Sans"/>
                <a:ea typeface="DejaVu Sans"/>
                <a:cs typeface="DejaVu Sans"/>
              </a:rPr>
              <a:t>Des arbres ajoutés progressivement pour corriger les erreurs du modèle précédent.</a:t>
            </a:r>
          </a:p>
        </p:txBody>
      </p:sp>
      <p:sp>
        <p:nvSpPr>
          <p:cNvPr id="7" name="">
            <a:extLst xmlns:a="http://schemas.openxmlformats.org/drawingml/2006/main">
              <a:ext uri="{FF2B5EF4-FFF2-40B4-BE49-F238E27FC236}">
                <a16:creationId xmlns:a16="http://schemas.microsoft.com/office/drawing/2014/main" id="{549E7E09-4221-4196-91CA-9B66F82A7666}"/>
              </a:ext>
            </a:extLst>
          </p:cNvPr>
          <p:cNvSpPr>
            <a:spLocks xmlns:a="http://schemas.openxmlformats.org/drawingml/2006/main" noGrp="1"/>
          </p:cNvSpPr>
          <p:nvPr/>
        </p:nvSpPr>
        <p:spPr>
          <a:xfrm xmlns:a="http://schemas.openxmlformats.org/drawingml/2006/main">
            <a:off x="619125" y="5191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24D"/>
                </a:solidFill>
                <a:latin typeface="DejaVu Sans"/>
                <a:ea typeface="DejaVu Sans"/>
                <a:cs typeface="DejaVu Sans"/>
              </a:defRPr>
            </a:pPr>
            <a:r>
              <a:rPr sz="1800" b="1">
                <a:solidFill>
                  <a:srgbClr val="17324D"/>
                </a:solidFill>
                <a:latin typeface="DejaVu Sans"/>
                <a:ea typeface="DejaVu Sans"/>
                <a:cs typeface="DejaVu Sans"/>
              </a:rPr>
              <a:t>SMOTE</a:t>
            </a:r>
          </a:p>
        </p:txBody>
      </p:sp>
      <p:sp>
        <p:nvSpPr>
          <p:cNvPr id="8" name="">
            <a:extLst xmlns:a="http://schemas.openxmlformats.org/drawingml/2006/main">
              <a:ext uri="{FF2B5EF4-FFF2-40B4-BE49-F238E27FC236}">
                <a16:creationId xmlns:a16="http://schemas.microsoft.com/office/drawing/2014/main" id="{50324634-4FD6-40C2-A771-CC8361572DAB}"/>
              </a:ext>
            </a:extLst>
          </p:cNvPr>
          <p:cNvSpPr>
            <a:spLocks xmlns:a="http://schemas.openxmlformats.org/drawingml/2006/main" noGrp="1"/>
          </p:cNvSpPr>
          <p:nvPr/>
        </p:nvSpPr>
        <p:spPr>
          <a:xfrm xmlns:a="http://schemas.openxmlformats.org/drawingml/2006/main">
            <a:off x="619125" y="5572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06677"/>
                </a:solidFill>
                <a:latin typeface="DejaVu Sans"/>
                <a:ea typeface="DejaVu Sans"/>
                <a:cs typeface="DejaVu Sans"/>
              </a:defRPr>
            </a:pPr>
            <a:r>
              <a:rPr sz="1650" b="0">
                <a:solidFill>
                  <a:srgbClr val="506677"/>
                </a:solidFill>
                <a:latin typeface="DejaVu Sans"/>
                <a:ea typeface="DejaVu Sans"/>
                <a:cs typeface="DejaVu Sans"/>
              </a:rPr>
              <a:t>Des exemples synthétiques de départs créés à l’intérieur des folds d’entraînement.</a:t>
            </a:r>
          </a:p>
        </p:txBody>
      </p:sp>
      <p:sp>
        <p:nvSpPr>
          <p:cNvPr id="9" name="">
            <a:extLst xmlns:a="http://schemas.openxmlformats.org/drawingml/2006/main">
              <a:ext uri="{FF2B5EF4-FFF2-40B4-BE49-F238E27FC236}">
                <a16:creationId xmlns:a16="http://schemas.microsoft.com/office/drawing/2014/main" id="{166B7418-D941-48D6-95FE-D9C40C4362B7}"/>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 RF calibré reste le choix du livrable. LightGBM est un concurrent à comparer avec un réglage du seuil équivalent.</a:t>
            </a:r>
          </a:p>
        </p:txBody>
      </p:sp>
    </p:spTree>
    <p:extLst>
      <p:ext uri="{BB962C8B-B14F-4D97-AF65-F5344CB8AC3E}">
        <p14:creationId xmlns:p14="http://schemas.microsoft.com/office/powerpoint/2010/main" val="133730223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B1181E-E730-4309-BE83-4DD9687E7AFF}"/>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Les limites méthodologiques à connaître</a:t>
            </a:r>
          </a:p>
        </p:txBody>
      </p:sp>
      <p:sp>
        <p:nvSpPr>
          <p:cNvPr id="2" name="">
            <a:extLst xmlns:a="http://schemas.openxmlformats.org/drawingml/2006/main">
              <a:ext uri="{FF2B5EF4-FFF2-40B4-BE49-F238E27FC236}">
                <a16:creationId xmlns:a16="http://schemas.microsoft.com/office/drawing/2014/main" id="{B8BEEC32-4E67-4F29-8008-B0BA3B700FCE}"/>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résultats restent ceux du notebook. Ces points guident la prochaine validation.</a:t>
            </a:r>
          </a:p>
        </p:txBody>
      </p:sp>
      <p:sp>
        <p:nvSpPr>
          <p:cNvPr id="3" name="">
            <a:extLst xmlns:a="http://schemas.openxmlformats.org/drawingml/2006/main">
              <a:ext uri="{FF2B5EF4-FFF2-40B4-BE49-F238E27FC236}">
                <a16:creationId xmlns:a16="http://schemas.microsoft.com/office/drawing/2014/main" id="{2B1D7CCF-B5DE-4FDA-BBD1-D8C408034E5E}"/>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28</a:t>
            </a:r>
          </a:p>
        </p:txBody>
      </p:sp>
      <p:sp>
        <p:nvSpPr>
          <p:cNvPr id="4" name="">
            <a:extLst xmlns:a="http://schemas.openxmlformats.org/drawingml/2006/main">
              <a:ext uri="{FF2B5EF4-FFF2-40B4-BE49-F238E27FC236}">
                <a16:creationId xmlns:a16="http://schemas.microsoft.com/office/drawing/2014/main" id="{38D1874D-A55F-49FA-B9F1-635B84B72A09}"/>
              </a:ext>
            </a:extLst>
          </p:cNvPr>
          <p:cNvSpPr>
            <a:spLocks xmlns:a="http://schemas.openxmlformats.org/drawingml/2006/main" noGrp="1"/>
          </p:cNvSpPr>
          <p:nvPr/>
        </p:nvSpPr>
        <p:spPr>
          <a:xfrm xmlns:a="http://schemas.openxmlformats.org/drawingml/2006/main">
            <a:off x="619125" y="20097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Prétraitements avant le split</a:t>
            </a:r>
          </a:p>
        </p:txBody>
      </p:sp>
      <p:sp>
        <p:nvSpPr>
          <p:cNvPr id="5" name="">
            <a:extLst xmlns:a="http://schemas.openxmlformats.org/drawingml/2006/main">
              <a:ext uri="{FF2B5EF4-FFF2-40B4-BE49-F238E27FC236}">
                <a16:creationId xmlns:a16="http://schemas.microsoft.com/office/drawing/2014/main" id="{E0F56681-B1AD-46D9-BD8F-FBBB9C2FB726}"/>
              </a:ext>
            </a:extLst>
          </p:cNvPr>
          <p:cNvSpPr>
            <a:spLocks xmlns:a="http://schemas.openxmlformats.org/drawingml/2006/main" noGrp="1"/>
          </p:cNvSpPr>
          <p:nvPr/>
        </p:nvSpPr>
        <p:spPr>
          <a:xfrm xmlns:a="http://schemas.openxmlformats.org/drawingml/2006/main">
            <a:off x="619125" y="239077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médianes et le One-Hot utilisent tout le jeu. Une Pipeline complète évitera cette fuite.</a:t>
            </a:r>
          </a:p>
        </p:txBody>
      </p:sp>
      <p:sp>
        <p:nvSpPr>
          <p:cNvPr id="6" name="">
            <a:extLst xmlns:a="http://schemas.openxmlformats.org/drawingml/2006/main">
              <a:ext uri="{FF2B5EF4-FFF2-40B4-BE49-F238E27FC236}">
                <a16:creationId xmlns:a16="http://schemas.microsoft.com/office/drawing/2014/main" id="{AA6A4DC5-5761-441F-9F6F-9673763DF584}"/>
              </a:ext>
            </a:extLst>
          </p:cNvPr>
          <p:cNvSpPr>
            <a:spLocks xmlns:a="http://schemas.openxmlformats.org/drawingml/2006/main" noGrp="1"/>
          </p:cNvSpPr>
          <p:nvPr/>
        </p:nvSpPr>
        <p:spPr>
          <a:xfrm xmlns:a="http://schemas.openxmlformats.org/drawingml/2006/main">
            <a:off x="619125" y="2952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Variables à revoir</a:t>
            </a:r>
          </a:p>
        </p:txBody>
      </p:sp>
      <p:sp>
        <p:nvSpPr>
          <p:cNvPr id="7" name="">
            <a:extLst xmlns:a="http://schemas.openxmlformats.org/drawingml/2006/main">
              <a:ext uri="{FF2B5EF4-FFF2-40B4-BE49-F238E27FC236}">
                <a16:creationId xmlns:a16="http://schemas.microsoft.com/office/drawing/2014/main" id="{D507351D-9D91-4636-B000-FF8F2F8B1C5F}"/>
              </a:ext>
            </a:extLst>
          </p:cNvPr>
          <p:cNvSpPr>
            <a:spLocks xmlns:a="http://schemas.openxmlformats.org/drawingml/2006/main" noGrp="1"/>
          </p:cNvSpPr>
          <p:nvPr/>
        </p:nvSpPr>
        <p:spPr>
          <a:xfrm xmlns:a="http://schemas.openxmlformats.org/drawingml/2006/main">
            <a:off x="619125" y="3333750"/>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Trois colonnes constantes et deux indicateurs redondants restent dans X.</a:t>
            </a:r>
          </a:p>
        </p:txBody>
      </p:sp>
      <p:sp>
        <p:nvSpPr>
          <p:cNvPr id="8" name="">
            <a:extLst xmlns:a="http://schemas.openxmlformats.org/drawingml/2006/main">
              <a:ext uri="{FF2B5EF4-FFF2-40B4-BE49-F238E27FC236}">
                <a16:creationId xmlns:a16="http://schemas.microsoft.com/office/drawing/2014/main" id="{5DC72BE3-F35D-457E-8E02-177B7582211E}"/>
              </a:ext>
            </a:extLst>
          </p:cNvPr>
          <p:cNvSpPr>
            <a:spLocks xmlns:a="http://schemas.openxmlformats.org/drawingml/2006/main" noGrp="1"/>
          </p:cNvSpPr>
          <p:nvPr/>
        </p:nvSpPr>
        <p:spPr>
          <a:xfrm xmlns:a="http://schemas.openxmlformats.org/drawingml/2006/main">
            <a:off x="619125" y="38957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Interprétation de la chaîne finale</a:t>
            </a:r>
          </a:p>
        </p:txBody>
      </p:sp>
      <p:sp>
        <p:nvSpPr>
          <p:cNvPr id="9" name="">
            <a:extLst xmlns:a="http://schemas.openxmlformats.org/drawingml/2006/main">
              <a:ext uri="{FF2B5EF4-FFF2-40B4-BE49-F238E27FC236}">
                <a16:creationId xmlns:a16="http://schemas.microsoft.com/office/drawing/2014/main" id="{7B820998-06E1-422E-8A9C-D2EB50E3D54A}"/>
              </a:ext>
            </a:extLst>
          </p:cNvPr>
          <p:cNvSpPr>
            <a:spLocks xmlns:a="http://schemas.openxmlformats.org/drawingml/2006/main" noGrp="1"/>
          </p:cNvSpPr>
          <p:nvPr/>
        </p:nvSpPr>
        <p:spPr>
          <a:xfrm xmlns:a="http://schemas.openxmlformats.org/drawingml/2006/main">
            <a:off x="619125" y="42767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SHAP portent sur le RF brut. La calibration finale doit être expliquée séparément.</a:t>
            </a:r>
          </a:p>
        </p:txBody>
      </p:sp>
      <p:sp>
        <p:nvSpPr>
          <p:cNvPr id="10" name="">
            <a:extLst xmlns:a="http://schemas.openxmlformats.org/drawingml/2006/main">
              <a:ext uri="{FF2B5EF4-FFF2-40B4-BE49-F238E27FC236}">
                <a16:creationId xmlns:a16="http://schemas.microsoft.com/office/drawing/2014/main" id="{7FA02FFD-9A10-46B4-899B-42984D459217}"/>
              </a:ext>
            </a:extLst>
          </p:cNvPr>
          <p:cNvSpPr>
            <a:spLocks xmlns:a="http://schemas.openxmlformats.org/drawingml/2006/main" noGrp="1"/>
          </p:cNvSpPr>
          <p:nvPr/>
        </p:nvSpPr>
        <p:spPr>
          <a:xfrm xmlns:a="http://schemas.openxmlformats.org/drawingml/2006/main">
            <a:off x="619125" y="48387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Estimation de la performance</a:t>
            </a:r>
          </a:p>
        </p:txBody>
      </p:sp>
      <p:sp>
        <p:nvSpPr>
          <p:cNvPr id="11" name="">
            <a:extLst xmlns:a="http://schemas.openxmlformats.org/drawingml/2006/main">
              <a:ext uri="{FF2B5EF4-FFF2-40B4-BE49-F238E27FC236}">
                <a16:creationId xmlns:a16="http://schemas.microsoft.com/office/drawing/2014/main" id="{CFE3A4E5-B0BE-4CDB-B68D-DAD3A0C21150}"/>
              </a:ext>
            </a:extLst>
          </p:cNvPr>
          <p:cNvSpPr>
            <a:spLocks xmlns:a="http://schemas.openxmlformats.org/drawingml/2006/main" noGrp="1"/>
          </p:cNvSpPr>
          <p:nvPr/>
        </p:nvSpPr>
        <p:spPr>
          <a:xfrm xmlns:a="http://schemas.openxmlformats.org/drawingml/2006/main">
            <a:off x="619125" y="5219700"/>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Seulement 47 départs dans le test. Une validation plus complète doit confirmer le compromis.</a:t>
            </a:r>
          </a:p>
        </p:txBody>
      </p:sp>
    </p:spTree>
    <p:extLst>
      <p:ext uri="{BB962C8B-B14F-4D97-AF65-F5344CB8AC3E}">
        <p14:creationId xmlns:p14="http://schemas.microsoft.com/office/powerpoint/2010/main" val="136070689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C23391-DFC1-4E65-8845-3EFA194077A0}"/>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L’utilisation des résultats par les RH</a:t>
            </a:r>
          </a:p>
        </p:txBody>
      </p:sp>
      <p:sp>
        <p:nvSpPr>
          <p:cNvPr id="2" name="">
            <a:extLst xmlns:a="http://schemas.openxmlformats.org/drawingml/2006/main">
              <a:ext uri="{FF2B5EF4-FFF2-40B4-BE49-F238E27FC236}">
                <a16:creationId xmlns:a16="http://schemas.microsoft.com/office/drawing/2014/main" id="{69903B62-6E52-4A41-84D0-43272EDBFB12}"/>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Des hypothèses à confronter au contexte de travail</a:t>
            </a:r>
          </a:p>
        </p:txBody>
      </p:sp>
      <p:sp>
        <p:nvSpPr>
          <p:cNvPr id="3" name="">
            <a:extLst xmlns:a="http://schemas.openxmlformats.org/drawingml/2006/main">
              <a:ext uri="{FF2B5EF4-FFF2-40B4-BE49-F238E27FC236}">
                <a16:creationId xmlns:a16="http://schemas.microsoft.com/office/drawing/2014/main" id="{C8B628B1-0C90-4E8B-9725-194293E3C813}"/>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29</a:t>
            </a:r>
          </a:p>
        </p:txBody>
      </p:sp>
      <p:sp>
        <p:nvSpPr>
          <p:cNvPr id="4" name="">
            <a:extLst xmlns:a="http://schemas.openxmlformats.org/drawingml/2006/main">
              <a:ext uri="{FF2B5EF4-FFF2-40B4-BE49-F238E27FC236}">
                <a16:creationId xmlns:a16="http://schemas.microsoft.com/office/drawing/2014/main" id="{E3A51980-3EDD-4BF9-B328-D1F766A92F31}"/>
              </a:ext>
            </a:extLst>
          </p:cNvPr>
          <p:cNvSpPr>
            <a:spLocks xmlns:a="http://schemas.openxmlformats.org/drawingml/2006/main" noGrp="1"/>
          </p:cNvSpPr>
          <p:nvPr/>
        </p:nvSpPr>
        <p:spPr>
          <a:xfrm xmlns:a="http://schemas.openxmlformats.org/drawingml/2006/main">
            <a:off x="619125" y="20097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Charge de travail</a:t>
            </a:r>
          </a:p>
        </p:txBody>
      </p:sp>
      <p:sp>
        <p:nvSpPr>
          <p:cNvPr id="5" name="">
            <a:extLst xmlns:a="http://schemas.openxmlformats.org/drawingml/2006/main">
              <a:ext uri="{FF2B5EF4-FFF2-40B4-BE49-F238E27FC236}">
                <a16:creationId xmlns:a16="http://schemas.microsoft.com/office/drawing/2014/main" id="{79A058DF-AE35-4559-986D-25052BFF05F1}"/>
              </a:ext>
            </a:extLst>
          </p:cNvPr>
          <p:cNvSpPr>
            <a:spLocks xmlns:a="http://schemas.openxmlformats.org/drawingml/2006/main" noGrp="1"/>
          </p:cNvSpPr>
          <p:nvPr/>
        </p:nvSpPr>
        <p:spPr>
          <a:xfrm xmlns:a="http://schemas.openxmlformats.org/drawingml/2006/main">
            <a:off x="619125" y="2390775"/>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Étudier l’association entre heures supplémentaires et départs.</a:t>
            </a:r>
          </a:p>
        </p:txBody>
      </p:sp>
      <p:sp>
        <p:nvSpPr>
          <p:cNvPr id="6" name="">
            <a:extLst xmlns:a="http://schemas.openxmlformats.org/drawingml/2006/main">
              <a:ext uri="{FF2B5EF4-FFF2-40B4-BE49-F238E27FC236}">
                <a16:creationId xmlns:a16="http://schemas.microsoft.com/office/drawing/2014/main" id="{8DA7CF7A-9FB7-4C4B-8F9E-BD2D2F08F6B9}"/>
              </a:ext>
            </a:extLst>
          </p:cNvPr>
          <p:cNvSpPr>
            <a:spLocks xmlns:a="http://schemas.openxmlformats.org/drawingml/2006/main" noGrp="1"/>
          </p:cNvSpPr>
          <p:nvPr/>
        </p:nvSpPr>
        <p:spPr>
          <a:xfrm xmlns:a="http://schemas.openxmlformats.org/drawingml/2006/main">
            <a:off x="619125" y="295275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Parcours et fidélisation</a:t>
            </a:r>
          </a:p>
        </p:txBody>
      </p:sp>
      <p:sp>
        <p:nvSpPr>
          <p:cNvPr id="7" name="">
            <a:extLst xmlns:a="http://schemas.openxmlformats.org/drawingml/2006/main">
              <a:ext uri="{FF2B5EF4-FFF2-40B4-BE49-F238E27FC236}">
                <a16:creationId xmlns:a16="http://schemas.microsoft.com/office/drawing/2014/main" id="{9295D0AF-CCA5-4BA7-BFB5-5373398AD27E}"/>
              </a:ext>
            </a:extLst>
          </p:cNvPr>
          <p:cNvSpPr>
            <a:spLocks xmlns:a="http://schemas.openxmlformats.org/drawingml/2006/main" noGrp="1"/>
          </p:cNvSpPr>
          <p:nvPr/>
        </p:nvSpPr>
        <p:spPr>
          <a:xfrm xmlns:a="http://schemas.openxmlformats.org/drawingml/2006/main">
            <a:off x="619125" y="333375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Examiner l’ancienneté, la satisfaction et le positionnement des revenus.</a:t>
            </a:r>
          </a:p>
        </p:txBody>
      </p:sp>
      <p:sp>
        <p:nvSpPr>
          <p:cNvPr id="8" name="">
            <a:extLst xmlns:a="http://schemas.openxmlformats.org/drawingml/2006/main">
              <a:ext uri="{FF2B5EF4-FFF2-40B4-BE49-F238E27FC236}">
                <a16:creationId xmlns:a16="http://schemas.microsoft.com/office/drawing/2014/main" id="{3E596C91-036B-49D6-B56B-F001902BBF54}"/>
              </a:ext>
            </a:extLst>
          </p:cNvPr>
          <p:cNvSpPr>
            <a:spLocks xmlns:a="http://schemas.openxmlformats.org/drawingml/2006/main" noGrp="1"/>
          </p:cNvSpPr>
          <p:nvPr/>
        </p:nvSpPr>
        <p:spPr>
          <a:xfrm xmlns:a="http://schemas.openxmlformats.org/drawingml/2006/main">
            <a:off x="619125" y="38957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Compromis opérationnel</a:t>
            </a:r>
          </a:p>
        </p:txBody>
      </p:sp>
      <p:sp>
        <p:nvSpPr>
          <p:cNvPr id="9" name="">
            <a:extLst xmlns:a="http://schemas.openxmlformats.org/drawingml/2006/main">
              <a:ext uri="{FF2B5EF4-FFF2-40B4-BE49-F238E27FC236}">
                <a16:creationId xmlns:a16="http://schemas.microsoft.com/office/drawing/2014/main" id="{438C2701-5FEE-44E9-8527-0DFCA4812914}"/>
              </a:ext>
            </a:extLst>
          </p:cNvPr>
          <p:cNvSpPr>
            <a:spLocks xmlns:a="http://schemas.openxmlformats.org/drawingml/2006/main" noGrp="1"/>
          </p:cNvSpPr>
          <p:nvPr/>
        </p:nvSpPr>
        <p:spPr>
          <a:xfrm xmlns:a="http://schemas.openxmlformats.org/drawingml/2006/main">
            <a:off x="619125" y="4276725"/>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Définir le nombre d’alertes traitables et le coût des départs manqués.</a:t>
            </a:r>
          </a:p>
        </p:txBody>
      </p:sp>
      <p:sp>
        <p:nvSpPr>
          <p:cNvPr id="10" name="">
            <a:extLst xmlns:a="http://schemas.openxmlformats.org/drawingml/2006/main">
              <a:ext uri="{FF2B5EF4-FFF2-40B4-BE49-F238E27FC236}">
                <a16:creationId xmlns:a16="http://schemas.microsoft.com/office/drawing/2014/main" id="{8CD39476-D487-42FD-B804-9994DC82F40D}"/>
              </a:ext>
            </a:extLst>
          </p:cNvPr>
          <p:cNvSpPr>
            <a:spLocks xmlns:a="http://schemas.openxmlformats.org/drawingml/2006/main" noGrp="1"/>
          </p:cNvSpPr>
          <p:nvPr/>
        </p:nvSpPr>
        <p:spPr>
          <a:xfrm xmlns:a="http://schemas.openxmlformats.org/drawingml/2006/main">
            <a:off x="619125" y="48387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Validation du dispositif</a:t>
            </a:r>
          </a:p>
        </p:txBody>
      </p:sp>
      <p:sp>
        <p:nvSpPr>
          <p:cNvPr id="11" name="">
            <a:extLst xmlns:a="http://schemas.openxmlformats.org/drawingml/2006/main">
              <a:ext uri="{FF2B5EF4-FFF2-40B4-BE49-F238E27FC236}">
                <a16:creationId xmlns:a16="http://schemas.microsoft.com/office/drawing/2014/main" id="{760C165E-8C4C-48DC-AEE6-523FFFCFE664}"/>
              </a:ext>
            </a:extLst>
          </p:cNvPr>
          <p:cNvSpPr>
            <a:spLocks xmlns:a="http://schemas.openxmlformats.org/drawingml/2006/main" noGrp="1"/>
          </p:cNvSpPr>
          <p:nvPr/>
        </p:nvSpPr>
        <p:spPr>
          <a:xfrm xmlns:a="http://schemas.openxmlformats.org/drawingml/2006/main">
            <a:off x="619125" y="521970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Tester sur de nouvelles périodes et vérifier les écarts de performance entre groupes.</a:t>
            </a:r>
          </a:p>
        </p:txBody>
      </p:sp>
    </p:spTree>
    <p:extLst>
      <p:ext uri="{BB962C8B-B14F-4D97-AF65-F5344CB8AC3E}">
        <p14:creationId xmlns:p14="http://schemas.microsoft.com/office/powerpoint/2010/main" val="63004218"/>
      </p:ext>
    </p:extLst>
  </p:cSld>
</p:sld>
</file>

<file path=ppt/slides/slide3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8F9B06-75AD-46E9-9FBC-137A2DF1C96A}"/>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Ce que le projet permet de montrer</a:t>
            </a:r>
          </a:p>
        </p:txBody>
      </p:sp>
      <p:sp>
        <p:nvSpPr>
          <p:cNvPr id="2" name="">
            <a:extLst xmlns:a="http://schemas.openxmlformats.org/drawingml/2006/main">
              <a:ext uri="{FF2B5EF4-FFF2-40B4-BE49-F238E27FC236}">
                <a16:creationId xmlns:a16="http://schemas.microsoft.com/office/drawing/2014/main" id="{6A98A956-E4D3-4632-B829-96AA4F268886}"/>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CDDE2"/>
                </a:solidFill>
                <a:latin typeface="DejaVu Sans"/>
                <a:ea typeface="DejaVu Sans"/>
                <a:cs typeface="DejaVu Sans"/>
              </a:defRPr>
            </a:pPr>
            <a:r>
              <a:rPr sz="1725" b="0">
                <a:solidFill>
                  <a:srgbClr val="BCDDE2"/>
                </a:solidFill>
                <a:latin typeface="DejaVu Sans"/>
                <a:ea typeface="DejaVu Sans"/>
                <a:cs typeface="DejaVu Sans"/>
              </a:rPr>
              <a:t>Un modèle interprétable, un seuil explicite et un compromis mesurable</a:t>
            </a:r>
          </a:p>
        </p:txBody>
      </p:sp>
      <p:sp>
        <p:nvSpPr>
          <p:cNvPr id="3" name="">
            <a:extLst xmlns:a="http://schemas.openxmlformats.org/drawingml/2006/main">
              <a:ext uri="{FF2B5EF4-FFF2-40B4-BE49-F238E27FC236}">
                <a16:creationId xmlns:a16="http://schemas.microsoft.com/office/drawing/2014/main" id="{4EF6E6D0-CAA7-496B-A2C7-C5A6B531600A}"/>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8FB3C6"/>
                </a:solidFill>
                <a:latin typeface="DejaVu Sans"/>
                <a:ea typeface="DejaVu Sans"/>
                <a:cs typeface="DejaVu Sans"/>
              </a:defRPr>
            </a:pPr>
            <a:r>
              <a:rPr sz="1200" b="0">
                <a:solidFill>
                  <a:srgbClr val="8FB3C6"/>
                </a:solidFill>
                <a:latin typeface="DejaVu Sans"/>
                <a:ea typeface="DejaVu Sans"/>
                <a:cs typeface="DejaVu Sans"/>
              </a:rPr>
              <a:t>30</a:t>
            </a:r>
          </a:p>
        </p:txBody>
      </p:sp>
      <p:sp>
        <p:nvSpPr>
          <p:cNvPr id="4" name="">
            <a:extLst xmlns:a="http://schemas.openxmlformats.org/drawingml/2006/main">
              <a:ext uri="{FF2B5EF4-FFF2-40B4-BE49-F238E27FC236}">
                <a16:creationId xmlns:a16="http://schemas.microsoft.com/office/drawing/2014/main" id="{417184CC-BDCC-49AC-8BF4-21798F2C10AD}"/>
              </a:ext>
            </a:extLst>
          </p:cNvPr>
          <p:cNvSpPr>
            <a:spLocks xmlns:a="http://schemas.openxmlformats.org/drawingml/2006/main" noGrp="1"/>
          </p:cNvSpPr>
          <p:nvPr/>
        </p:nvSpPr>
        <p:spPr>
          <a:xfrm xmlns:a="http://schemas.openxmlformats.org/drawingml/2006/main">
            <a:off x="619125" y="2390775"/>
            <a:ext cx="4810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8BD6CE"/>
                </a:solidFill>
                <a:latin typeface="DejaVu Sans"/>
                <a:ea typeface="DejaVu Sans"/>
                <a:cs typeface="DejaVu Sans"/>
              </a:defRPr>
            </a:pPr>
            <a:r>
              <a:rPr sz="5775" b="1">
                <a:solidFill>
                  <a:srgbClr val="8BD6CE"/>
                </a:solidFill>
                <a:latin typeface="DejaVu Sans"/>
                <a:ea typeface="DejaVu Sans"/>
                <a:cs typeface="DejaVu Sans"/>
              </a:rPr>
              <a:t>29 / 47</a:t>
            </a:r>
          </a:p>
        </p:txBody>
      </p:sp>
      <p:sp>
        <p:nvSpPr>
          <p:cNvPr id="5" name="">
            <a:extLst xmlns:a="http://schemas.openxmlformats.org/drawingml/2006/main">
              <a:ext uri="{FF2B5EF4-FFF2-40B4-BE49-F238E27FC236}">
                <a16:creationId xmlns:a16="http://schemas.microsoft.com/office/drawing/2014/main" id="{CB8B05CA-0450-4B27-8065-4556690B2BAE}"/>
              </a:ext>
            </a:extLst>
          </p:cNvPr>
          <p:cNvSpPr>
            <a:spLocks xmlns:a="http://schemas.openxmlformats.org/drawingml/2006/main" noGrp="1"/>
          </p:cNvSpPr>
          <p:nvPr/>
        </p:nvSpPr>
        <p:spPr>
          <a:xfrm xmlns:a="http://schemas.openxmlformats.org/drawingml/2006/main">
            <a:off x="619125" y="3476625"/>
            <a:ext cx="4886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départs détectés sur le test</a:t>
            </a:r>
          </a:p>
        </p:txBody>
      </p:sp>
      <p:sp>
        <p:nvSpPr>
          <p:cNvPr id="6" name="">
            <a:extLst xmlns:a="http://schemas.openxmlformats.org/drawingml/2006/main">
              <a:ext uri="{FF2B5EF4-FFF2-40B4-BE49-F238E27FC236}">
                <a16:creationId xmlns:a16="http://schemas.microsoft.com/office/drawing/2014/main" id="{6CD23292-8258-40A0-9D04-27F73E631830}"/>
              </a:ext>
            </a:extLst>
          </p:cNvPr>
          <p:cNvSpPr>
            <a:spLocks xmlns:a="http://schemas.openxmlformats.org/drawingml/2006/main" noGrp="1"/>
          </p:cNvSpPr>
          <p:nvPr/>
        </p:nvSpPr>
        <p:spPr>
          <a:xfrm xmlns:a="http://schemas.openxmlformats.org/drawingml/2006/main">
            <a:off x="7048500" y="2390775"/>
            <a:ext cx="4476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F3AA98"/>
                </a:solidFill>
                <a:latin typeface="DejaVu Sans"/>
                <a:ea typeface="DejaVu Sans"/>
                <a:cs typeface="DejaVu Sans"/>
              </a:defRPr>
            </a:pPr>
            <a:r>
              <a:rPr sz="5775" b="1">
                <a:solidFill>
                  <a:srgbClr val="F3AA98"/>
                </a:solidFill>
                <a:latin typeface="DejaVu Sans"/>
                <a:ea typeface="DejaVu Sans"/>
                <a:cs typeface="DejaVu Sans"/>
              </a:rPr>
              <a:t>40</a:t>
            </a:r>
          </a:p>
        </p:txBody>
      </p:sp>
      <p:sp>
        <p:nvSpPr>
          <p:cNvPr id="7" name="">
            <a:extLst xmlns:a="http://schemas.openxmlformats.org/drawingml/2006/main">
              <a:ext uri="{FF2B5EF4-FFF2-40B4-BE49-F238E27FC236}">
                <a16:creationId xmlns:a16="http://schemas.microsoft.com/office/drawing/2014/main" id="{666929D5-8183-4CED-834F-ECE8F45CC21B}"/>
              </a:ext>
            </a:extLst>
          </p:cNvPr>
          <p:cNvSpPr>
            <a:spLocks xmlns:a="http://schemas.openxmlformats.org/drawingml/2006/main" noGrp="1"/>
          </p:cNvSpPr>
          <p:nvPr/>
        </p:nvSpPr>
        <p:spPr>
          <a:xfrm xmlns:a="http://schemas.openxmlformats.org/drawingml/2006/main">
            <a:off x="7048500" y="3476625"/>
            <a:ext cx="4476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fausses alertes sur le test</a:t>
            </a:r>
          </a:p>
        </p:txBody>
      </p:sp>
      <p:sp>
        <p:nvSpPr>
          <p:cNvPr id="8" name="">
            <a:extLst xmlns:a="http://schemas.openxmlformats.org/drawingml/2006/main">
              <a:ext uri="{FF2B5EF4-FFF2-40B4-BE49-F238E27FC236}">
                <a16:creationId xmlns:a16="http://schemas.microsoft.com/office/drawing/2014/main" id="{596EC045-9980-4DAE-AE69-EFDB5D4B6990}"/>
              </a:ext>
            </a:extLst>
          </p:cNvPr>
          <p:cNvSpPr>
            <a:spLocks xmlns:a="http://schemas.openxmlformats.org/drawingml/2006/main" noGrp="1"/>
          </p:cNvSpPr>
          <p:nvPr/>
        </p:nvSpPr>
        <p:spPr>
          <a:xfrm xmlns:a="http://schemas.openxmlformats.org/drawingml/2006/main">
            <a:off x="619125" y="5067300"/>
            <a:ext cx="1062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FFFFFF"/>
                </a:solidFill>
                <a:latin typeface="DejaVu Sans"/>
                <a:ea typeface="DejaVu Sans"/>
                <a:cs typeface="DejaVu Sans"/>
              </a:defRPr>
            </a:pPr>
            <a:r>
              <a:rPr sz="2925" b="1">
                <a:solidFill>
                  <a:srgbClr val="FFFFFF"/>
                </a:solidFill>
                <a:latin typeface="DejaVu Sans"/>
                <a:ea typeface="DejaVu Sans"/>
                <a:cs typeface="DejaVu Sans"/>
              </a:rPr>
              <a:t>F1 = 0,500     Seuil ≈ 22,3 %</a:t>
            </a:r>
          </a:p>
        </p:txBody>
      </p:sp>
      <p:sp>
        <p:nvSpPr>
          <p:cNvPr id="9" name="">
            <a:extLst xmlns:a="http://schemas.openxmlformats.org/drawingml/2006/main">
              <a:ext uri="{FF2B5EF4-FFF2-40B4-BE49-F238E27FC236}">
                <a16:creationId xmlns:a16="http://schemas.microsoft.com/office/drawing/2014/main" id="{DCFC332D-2523-4B8C-B3A8-9F6FB230FC6C}"/>
              </a:ext>
            </a:extLst>
          </p:cNvPr>
          <p:cNvSpPr>
            <a:spLocks xmlns:a="http://schemas.openxmlformats.org/drawingml/2006/main" noGrp="1"/>
          </p:cNvSpPr>
          <p:nvPr/>
        </p:nvSpPr>
        <p:spPr>
          <a:xfrm xmlns:a="http://schemas.openxmlformats.org/drawingml/2006/main">
            <a:off x="619125" y="58483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DD5E0"/>
                </a:solidFill>
                <a:latin typeface="DejaVu Sans"/>
                <a:ea typeface="DejaVu Sans"/>
                <a:cs typeface="DejaVu Sans"/>
              </a:defRPr>
            </a:pPr>
            <a:r>
              <a:rPr sz="1875" b="0">
                <a:solidFill>
                  <a:srgbClr val="BDD5E0"/>
                </a:solidFill>
                <a:latin typeface="DejaVu Sans"/>
                <a:ea typeface="DejaVu Sans"/>
                <a:cs typeface="DejaVu Sans"/>
              </a:rPr>
              <a:t>Le choix final dépend de l’équilibre attendu par les RH.</a:t>
            </a:r>
          </a:p>
        </p:txBody>
      </p:sp>
    </p:spTree>
    <p:extLst>
      <p:ext uri="{BB962C8B-B14F-4D97-AF65-F5344CB8AC3E}">
        <p14:creationId xmlns:p14="http://schemas.microsoft.com/office/powerpoint/2010/main" val="13812423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726A68-06D5-4A27-97F2-5DE6D4FF58E8}"/>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Environnement et contrôles</a:t>
            </a:r>
          </a:p>
        </p:txBody>
      </p:sp>
      <p:sp>
        <p:nvSpPr>
          <p:cNvPr id="2" name="">
            <a:extLst xmlns:a="http://schemas.openxmlformats.org/drawingml/2006/main">
              <a:ext uri="{FF2B5EF4-FFF2-40B4-BE49-F238E27FC236}">
                <a16:creationId xmlns:a16="http://schemas.microsoft.com/office/drawing/2014/main" id="{8D290BAA-D434-4618-8E7D-6D6ED70987B0}"/>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éléments de reproductibilité et de qualité du notebook</a:t>
            </a:r>
          </a:p>
        </p:txBody>
      </p:sp>
      <p:sp>
        <p:nvSpPr>
          <p:cNvPr id="3" name="">
            <a:extLst xmlns:a="http://schemas.openxmlformats.org/drawingml/2006/main">
              <a:ext uri="{FF2B5EF4-FFF2-40B4-BE49-F238E27FC236}">
                <a16:creationId xmlns:a16="http://schemas.microsoft.com/office/drawing/2014/main" id="{288D92A0-6111-49FE-894C-63CD38D1D41E}"/>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31</a:t>
            </a:r>
          </a:p>
        </p:txBody>
      </p:sp>
      <p:graphicFrame>
        <p:nvGraphicFramePr>
          <p:cNvPr id="9" name=""/>
          <p:cNvGraphicFramePr/>
          <p:nvPr/>
        </p:nvGraphicFramePr>
        <p:xfrm>
          <a:off xmlns:a="http://schemas.openxmlformats.org/drawingml/2006/main" x="590550" y="2028825"/>
          <a:ext xmlns:a="http://schemas.openxmlformats.org/drawingml/2006/main" cx="11010900" cy="3352800"/>
        </p:xfrm>
        <a:graphic xmlns:a="http://schemas.openxmlformats.org/drawingml/2006/main">
          <a:graphicData uri="http://schemas.openxmlformats.org/drawingml/2006/table">
            <a:tbl>
              <a:tblPr firstRow="0" bandRow="0"/>
              <a:tblGrid>
                <a:gridCol w="2800350"/>
                <a:gridCol w="8210550"/>
              </a:tblGrid>
              <a:tr h="558800">
                <a:tc>
                  <a:txBody>
                    <a:bodyPr lIns="114300" tIns="114300" rIns="95250" bIns="76200">
                      <a:noAutofit/>
                    </a:bodyPr>
                    <a:lstStyle/>
                    <a:p>
                      <a:r>
                        <a:rPr sz="1725" b="1">
                          <a:solidFill>
                            <a:srgbClr val="FFFFFF"/>
                          </a:solidFill>
                          <a:latin typeface="DejaVu Sans"/>
                          <a:ea typeface="DejaVu Sans"/>
                          <a:cs typeface="DejaVu Sans"/>
                        </a:rPr>
                        <a:t>Volet</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Éléments présents</a:t>
                      </a:r>
                    </a:p>
                  </a:txBody>
                  <a:tcPr marL="91440" marR="91440" marT="45720" marB="45720" anchor="ctr">
                    <a:solidFill>
                      <a:srgbClr val="102A43"/>
                    </a:solidFill>
                  </a:tcPr>
                </a:tc>
              </a:tr>
              <a:tr h="558800">
                <a:tc>
                  <a:txBody>
                    <a:bodyPr lIns="114300" tIns="114300" rIns="95250" bIns="76200">
                      <a:noAutofit/>
                    </a:bodyPr>
                    <a:lstStyle/>
                    <a:p>
                      <a:r>
                        <a:rPr sz="1725" b="0">
                          <a:solidFill>
                            <a:srgbClr val="17324D"/>
                          </a:solidFill>
                          <a:latin typeface="DejaVu Sans"/>
                          <a:ea typeface="DejaVu Sans"/>
                          <a:cs typeface="DejaVu Sans"/>
                        </a:rPr>
                        <a:t>Environnement</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Python, pandas, NumPy, scikit-learn, SHAP, Plotly, LightGBM, imbalanced-learn</a:t>
                      </a:r>
                    </a:p>
                  </a:txBody>
                  <a:tcPr marL="91440" marR="91440" marT="45720" marB="45720" anchor="ctr">
                    <a:solidFill>
                      <a:srgbClr val="FFFFFF"/>
                    </a:solidFill>
                  </a:tcPr>
                </a:tc>
              </a:tr>
              <a:tr h="558800">
                <a:tc>
                  <a:txBody>
                    <a:bodyPr lIns="114300" tIns="114300" rIns="95250" bIns="76200">
                      <a:noAutofit/>
                    </a:bodyPr>
                    <a:lstStyle/>
                    <a:p>
                      <a:r>
                        <a:rPr sz="1725" b="0">
                          <a:solidFill>
                            <a:srgbClr val="17324D"/>
                          </a:solidFill>
                          <a:latin typeface="DejaVu Sans"/>
                          <a:ea typeface="DejaVu Sans"/>
                          <a:cs typeface="DejaVu Sans"/>
                        </a:rPr>
                        <a:t>Reproductibilité</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random_state=42, chemins de données, fonctions de nettoyage</a:t>
                      </a:r>
                    </a:p>
                  </a:txBody>
                  <a:tcPr marL="91440" marR="91440" marT="45720" marB="45720" anchor="ctr">
                    <a:solidFill>
                      <a:srgbClr val="FFFFFF"/>
                    </a:solidFill>
                  </a:tcPr>
                </a:tc>
              </a:tr>
              <a:tr h="558800">
                <a:tc>
                  <a:txBody>
                    <a:bodyPr lIns="114300" tIns="114300" rIns="95250" bIns="76200">
                      <a:noAutofit/>
                    </a:bodyPr>
                    <a:lstStyle/>
                    <a:p>
                      <a:r>
                        <a:rPr sz="1725" b="0">
                          <a:solidFill>
                            <a:srgbClr val="17324D"/>
                          </a:solidFill>
                          <a:latin typeface="DejaVu Sans"/>
                          <a:ea typeface="DejaVu Sans"/>
                          <a:cs typeface="DejaVu Sans"/>
                        </a:rPr>
                        <a:t>Qualité</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Complétude, doublons, conversion des identifiants et pourcentages</a:t>
                      </a:r>
                    </a:p>
                  </a:txBody>
                  <a:tcPr marL="91440" marR="91440" marT="45720" marB="45720" anchor="ctr">
                    <a:solidFill>
                      <a:srgbClr val="FFFFFF"/>
                    </a:solidFill>
                  </a:tcPr>
                </a:tc>
              </a:tr>
              <a:tr h="558800">
                <a:tc>
                  <a:txBody>
                    <a:bodyPr lIns="114300" tIns="114300" rIns="95250" bIns="76200">
                      <a:noAutofit/>
                    </a:bodyPr>
                    <a:lstStyle/>
                    <a:p>
                      <a:r>
                        <a:rPr sz="1725" b="0">
                          <a:solidFill>
                            <a:srgbClr val="17324D"/>
                          </a:solidFill>
                          <a:latin typeface="DejaVu Sans"/>
                          <a:ea typeface="DejaVu Sans"/>
                          <a:cs typeface="DejaVu Sans"/>
                        </a:rPr>
                        <a:t>Exploration</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Histogramme, boxplot, scatterplot, corrélations et taux de départ</a:t>
                      </a:r>
                    </a:p>
                  </a:txBody>
                  <a:tcPr marL="91440" marR="91440" marT="45720" marB="45720" anchor="ctr">
                    <a:solidFill>
                      <a:srgbClr val="FFFFFF"/>
                    </a:solidFill>
                  </a:tcPr>
                </a:tc>
              </a:tr>
              <a:tr h="558800">
                <a:tc>
                  <a:txBody>
                    <a:bodyPr lIns="114300" tIns="114300" rIns="95250" bIns="76200">
                      <a:noAutofit/>
                    </a:bodyPr>
                    <a:lstStyle/>
                    <a:p>
                      <a:r>
                        <a:rPr sz="1725" b="0">
                          <a:solidFill>
                            <a:srgbClr val="17324D"/>
                          </a:solidFill>
                          <a:latin typeface="DejaVu Sans"/>
                          <a:ea typeface="DejaVu Sans"/>
                          <a:cs typeface="DejaVu Sans"/>
                        </a:rPr>
                        <a:t>Modélisation</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Split stratifié, CV, réglage RF, calibration, seuil et SHAP</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9D0CA80-6C9E-40E0-BFCB-8F2B38C6CF64}"/>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 notebook mentionne pyproject.toml. Ce fichier ne fait pas partie des pièces jointes de cette demande.</a:t>
            </a:r>
          </a:p>
        </p:txBody>
      </p:sp>
    </p:spTree>
    <p:extLst>
      <p:ext uri="{BB962C8B-B14F-4D97-AF65-F5344CB8AC3E}">
        <p14:creationId xmlns:p14="http://schemas.microsoft.com/office/powerpoint/2010/main" val="13199556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0A830F5-4CD9-47DB-9D39-447E558217E5}"/>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Les 43 variables du modèle (1/2)</a:t>
            </a:r>
          </a:p>
        </p:txBody>
      </p:sp>
      <p:sp>
        <p:nvSpPr>
          <p:cNvPr id="2" name="">
            <a:extLst xmlns:a="http://schemas.openxmlformats.org/drawingml/2006/main">
              <a:ext uri="{FF2B5EF4-FFF2-40B4-BE49-F238E27FC236}">
                <a16:creationId xmlns:a16="http://schemas.microsoft.com/office/drawing/2014/main" id="{8A768D21-84AA-4CC4-86CF-052224C1C6EC}"/>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Liste des variables, avec des libellés simplifiés</a:t>
            </a:r>
          </a:p>
        </p:txBody>
      </p:sp>
      <p:sp>
        <p:nvSpPr>
          <p:cNvPr id="3" name="">
            <a:extLst xmlns:a="http://schemas.openxmlformats.org/drawingml/2006/main">
              <a:ext uri="{FF2B5EF4-FFF2-40B4-BE49-F238E27FC236}">
                <a16:creationId xmlns:a16="http://schemas.microsoft.com/office/drawing/2014/main" id="{7E7EE3E1-33C5-475B-B70C-8E7355376015}"/>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32</a:t>
            </a:r>
          </a:p>
        </p:txBody>
      </p:sp>
      <p:sp>
        <p:nvSpPr>
          <p:cNvPr id="4" name="">
            <a:extLst xmlns:a="http://schemas.openxmlformats.org/drawingml/2006/main">
              <a:ext uri="{FF2B5EF4-FFF2-40B4-BE49-F238E27FC236}">
                <a16:creationId xmlns:a16="http://schemas.microsoft.com/office/drawing/2014/main" id="{460974E4-97ED-4EAF-B9D4-C409138EA50B}"/>
              </a:ext>
            </a:extLst>
          </p:cNvPr>
          <p:cNvSpPr>
            <a:spLocks xmlns:a="http://schemas.openxmlformats.org/drawingml/2006/main" noGrp="1"/>
          </p:cNvSpPr>
          <p:nvPr/>
        </p:nvSpPr>
        <p:spPr>
          <a:xfrm xmlns:a="http://schemas.openxmlformats.org/drawingml/2006/main">
            <a:off x="609600" y="2009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Participation au PEE</a:t>
            </a:r>
          </a:p>
        </p:txBody>
      </p:sp>
      <p:sp>
        <p:nvSpPr>
          <p:cNvPr id="5" name="">
            <a:extLst xmlns:a="http://schemas.openxmlformats.org/drawingml/2006/main">
              <a:ext uri="{FF2B5EF4-FFF2-40B4-BE49-F238E27FC236}">
                <a16:creationId xmlns:a16="http://schemas.microsoft.com/office/drawing/2014/main" id="{4919BC4F-0CFB-44F2-9313-B10630809221}"/>
              </a:ext>
            </a:extLst>
          </p:cNvPr>
          <p:cNvSpPr>
            <a:spLocks xmlns:a="http://schemas.openxmlformats.org/drawingml/2006/main" noGrp="1"/>
          </p:cNvSpPr>
          <p:nvPr/>
        </p:nvSpPr>
        <p:spPr>
          <a:xfrm xmlns:a="http://schemas.openxmlformats.org/drawingml/2006/main">
            <a:off x="609600" y="2352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Formations suivies</a:t>
            </a:r>
          </a:p>
        </p:txBody>
      </p:sp>
      <p:sp>
        <p:nvSpPr>
          <p:cNvPr id="6" name="">
            <a:extLst xmlns:a="http://schemas.openxmlformats.org/drawingml/2006/main">
              <a:ext uri="{FF2B5EF4-FFF2-40B4-BE49-F238E27FC236}">
                <a16:creationId xmlns:a16="http://schemas.microsoft.com/office/drawing/2014/main" id="{F4BFEDAF-1BD6-478F-97DD-19EBBA4AB593}"/>
              </a:ext>
            </a:extLst>
          </p:cNvPr>
          <p:cNvSpPr>
            <a:spLocks xmlns:a="http://schemas.openxmlformats.org/drawingml/2006/main" noGrp="1"/>
          </p:cNvSpPr>
          <p:nvPr/>
        </p:nvSpPr>
        <p:spPr>
          <a:xfrm xmlns:a="http://schemas.openxmlformats.org/drawingml/2006/main">
            <a:off x="609600" y="26955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Effectif sous responsabilité (constant)</a:t>
            </a:r>
          </a:p>
        </p:txBody>
      </p:sp>
      <p:sp>
        <p:nvSpPr>
          <p:cNvPr id="7" name="">
            <a:extLst xmlns:a="http://schemas.openxmlformats.org/drawingml/2006/main">
              <a:ext uri="{FF2B5EF4-FFF2-40B4-BE49-F238E27FC236}">
                <a16:creationId xmlns:a16="http://schemas.microsoft.com/office/drawing/2014/main" id="{7F72CE08-5299-4221-9DDA-40803F420556}"/>
              </a:ext>
            </a:extLst>
          </p:cNvPr>
          <p:cNvSpPr>
            <a:spLocks xmlns:a="http://schemas.openxmlformats.org/drawingml/2006/main" noGrp="1"/>
          </p:cNvSpPr>
          <p:nvPr/>
        </p:nvSpPr>
        <p:spPr>
          <a:xfrm xmlns:a="http://schemas.openxmlformats.org/drawingml/2006/main">
            <a:off x="609600" y="30384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Distance domicile / travail</a:t>
            </a:r>
          </a:p>
        </p:txBody>
      </p:sp>
      <p:sp>
        <p:nvSpPr>
          <p:cNvPr id="8" name="">
            <a:extLst xmlns:a="http://schemas.openxmlformats.org/drawingml/2006/main">
              <a:ext uri="{FF2B5EF4-FFF2-40B4-BE49-F238E27FC236}">
                <a16:creationId xmlns:a16="http://schemas.microsoft.com/office/drawing/2014/main" id="{3302A419-ED0B-428C-95A3-D5205FC0A9FA}"/>
              </a:ext>
            </a:extLst>
          </p:cNvPr>
          <p:cNvSpPr>
            <a:spLocks xmlns:a="http://schemas.openxmlformats.org/drawingml/2006/main" noGrp="1"/>
          </p:cNvSpPr>
          <p:nvPr/>
        </p:nvSpPr>
        <p:spPr>
          <a:xfrm xmlns:a="http://schemas.openxmlformats.org/drawingml/2006/main">
            <a:off x="609600" y="33813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Niveau d’éducation</a:t>
            </a:r>
          </a:p>
        </p:txBody>
      </p:sp>
      <p:sp>
        <p:nvSpPr>
          <p:cNvPr id="9" name="">
            <a:extLst xmlns:a="http://schemas.openxmlformats.org/drawingml/2006/main">
              <a:ext uri="{FF2B5EF4-FFF2-40B4-BE49-F238E27FC236}">
                <a16:creationId xmlns:a16="http://schemas.microsoft.com/office/drawing/2014/main" id="{2AA9A2B3-FDA3-4C1B-9ADE-6E27A67825A3}"/>
              </a:ext>
            </a:extLst>
          </p:cNvPr>
          <p:cNvSpPr>
            <a:spLocks xmlns:a="http://schemas.openxmlformats.org/drawingml/2006/main" noGrp="1"/>
          </p:cNvSpPr>
          <p:nvPr/>
        </p:nvSpPr>
        <p:spPr>
          <a:xfrm xmlns:a="http://schemas.openxmlformats.org/drawingml/2006/main">
            <a:off x="609600" y="37242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Enfants (constant)</a:t>
            </a:r>
          </a:p>
        </p:txBody>
      </p:sp>
      <p:sp>
        <p:nvSpPr>
          <p:cNvPr id="10" name="">
            <a:extLst xmlns:a="http://schemas.openxmlformats.org/drawingml/2006/main">
              <a:ext uri="{FF2B5EF4-FFF2-40B4-BE49-F238E27FC236}">
                <a16:creationId xmlns:a16="http://schemas.microsoft.com/office/drawing/2014/main" id="{118FDA80-2276-4F05-AD22-B30CA48E2A6A}"/>
              </a:ext>
            </a:extLst>
          </p:cNvPr>
          <p:cNvSpPr>
            <a:spLocks xmlns:a="http://schemas.openxmlformats.org/drawingml/2006/main" noGrp="1"/>
          </p:cNvSpPr>
          <p:nvPr/>
        </p:nvSpPr>
        <p:spPr>
          <a:xfrm xmlns:a="http://schemas.openxmlformats.org/drawingml/2006/main">
            <a:off x="609600" y="40671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Fréquence de déplacement</a:t>
            </a:r>
          </a:p>
        </p:txBody>
      </p:sp>
      <p:sp>
        <p:nvSpPr>
          <p:cNvPr id="11" name="">
            <a:extLst xmlns:a="http://schemas.openxmlformats.org/drawingml/2006/main">
              <a:ext uri="{FF2B5EF4-FFF2-40B4-BE49-F238E27FC236}">
                <a16:creationId xmlns:a16="http://schemas.microsoft.com/office/drawing/2014/main" id="{A73994B1-C6D4-4C57-B4BF-5C6E3D699D86}"/>
              </a:ext>
            </a:extLst>
          </p:cNvPr>
          <p:cNvSpPr>
            <a:spLocks xmlns:a="http://schemas.openxmlformats.org/drawingml/2006/main" noGrp="1"/>
          </p:cNvSpPr>
          <p:nvPr/>
        </p:nvSpPr>
        <p:spPr>
          <a:xfrm xmlns:a="http://schemas.openxmlformats.org/drawingml/2006/main">
            <a:off x="609600" y="44100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Temps depuis dernière promotion</a:t>
            </a:r>
          </a:p>
        </p:txBody>
      </p:sp>
      <p:sp>
        <p:nvSpPr>
          <p:cNvPr id="12" name="">
            <a:extLst xmlns:a="http://schemas.openxmlformats.org/drawingml/2006/main">
              <a:ext uri="{FF2B5EF4-FFF2-40B4-BE49-F238E27FC236}">
                <a16:creationId xmlns:a16="http://schemas.microsoft.com/office/drawing/2014/main" id="{FCBCB67C-84B8-4187-B9ED-4B4CB490C50B}"/>
              </a:ext>
            </a:extLst>
          </p:cNvPr>
          <p:cNvSpPr>
            <a:spLocks xmlns:a="http://schemas.openxmlformats.org/drawingml/2006/main" noGrp="1"/>
          </p:cNvSpPr>
          <p:nvPr/>
        </p:nvSpPr>
        <p:spPr>
          <a:xfrm xmlns:a="http://schemas.openxmlformats.org/drawingml/2006/main">
            <a:off x="609600" y="47529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Ancienneté avec le manager</a:t>
            </a:r>
          </a:p>
        </p:txBody>
      </p:sp>
      <p:sp>
        <p:nvSpPr>
          <p:cNvPr id="13" name="">
            <a:extLst xmlns:a="http://schemas.openxmlformats.org/drawingml/2006/main">
              <a:ext uri="{FF2B5EF4-FFF2-40B4-BE49-F238E27FC236}">
                <a16:creationId xmlns:a16="http://schemas.microsoft.com/office/drawing/2014/main" id="{C43298E7-31B8-40A6-A2F2-D955CD3B24D6}"/>
              </a:ext>
            </a:extLst>
          </p:cNvPr>
          <p:cNvSpPr>
            <a:spLocks xmlns:a="http://schemas.openxmlformats.org/drawingml/2006/main" noGrp="1"/>
          </p:cNvSpPr>
          <p:nvPr/>
        </p:nvSpPr>
        <p:spPr>
          <a:xfrm xmlns:a="http://schemas.openxmlformats.org/drawingml/2006/main">
            <a:off x="609600" y="50958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Âge</a:t>
            </a:r>
          </a:p>
        </p:txBody>
      </p:sp>
      <p:sp>
        <p:nvSpPr>
          <p:cNvPr id="14" name="">
            <a:extLst xmlns:a="http://schemas.openxmlformats.org/drawingml/2006/main">
              <a:ext uri="{FF2B5EF4-FFF2-40B4-BE49-F238E27FC236}">
                <a16:creationId xmlns:a16="http://schemas.microsoft.com/office/drawing/2014/main" id="{2B526AF9-3B42-441F-8DEF-18FEF29ED550}"/>
              </a:ext>
            </a:extLst>
          </p:cNvPr>
          <p:cNvSpPr>
            <a:spLocks xmlns:a="http://schemas.openxmlformats.org/drawingml/2006/main" noGrp="1"/>
          </p:cNvSpPr>
          <p:nvPr/>
        </p:nvSpPr>
        <p:spPr>
          <a:xfrm xmlns:a="http://schemas.openxmlformats.org/drawingml/2006/main">
            <a:off x="609600" y="5438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Revenu mensuel</a:t>
            </a:r>
          </a:p>
        </p:txBody>
      </p:sp>
      <p:sp>
        <p:nvSpPr>
          <p:cNvPr id="15" name="">
            <a:extLst xmlns:a="http://schemas.openxmlformats.org/drawingml/2006/main">
              <a:ext uri="{FF2B5EF4-FFF2-40B4-BE49-F238E27FC236}">
                <a16:creationId xmlns:a16="http://schemas.microsoft.com/office/drawing/2014/main" id="{8D87E6FA-1C6C-4CAC-A773-7CD84143AEDF}"/>
              </a:ext>
            </a:extLst>
          </p:cNvPr>
          <p:cNvSpPr>
            <a:spLocks xmlns:a="http://schemas.openxmlformats.org/drawingml/2006/main" noGrp="1"/>
          </p:cNvSpPr>
          <p:nvPr/>
        </p:nvSpPr>
        <p:spPr>
          <a:xfrm xmlns:a="http://schemas.openxmlformats.org/drawingml/2006/main">
            <a:off x="6419850" y="2009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Expériences précédentes</a:t>
            </a:r>
          </a:p>
        </p:txBody>
      </p:sp>
      <p:sp>
        <p:nvSpPr>
          <p:cNvPr id="16" name="">
            <a:extLst xmlns:a="http://schemas.openxmlformats.org/drawingml/2006/main">
              <a:ext uri="{FF2B5EF4-FFF2-40B4-BE49-F238E27FC236}">
                <a16:creationId xmlns:a16="http://schemas.microsoft.com/office/drawing/2014/main" id="{C41ECD7A-30B1-435D-A54E-BBDFA03C36D4}"/>
              </a:ext>
            </a:extLst>
          </p:cNvPr>
          <p:cNvSpPr>
            <a:spLocks xmlns:a="http://schemas.openxmlformats.org/drawingml/2006/main" noGrp="1"/>
          </p:cNvSpPr>
          <p:nvPr/>
        </p:nvSpPr>
        <p:spPr>
          <a:xfrm xmlns:a="http://schemas.openxmlformats.org/drawingml/2006/main">
            <a:off x="6419850" y="2352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Heures travaillées (constant)</a:t>
            </a:r>
          </a:p>
        </p:txBody>
      </p:sp>
      <p:sp>
        <p:nvSpPr>
          <p:cNvPr id="17" name="">
            <a:extLst xmlns:a="http://schemas.openxmlformats.org/drawingml/2006/main">
              <a:ext uri="{FF2B5EF4-FFF2-40B4-BE49-F238E27FC236}">
                <a16:creationId xmlns:a16="http://schemas.microsoft.com/office/drawing/2014/main" id="{C88B5901-AA7F-439C-9E2D-E4127B86DFC9}"/>
              </a:ext>
            </a:extLst>
          </p:cNvPr>
          <p:cNvSpPr>
            <a:spLocks xmlns:a="http://schemas.openxmlformats.org/drawingml/2006/main" noGrp="1"/>
          </p:cNvSpPr>
          <p:nvPr/>
        </p:nvSpPr>
        <p:spPr>
          <a:xfrm xmlns:a="http://schemas.openxmlformats.org/drawingml/2006/main">
            <a:off x="6419850" y="26955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Expérience totale</a:t>
            </a:r>
          </a:p>
        </p:txBody>
      </p:sp>
      <p:sp>
        <p:nvSpPr>
          <p:cNvPr id="18" name="">
            <a:extLst xmlns:a="http://schemas.openxmlformats.org/drawingml/2006/main">
              <a:ext uri="{FF2B5EF4-FFF2-40B4-BE49-F238E27FC236}">
                <a16:creationId xmlns:a16="http://schemas.microsoft.com/office/drawing/2014/main" id="{1A422AC2-46B1-4B4A-9ACB-0B7FEDEC5682}"/>
              </a:ext>
            </a:extLst>
          </p:cNvPr>
          <p:cNvSpPr>
            <a:spLocks xmlns:a="http://schemas.openxmlformats.org/drawingml/2006/main" noGrp="1"/>
          </p:cNvSpPr>
          <p:nvPr/>
        </p:nvSpPr>
        <p:spPr>
          <a:xfrm xmlns:a="http://schemas.openxmlformats.org/drawingml/2006/main">
            <a:off x="6419850" y="30384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Ancienneté dans l’entreprise</a:t>
            </a:r>
          </a:p>
        </p:txBody>
      </p:sp>
      <p:sp>
        <p:nvSpPr>
          <p:cNvPr id="19" name="">
            <a:extLst xmlns:a="http://schemas.openxmlformats.org/drawingml/2006/main">
              <a:ext uri="{FF2B5EF4-FFF2-40B4-BE49-F238E27FC236}">
                <a16:creationId xmlns:a16="http://schemas.microsoft.com/office/drawing/2014/main" id="{137DCE44-5D3E-4701-A03F-EACC11BC3D6C}"/>
              </a:ext>
            </a:extLst>
          </p:cNvPr>
          <p:cNvSpPr>
            <a:spLocks xmlns:a="http://schemas.openxmlformats.org/drawingml/2006/main" noGrp="1"/>
          </p:cNvSpPr>
          <p:nvPr/>
        </p:nvSpPr>
        <p:spPr>
          <a:xfrm xmlns:a="http://schemas.openxmlformats.org/drawingml/2006/main">
            <a:off x="6419850" y="33813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Ancienneté dans le poste</a:t>
            </a:r>
          </a:p>
        </p:txBody>
      </p:sp>
      <p:sp>
        <p:nvSpPr>
          <p:cNvPr id="20" name="">
            <a:extLst xmlns:a="http://schemas.openxmlformats.org/drawingml/2006/main">
              <a:ext uri="{FF2B5EF4-FFF2-40B4-BE49-F238E27FC236}">
                <a16:creationId xmlns:a16="http://schemas.microsoft.com/office/drawing/2014/main" id="{6248E563-CAE3-4162-8349-BB4BC9EE63A7}"/>
              </a:ext>
            </a:extLst>
          </p:cNvPr>
          <p:cNvSpPr>
            <a:spLocks xmlns:a="http://schemas.openxmlformats.org/drawingml/2006/main" noGrp="1"/>
          </p:cNvSpPr>
          <p:nvPr/>
        </p:nvSpPr>
        <p:spPr>
          <a:xfrm xmlns:a="http://schemas.openxmlformats.org/drawingml/2006/main">
            <a:off x="6419850" y="37242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Évaluation précédente</a:t>
            </a:r>
          </a:p>
        </p:txBody>
      </p:sp>
      <p:sp>
        <p:nvSpPr>
          <p:cNvPr id="21" name="">
            <a:extLst xmlns:a="http://schemas.openxmlformats.org/drawingml/2006/main">
              <a:ext uri="{FF2B5EF4-FFF2-40B4-BE49-F238E27FC236}">
                <a16:creationId xmlns:a16="http://schemas.microsoft.com/office/drawing/2014/main" id="{E1A88B6E-8EF8-4F80-B2F1-5DF0B7F595FF}"/>
              </a:ext>
            </a:extLst>
          </p:cNvPr>
          <p:cNvSpPr>
            <a:spLocks xmlns:a="http://schemas.openxmlformats.org/drawingml/2006/main" noGrp="1"/>
          </p:cNvSpPr>
          <p:nvPr/>
        </p:nvSpPr>
        <p:spPr>
          <a:xfrm xmlns:a="http://schemas.openxmlformats.org/drawingml/2006/main">
            <a:off x="6419850" y="40671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Niveau hiérarchique</a:t>
            </a:r>
          </a:p>
        </p:txBody>
      </p:sp>
      <p:sp>
        <p:nvSpPr>
          <p:cNvPr id="22" name="">
            <a:extLst xmlns:a="http://schemas.openxmlformats.org/drawingml/2006/main">
              <a:ext uri="{FF2B5EF4-FFF2-40B4-BE49-F238E27FC236}">
                <a16:creationId xmlns:a16="http://schemas.microsoft.com/office/drawing/2014/main" id="{E6358768-8BB7-4126-AE8F-5044960C8380}"/>
              </a:ext>
            </a:extLst>
          </p:cNvPr>
          <p:cNvSpPr>
            <a:spLocks xmlns:a="http://schemas.openxmlformats.org/drawingml/2006/main" noGrp="1"/>
          </p:cNvSpPr>
          <p:nvPr/>
        </p:nvSpPr>
        <p:spPr>
          <a:xfrm xmlns:a="http://schemas.openxmlformats.org/drawingml/2006/main">
            <a:off x="6419850" y="44100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Évaluation actuelle</a:t>
            </a:r>
          </a:p>
        </p:txBody>
      </p:sp>
      <p:sp>
        <p:nvSpPr>
          <p:cNvPr id="23" name="">
            <a:extLst xmlns:a="http://schemas.openxmlformats.org/drawingml/2006/main">
              <a:ext uri="{FF2B5EF4-FFF2-40B4-BE49-F238E27FC236}">
                <a16:creationId xmlns:a16="http://schemas.microsoft.com/office/drawing/2014/main" id="{48A69369-2F8B-4CAE-A46E-1AC7CF9A78ED}"/>
              </a:ext>
            </a:extLst>
          </p:cNvPr>
          <p:cNvSpPr>
            <a:spLocks xmlns:a="http://schemas.openxmlformats.org/drawingml/2006/main" noGrp="1"/>
          </p:cNvSpPr>
          <p:nvPr/>
        </p:nvSpPr>
        <p:spPr>
          <a:xfrm xmlns:a="http://schemas.openxmlformats.org/drawingml/2006/main">
            <a:off x="6419850" y="47529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Heures supplémentaires</a:t>
            </a:r>
          </a:p>
        </p:txBody>
      </p:sp>
      <p:sp>
        <p:nvSpPr>
          <p:cNvPr id="24" name="">
            <a:extLst xmlns:a="http://schemas.openxmlformats.org/drawingml/2006/main">
              <a:ext uri="{FF2B5EF4-FFF2-40B4-BE49-F238E27FC236}">
                <a16:creationId xmlns:a16="http://schemas.microsoft.com/office/drawing/2014/main" id="{40667E12-1DDC-4C36-A67A-EC011D2DE599}"/>
              </a:ext>
            </a:extLst>
          </p:cNvPr>
          <p:cNvSpPr>
            <a:spLocks xmlns:a="http://schemas.openxmlformats.org/drawingml/2006/main" noGrp="1"/>
          </p:cNvSpPr>
          <p:nvPr/>
        </p:nvSpPr>
        <p:spPr>
          <a:xfrm xmlns:a="http://schemas.openxmlformats.org/drawingml/2006/main">
            <a:off x="6419850" y="50958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Augmentation précédente</a:t>
            </a:r>
          </a:p>
        </p:txBody>
      </p:sp>
      <p:sp>
        <p:nvSpPr>
          <p:cNvPr id="25" name="">
            <a:extLst xmlns:a="http://schemas.openxmlformats.org/drawingml/2006/main">
              <a:ext uri="{FF2B5EF4-FFF2-40B4-BE49-F238E27FC236}">
                <a16:creationId xmlns:a16="http://schemas.microsoft.com/office/drawing/2014/main" id="{F33692E1-3E68-45FD-90C2-4AD9189F7B81}"/>
              </a:ext>
            </a:extLst>
          </p:cNvPr>
          <p:cNvSpPr>
            <a:spLocks xmlns:a="http://schemas.openxmlformats.org/drawingml/2006/main" noGrp="1"/>
          </p:cNvSpPr>
          <p:nvPr/>
        </p:nvSpPr>
        <p:spPr>
          <a:xfrm xmlns:a="http://schemas.openxmlformats.org/drawingml/2006/main">
            <a:off x="6419850" y="5438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Indicateur masculin</a:t>
            </a:r>
          </a:p>
        </p:txBody>
      </p:sp>
      <p:sp>
        <p:nvSpPr>
          <p:cNvPr id="26" name="">
            <a:extLst xmlns:a="http://schemas.openxmlformats.org/drawingml/2006/main">
              <a:ext uri="{FF2B5EF4-FFF2-40B4-BE49-F238E27FC236}">
                <a16:creationId xmlns:a16="http://schemas.microsoft.com/office/drawing/2014/main" id="{1B81FE99-D295-43A8-9BDF-AB2ED7514C43}"/>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Trois colonnes sont constantes dans ces extraits et ne distinguent aucun salarié.</a:t>
            </a:r>
          </a:p>
        </p:txBody>
      </p:sp>
    </p:spTree>
    <p:extLst>
      <p:ext uri="{BB962C8B-B14F-4D97-AF65-F5344CB8AC3E}">
        <p14:creationId xmlns:p14="http://schemas.microsoft.com/office/powerpoint/2010/main" val="3243767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8A4BE55-C75A-4C18-93C8-C0BB6F018919}"/>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Les 43 variables du modèle (2/2)</a:t>
            </a:r>
          </a:p>
        </p:txBody>
      </p:sp>
      <p:sp>
        <p:nvSpPr>
          <p:cNvPr id="2" name="">
            <a:extLst xmlns:a="http://schemas.openxmlformats.org/drawingml/2006/main">
              <a:ext uri="{FF2B5EF4-FFF2-40B4-BE49-F238E27FC236}">
                <a16:creationId xmlns:a16="http://schemas.microsoft.com/office/drawing/2014/main" id="{28711D19-B1F1-40EF-8118-CBA3791A6826}"/>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Liste des variables, avec des libellés simplifiés</a:t>
            </a:r>
          </a:p>
        </p:txBody>
      </p:sp>
      <p:sp>
        <p:nvSpPr>
          <p:cNvPr id="3" name="">
            <a:extLst xmlns:a="http://schemas.openxmlformats.org/drawingml/2006/main">
              <a:ext uri="{FF2B5EF4-FFF2-40B4-BE49-F238E27FC236}">
                <a16:creationId xmlns:a16="http://schemas.microsoft.com/office/drawing/2014/main" id="{25E27D1B-F5A4-4FB0-B33B-20A72993F6F9}"/>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33</a:t>
            </a:r>
          </a:p>
        </p:txBody>
      </p:sp>
      <p:sp>
        <p:nvSpPr>
          <p:cNvPr id="4" name="">
            <a:extLst xmlns:a="http://schemas.openxmlformats.org/drawingml/2006/main">
              <a:ext uri="{FF2B5EF4-FFF2-40B4-BE49-F238E27FC236}">
                <a16:creationId xmlns:a16="http://schemas.microsoft.com/office/drawing/2014/main" id="{A993AEEA-F980-4B6A-8F48-C007795D8AAB}"/>
              </a:ext>
            </a:extLst>
          </p:cNvPr>
          <p:cNvSpPr>
            <a:spLocks xmlns:a="http://schemas.openxmlformats.org/drawingml/2006/main" noGrp="1"/>
          </p:cNvSpPr>
          <p:nvPr/>
        </p:nvSpPr>
        <p:spPr>
          <a:xfrm xmlns:a="http://schemas.openxmlformats.org/drawingml/2006/main">
            <a:off x="609600" y="2009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Indicateur marié</a:t>
            </a:r>
          </a:p>
        </p:txBody>
      </p:sp>
      <p:sp>
        <p:nvSpPr>
          <p:cNvPr id="5" name="">
            <a:extLst xmlns:a="http://schemas.openxmlformats.org/drawingml/2006/main">
              <a:ext uri="{FF2B5EF4-FFF2-40B4-BE49-F238E27FC236}">
                <a16:creationId xmlns:a16="http://schemas.microsoft.com/office/drawing/2014/main" id="{EC1F86A4-F34D-48BC-ADE4-B80FE87A2F0E}"/>
              </a:ext>
            </a:extLst>
          </p:cNvPr>
          <p:cNvSpPr>
            <a:spLocks xmlns:a="http://schemas.openxmlformats.org/drawingml/2006/main" noGrp="1"/>
          </p:cNvSpPr>
          <p:nvPr/>
        </p:nvSpPr>
        <p:spPr>
          <a:xfrm xmlns:a="http://schemas.openxmlformats.org/drawingml/2006/main">
            <a:off x="609600" y="2352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Indicateur non-marié</a:t>
            </a:r>
          </a:p>
        </p:txBody>
      </p:sp>
      <p:sp>
        <p:nvSpPr>
          <p:cNvPr id="6" name="">
            <a:extLst xmlns:a="http://schemas.openxmlformats.org/drawingml/2006/main">
              <a:ext uri="{FF2B5EF4-FFF2-40B4-BE49-F238E27FC236}">
                <a16:creationId xmlns:a16="http://schemas.microsoft.com/office/drawing/2014/main" id="{4821415D-8DC7-497F-8834-CD5277002431}"/>
              </a:ext>
            </a:extLst>
          </p:cNvPr>
          <p:cNvSpPr>
            <a:spLocks xmlns:a="http://schemas.openxmlformats.org/drawingml/2006/main" noGrp="1"/>
          </p:cNvSpPr>
          <p:nvPr/>
        </p:nvSpPr>
        <p:spPr>
          <a:xfrm xmlns:a="http://schemas.openxmlformats.org/drawingml/2006/main">
            <a:off x="609600" y="26955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Jeune et revenu sous la médiane</a:t>
            </a:r>
          </a:p>
        </p:txBody>
      </p:sp>
      <p:sp>
        <p:nvSpPr>
          <p:cNvPr id="7" name="">
            <a:extLst xmlns:a="http://schemas.openxmlformats.org/drawingml/2006/main">
              <a:ext uri="{FF2B5EF4-FFF2-40B4-BE49-F238E27FC236}">
                <a16:creationId xmlns:a16="http://schemas.microsoft.com/office/drawing/2014/main" id="{F259581A-8C09-47C6-B1E0-64F7D8861D98}"/>
              </a:ext>
            </a:extLst>
          </p:cNvPr>
          <p:cNvSpPr>
            <a:spLocks xmlns:a="http://schemas.openxmlformats.org/drawingml/2006/main" noGrp="1"/>
          </p:cNvSpPr>
          <p:nvPr/>
        </p:nvSpPr>
        <p:spPr>
          <a:xfrm xmlns:a="http://schemas.openxmlformats.org/drawingml/2006/main">
            <a:off x="609600" y="30384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Revenu sous la médiane</a:t>
            </a:r>
          </a:p>
        </p:txBody>
      </p:sp>
      <p:sp>
        <p:nvSpPr>
          <p:cNvPr id="8" name="">
            <a:extLst xmlns:a="http://schemas.openxmlformats.org/drawingml/2006/main">
              <a:ext uri="{FF2B5EF4-FFF2-40B4-BE49-F238E27FC236}">
                <a16:creationId xmlns:a16="http://schemas.microsoft.com/office/drawing/2014/main" id="{EDF9342E-45B2-4064-909C-DD3CBAA85992}"/>
              </a:ext>
            </a:extLst>
          </p:cNvPr>
          <p:cNvSpPr>
            <a:spLocks xmlns:a="http://schemas.openxmlformats.org/drawingml/2006/main" noGrp="1"/>
          </p:cNvSpPr>
          <p:nvPr/>
        </p:nvSpPr>
        <p:spPr>
          <a:xfrm xmlns:a="http://schemas.openxmlformats.org/drawingml/2006/main">
            <a:off x="609600" y="33813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Ratio de revenu par groupe</a:t>
            </a:r>
          </a:p>
        </p:txBody>
      </p:sp>
      <p:sp>
        <p:nvSpPr>
          <p:cNvPr id="9" name="">
            <a:extLst xmlns:a="http://schemas.openxmlformats.org/drawingml/2006/main">
              <a:ext uri="{FF2B5EF4-FFF2-40B4-BE49-F238E27FC236}">
                <a16:creationId xmlns:a16="http://schemas.microsoft.com/office/drawing/2014/main" id="{5CE1785D-CB1D-41E9-AB8A-E822ED12C777}"/>
              </a:ext>
            </a:extLst>
          </p:cNvPr>
          <p:cNvSpPr>
            <a:spLocks xmlns:a="http://schemas.openxmlformats.org/drawingml/2006/main" noGrp="1"/>
          </p:cNvSpPr>
          <p:nvPr/>
        </p:nvSpPr>
        <p:spPr>
          <a:xfrm xmlns:a="http://schemas.openxmlformats.org/drawingml/2006/main">
            <a:off x="609600" y="37242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24D"/>
                </a:solidFill>
                <a:latin typeface="DejaVu Sans"/>
                <a:ea typeface="DejaVu Sans"/>
                <a:cs typeface="DejaVu Sans"/>
              </a:defRPr>
            </a:pPr>
            <a:r>
              <a:rPr sz="1575" b="1">
                <a:solidFill>
                  <a:srgbClr val="17324D"/>
                </a:solidFill>
                <a:latin typeface="DejaVu Sans"/>
                <a:ea typeface="DejaVu Sans"/>
                <a:cs typeface="DejaVu Sans"/>
              </a:rPr>
              <a:t>Satisfaction globale</a:t>
            </a:r>
          </a:p>
        </p:txBody>
      </p:sp>
      <p:sp>
        <p:nvSpPr>
          <p:cNvPr id="10" name="">
            <a:extLst xmlns:a="http://schemas.openxmlformats.org/drawingml/2006/main">
              <a:ext uri="{FF2B5EF4-FFF2-40B4-BE49-F238E27FC236}">
                <a16:creationId xmlns:a16="http://schemas.microsoft.com/office/drawing/2014/main" id="{48C2DCBC-B335-479D-9061-B9E027AC5A48}"/>
              </a:ext>
            </a:extLst>
          </p:cNvPr>
          <p:cNvSpPr>
            <a:spLocks xmlns:a="http://schemas.openxmlformats.org/drawingml/2006/main" noGrp="1"/>
          </p:cNvSpPr>
          <p:nvPr/>
        </p:nvSpPr>
        <p:spPr>
          <a:xfrm xmlns:a="http://schemas.openxmlformats.org/drawingml/2006/main">
            <a:off x="609600" y="40671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Domaine : Entrepreunariat</a:t>
            </a:r>
          </a:p>
        </p:txBody>
      </p:sp>
      <p:sp>
        <p:nvSpPr>
          <p:cNvPr id="11" name="">
            <a:extLst xmlns:a="http://schemas.openxmlformats.org/drawingml/2006/main">
              <a:ext uri="{FF2B5EF4-FFF2-40B4-BE49-F238E27FC236}">
                <a16:creationId xmlns:a16="http://schemas.microsoft.com/office/drawing/2014/main" id="{ADE3CD3E-C53E-4CBF-B2D7-1F40BB3470D7}"/>
              </a:ext>
            </a:extLst>
          </p:cNvPr>
          <p:cNvSpPr>
            <a:spLocks xmlns:a="http://schemas.openxmlformats.org/drawingml/2006/main" noGrp="1"/>
          </p:cNvSpPr>
          <p:nvPr/>
        </p:nvSpPr>
        <p:spPr>
          <a:xfrm xmlns:a="http://schemas.openxmlformats.org/drawingml/2006/main">
            <a:off x="609600" y="44100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Domaine : Infra &amp; Cloud</a:t>
            </a:r>
          </a:p>
        </p:txBody>
      </p:sp>
      <p:sp>
        <p:nvSpPr>
          <p:cNvPr id="12" name="">
            <a:extLst xmlns:a="http://schemas.openxmlformats.org/drawingml/2006/main">
              <a:ext uri="{FF2B5EF4-FFF2-40B4-BE49-F238E27FC236}">
                <a16:creationId xmlns:a16="http://schemas.microsoft.com/office/drawing/2014/main" id="{8605ADB2-F2CA-44C6-8497-59DF50CCC4A6}"/>
              </a:ext>
            </a:extLst>
          </p:cNvPr>
          <p:cNvSpPr>
            <a:spLocks xmlns:a="http://schemas.openxmlformats.org/drawingml/2006/main" noGrp="1"/>
          </p:cNvSpPr>
          <p:nvPr/>
        </p:nvSpPr>
        <p:spPr>
          <a:xfrm xmlns:a="http://schemas.openxmlformats.org/drawingml/2006/main">
            <a:off x="609600" y="47529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Domaine : Marketing</a:t>
            </a:r>
          </a:p>
        </p:txBody>
      </p:sp>
      <p:sp>
        <p:nvSpPr>
          <p:cNvPr id="13" name="">
            <a:extLst xmlns:a="http://schemas.openxmlformats.org/drawingml/2006/main">
              <a:ext uri="{FF2B5EF4-FFF2-40B4-BE49-F238E27FC236}">
                <a16:creationId xmlns:a16="http://schemas.microsoft.com/office/drawing/2014/main" id="{167B8922-DEEC-4FF3-B9BB-A2737C0CCFFF}"/>
              </a:ext>
            </a:extLst>
          </p:cNvPr>
          <p:cNvSpPr>
            <a:spLocks xmlns:a="http://schemas.openxmlformats.org/drawingml/2006/main" noGrp="1"/>
          </p:cNvSpPr>
          <p:nvPr/>
        </p:nvSpPr>
        <p:spPr>
          <a:xfrm xmlns:a="http://schemas.openxmlformats.org/drawingml/2006/main">
            <a:off x="609600" y="50958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Domaine : Ressources Humaines</a:t>
            </a:r>
          </a:p>
        </p:txBody>
      </p:sp>
      <p:sp>
        <p:nvSpPr>
          <p:cNvPr id="14" name="">
            <a:extLst xmlns:a="http://schemas.openxmlformats.org/drawingml/2006/main">
              <a:ext uri="{FF2B5EF4-FFF2-40B4-BE49-F238E27FC236}">
                <a16:creationId xmlns:a16="http://schemas.microsoft.com/office/drawing/2014/main" id="{8698F8C3-E80E-408F-8CA6-70BC84654C14}"/>
              </a:ext>
            </a:extLst>
          </p:cNvPr>
          <p:cNvSpPr>
            <a:spLocks xmlns:a="http://schemas.openxmlformats.org/drawingml/2006/main" noGrp="1"/>
          </p:cNvSpPr>
          <p:nvPr/>
        </p:nvSpPr>
        <p:spPr>
          <a:xfrm xmlns:a="http://schemas.openxmlformats.org/drawingml/2006/main">
            <a:off x="609600" y="5438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Domaine : Transformation Digitale</a:t>
            </a:r>
          </a:p>
        </p:txBody>
      </p:sp>
      <p:sp>
        <p:nvSpPr>
          <p:cNvPr id="15" name="">
            <a:extLst xmlns:a="http://schemas.openxmlformats.org/drawingml/2006/main">
              <a:ext uri="{FF2B5EF4-FFF2-40B4-BE49-F238E27FC236}">
                <a16:creationId xmlns:a16="http://schemas.microsoft.com/office/drawing/2014/main" id="{26CD7E3E-5DF6-4828-B182-329C9E826034}"/>
              </a:ext>
            </a:extLst>
          </p:cNvPr>
          <p:cNvSpPr>
            <a:spLocks xmlns:a="http://schemas.openxmlformats.org/drawingml/2006/main" noGrp="1"/>
          </p:cNvSpPr>
          <p:nvPr/>
        </p:nvSpPr>
        <p:spPr>
          <a:xfrm xmlns:a="http://schemas.openxmlformats.org/drawingml/2006/main">
            <a:off x="6419850" y="20097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Département : Consulting</a:t>
            </a:r>
          </a:p>
        </p:txBody>
      </p:sp>
      <p:sp>
        <p:nvSpPr>
          <p:cNvPr id="16" name="">
            <a:extLst xmlns:a="http://schemas.openxmlformats.org/drawingml/2006/main">
              <a:ext uri="{FF2B5EF4-FFF2-40B4-BE49-F238E27FC236}">
                <a16:creationId xmlns:a16="http://schemas.microsoft.com/office/drawing/2014/main" id="{93F5C31E-1E42-4264-BB10-C7127B8C8098}"/>
              </a:ext>
            </a:extLst>
          </p:cNvPr>
          <p:cNvSpPr>
            <a:spLocks xmlns:a="http://schemas.openxmlformats.org/drawingml/2006/main" noGrp="1"/>
          </p:cNvSpPr>
          <p:nvPr/>
        </p:nvSpPr>
        <p:spPr>
          <a:xfrm xmlns:a="http://schemas.openxmlformats.org/drawingml/2006/main">
            <a:off x="6419850" y="2352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Département : Ressources Humaines</a:t>
            </a:r>
          </a:p>
        </p:txBody>
      </p:sp>
      <p:sp>
        <p:nvSpPr>
          <p:cNvPr id="17" name="">
            <a:extLst xmlns:a="http://schemas.openxmlformats.org/drawingml/2006/main">
              <a:ext uri="{FF2B5EF4-FFF2-40B4-BE49-F238E27FC236}">
                <a16:creationId xmlns:a16="http://schemas.microsoft.com/office/drawing/2014/main" id="{5E28EC4E-441D-48E8-AD65-6161347B06EC}"/>
              </a:ext>
            </a:extLst>
          </p:cNvPr>
          <p:cNvSpPr>
            <a:spLocks xmlns:a="http://schemas.openxmlformats.org/drawingml/2006/main" noGrp="1"/>
          </p:cNvSpPr>
          <p:nvPr/>
        </p:nvSpPr>
        <p:spPr>
          <a:xfrm xmlns:a="http://schemas.openxmlformats.org/drawingml/2006/main">
            <a:off x="6419850" y="26955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Cadre Commercial</a:t>
            </a:r>
          </a:p>
        </p:txBody>
      </p:sp>
      <p:sp>
        <p:nvSpPr>
          <p:cNvPr id="18" name="">
            <a:extLst xmlns:a="http://schemas.openxmlformats.org/drawingml/2006/main">
              <a:ext uri="{FF2B5EF4-FFF2-40B4-BE49-F238E27FC236}">
                <a16:creationId xmlns:a16="http://schemas.microsoft.com/office/drawing/2014/main" id="{4E397FCA-D918-4DDA-A9A2-E0E86F7E65F1}"/>
              </a:ext>
            </a:extLst>
          </p:cNvPr>
          <p:cNvSpPr>
            <a:spLocks xmlns:a="http://schemas.openxmlformats.org/drawingml/2006/main" noGrp="1"/>
          </p:cNvSpPr>
          <p:nvPr/>
        </p:nvSpPr>
        <p:spPr>
          <a:xfrm xmlns:a="http://schemas.openxmlformats.org/drawingml/2006/main">
            <a:off x="6419850" y="30384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Consultant</a:t>
            </a:r>
          </a:p>
        </p:txBody>
      </p:sp>
      <p:sp>
        <p:nvSpPr>
          <p:cNvPr id="19" name="">
            <a:extLst xmlns:a="http://schemas.openxmlformats.org/drawingml/2006/main">
              <a:ext uri="{FF2B5EF4-FFF2-40B4-BE49-F238E27FC236}">
                <a16:creationId xmlns:a16="http://schemas.microsoft.com/office/drawing/2014/main" id="{095D4637-18CD-4E5A-A474-827B2955658E}"/>
              </a:ext>
            </a:extLst>
          </p:cNvPr>
          <p:cNvSpPr>
            <a:spLocks xmlns:a="http://schemas.openxmlformats.org/drawingml/2006/main" noGrp="1"/>
          </p:cNvSpPr>
          <p:nvPr/>
        </p:nvSpPr>
        <p:spPr>
          <a:xfrm xmlns:a="http://schemas.openxmlformats.org/drawingml/2006/main">
            <a:off x="6419850" y="33813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Directeur Technique</a:t>
            </a:r>
          </a:p>
        </p:txBody>
      </p:sp>
      <p:sp>
        <p:nvSpPr>
          <p:cNvPr id="20" name="">
            <a:extLst xmlns:a="http://schemas.openxmlformats.org/drawingml/2006/main">
              <a:ext uri="{FF2B5EF4-FFF2-40B4-BE49-F238E27FC236}">
                <a16:creationId xmlns:a16="http://schemas.microsoft.com/office/drawing/2014/main" id="{31EBAB75-A42D-4A76-8FD4-81D29D1A97FC}"/>
              </a:ext>
            </a:extLst>
          </p:cNvPr>
          <p:cNvSpPr>
            <a:spLocks xmlns:a="http://schemas.openxmlformats.org/drawingml/2006/main" noGrp="1"/>
          </p:cNvSpPr>
          <p:nvPr/>
        </p:nvSpPr>
        <p:spPr>
          <a:xfrm xmlns:a="http://schemas.openxmlformats.org/drawingml/2006/main">
            <a:off x="6419850" y="37242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Manager</a:t>
            </a:r>
          </a:p>
        </p:txBody>
      </p:sp>
      <p:sp>
        <p:nvSpPr>
          <p:cNvPr id="21" name="">
            <a:extLst xmlns:a="http://schemas.openxmlformats.org/drawingml/2006/main">
              <a:ext uri="{FF2B5EF4-FFF2-40B4-BE49-F238E27FC236}">
                <a16:creationId xmlns:a16="http://schemas.microsoft.com/office/drawing/2014/main" id="{D5954B1A-B412-4546-951F-B40E81CF1830}"/>
              </a:ext>
            </a:extLst>
          </p:cNvPr>
          <p:cNvSpPr>
            <a:spLocks xmlns:a="http://schemas.openxmlformats.org/drawingml/2006/main" noGrp="1"/>
          </p:cNvSpPr>
          <p:nvPr/>
        </p:nvSpPr>
        <p:spPr>
          <a:xfrm xmlns:a="http://schemas.openxmlformats.org/drawingml/2006/main">
            <a:off x="6419850" y="40671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Représentant Commercial</a:t>
            </a:r>
          </a:p>
        </p:txBody>
      </p:sp>
      <p:sp>
        <p:nvSpPr>
          <p:cNvPr id="22" name="">
            <a:extLst xmlns:a="http://schemas.openxmlformats.org/drawingml/2006/main">
              <a:ext uri="{FF2B5EF4-FFF2-40B4-BE49-F238E27FC236}">
                <a16:creationId xmlns:a16="http://schemas.microsoft.com/office/drawing/2014/main" id="{9950A951-60FD-400F-B919-E115687F01C1}"/>
              </a:ext>
            </a:extLst>
          </p:cNvPr>
          <p:cNvSpPr>
            <a:spLocks xmlns:a="http://schemas.openxmlformats.org/drawingml/2006/main" noGrp="1"/>
          </p:cNvSpPr>
          <p:nvPr/>
        </p:nvSpPr>
        <p:spPr>
          <a:xfrm xmlns:a="http://schemas.openxmlformats.org/drawingml/2006/main">
            <a:off x="6419850" y="44100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Ressources Humaines</a:t>
            </a:r>
          </a:p>
        </p:txBody>
      </p:sp>
      <p:sp>
        <p:nvSpPr>
          <p:cNvPr id="23" name="">
            <a:extLst xmlns:a="http://schemas.openxmlformats.org/drawingml/2006/main">
              <a:ext uri="{FF2B5EF4-FFF2-40B4-BE49-F238E27FC236}">
                <a16:creationId xmlns:a16="http://schemas.microsoft.com/office/drawing/2014/main" id="{4A1DC694-956A-47A7-812E-DF615E659F80}"/>
              </a:ext>
            </a:extLst>
          </p:cNvPr>
          <p:cNvSpPr>
            <a:spLocks xmlns:a="http://schemas.openxmlformats.org/drawingml/2006/main" noGrp="1"/>
          </p:cNvSpPr>
          <p:nvPr/>
        </p:nvSpPr>
        <p:spPr>
          <a:xfrm xmlns:a="http://schemas.openxmlformats.org/drawingml/2006/main">
            <a:off x="6419850" y="47529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Senior Manager</a:t>
            </a:r>
          </a:p>
        </p:txBody>
      </p:sp>
      <p:sp>
        <p:nvSpPr>
          <p:cNvPr id="24" name="">
            <a:extLst xmlns:a="http://schemas.openxmlformats.org/drawingml/2006/main">
              <a:ext uri="{FF2B5EF4-FFF2-40B4-BE49-F238E27FC236}">
                <a16:creationId xmlns:a16="http://schemas.microsoft.com/office/drawing/2014/main" id="{32358C3B-8CC7-4D5F-B7EA-29E5F65FA8BA}"/>
              </a:ext>
            </a:extLst>
          </p:cNvPr>
          <p:cNvSpPr>
            <a:spLocks xmlns:a="http://schemas.openxmlformats.org/drawingml/2006/main" noGrp="1"/>
          </p:cNvSpPr>
          <p:nvPr/>
        </p:nvSpPr>
        <p:spPr>
          <a:xfrm xmlns:a="http://schemas.openxmlformats.org/drawingml/2006/main">
            <a:off x="6419850" y="50958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24D"/>
                </a:solidFill>
                <a:latin typeface="DejaVu Sans"/>
                <a:ea typeface="DejaVu Sans"/>
                <a:cs typeface="DejaVu Sans"/>
              </a:defRPr>
            </a:pPr>
            <a:r>
              <a:rPr sz="1575" b="0">
                <a:solidFill>
                  <a:srgbClr val="17324D"/>
                </a:solidFill>
                <a:latin typeface="DejaVu Sans"/>
                <a:ea typeface="DejaVu Sans"/>
                <a:cs typeface="DejaVu Sans"/>
              </a:rPr>
              <a:t>Poste : Tech Lead</a:t>
            </a:r>
          </a:p>
        </p:txBody>
      </p:sp>
      <p:sp>
        <p:nvSpPr>
          <p:cNvPr id="25" name="">
            <a:extLst xmlns:a="http://schemas.openxmlformats.org/drawingml/2006/main">
              <a:ext uri="{FF2B5EF4-FFF2-40B4-BE49-F238E27FC236}">
                <a16:creationId xmlns:a16="http://schemas.microsoft.com/office/drawing/2014/main" id="{4D1FBBF7-F941-40FE-A55E-56BE8AA02F92}"/>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15 indicateurs proviennent du One-Hot. Les autres colonnes comprennent les variables initiales et les variables créées.</a:t>
            </a:r>
          </a:p>
        </p:txBody>
      </p:sp>
    </p:spTree>
    <p:extLst>
      <p:ext uri="{BB962C8B-B14F-4D97-AF65-F5344CB8AC3E}">
        <p14:creationId xmlns:p14="http://schemas.microsoft.com/office/powerpoint/2010/main" val="21028400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0416C6-F16F-456B-803F-F899F484C6BE}"/>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L’histogramme</a:t>
            </a:r>
          </a:p>
        </p:txBody>
      </p:sp>
      <p:sp>
        <p:nvSpPr>
          <p:cNvPr id="2" name="">
            <a:extLst xmlns:a="http://schemas.openxmlformats.org/drawingml/2006/main">
              <a:ext uri="{FF2B5EF4-FFF2-40B4-BE49-F238E27FC236}">
                <a16:creationId xmlns:a16="http://schemas.microsoft.com/office/drawing/2014/main" id="{95DB1C59-64F2-4CB8-863E-CAF4A5B124B1}"/>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Années depuis la dernière promotion, selon le départ</a:t>
            </a:r>
          </a:p>
        </p:txBody>
      </p:sp>
      <p:sp>
        <p:nvSpPr>
          <p:cNvPr id="3" name="">
            <a:extLst xmlns:a="http://schemas.openxmlformats.org/drawingml/2006/main">
              <a:ext uri="{FF2B5EF4-FFF2-40B4-BE49-F238E27FC236}">
                <a16:creationId xmlns:a16="http://schemas.microsoft.com/office/drawing/2014/main" id="{0DDC0BDB-1140-4AEB-A3B5-59E5775084C0}"/>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34</a:t>
            </a:r>
          </a:p>
        </p:txBody>
      </p:sp>
      <p:graphicFrame>
        <p:nvGraphicFramePr>
          <p:cNvPr id="9" name="Chart"/>
          <p:cNvGraphicFramePr/>
          <p:nvPr/>
        </p:nvGraphicFramePr>
        <p:xfrm>
          <a:off xmlns:a="http://schemas.openxmlformats.org/drawingml/2006/main" x="561975" y="2057400"/>
          <a:ext xmlns:a="http://schemas.openxmlformats.org/drawingml/2006/main" cx="10820400" cy="3705225"/>
        </p:xfrm>
        <a:graphic xmlns:a="http://schemas.openxmlformats.org/drawingml/2006/main">
          <a:graphicData uri="http://schemas.openxmlformats.org/drawingml/2006/chart">
            <c:chart xmlns:r="http://schemas.openxmlformats.org/officeDocument/2006/relationships" xmlns:c="http://schemas.openxmlformats.org/drawingml/2006/chart" r:id="Rb9e2ac1de953461b"/>
          </a:graphicData>
        </a:graphic>
      </p:graphicFrame>
      <p:sp>
        <p:nvSpPr>
          <p:cNvPr id="5" name="">
            <a:extLst xmlns:a="http://schemas.openxmlformats.org/drawingml/2006/main">
              <a:ext uri="{FF2B5EF4-FFF2-40B4-BE49-F238E27FC236}">
                <a16:creationId xmlns:a16="http://schemas.microsoft.com/office/drawing/2014/main" id="{3FE74055-1D5B-4965-9EE2-29B2BD3E02FC}"/>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Les effectifs sont normalisés dans chaque population pour comparer les distributions malgré le déséquilibre des classes.</a:t>
            </a:r>
          </a:p>
        </p:txBody>
      </p:sp>
    </p:spTree>
    <p:extLst>
      <p:ext uri="{BB962C8B-B14F-4D97-AF65-F5344CB8AC3E}">
        <p14:creationId xmlns:p14="http://schemas.microsoft.com/office/powerpoint/2010/main" val="142164389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47769F8-FEBC-4282-AD27-7CABACD58014}"/>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Le boxplot</a:t>
            </a:r>
          </a:p>
        </p:txBody>
      </p:sp>
      <p:sp>
        <p:nvSpPr>
          <p:cNvPr id="2" name="">
            <a:extLst xmlns:a="http://schemas.openxmlformats.org/drawingml/2006/main">
              <a:ext uri="{FF2B5EF4-FFF2-40B4-BE49-F238E27FC236}">
                <a16:creationId xmlns:a16="http://schemas.microsoft.com/office/drawing/2014/main" id="{27A7FF7F-DA67-4B71-955C-CC2994AF4FB0}"/>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La distribution du revenu mensuel dans les deux populations</a:t>
            </a:r>
          </a:p>
        </p:txBody>
      </p:sp>
      <p:sp>
        <p:nvSpPr>
          <p:cNvPr id="3" name="">
            <a:extLst xmlns:a="http://schemas.openxmlformats.org/drawingml/2006/main">
              <a:ext uri="{FF2B5EF4-FFF2-40B4-BE49-F238E27FC236}">
                <a16:creationId xmlns:a16="http://schemas.microsoft.com/office/drawing/2014/main" id="{211AEA07-40ED-4F35-9110-D2CFFBAA7C7E}"/>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35</a:t>
            </a:r>
          </a:p>
        </p:txBody>
      </p:sp>
      <p:graphicFrame>
        <p:nvGraphicFramePr>
          <p:cNvPr id="15" name="Chart"/>
          <p:cNvGraphicFramePr/>
          <p:nvPr/>
        </p:nvGraphicFramePr>
        <p:xfrm>
          <a:off xmlns:a="http://schemas.openxmlformats.org/drawingml/2006/main" x="523875" y="2038350"/>
          <a:ext xmlns:a="http://schemas.openxmlformats.org/drawingml/2006/main" cx="7677150" cy="3886200"/>
        </p:xfrm>
        <a:graphic xmlns:a="http://schemas.openxmlformats.org/drawingml/2006/main">
          <a:graphicData uri="http://schemas.openxmlformats.org/drawingml/2006/chart">
            <c:chart xmlns:r="http://schemas.openxmlformats.org/officeDocument/2006/relationships" xmlns:c="http://schemas.openxmlformats.org/drawingml/2006/chart" r:id="R5ca9f4e915e14196"/>
          </a:graphicData>
        </a:graphic>
      </p:graphicFrame>
      <p:sp>
        <p:nvSpPr>
          <p:cNvPr id="5" name="">
            <a:extLst xmlns:a="http://schemas.openxmlformats.org/drawingml/2006/main">
              <a:ext uri="{FF2B5EF4-FFF2-40B4-BE49-F238E27FC236}">
                <a16:creationId xmlns:a16="http://schemas.microsoft.com/office/drawing/2014/main" id="{EC5B2D71-9921-4D43-AE39-9CC259BBD8DB}"/>
              </a:ext>
            </a:extLst>
          </p:cNvPr>
          <p:cNvSpPr>
            <a:spLocks xmlns:a="http://schemas.openxmlformats.org/drawingml/2006/main" noGrp="1"/>
          </p:cNvSpPr>
          <p:nvPr/>
        </p:nvSpPr>
        <p:spPr>
          <a:xfrm xmlns:a="http://schemas.openxmlformats.org/drawingml/2006/main">
            <a:off x="8724900" y="2228850"/>
            <a:ext cx="2790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24D"/>
                </a:solidFill>
                <a:latin typeface="DejaVu Sans"/>
                <a:ea typeface="DejaVu Sans"/>
                <a:cs typeface="DejaVu Sans"/>
              </a:defRPr>
            </a:pPr>
            <a:r>
              <a:rPr sz="1725" b="1">
                <a:solidFill>
                  <a:srgbClr val="17324D"/>
                </a:solidFill>
                <a:latin typeface="DejaVu Sans"/>
                <a:ea typeface="DejaVu Sans"/>
                <a:cs typeface="DejaVu Sans"/>
              </a:rPr>
              <a:t>Trait central</a:t>
            </a:r>
          </a:p>
        </p:txBody>
      </p:sp>
      <p:sp>
        <p:nvSpPr>
          <p:cNvPr id="6" name="">
            <a:extLst xmlns:a="http://schemas.openxmlformats.org/drawingml/2006/main">
              <a:ext uri="{FF2B5EF4-FFF2-40B4-BE49-F238E27FC236}">
                <a16:creationId xmlns:a16="http://schemas.microsoft.com/office/drawing/2014/main" id="{D4BA8FD3-B7CF-4297-BC9F-21D647A74AD9}"/>
              </a:ext>
            </a:extLst>
          </p:cNvPr>
          <p:cNvSpPr>
            <a:spLocks xmlns:a="http://schemas.openxmlformats.org/drawingml/2006/main" noGrp="1"/>
          </p:cNvSpPr>
          <p:nvPr/>
        </p:nvSpPr>
        <p:spPr>
          <a:xfrm xmlns:a="http://schemas.openxmlformats.org/drawingml/2006/main">
            <a:off x="8724900" y="2609850"/>
            <a:ext cx="2790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06677"/>
                </a:solidFill>
                <a:latin typeface="DejaVu Sans"/>
                <a:ea typeface="DejaVu Sans"/>
                <a:cs typeface="DejaVu Sans"/>
              </a:defRPr>
            </a:pPr>
            <a:r>
              <a:rPr sz="1575" b="0">
                <a:solidFill>
                  <a:srgbClr val="506677"/>
                </a:solidFill>
                <a:latin typeface="DejaVu Sans"/>
                <a:ea typeface="DejaVu Sans"/>
                <a:cs typeface="DejaVu Sans"/>
              </a:rPr>
              <a:t>La médiane.</a:t>
            </a:r>
          </a:p>
        </p:txBody>
      </p:sp>
      <p:sp>
        <p:nvSpPr>
          <p:cNvPr id="7" name="">
            <a:extLst xmlns:a="http://schemas.openxmlformats.org/drawingml/2006/main">
              <a:ext uri="{FF2B5EF4-FFF2-40B4-BE49-F238E27FC236}">
                <a16:creationId xmlns:a16="http://schemas.microsoft.com/office/drawing/2014/main" id="{B7F56AD8-9F46-45E7-A68E-4B2BB5D18F9C}"/>
              </a:ext>
            </a:extLst>
          </p:cNvPr>
          <p:cNvSpPr>
            <a:spLocks xmlns:a="http://schemas.openxmlformats.org/drawingml/2006/main" noGrp="1"/>
          </p:cNvSpPr>
          <p:nvPr/>
        </p:nvSpPr>
        <p:spPr>
          <a:xfrm xmlns:a="http://schemas.openxmlformats.org/drawingml/2006/main">
            <a:off x="8724900" y="3238500"/>
            <a:ext cx="2790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24D"/>
                </a:solidFill>
                <a:latin typeface="DejaVu Sans"/>
                <a:ea typeface="DejaVu Sans"/>
                <a:cs typeface="DejaVu Sans"/>
              </a:defRPr>
            </a:pPr>
            <a:r>
              <a:rPr sz="1725" b="1">
                <a:solidFill>
                  <a:srgbClr val="17324D"/>
                </a:solidFill>
                <a:latin typeface="DejaVu Sans"/>
                <a:ea typeface="DejaVu Sans"/>
                <a:cs typeface="DejaVu Sans"/>
              </a:rPr>
              <a:t>Boîte</a:t>
            </a:r>
          </a:p>
        </p:txBody>
      </p:sp>
      <p:sp>
        <p:nvSpPr>
          <p:cNvPr id="8" name="">
            <a:extLst xmlns:a="http://schemas.openxmlformats.org/drawingml/2006/main">
              <a:ext uri="{FF2B5EF4-FFF2-40B4-BE49-F238E27FC236}">
                <a16:creationId xmlns:a16="http://schemas.microsoft.com/office/drawing/2014/main" id="{687C02F7-318A-4259-9096-B8A5EC558B19}"/>
              </a:ext>
            </a:extLst>
          </p:cNvPr>
          <p:cNvSpPr>
            <a:spLocks xmlns:a="http://schemas.openxmlformats.org/drawingml/2006/main" noGrp="1"/>
          </p:cNvSpPr>
          <p:nvPr/>
        </p:nvSpPr>
        <p:spPr>
          <a:xfrm xmlns:a="http://schemas.openxmlformats.org/drawingml/2006/main">
            <a:off x="8724900" y="3619500"/>
            <a:ext cx="2790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06677"/>
                </a:solidFill>
                <a:latin typeface="DejaVu Sans"/>
                <a:ea typeface="DejaVu Sans"/>
                <a:cs typeface="DejaVu Sans"/>
              </a:defRPr>
            </a:pPr>
            <a:r>
              <a:rPr sz="1575" b="0">
                <a:solidFill>
                  <a:srgbClr val="506677"/>
                </a:solidFill>
                <a:latin typeface="DejaVu Sans"/>
                <a:ea typeface="DejaVu Sans"/>
                <a:cs typeface="DejaVu Sans"/>
              </a:rPr>
              <a:t>Les 50 % de valeurs centrales.</a:t>
            </a:r>
          </a:p>
        </p:txBody>
      </p:sp>
      <p:sp>
        <p:nvSpPr>
          <p:cNvPr id="9" name="">
            <a:extLst xmlns:a="http://schemas.openxmlformats.org/drawingml/2006/main">
              <a:ext uri="{FF2B5EF4-FFF2-40B4-BE49-F238E27FC236}">
                <a16:creationId xmlns:a16="http://schemas.microsoft.com/office/drawing/2014/main" id="{8CDA954A-1044-401A-B2E5-41D3F3496814}"/>
              </a:ext>
            </a:extLst>
          </p:cNvPr>
          <p:cNvSpPr>
            <a:spLocks xmlns:a="http://schemas.openxmlformats.org/drawingml/2006/main" noGrp="1"/>
          </p:cNvSpPr>
          <p:nvPr/>
        </p:nvSpPr>
        <p:spPr>
          <a:xfrm xmlns:a="http://schemas.openxmlformats.org/drawingml/2006/main">
            <a:off x="8724900" y="4248150"/>
            <a:ext cx="2790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24D"/>
                </a:solidFill>
                <a:latin typeface="DejaVu Sans"/>
                <a:ea typeface="DejaVu Sans"/>
                <a:cs typeface="DejaVu Sans"/>
              </a:defRPr>
            </a:pPr>
            <a:r>
              <a:rPr sz="1725" b="1">
                <a:solidFill>
                  <a:srgbClr val="17324D"/>
                </a:solidFill>
                <a:latin typeface="DejaVu Sans"/>
                <a:ea typeface="DejaVu Sans"/>
                <a:cs typeface="DejaVu Sans"/>
              </a:rPr>
              <a:t>Points isolés</a:t>
            </a:r>
          </a:p>
        </p:txBody>
      </p:sp>
      <p:sp>
        <p:nvSpPr>
          <p:cNvPr id="10" name="">
            <a:extLst xmlns:a="http://schemas.openxmlformats.org/drawingml/2006/main">
              <a:ext uri="{FF2B5EF4-FFF2-40B4-BE49-F238E27FC236}">
                <a16:creationId xmlns:a16="http://schemas.microsoft.com/office/drawing/2014/main" id="{DA0B548C-0490-4EBE-A2F3-AC45270BB43F}"/>
              </a:ext>
            </a:extLst>
          </p:cNvPr>
          <p:cNvSpPr>
            <a:spLocks xmlns:a="http://schemas.openxmlformats.org/drawingml/2006/main" noGrp="1"/>
          </p:cNvSpPr>
          <p:nvPr/>
        </p:nvSpPr>
        <p:spPr>
          <a:xfrm xmlns:a="http://schemas.openxmlformats.org/drawingml/2006/main">
            <a:off x="8724900" y="4629150"/>
            <a:ext cx="2790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06677"/>
                </a:solidFill>
                <a:latin typeface="DejaVu Sans"/>
                <a:ea typeface="DejaVu Sans"/>
                <a:cs typeface="DejaVu Sans"/>
              </a:defRPr>
            </a:pPr>
            <a:r>
              <a:rPr sz="1575" b="0">
                <a:solidFill>
                  <a:srgbClr val="506677"/>
                </a:solidFill>
                <a:latin typeface="DejaVu Sans"/>
                <a:ea typeface="DejaVu Sans"/>
                <a:cs typeface="DejaVu Sans"/>
              </a:rPr>
              <a:t>Valeurs au-delà des moustaches.</a:t>
            </a:r>
          </a:p>
        </p:txBody>
      </p:sp>
      <p:sp>
        <p:nvSpPr>
          <p:cNvPr id="11" name="">
            <a:extLst xmlns:a="http://schemas.openxmlformats.org/drawingml/2006/main">
              <a:ext uri="{FF2B5EF4-FFF2-40B4-BE49-F238E27FC236}">
                <a16:creationId xmlns:a16="http://schemas.microsoft.com/office/drawing/2014/main" id="{474282CC-D970-4079-A464-2605B6CC8677}"/>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Médianes : 5 204 pour les restés, 3 202 pour les partis. Les valeurs atypiques ne sont pas automatiquement des erreurs.</a:t>
            </a:r>
          </a:p>
        </p:txBody>
      </p:sp>
    </p:spTree>
    <p:extLst>
      <p:ext uri="{BB962C8B-B14F-4D97-AF65-F5344CB8AC3E}">
        <p14:creationId xmlns:p14="http://schemas.microsoft.com/office/powerpoint/2010/main" val="39385279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5D46FC-E60E-4066-8153-B0AB75C3F26A}"/>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Le scatterplot</a:t>
            </a:r>
          </a:p>
        </p:txBody>
      </p:sp>
      <p:sp>
        <p:nvSpPr>
          <p:cNvPr id="2" name="">
            <a:extLst xmlns:a="http://schemas.openxmlformats.org/drawingml/2006/main">
              <a:ext uri="{FF2B5EF4-FFF2-40B4-BE49-F238E27FC236}">
                <a16:creationId xmlns:a16="http://schemas.microsoft.com/office/drawing/2014/main" id="{DE9F1E73-B33D-43A6-B530-3621691688A9}"/>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Âge et revenu, avec une couleur pour chaque population</a:t>
            </a:r>
          </a:p>
        </p:txBody>
      </p:sp>
      <p:sp>
        <p:nvSpPr>
          <p:cNvPr id="3" name="">
            <a:extLst xmlns:a="http://schemas.openxmlformats.org/drawingml/2006/main">
              <a:ext uri="{FF2B5EF4-FFF2-40B4-BE49-F238E27FC236}">
                <a16:creationId xmlns:a16="http://schemas.microsoft.com/office/drawing/2014/main" id="{D06D0B46-3EF3-441B-BDF7-01D8BC149DB5}"/>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36</a:t>
            </a:r>
          </a:p>
        </p:txBody>
      </p:sp>
      <p:graphicFrame>
        <p:nvGraphicFramePr>
          <p:cNvPr id="9" name="Chart"/>
          <p:cNvGraphicFramePr/>
          <p:nvPr/>
        </p:nvGraphicFramePr>
        <p:xfrm>
          <a:off xmlns:a="http://schemas.openxmlformats.org/drawingml/2006/main" x="590550" y="2028825"/>
          <a:ext xmlns:a="http://schemas.openxmlformats.org/drawingml/2006/main" cx="10839450" cy="3895725"/>
        </p:xfrm>
        <a:graphic xmlns:a="http://schemas.openxmlformats.org/drawingml/2006/main">
          <a:graphicData uri="http://schemas.openxmlformats.org/drawingml/2006/chart">
            <c:chart xmlns:r="http://schemas.openxmlformats.org/officeDocument/2006/relationships" xmlns:c="http://schemas.openxmlformats.org/drawingml/2006/chart" r:id="R0edac0c3d610407c"/>
          </a:graphicData>
        </a:graphic>
      </p:graphicFrame>
      <p:sp>
        <p:nvSpPr>
          <p:cNvPr id="5" name="">
            <a:extLst xmlns:a="http://schemas.openxmlformats.org/drawingml/2006/main">
              <a:ext uri="{FF2B5EF4-FFF2-40B4-BE49-F238E27FC236}">
                <a16:creationId xmlns:a16="http://schemas.microsoft.com/office/drawing/2014/main" id="{76F19CCE-F8FC-4B58-A281-E6FF10AE938D}"/>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Vert : restés. Corail : partis. Chaque point représente un salarié. Les populations se recouvrent largement.</a:t>
            </a:r>
          </a:p>
        </p:txBody>
      </p:sp>
    </p:spTree>
    <p:extLst>
      <p:ext uri="{BB962C8B-B14F-4D97-AF65-F5344CB8AC3E}">
        <p14:creationId xmlns:p14="http://schemas.microsoft.com/office/powerpoint/2010/main" val="60492385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D40990-256C-4BAC-9694-E29FEDF124DD}"/>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SHAP et les heures supplémentaires</a:t>
            </a:r>
          </a:p>
        </p:txBody>
      </p:sp>
      <p:sp>
        <p:nvSpPr>
          <p:cNvPr id="2" name="">
            <a:extLst xmlns:a="http://schemas.openxmlformats.org/drawingml/2006/main">
              <a:ext uri="{FF2B5EF4-FFF2-40B4-BE49-F238E27FC236}">
                <a16:creationId xmlns:a16="http://schemas.microsoft.com/office/drawing/2014/main" id="{24651AAE-F282-4245-A219-C390CB12266C}"/>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0 = non, 1 = oui. La couleur représente le revenu mensuel.</a:t>
            </a:r>
          </a:p>
        </p:txBody>
      </p:sp>
      <p:sp>
        <p:nvSpPr>
          <p:cNvPr id="3" name="">
            <a:extLst xmlns:a="http://schemas.openxmlformats.org/drawingml/2006/main">
              <a:ext uri="{FF2B5EF4-FFF2-40B4-BE49-F238E27FC236}">
                <a16:creationId xmlns:a16="http://schemas.microsoft.com/office/drawing/2014/main" id="{50147E16-0A98-4A52-B22B-A4126D7E3557}"/>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5e940bc92dc42ca"/>
          <a:stretch xmlns:a="http://schemas.openxmlformats.org/drawingml/2006/main"/>
        </p:blipFill>
        <p:spPr>
          <a:xfrm xmlns:a="http://schemas.openxmlformats.org/drawingml/2006/main">
            <a:off x="1358936" y="2057400"/>
            <a:ext cx="5807003" cy="38766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ECE68C6-F58F-4086-A739-C5F8B50DE4E3}"/>
              </a:ext>
            </a:extLst>
          </p:cNvPr>
          <p:cNvSpPr>
            <a:spLocks xmlns:a="http://schemas.openxmlformats.org/drawingml/2006/main" noGrp="1"/>
          </p:cNvSpPr>
          <p:nvPr/>
        </p:nvSpPr>
        <p:spPr>
          <a:xfrm xmlns:a="http://schemas.openxmlformats.org/drawingml/2006/main">
            <a:off x="8543925" y="2219325"/>
            <a:ext cx="2962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38A84"/>
                </a:solidFill>
                <a:latin typeface="DejaVu Sans"/>
                <a:ea typeface="DejaVu Sans"/>
                <a:cs typeface="DejaVu Sans"/>
              </a:defRPr>
            </a:pPr>
            <a:r>
              <a:rPr sz="2100" b="1">
                <a:solidFill>
                  <a:srgbClr val="138A84"/>
                </a:solidFill>
                <a:latin typeface="DejaVu Sans"/>
                <a:ea typeface="DejaVu Sans"/>
                <a:cs typeface="DejaVu Sans"/>
              </a:rPr>
              <a:t>Chaque point est un salarié</a:t>
            </a:r>
          </a:p>
        </p:txBody>
      </p:sp>
      <p:sp>
        <p:nvSpPr>
          <p:cNvPr id="6" name="">
            <a:extLst xmlns:a="http://schemas.openxmlformats.org/drawingml/2006/main">
              <a:ext uri="{FF2B5EF4-FFF2-40B4-BE49-F238E27FC236}">
                <a16:creationId xmlns:a16="http://schemas.microsoft.com/office/drawing/2014/main" id="{B20BA9A9-9746-46E2-ABC3-F341E4ECDB3E}"/>
              </a:ext>
            </a:extLst>
          </p:cNvPr>
          <p:cNvSpPr>
            <a:spLocks xmlns:a="http://schemas.openxmlformats.org/drawingml/2006/main" noGrp="1"/>
          </p:cNvSpPr>
          <p:nvPr/>
        </p:nvSpPr>
        <p:spPr>
          <a:xfrm xmlns:a="http://schemas.openxmlformats.org/drawingml/2006/main">
            <a:off x="8543925" y="3295650"/>
            <a:ext cx="29622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Dans ce modèle, les points à 1 ont des contributions positives, les points à 0 des contributions négatives.</a:t>
            </a:r>
          </a:p>
        </p:txBody>
      </p:sp>
      <p:sp>
        <p:nvSpPr>
          <p:cNvPr id="7" name="">
            <a:extLst xmlns:a="http://schemas.openxmlformats.org/drawingml/2006/main">
              <a:ext uri="{FF2B5EF4-FFF2-40B4-BE49-F238E27FC236}">
                <a16:creationId xmlns:a16="http://schemas.microsoft.com/office/drawing/2014/main" id="{E4C1EB24-0484-4DA1-8B77-953287F93038}"/>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Au-dessus de 0 : contribution positive au score brut. Au-dessous de 0 : contribution négative.</a:t>
            </a:r>
          </a:p>
        </p:txBody>
      </p:sp>
    </p:spTree>
    <p:extLst>
      <p:ext uri="{BB962C8B-B14F-4D97-AF65-F5344CB8AC3E}">
        <p14:creationId xmlns:p14="http://schemas.microsoft.com/office/powerpoint/2010/main" val="12223933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2611DE-741A-4F8A-B899-AD2DDAB51FB8}"/>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SHAP et le PEE</a:t>
            </a:r>
          </a:p>
        </p:txBody>
      </p:sp>
      <p:sp>
        <p:nvSpPr>
          <p:cNvPr id="2" name="">
            <a:extLst xmlns:a="http://schemas.openxmlformats.org/drawingml/2006/main">
              <a:ext uri="{FF2B5EF4-FFF2-40B4-BE49-F238E27FC236}">
                <a16:creationId xmlns:a16="http://schemas.microsoft.com/office/drawing/2014/main" id="{6ECA360D-609A-400B-9F4F-DBF7B9EB323E}"/>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L’axe horizontal donne la participation au PEE.</a:t>
            </a:r>
          </a:p>
        </p:txBody>
      </p:sp>
      <p:sp>
        <p:nvSpPr>
          <p:cNvPr id="3" name="">
            <a:extLst xmlns:a="http://schemas.openxmlformats.org/drawingml/2006/main">
              <a:ext uri="{FF2B5EF4-FFF2-40B4-BE49-F238E27FC236}">
                <a16:creationId xmlns:a16="http://schemas.microsoft.com/office/drawing/2014/main" id="{724D4C52-4961-4525-B860-EECD991B4BD0}"/>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4e18e6b66648a9"/>
          <a:stretch xmlns:a="http://schemas.openxmlformats.org/drawingml/2006/main"/>
        </p:blipFill>
        <p:spPr>
          <a:xfrm xmlns:a="http://schemas.openxmlformats.org/drawingml/2006/main">
            <a:off x="1443038" y="2057400"/>
            <a:ext cx="5638800" cy="38766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084D25-3DA9-487E-8588-32D7EBB033F0}"/>
              </a:ext>
            </a:extLst>
          </p:cNvPr>
          <p:cNvSpPr>
            <a:spLocks xmlns:a="http://schemas.openxmlformats.org/drawingml/2006/main" noGrp="1"/>
          </p:cNvSpPr>
          <p:nvPr/>
        </p:nvSpPr>
        <p:spPr>
          <a:xfrm xmlns:a="http://schemas.openxmlformats.org/drawingml/2006/main">
            <a:off x="8543925" y="2219325"/>
            <a:ext cx="2962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38A84"/>
                </a:solidFill>
                <a:latin typeface="DejaVu Sans"/>
                <a:ea typeface="DejaVu Sans"/>
                <a:cs typeface="DejaVu Sans"/>
              </a:defRPr>
            </a:pPr>
            <a:r>
              <a:rPr sz="2100" b="1">
                <a:solidFill>
                  <a:srgbClr val="138A84"/>
                </a:solidFill>
                <a:latin typeface="DejaVu Sans"/>
                <a:ea typeface="DejaVu Sans"/>
                <a:cs typeface="DejaVu Sans"/>
              </a:rPr>
              <a:t>Chaque point est un salarié</a:t>
            </a:r>
          </a:p>
        </p:txBody>
      </p:sp>
      <p:sp>
        <p:nvSpPr>
          <p:cNvPr id="6" name="">
            <a:extLst xmlns:a="http://schemas.openxmlformats.org/drawingml/2006/main">
              <a:ext uri="{FF2B5EF4-FFF2-40B4-BE49-F238E27FC236}">
                <a16:creationId xmlns:a16="http://schemas.microsoft.com/office/drawing/2014/main" id="{3E409B47-F3CD-40EF-B4E0-9DB83826D6AF}"/>
              </a:ext>
            </a:extLst>
          </p:cNvPr>
          <p:cNvSpPr>
            <a:spLocks xmlns:a="http://schemas.openxmlformats.org/drawingml/2006/main" noGrp="1"/>
          </p:cNvSpPr>
          <p:nvPr/>
        </p:nvSpPr>
        <p:spPr>
          <a:xfrm xmlns:a="http://schemas.openxmlformats.org/drawingml/2006/main">
            <a:off x="8543925" y="3295650"/>
            <a:ext cx="29622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24D"/>
                </a:solidFill>
                <a:latin typeface="DejaVu Sans"/>
                <a:ea typeface="DejaVu Sans"/>
                <a:cs typeface="DejaVu Sans"/>
              </a:defRPr>
            </a:pPr>
            <a:r>
              <a:rPr sz="1875" b="0">
                <a:solidFill>
                  <a:srgbClr val="17324D"/>
                </a:solidFill>
                <a:latin typeface="DejaVu Sans"/>
                <a:ea typeface="DejaVu Sans"/>
                <a:cs typeface="DejaVu Sans"/>
              </a:rPr>
              <a:t>Le sens de l’effet se lit sur l’axe vertical. La valeur SHAP dépend aussi des autres variables du salarié.</a:t>
            </a:r>
          </a:p>
        </p:txBody>
      </p:sp>
      <p:sp>
        <p:nvSpPr>
          <p:cNvPr id="7" name="">
            <a:extLst xmlns:a="http://schemas.openxmlformats.org/drawingml/2006/main">
              <a:ext uri="{FF2B5EF4-FFF2-40B4-BE49-F238E27FC236}">
                <a16:creationId xmlns:a16="http://schemas.microsoft.com/office/drawing/2014/main" id="{EEB9CA2F-EEDB-476A-8F3F-2C44512069A8}"/>
              </a:ext>
            </a:extLst>
          </p:cNvPr>
          <p:cNvSpPr>
            <a:spLocks xmlns:a="http://schemas.openxmlformats.org/drawingml/2006/main" noGrp="1"/>
          </p:cNvSpPr>
          <p:nvPr/>
        </p:nvSpPr>
        <p:spPr>
          <a:xfrm xmlns:a="http://schemas.openxmlformats.org/drawingml/2006/main">
            <a:off x="590550" y="5981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06677"/>
                </a:solidFill>
                <a:latin typeface="DejaVu Sans"/>
                <a:ea typeface="DejaVu Sans"/>
                <a:cs typeface="DejaVu Sans"/>
              </a:defRPr>
            </a:pPr>
            <a:r>
              <a:rPr sz="1275" b="0">
                <a:solidFill>
                  <a:srgbClr val="506677"/>
                </a:solidFill>
                <a:latin typeface="DejaVu Sans"/>
                <a:ea typeface="DejaVu Sans"/>
                <a:cs typeface="DejaVu Sans"/>
              </a:rPr>
              <a:t>Au-dessus de 0 : contribution positive au score brut. Au-dessous de 0 : contribution négative.</a:t>
            </a:r>
          </a:p>
        </p:txBody>
      </p:sp>
    </p:spTree>
    <p:extLst>
      <p:ext uri="{BB962C8B-B14F-4D97-AF65-F5344CB8AC3E}">
        <p14:creationId xmlns:p14="http://schemas.microsoft.com/office/powerpoint/2010/main" val="2612809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1FF865-169F-4539-933C-95E5F6F9E2EB}"/>
              </a:ext>
            </a:extLst>
          </p:cNvPr>
          <p:cNvSpPr>
            <a:spLocks xmlns:a="http://schemas.openxmlformats.org/drawingml/2006/main" noGrp="1"/>
          </p:cNvSpPr>
          <p:nvPr/>
        </p:nvSpPr>
        <p:spPr>
          <a:xfrm xmlns:a="http://schemas.openxmlformats.org/drawingml/2006/main">
            <a:off x="571500" y="400050"/>
            <a:ext cx="1100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24D"/>
                </a:solidFill>
                <a:latin typeface="DejaVu Sans"/>
                <a:ea typeface="DejaVu Sans"/>
                <a:cs typeface="DejaVu Sans"/>
              </a:defRPr>
            </a:pPr>
            <a:r>
              <a:rPr sz="3225" b="1">
                <a:solidFill>
                  <a:srgbClr val="17324D"/>
                </a:solidFill>
                <a:latin typeface="DejaVu Sans"/>
                <a:ea typeface="DejaVu Sans"/>
                <a:cs typeface="DejaVu Sans"/>
              </a:rPr>
              <a:t>Annexe · Le mémo des notions</a:t>
            </a:r>
          </a:p>
        </p:txBody>
      </p:sp>
      <p:sp>
        <p:nvSpPr>
          <p:cNvPr id="2" name="">
            <a:extLst xmlns:a="http://schemas.openxmlformats.org/drawingml/2006/main">
              <a:ext uri="{FF2B5EF4-FFF2-40B4-BE49-F238E27FC236}">
                <a16:creationId xmlns:a16="http://schemas.microsoft.com/office/drawing/2014/main" id="{225ED298-C18D-4BB4-8FA5-B83476D85F26}"/>
              </a:ext>
            </a:extLst>
          </p:cNvPr>
          <p:cNvSpPr>
            <a:spLocks xmlns:a="http://schemas.openxmlformats.org/drawingml/2006/main" noGrp="1"/>
          </p:cNvSpPr>
          <p:nvPr/>
        </p:nvSpPr>
        <p:spPr>
          <a:xfrm xmlns:a="http://schemas.openxmlformats.org/drawingml/2006/main">
            <a:off x="590550" y="13906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06677"/>
                </a:solidFill>
                <a:latin typeface="DejaVu Sans"/>
                <a:ea typeface="DejaVu Sans"/>
                <a:cs typeface="DejaVu Sans"/>
              </a:defRPr>
            </a:pPr>
            <a:r>
              <a:rPr sz="1725" b="0">
                <a:solidFill>
                  <a:srgbClr val="506677"/>
                </a:solidFill>
                <a:latin typeface="DejaVu Sans"/>
                <a:ea typeface="DejaVu Sans"/>
                <a:cs typeface="DejaVu Sans"/>
              </a:rPr>
              <a:t>Les définitions à garder en tête pendant les questions</a:t>
            </a:r>
          </a:p>
        </p:txBody>
      </p:sp>
      <p:sp>
        <p:nvSpPr>
          <p:cNvPr id="3" name="">
            <a:extLst xmlns:a="http://schemas.openxmlformats.org/drawingml/2006/main">
              <a:ext uri="{FF2B5EF4-FFF2-40B4-BE49-F238E27FC236}">
                <a16:creationId xmlns:a16="http://schemas.microsoft.com/office/drawing/2014/main" id="{314B6631-2B75-4100-A8C8-3A99ACCE522F}"/>
              </a:ext>
            </a:extLst>
          </p:cNvPr>
          <p:cNvSpPr>
            <a:spLocks xmlns:a="http://schemas.openxmlformats.org/drawingml/2006/main" noGrp="1"/>
          </p:cNvSpPr>
          <p:nvPr/>
        </p:nvSpPr>
        <p:spPr>
          <a:xfrm xmlns:a="http://schemas.openxmlformats.org/drawingml/2006/main">
            <a:off x="11144250" y="64293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06677"/>
                </a:solidFill>
                <a:latin typeface="DejaVu Sans"/>
                <a:ea typeface="DejaVu Sans"/>
                <a:cs typeface="DejaVu Sans"/>
              </a:defRPr>
            </a:pPr>
            <a:r>
              <a:rPr sz="1200" b="0">
                <a:solidFill>
                  <a:srgbClr val="506677"/>
                </a:solidFill>
                <a:latin typeface="DejaVu Sans"/>
                <a:ea typeface="DejaVu Sans"/>
                <a:cs typeface="DejaVu Sans"/>
              </a:rPr>
              <a:t>39</a:t>
            </a:r>
          </a:p>
        </p:txBody>
      </p:sp>
      <p:graphicFrame>
        <p:nvGraphicFramePr>
          <p:cNvPr id="8" name=""/>
          <p:cNvGraphicFramePr/>
          <p:nvPr/>
        </p:nvGraphicFramePr>
        <p:xfrm>
          <a:off xmlns:a="http://schemas.openxmlformats.org/drawingml/2006/main" x="590550" y="2028825"/>
          <a:ext xmlns:a="http://schemas.openxmlformats.org/drawingml/2006/main" cx="11010900" cy="3933825"/>
        </p:xfrm>
        <a:graphic xmlns:a="http://schemas.openxmlformats.org/drawingml/2006/main">
          <a:graphicData uri="http://schemas.openxmlformats.org/drawingml/2006/table">
            <a:tbl>
              <a:tblPr firstRow="0" bandRow="0"/>
              <a:tblGrid>
                <a:gridCol w="3171825"/>
                <a:gridCol w="7839075"/>
              </a:tblGrid>
              <a:tr h="491728">
                <a:tc>
                  <a:txBody>
                    <a:bodyPr lIns="114300" tIns="114300" rIns="95250" bIns="76200">
                      <a:noAutofit/>
                    </a:bodyPr>
                    <a:lstStyle/>
                    <a:p>
                      <a:r>
                        <a:rPr sz="1725" b="1">
                          <a:solidFill>
                            <a:srgbClr val="FFFFFF"/>
                          </a:solidFill>
                          <a:latin typeface="DejaVu Sans"/>
                          <a:ea typeface="DejaVu Sans"/>
                          <a:cs typeface="DejaVu Sans"/>
                        </a:rPr>
                        <a:t>Notion</a:t>
                      </a:r>
                    </a:p>
                  </a:txBody>
                  <a:tcPr marL="91440" marR="91440" marT="45720" marB="45720" anchor="ctr">
                    <a:solidFill>
                      <a:srgbClr val="102A43"/>
                    </a:solidFill>
                  </a:tcPr>
                </a:tc>
                <a:tc>
                  <a:txBody>
                    <a:bodyPr lIns="114300" tIns="114300" rIns="95250" bIns="76200">
                      <a:noAutofit/>
                    </a:bodyPr>
                    <a:lstStyle/>
                    <a:p>
                      <a:r>
                        <a:rPr sz="1725" b="1">
                          <a:solidFill>
                            <a:srgbClr val="FFFFFF"/>
                          </a:solidFill>
                          <a:latin typeface="DejaVu Sans"/>
                          <a:ea typeface="DejaVu Sans"/>
                          <a:cs typeface="DejaVu Sans"/>
                        </a:rPr>
                        <a:t>Définition courte</a:t>
                      </a:r>
                    </a:p>
                  </a:txBody>
                  <a:tcPr marL="91440" marR="91440" marT="45720" marB="45720" anchor="ctr">
                    <a:solidFill>
                      <a:srgbClr val="102A43"/>
                    </a:solidFill>
                  </a:tcPr>
                </a:tc>
              </a:tr>
              <a:tr h="491728">
                <a:tc>
                  <a:txBody>
                    <a:bodyPr lIns="114300" tIns="114300" rIns="95250" bIns="76200">
                      <a:noAutofit/>
                    </a:bodyPr>
                    <a:lstStyle/>
                    <a:p>
                      <a:r>
                        <a:rPr sz="1725" b="0">
                          <a:solidFill>
                            <a:srgbClr val="17324D"/>
                          </a:solidFill>
                          <a:latin typeface="DejaVu Sans"/>
                          <a:ea typeface="DejaVu Sans"/>
                          <a:cs typeface="DejaVu Sans"/>
                        </a:rPr>
                        <a:t>Stratification</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Conserver la proportion des classes dans les groupes</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Validation croisée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Alterner apprentissage et validation sur plusieurs folds</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Recall / rappel</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Part des départs réels détectés</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Précision</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Part des alertes qui correspondent à un départ</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F1-score</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Moyenne harmonique de précision et rappel</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ROC-AUC</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Qualité du classement des scores sur tous les seuils</a:t>
                      </a:r>
                    </a:p>
                  </a:txBody>
                  <a:tcPr marL="91440" marR="91440" marT="45720" marB="45720" anchor="ctr">
                    <a:solidFill>
                      <a:srgbClr val="FFFFFF"/>
                    </a:solidFill>
                  </a:tcPr>
                </a:tc>
              </a:tr>
              <a:tr h="491728">
                <a:tc>
                  <a:txBody>
                    <a:bodyPr lIns="114300" tIns="114300" rIns="95250" bIns="76200">
                      <a:noAutofit/>
                    </a:bodyPr>
                    <a:lstStyle/>
                    <a:p>
                      <a:r>
                        <a:rPr sz="1725" b="0">
                          <a:solidFill>
                            <a:srgbClr val="17324D"/>
                          </a:solidFill>
                          <a:latin typeface="DejaVu Sans"/>
                          <a:ea typeface="DejaVu Sans"/>
                          <a:cs typeface="DejaVu Sans"/>
                        </a:rPr>
                        <a:t>SHAP</a:t>
                      </a:r>
                    </a:p>
                  </a:txBody>
                  <a:tcPr marL="91440" marR="91440" marT="45720" marB="45720" anchor="ctr">
                    <a:solidFill>
                      <a:srgbClr val="FFFFFF"/>
                    </a:solidFill>
                  </a:tcPr>
                </a:tc>
                <a:tc>
                  <a:txBody>
                    <a:bodyPr lIns="114300" tIns="114300" rIns="95250" bIns="76200">
                      <a:noAutofit/>
                    </a:bodyPr>
                    <a:lstStyle/>
                    <a:p>
                      <a:r>
                        <a:rPr sz="1725" b="0">
                          <a:solidFill>
                            <a:srgbClr val="17324D"/>
                          </a:solidFill>
                          <a:latin typeface="DejaVu Sans"/>
                          <a:ea typeface="DejaVu Sans"/>
                          <a:cs typeface="DejaVu Sans"/>
                        </a:rPr>
                        <a:t>Contributions des variables à une prédiction du modèle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65546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2026-09-10T09:04:51.1450000Z</dcterms:created>
  <dcterms:modified xsi:type="dcterms:W3CDTF">2026-09-10T09:04:51.1450000Z</dcterms:modified>
</coreProperties>
</file>