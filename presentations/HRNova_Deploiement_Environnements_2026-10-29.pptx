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environnement associe le code de l’API, sa configuration, sa base PostgreSQL et une version du modèle. Development sert à développer, staging à répéter la mise en service et production à servir les utilisateurs. Chaque cible doit disposer de ses accès et de sa base, pour éviter que les tests écrivent dans les données de production. Le code peut être identique ; les paramètres changent. Dans HRNova, l’API actuellement disponible reste l’instance locale. Les trois environnements GitHub existants organisent les validations sans créer trois serveurs.</a:t>
            </a:r>
          </a:p>
          <a:p/>
          <a:p>
            <a:r>
              <a:t>Sources : Sources : docs/deployment.md · .github/workflows/ci.yml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parcours cible commence par une branche de travail et des contrôles CI. Une pull request permet de revoir les changements. Le candidat est testé en préproduction avant une validation de mise en production. L’objectif est de promouvoir les mêmes artefacts validés, identifiés par un commit Git et un hash de modèle. Si la fusion change le code, le nouveau candidat doit être vérifié. Après déploiement, contrôler la santé de l’API, une prédiction et sa trace en base. Ce protocole décrit une cible d’exploitation ; la pipeline actuelle ne réalise pas de déploiement distant de FastAPI.</a:t>
            </a:r>
          </a:p>
          <a:p/>
          <a:p>
            <a:r>
              <a:t>Sources : Source : docs/deployment.md — protocole cible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workflow sélectionne development pour les branches de travail, staging pour develop et production pour main, lors des push ou lancements manuels. Les pull requests exécutent les tests sans accéder à ces environnements. Chaque environnement GitHub peut contenir des variables et secrets propres et des règles de branches. Les approbations requises dépendent des fonctionnalités disponibles pour le dépôt. Le job environment-validation utilise une base PostgreSQL de test éphémère, vérifie le chemin du modèle puis relance les tests. Sur main, le job de publication utilise production pour envoyer le modèle vers SamGabb/hrnova. Il ne démarre pas de serveur API.</a:t>
            </a:r>
          </a:p>
          <a:p/>
          <a:p>
            <a:r>
              <a:t>Sources : Source : .github/workflows/ci.yml · docs/deployment.md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DATABASE_URL doit pointer vers la base propre à la cible et HRNOVA_MODEL_PATH vers le fichier validé. Les fichiers .env.staging et .env.production ne sont pas versionnés. L’exemple suppose que la préproduction, ses tables, ses droits et son modèle ont déjà été préparés. Uvicorn écoute ici uniquement en local sur un port distinct. Avant de mettre en service une version, sauvegarder la base et conserver les références de l’ancienne version. Après démarrage, vérifier /health puis une inférence tracée. En cas d’incident, revenir au code et au modèle précédents ; une migration de schéma peut nécessiter un traitement supplémentaire. Aucun serveur de production n’est provisionné par cet exemple.</a:t>
            </a:r>
          </a:p>
          <a:p/>
          <a:p>
            <a:r>
              <a:t>Sources : Sources : docs/deployment.md · docs/maintenance.md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DÉPLOIEMENT · 1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Un environnement = une instance et sa configuration</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01 / 4</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Sources : docs/deployment.md · .github/workflows/ci.yml</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Development</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Développer et déboguer</a:t>
            </a:r>
          </a:p>
          <a:p>
            <a:pPr algn="l">
              <a:lnSpc>
                <a:spcPts val="2005"/>
              </a:lnSpc>
              <a:spcBef>
                <a:spcPts val="0"/>
              </a:spcBef>
              <a:spcAft>
                <a:spcPts val="0"/>
              </a:spcAft>
              <a:defRPr sz="1700" b="0">
                <a:solidFill>
                  <a:srgbClr val="183744"/>
                </a:solidFill>
                <a:latin typeface="Arial"/>
              </a:defRPr>
            </a:pPr>
            <a:r>
              <a:t>Données de test</a:t>
            </a:r>
          </a:p>
          <a:p>
            <a:pPr algn="l">
              <a:lnSpc>
                <a:spcPts val="2005"/>
              </a:lnSpc>
              <a:spcBef>
                <a:spcPts val="0"/>
              </a:spcBef>
              <a:spcAft>
                <a:spcPts val="0"/>
              </a:spcAft>
              <a:defRPr sz="1700" b="0">
                <a:solidFill>
                  <a:srgbClr val="183744"/>
                </a:solidFill>
                <a:latin typeface="Arial"/>
              </a:defRPr>
            </a:pPr>
            <a:r>
              <a:t>Retours rapides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Staging</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Préproduction</a:t>
            </a:r>
          </a:p>
          <a:p>
            <a:pPr algn="l">
              <a:lnSpc>
                <a:spcPts val="2005"/>
              </a:lnSpc>
              <a:spcBef>
                <a:spcPts val="0"/>
              </a:spcBef>
              <a:spcAft>
                <a:spcPts val="0"/>
              </a:spcAft>
              <a:defRPr sz="1700" b="0">
                <a:solidFill>
                  <a:srgbClr val="183744"/>
                </a:solidFill>
                <a:latin typeface="Arial"/>
              </a:defRPr>
            </a:pPr>
            <a:r>
              <a:t>Tester le candidat</a:t>
            </a:r>
          </a:p>
          <a:p>
            <a:pPr algn="l">
              <a:lnSpc>
                <a:spcPts val="2005"/>
              </a:lnSpc>
              <a:spcBef>
                <a:spcPts val="0"/>
              </a:spcBef>
              <a:spcAft>
                <a:spcPts val="0"/>
              </a:spcAft>
              <a:defRPr sz="1700" b="0">
                <a:solidFill>
                  <a:srgbClr val="183744"/>
                </a:solidFill>
                <a:latin typeface="Arial"/>
              </a:defRPr>
            </a:pPr>
            <a:r>
              <a:t>Configuration réaliste</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Production</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Servir les utilisateurs</a:t>
            </a:r>
          </a:p>
          <a:p>
            <a:pPr algn="l">
              <a:lnSpc>
                <a:spcPts val="2005"/>
              </a:lnSpc>
              <a:spcBef>
                <a:spcPts val="0"/>
              </a:spcBef>
              <a:spcAft>
                <a:spcPts val="0"/>
              </a:spcAft>
              <a:defRPr sz="1700" b="0">
                <a:solidFill>
                  <a:srgbClr val="183744"/>
                </a:solidFill>
                <a:latin typeface="Arial"/>
              </a:defRPr>
            </a:pPr>
            <a:r>
              <a:t>Données et accès dédiés</a:t>
            </a:r>
          </a:p>
          <a:p>
            <a:pPr algn="l">
              <a:lnSpc>
                <a:spcPts val="2005"/>
              </a:lnSpc>
              <a:spcBef>
                <a:spcPts val="0"/>
              </a:spcBef>
              <a:spcAft>
                <a:spcPts val="0"/>
              </a:spcAft>
              <a:defRPr sz="1700" b="0">
                <a:solidFill>
                  <a:srgbClr val="183744"/>
                </a:solidFill>
                <a:latin typeface="Arial"/>
              </a:defRPr>
            </a:pPr>
            <a:r>
              <a:t>Version validée</a:t>
            </a:r>
          </a:p>
        </p:txBody>
      </p:sp>
      <p:sp>
        <p:nvSpPr>
          <p:cNvPr id="22" name="Rounded Rectangle 21"/>
          <p:cNvSpPr/>
          <p:nvPr/>
        </p:nvSpPr>
        <p:spPr>
          <a:xfrm>
            <a:off x="502920" y="521208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32180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Séparer les bases, les secrets et les instances ; identifier les versions du code et du modèle.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DÉPLOIEMENT · 2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Du push à la mise en production</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02 / 4</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Source : docs/deployment.md — protocole cible</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1. Construire</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Push et pull request</a:t>
            </a:r>
          </a:p>
          <a:p>
            <a:pPr algn="l">
              <a:lnSpc>
                <a:spcPts val="2005"/>
              </a:lnSpc>
              <a:spcBef>
                <a:spcPts val="0"/>
              </a:spcBef>
              <a:spcAft>
                <a:spcPts val="0"/>
              </a:spcAft>
              <a:defRPr sz="1700" b="0">
                <a:solidFill>
                  <a:srgbClr val="183744"/>
                </a:solidFill>
                <a:latin typeface="Arial"/>
              </a:defRPr>
            </a:pPr>
            <a:r>
              <a:t>Tests automatiques</a:t>
            </a:r>
          </a:p>
          <a:p>
            <a:pPr algn="l">
              <a:lnSpc>
                <a:spcPts val="2005"/>
              </a:lnSpc>
              <a:spcBef>
                <a:spcPts val="0"/>
              </a:spcBef>
              <a:spcAft>
                <a:spcPts val="0"/>
              </a:spcAft>
              <a:defRPr sz="1700" b="0">
                <a:solidFill>
                  <a:srgbClr val="183744"/>
                </a:solidFill>
                <a:latin typeface="Arial"/>
              </a:defRPr>
            </a:pPr>
            <a:r>
              <a:t>Artefacts versionnés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2. Vérifier</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Candidat en staging</a:t>
            </a:r>
          </a:p>
          <a:p>
            <a:pPr algn="l">
              <a:lnSpc>
                <a:spcPts val="2005"/>
              </a:lnSpc>
              <a:spcBef>
                <a:spcPts val="0"/>
              </a:spcBef>
              <a:spcAft>
                <a:spcPts val="0"/>
              </a:spcAft>
              <a:defRPr sz="1700" b="0">
                <a:solidFill>
                  <a:srgbClr val="183744"/>
                </a:solidFill>
                <a:latin typeface="Arial"/>
              </a:defRPr>
            </a:pPr>
            <a:r>
              <a:t>Tests d’intégration</a:t>
            </a:r>
          </a:p>
          <a:p>
            <a:pPr algn="l">
              <a:lnSpc>
                <a:spcPts val="2005"/>
              </a:lnSpc>
              <a:spcBef>
                <a:spcPts val="0"/>
              </a:spcBef>
              <a:spcAft>
                <a:spcPts val="0"/>
              </a:spcAft>
              <a:defRPr sz="1700" b="0">
                <a:solidFill>
                  <a:srgbClr val="183744"/>
                </a:solidFill>
                <a:latin typeface="Arial"/>
              </a:defRPr>
            </a:pPr>
            <a:r>
              <a:t>Validation de version</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3. Mettre en service</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Déployer en production</a:t>
            </a:r>
          </a:p>
          <a:p>
            <a:pPr algn="l">
              <a:lnSpc>
                <a:spcPts val="2005"/>
              </a:lnSpc>
              <a:spcBef>
                <a:spcPts val="0"/>
              </a:spcBef>
              <a:spcAft>
                <a:spcPts val="0"/>
              </a:spcAft>
              <a:defRPr sz="1700" b="0">
                <a:solidFill>
                  <a:srgbClr val="183744"/>
                </a:solidFill>
                <a:latin typeface="Arial"/>
              </a:defRPr>
            </a:pPr>
            <a:r>
              <a:t>Redémarrer et vérifier</a:t>
            </a:r>
          </a:p>
          <a:p>
            <a:pPr algn="l">
              <a:lnSpc>
                <a:spcPts val="2005"/>
              </a:lnSpc>
              <a:spcBef>
                <a:spcPts val="0"/>
              </a:spcBef>
              <a:spcAft>
                <a:spcPts val="0"/>
              </a:spcAft>
              <a:defRPr sz="1700" b="0">
                <a:solidFill>
                  <a:srgbClr val="183744"/>
                </a:solidFill>
                <a:latin typeface="Arial"/>
              </a:defRPr>
            </a:pPr>
            <a:r>
              <a:t>Suivre les traces</a:t>
            </a:r>
          </a:p>
        </p:txBody>
      </p:sp>
      <p:sp>
        <p:nvSpPr>
          <p:cNvPr id="22" name="Rounded Rectangle 21"/>
          <p:cNvSpPr/>
          <p:nvPr/>
        </p:nvSpPr>
        <p:spPr>
          <a:xfrm>
            <a:off x="502920" y="521208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32180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Une mise à jour du dépôt Hugging Face ne redémarre pas l’API et ne réentraîne pas le modèle.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DÉPLOIEMENT · 3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GitHub Environments : variables, secrets et règles</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03 / 4</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Source : .github/workflows/ci.yml · docs/deployment.md</a:t>
            </a:r>
          </a:p>
        </p:txBody>
      </p:sp>
      <p:sp>
        <p:nvSpPr>
          <p:cNvPr id="8" name="Rectangle 7"/>
          <p:cNvSpPr/>
          <p:nvPr/>
        </p:nvSpPr>
        <p:spPr>
          <a:xfrm>
            <a:off x="502920" y="1828800"/>
            <a:ext cx="11155680" cy="731520"/>
          </a:xfrm>
          <a:prstGeom prst="rect">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956816"/>
            <a:ext cx="2487168" cy="576072"/>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Arial"/>
              </a:defRPr>
            </a:pPr>
            <a:r>
              <a:t>Branche</a:t>
            </a:r>
          </a:p>
        </p:txBody>
      </p:sp>
      <p:sp>
        <p:nvSpPr>
          <p:cNvPr id="10" name="TextBox 9"/>
          <p:cNvSpPr txBox="1"/>
          <p:nvPr/>
        </p:nvSpPr>
        <p:spPr>
          <a:xfrm>
            <a:off x="3374136" y="1956816"/>
            <a:ext cx="2212848" cy="576072"/>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Arial"/>
              </a:defRPr>
            </a:pPr>
            <a:r>
              <a:t>Environnement</a:t>
            </a:r>
          </a:p>
        </p:txBody>
      </p:sp>
      <p:sp>
        <p:nvSpPr>
          <p:cNvPr id="11" name="TextBox 10"/>
          <p:cNvSpPr txBox="1"/>
          <p:nvPr/>
        </p:nvSpPr>
        <p:spPr>
          <a:xfrm>
            <a:off x="5843016" y="1956816"/>
            <a:ext cx="5687568" cy="576072"/>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Arial"/>
              </a:defRPr>
            </a:pPr>
            <a:r>
              <a:t>Rôle actuel dans HRNova</a:t>
            </a:r>
          </a:p>
        </p:txBody>
      </p:sp>
      <p:sp>
        <p:nvSpPr>
          <p:cNvPr id="12" name="Rectangle 11"/>
          <p:cNvSpPr/>
          <p:nvPr/>
        </p:nvSpPr>
        <p:spPr>
          <a:xfrm>
            <a:off x="502920" y="2560320"/>
            <a:ext cx="1115568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2679191"/>
            <a:ext cx="24871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Branche de travail</a:t>
            </a:r>
          </a:p>
        </p:txBody>
      </p:sp>
      <p:sp>
        <p:nvSpPr>
          <p:cNvPr id="14" name="TextBox 13"/>
          <p:cNvSpPr txBox="1"/>
          <p:nvPr/>
        </p:nvSpPr>
        <p:spPr>
          <a:xfrm>
            <a:off x="3374136" y="2679191"/>
            <a:ext cx="221284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development</a:t>
            </a:r>
          </a:p>
        </p:txBody>
      </p:sp>
      <p:sp>
        <p:nvSpPr>
          <p:cNvPr id="15" name="TextBox 14"/>
          <p:cNvSpPr txBox="1"/>
          <p:nvPr/>
        </p:nvSpPr>
        <p:spPr>
          <a:xfrm>
            <a:off x="5843016" y="2679191"/>
            <a:ext cx="56875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Validation de configuration et tests</a:t>
            </a:r>
          </a:p>
        </p:txBody>
      </p:sp>
      <p:sp>
        <p:nvSpPr>
          <p:cNvPr id="16" name="Rectangle 15"/>
          <p:cNvSpPr/>
          <p:nvPr/>
        </p:nvSpPr>
        <p:spPr>
          <a:xfrm>
            <a:off x="502920" y="3291840"/>
            <a:ext cx="11155680" cy="731520"/>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 y="3410712"/>
            <a:ext cx="24871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develop</a:t>
            </a:r>
          </a:p>
        </p:txBody>
      </p:sp>
      <p:sp>
        <p:nvSpPr>
          <p:cNvPr id="18" name="TextBox 17"/>
          <p:cNvSpPr txBox="1"/>
          <p:nvPr/>
        </p:nvSpPr>
        <p:spPr>
          <a:xfrm>
            <a:off x="3374136" y="3410712"/>
            <a:ext cx="221284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staging</a:t>
            </a:r>
          </a:p>
        </p:txBody>
      </p:sp>
      <p:sp>
        <p:nvSpPr>
          <p:cNvPr id="19" name="TextBox 18"/>
          <p:cNvSpPr txBox="1"/>
          <p:nvPr/>
        </p:nvSpPr>
        <p:spPr>
          <a:xfrm>
            <a:off x="5843016" y="3410712"/>
            <a:ext cx="56875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Validation de configuration et tests</a:t>
            </a:r>
          </a:p>
        </p:txBody>
      </p:sp>
      <p:sp>
        <p:nvSpPr>
          <p:cNvPr id="20" name="Rectangle 19"/>
          <p:cNvSpPr/>
          <p:nvPr/>
        </p:nvSpPr>
        <p:spPr>
          <a:xfrm>
            <a:off x="502920" y="4023360"/>
            <a:ext cx="1115568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 y="4142232"/>
            <a:ext cx="24871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main</a:t>
            </a:r>
          </a:p>
        </p:txBody>
      </p:sp>
      <p:sp>
        <p:nvSpPr>
          <p:cNvPr id="22" name="TextBox 21"/>
          <p:cNvSpPr txBox="1"/>
          <p:nvPr/>
        </p:nvSpPr>
        <p:spPr>
          <a:xfrm>
            <a:off x="3374136" y="4142232"/>
            <a:ext cx="221284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production</a:t>
            </a:r>
          </a:p>
        </p:txBody>
      </p:sp>
      <p:sp>
        <p:nvSpPr>
          <p:cNvPr id="23" name="TextBox 22"/>
          <p:cNvSpPr txBox="1"/>
          <p:nvPr/>
        </p:nvSpPr>
        <p:spPr>
          <a:xfrm>
            <a:off x="5843016" y="4142232"/>
            <a:ext cx="56875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Validation puis publication Hugging Face</a:t>
            </a:r>
          </a:p>
        </p:txBody>
      </p:sp>
      <p:sp>
        <p:nvSpPr>
          <p:cNvPr id="24" name="Rounded Rectangle 23"/>
          <p:cNvSpPr/>
          <p:nvPr/>
        </p:nvSpPr>
        <p:spPr>
          <a:xfrm>
            <a:off x="502920" y="530352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1324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Un environnement GitHub protège un job ; il ne provisionne pas une API ni une base distante.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DÉPLOIEMENT · 4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Configurer, vérifier et pouvoir revenir en arrière</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04 / 4</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Sources : docs/deployment.md · docs/maintenance.md</a:t>
            </a:r>
          </a:p>
        </p:txBody>
      </p:sp>
      <p:sp>
        <p:nvSpPr>
          <p:cNvPr id="8" name="Rounded Rectangle 7"/>
          <p:cNvSpPr/>
          <p:nvPr/>
        </p:nvSpPr>
        <p:spPr>
          <a:xfrm>
            <a:off x="502920" y="1783080"/>
            <a:ext cx="11155680" cy="173736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984248"/>
            <a:ext cx="10753344" cy="1335024"/>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FFFFFF"/>
                </a:solidFill>
                <a:latin typeface="Arial"/>
              </a:defRPr>
            </a:pPr>
            <a:r>
              <a:t># Exemple : instance staging déjà préparée</a:t>
            </a:r>
          </a:p>
          <a:p>
            <a:pPr algn="l">
              <a:lnSpc>
                <a:spcPts val="2242"/>
              </a:lnSpc>
              <a:spcBef>
                <a:spcPts val="0"/>
              </a:spcBef>
              <a:spcAft>
                <a:spcPts val="0"/>
              </a:spcAft>
              <a:defRPr sz="1900" b="0">
                <a:solidFill>
                  <a:srgbClr val="FFFFFF"/>
                </a:solidFill>
                <a:latin typeface="Arial"/>
              </a:defRPr>
            </a:pPr>
            <a:r>
              <a:t>uv run --no-sync uvicorn api:app \</a:t>
            </a:r>
          </a:p>
          <a:p>
            <a:pPr algn="l">
              <a:lnSpc>
                <a:spcPts val="2242"/>
              </a:lnSpc>
              <a:spcBef>
                <a:spcPts val="0"/>
              </a:spcBef>
              <a:spcAft>
                <a:spcPts val="0"/>
              </a:spcAft>
              <a:defRPr sz="1900" b="0">
                <a:solidFill>
                  <a:srgbClr val="FFFFFF"/>
                </a:solidFill>
                <a:latin typeface="Arial"/>
              </a:defRPr>
            </a:pPr>
            <a:r>
              <a:t>--env-file .env.staging \</a:t>
            </a:r>
          </a:p>
          <a:p>
            <a:pPr algn="l">
              <a:lnSpc>
                <a:spcPts val="2242"/>
              </a:lnSpc>
              <a:spcBef>
                <a:spcPts val="0"/>
              </a:spcBef>
              <a:spcAft>
                <a:spcPts val="0"/>
              </a:spcAft>
              <a:defRPr sz="1900" b="0">
                <a:solidFill>
                  <a:srgbClr val="FFFFFF"/>
                </a:solidFill>
                <a:latin typeface="Arial"/>
              </a:defRPr>
            </a:pPr>
            <a:r>
              <a:t>--host 127.0.0.1 --port 8002</a:t>
            </a:r>
          </a:p>
        </p:txBody>
      </p:sp>
      <p:sp>
        <p:nvSpPr>
          <p:cNvPr id="10" name="Rounded Rectangle 9"/>
          <p:cNvSpPr/>
          <p:nvPr/>
        </p:nvSpPr>
        <p:spPr>
          <a:xfrm>
            <a:off x="502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014216"/>
            <a:ext cx="50200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Avant et après</a:t>
            </a:r>
          </a:p>
        </p:txBody>
      </p:sp>
      <p:sp>
        <p:nvSpPr>
          <p:cNvPr id="13" name="TextBox 12"/>
          <p:cNvSpPr txBox="1"/>
          <p:nvPr/>
        </p:nvSpPr>
        <p:spPr>
          <a:xfrm>
            <a:off x="713232" y="4727448"/>
            <a:ext cx="5020056" cy="106070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Sauvegarder → déployer → vérifier /health et une</a:t>
            </a:r>
          </a:p>
          <a:p>
            <a:pPr algn="l">
              <a:lnSpc>
                <a:spcPts val="2005"/>
              </a:lnSpc>
              <a:spcBef>
                <a:spcPts val="0"/>
              </a:spcBef>
              <a:spcAft>
                <a:spcPts val="0"/>
              </a:spcAft>
              <a:defRPr sz="1700" b="0">
                <a:solidFill>
                  <a:srgbClr val="183744"/>
                </a:solidFill>
                <a:latin typeface="Arial"/>
              </a:defRPr>
            </a:pPr>
            <a:r>
              <a:t>prédiction enregistrée en BDD.</a:t>
            </a:r>
          </a:p>
        </p:txBody>
      </p:sp>
      <p:sp>
        <p:nvSpPr>
          <p:cNvPr id="14" name="Rounded Rectangle 13"/>
          <p:cNvSpPr/>
          <p:nvPr/>
        </p:nvSpPr>
        <p:spPr>
          <a:xfrm>
            <a:off x="6217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4014216"/>
            <a:ext cx="50200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Retour arrière</a:t>
            </a:r>
          </a:p>
        </p:txBody>
      </p:sp>
      <p:sp>
        <p:nvSpPr>
          <p:cNvPr id="17" name="TextBox 16"/>
          <p:cNvSpPr txBox="1"/>
          <p:nvPr/>
        </p:nvSpPr>
        <p:spPr>
          <a:xfrm>
            <a:off x="6428232" y="4727448"/>
            <a:ext cx="5020056" cy="106070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Conserver les versions précédentes du code et du</a:t>
            </a:r>
          </a:p>
          <a:p>
            <a:pPr algn="l">
              <a:lnSpc>
                <a:spcPts val="2005"/>
              </a:lnSpc>
              <a:spcBef>
                <a:spcPts val="0"/>
              </a:spcBef>
              <a:spcAft>
                <a:spcPts val="0"/>
              </a:spcAft>
              <a:defRPr sz="1700" b="0">
                <a:solidFill>
                  <a:srgbClr val="183744"/>
                </a:solidFill>
                <a:latin typeface="Arial"/>
              </a:defRPr>
            </a:pPr>
            <a:r>
              <a:t>modèle, et prévoir les migrations.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HRNova — Déploiement par environnement</dc:title>
  <dc:subject>Soutenance Data Science : modèle, API, PostgreSQL, traçabilité et CI/CD</dc:subject>
  <dc:creator>Samuel Gabbai</dc:creator>
  <cp:keywords/>
  <dc:description>generated using python-pptx</dc:description>
  <cp:lastModifiedBy>Steve Canny</cp:lastModifiedBy>
  <cp:revision>1</cp:revision>
  <dcterms:created xsi:type="dcterms:W3CDTF">2026-10-27T00:00:00Z</dcterms:created>
  <dcterms:modified xsi:type="dcterms:W3CDTF">2013-01-27T09:15:58Z</dcterms:modified>
  <cp:category/>
</cp:coreProperties>
</file>