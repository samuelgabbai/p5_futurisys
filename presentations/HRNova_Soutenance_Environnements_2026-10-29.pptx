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84" r:id="rId12"/>
    <p:sldId id="285" r:id="rId13"/>
    <p:sldId id="286" r:id="rId14"/>
    <p:sldId id="287" r:id="rId15"/>
    <p:sldId id="266" r:id="rId16"/>
    <p:sldId id="267" r:id="rId17"/>
    <p:sldId id="268" r:id="rId18"/>
    <p:sldId id="280" r:id="rId19"/>
    <p:sldId id="281" r:id="rId20"/>
    <p:sldId id="282" r:id="rId21"/>
    <p:sldId id="283" r:id="rId22"/>
    <p:sldId id="269" r:id="rId23"/>
    <p:sldId id="270" r:id="rId24"/>
    <p:sldId id="276" r:id="rId25"/>
    <p:sldId id="277" r:id="rId26"/>
    <p:sldId id="278" r:id="rId27"/>
    <p:sldId id="279" r:id="rId28"/>
    <p:sldId id="288" r:id="rId39"/>
    <p:sldId id="289" r:id="rId40"/>
    <p:sldId id="290" r:id="rId41"/>
    <p:sldId id="291" r:id="rId42"/>
    <p:sldId id="271" r:id="rId29"/>
    <p:sldId id="272" r:id="rId30"/>
    <p:sldId id="273" r:id="rId31"/>
    <p:sldId id="274" r:id="rId32"/>
    <p:sldId id="27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76714"/>
  </p:normalViewPr>
  <p:slideViewPr>
    <p:cSldViewPr snapToGrid="0" snapToObjects="1">
      <p:cViewPr varScale="1">
        <p:scale>
          <a:sx n="92" d="100"/>
          <a:sy n="92" d="100"/>
        </p:scale>
        <p:origin x="304"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charts/_rels/chart1.xml.rels><?xml version='1.0' encoding='UTF-8' standalone='yes'?>
<Relationships xmlns="http://schemas.openxmlformats.org/package/2006/relationships"><Relationship Id="rId1" Type="http://schemas.openxmlformats.org/officeDocument/2006/relationships/package" Target="../embeddings/Feuille_de_calcul_Microsoft_Excel.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doughnutChart>
        <c:varyColors val="1"/>
        <c:ser>
          <c:idx val="0"/>
          <c:order val="0"/>
          <c:tx>
            <c:strRef>
              <c:f>Sheet1!$B$1</c:f>
              <c:strCache>
                <c:ptCount val="1"/>
                <c:pt idx="0">
                  <c:v>Salariés</c:v>
                </c:pt>
              </c:strCache>
            </c:strRef>
          </c:tx>
          <c:dPt>
            <c:idx val="0"/>
            <c:bubble3D val="0"/>
            <c:spPr>
              <a:solidFill>
                <a:srgbClr val="DCE5E8"/>
              </a:solidFill>
              <a:ln>
                <a:noFill/>
              </a:ln>
            </c:spPr>
            <c:extLst>
              <c:ext xmlns:c16="http://schemas.microsoft.com/office/drawing/2014/chart" uri="{C3380CC4-5D6E-409C-BE32-E72D297353CC}">
                <c16:uniqueId val="{00000001-8801-8742-852F-F2A5AACE4AC3}"/>
              </c:ext>
            </c:extLst>
          </c:dPt>
          <c:dPt>
            <c:idx val="1"/>
            <c:bubble3D val="0"/>
            <c:spPr>
              <a:solidFill>
                <a:srgbClr val="007F82"/>
              </a:solidFill>
              <a:ln>
                <a:noFill/>
              </a:ln>
            </c:spPr>
            <c:extLst>
              <c:ext xmlns:c16="http://schemas.microsoft.com/office/drawing/2014/chart" uri="{C3380CC4-5D6E-409C-BE32-E72D297353CC}">
                <c16:uniqueId val="{00000003-8801-8742-852F-F2A5AACE4AC3}"/>
              </c:ext>
            </c:extLst>
          </c:dPt>
          <c:cat>
            <c:strRef>
              <c:f>Sheet1!$A$2:$A$3</c:f>
              <c:strCache>
                <c:ptCount val="2"/>
                <c:pt idx="0">
                  <c:v>Restés</c:v>
                </c:pt>
                <c:pt idx="1">
                  <c:v>Partis</c:v>
                </c:pt>
              </c:strCache>
            </c:strRef>
          </c:cat>
          <c:val>
            <c:numRef>
              <c:f>Sheet1!$B$2:$B$3</c:f>
              <c:numCache>
                <c:formatCode>General</c:formatCode>
                <c:ptCount val="2"/>
                <c:pt idx="0">
                  <c:v>1233</c:v>
                </c:pt>
                <c:pt idx="1">
                  <c:v>237</c:v>
                </c:pt>
              </c:numCache>
            </c:numRef>
          </c:val>
          <c:extLst>
            <c:ext xmlns:c16="http://schemas.microsoft.com/office/drawing/2014/chart" uri="{C3380CC4-5D6E-409C-BE32-E72D297353CC}">
              <c16:uniqueId val="{00000004-8801-8742-852F-F2A5AACE4AC3}"/>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402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 projet comme un parcours complet : partir de trois sources RH, estimer une probabilité de départ puis rendre le calcul utilisable et vérifiable. Le périmètre actuel est un service local, avec publication du modèle sur le Hub. Les performances viennent du notebook enregistré et les tests logiciels vérifient le fonctionnement du service.</a:t>
            </a:r>
          </a:p>
          <a:p>
            <a:endParaRPr/>
          </a:p>
          <a:p>
            <a:r>
              <a:t>Sources : État du projet examiné le 27 octobre 2026</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L'objectif est de mieux comprendre et repérer les situations associées aux départs. La cible connue est binaire : salarié resté ou parti. Le résultat est une probabilité et une décision selon un seuil. Souligner que le modèle ne prouve pas les causes de départ et ne remplace pas une analyse métier. Il faut relier les fausses alertes et les départs manqués à des coûts et à des actions définies avec les RH.</a:t>
            </a:r>
          </a:p>
          <a:p>
            <a:endParaRPr/>
          </a:p>
          <a:p>
            <a:r>
              <a:t>Sources : Sources : README.md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fichiers ont chacun 1 470 lignes, mais concernent la même population : on ne dispose pas de 4 410 salariés différents. Les clés sont rapprochées entre les sources, tout en conservant leur représentation d'origine en base. La classe positive représente 237 départs sur 1 470, soit environ 16,1 %. Le déséquilibre justifie de regarder précision, rappel et F1, pas uniquement l'accuracy.</a:t>
            </a:r>
          </a:p>
          <a:p>
            <a:endParaRPr/>
          </a:p>
          <a:p>
            <a:r>
              <a:t>Sources : Sources : Data/*.csv ; docs/model.md ; docs/database.md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préparation est exécutée dans le notebook. Elle fusionne les sources, convertit les pourcentages, encode les variables et crée notamment des indicateurs de rémunération relative et une satisfaction moyenne. La cible et les identifiants sont exclus des variables explicatives. L'API reçoit le résultat de cette préparation ; elle ne fait pas la transformation d'un fichier RH brut. Certaines références sont aujourd'hui calculées avant le split : cette limite sera détaillée plus loin.</a:t>
            </a:r>
          </a:p>
          <a:p>
            <a:endParaRPr/>
          </a:p>
          <a:p>
            <a:r>
              <a:t>Sources : Sources : notebook, cellules 12 à 28 ; docs/features.md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séparation stratifiée réserve 20 % des données pour le test : 294 salariés dont 47 départs. Le train compte 1 176 salariés dont 190 départs. Les modèles sont comparés par validation croisée à cinq folds ; la grille optimise le F1 et la calibration utilise sigmoid avec cinq folds. Le seuil est choisi sur les probabilités out-of-fold du train. Les transformations apprises avant le split limitent toutefois l'indépendance globale de l'évaluation actuelle.</a:t>
            </a:r>
          </a:p>
          <a:p>
            <a:endParaRPr/>
          </a:p>
          <a:p>
            <a:r>
              <a:t>Sources : Sources : notebook, cellules 28 à 41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comparaison utilise les F1 moyens en validation croisée enregistrés dans le notebook. LightGBM atteint ici le meilleur F1 moyen, tandis que la régression logistique est également compétitive. La forêt optimisée est le modèle exporté, mais il ne faut pas affirmer sa supériorité générale. Les écarts-types et les protocoles de choix des hyperparamètres doivent être pris en compte. Aucune comparaison finale sur le test de tous les concurrents avec des seuils optimisés identiquement n'est fournie.</a:t>
            </a:r>
          </a:p>
          <a:p>
            <a:endParaRPr/>
          </a:p>
          <a:p>
            <a:r>
              <a:t>Sources : Sources : notebook, cellules 31, 34, 54 et 55 ; docs/model.md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explore 16 combinaisons, évaluées sur cinq folds. Le modèle retenu utilise 300 arbres avec une profondeur maximale de cinq, un minimum de cinq observations pour une séparation et deux par feuille. La pondération des classes est balanced. La calibration sigmoid est réalisée avec CalibratedClassifierCV, cv=5. Le fichier complet conserve aussi le seuil, les noms de variables, la classe positive et les variables préparées des salariés pour l'import local.</a:t>
            </a:r>
          </a:p>
          <a:p>
            <a:endParaRPr/>
          </a:p>
          <a:p>
            <a:r>
              <a:t>Sources : Sources : artefact local ; docs/model.md ; notebook, cellules 34 et 36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les 294 salariés du test, le rappel passe de 17,0 % à 61,7 % lorsque le seuil passe de 0,50 à environ 0,2232. Le F1 augmente de 0,229 à 0,500. La précision reste de 42,0 % : toutes les alertes ne sont pas de vrais départs. L'accuracy au seuil optimisé est de 80,27 % et la ROC-AUC de 0,7692. Une stratégie qui prédit toujours resté atteindrait déjà 84,0 % d'accuracy sur ce test : l'accuracy seule ne suffit pas. Les valeurs viennent du notebook, sans réévaluation pendant la fabrication du support.</a:t>
            </a:r>
          </a:p>
          <a:p>
            <a:endParaRPr/>
          </a:p>
          <a:p>
            <a:r>
              <a:t>Sources : Source : notebook, cellule 41 ; docs/model_metrics.json • test : 294 lignes, 47 départs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client </a:t>
            </a:r>
            <a:r>
              <a:rPr dirty="0" err="1"/>
              <a:t>fournit</a:t>
            </a:r>
            <a:r>
              <a:rPr dirty="0"/>
              <a:t> du JSON, un CSV </a:t>
            </a:r>
            <a:r>
              <a:rPr dirty="0" err="1"/>
              <a:t>préparé</a:t>
            </a:r>
            <a:r>
              <a:rPr dirty="0"/>
              <a:t> </a:t>
            </a:r>
            <a:r>
              <a:rPr dirty="0" err="1"/>
              <a:t>ou</a:t>
            </a:r>
            <a:r>
              <a:rPr dirty="0"/>
              <a:t> un </a:t>
            </a:r>
            <a:r>
              <a:rPr dirty="0" err="1"/>
              <a:t>identifiant</a:t>
            </a:r>
            <a:r>
              <a:rPr dirty="0"/>
              <a:t> </a:t>
            </a:r>
            <a:r>
              <a:rPr dirty="0" err="1"/>
              <a:t>salarié</a:t>
            </a:r>
            <a:r>
              <a:rPr dirty="0"/>
              <a:t>. </a:t>
            </a:r>
            <a:r>
              <a:rPr dirty="0" err="1"/>
              <a:t>FastAPI</a:t>
            </a:r>
            <a:r>
              <a:rPr dirty="0"/>
              <a:t> et </a:t>
            </a:r>
            <a:r>
              <a:rPr dirty="0" err="1"/>
              <a:t>Pydantic</a:t>
            </a:r>
            <a:r>
              <a:rPr dirty="0"/>
              <a:t> </a:t>
            </a:r>
            <a:r>
              <a:rPr dirty="0" err="1"/>
              <a:t>valident</a:t>
            </a:r>
            <a:r>
              <a:rPr dirty="0"/>
              <a:t> le </a:t>
            </a:r>
            <a:r>
              <a:rPr dirty="0" err="1"/>
              <a:t>contrat</a:t>
            </a:r>
            <a:r>
              <a:rPr dirty="0"/>
              <a:t>. Le service </a:t>
            </a:r>
            <a:r>
              <a:rPr dirty="0" err="1"/>
              <a:t>enregistre</a:t>
            </a:r>
            <a:r>
              <a:rPr dirty="0"/>
              <a:t> les inputs </a:t>
            </a:r>
            <a:r>
              <a:rPr dirty="0" err="1"/>
              <a:t>en</a:t>
            </a:r>
            <a:r>
              <a:rPr dirty="0"/>
              <a:t> PostgreSQL, les relit dans </a:t>
            </a:r>
            <a:r>
              <a:rPr dirty="0" err="1"/>
              <a:t>une</a:t>
            </a:r>
            <a:r>
              <a:rPr dirty="0"/>
              <a:t> nouvelle session, </a:t>
            </a:r>
            <a:r>
              <a:rPr dirty="0" err="1"/>
              <a:t>puis</a:t>
            </a:r>
            <a:r>
              <a:rPr dirty="0"/>
              <a:t> </a:t>
            </a:r>
            <a:r>
              <a:rPr dirty="0" err="1"/>
              <a:t>appelle</a:t>
            </a:r>
            <a:r>
              <a:rPr dirty="0"/>
              <a:t> le </a:t>
            </a:r>
            <a:r>
              <a:rPr dirty="0" err="1"/>
              <a:t>modèle</a:t>
            </a:r>
            <a:r>
              <a:rPr dirty="0"/>
              <a:t>. Les outputs </a:t>
            </a:r>
            <a:r>
              <a:rPr dirty="0" err="1"/>
              <a:t>sont</a:t>
            </a:r>
            <a:r>
              <a:rPr dirty="0"/>
              <a:t> </a:t>
            </a:r>
            <a:r>
              <a:rPr dirty="0" err="1"/>
              <a:t>validés</a:t>
            </a:r>
            <a:r>
              <a:rPr dirty="0"/>
              <a:t>, </a:t>
            </a:r>
            <a:r>
              <a:rPr dirty="0" err="1"/>
              <a:t>committés</a:t>
            </a:r>
            <a:r>
              <a:rPr dirty="0"/>
              <a:t> et </a:t>
            </a:r>
            <a:r>
              <a:rPr dirty="0" err="1"/>
              <a:t>relus</a:t>
            </a:r>
            <a:r>
              <a:rPr dirty="0"/>
              <a:t> avant la </a:t>
            </a:r>
            <a:r>
              <a:rPr dirty="0" err="1"/>
              <a:t>réponse</a:t>
            </a:r>
            <a:r>
              <a:rPr dirty="0"/>
              <a:t> HTTP. </a:t>
            </a:r>
            <a:r>
              <a:rPr dirty="0" err="1"/>
              <a:t>Toutes</a:t>
            </a:r>
            <a:r>
              <a:rPr dirty="0"/>
              <a:t> les routes </a:t>
            </a:r>
            <a:r>
              <a:rPr dirty="0" err="1"/>
              <a:t>d'inférence</a:t>
            </a:r>
            <a:r>
              <a:rPr dirty="0"/>
              <a:t> </a:t>
            </a:r>
            <a:r>
              <a:rPr dirty="0" err="1"/>
              <a:t>passent</a:t>
            </a:r>
            <a:r>
              <a:rPr dirty="0"/>
              <a:t> par </a:t>
            </a:r>
            <a:r>
              <a:rPr dirty="0" err="1"/>
              <a:t>ce</a:t>
            </a:r>
            <a:r>
              <a:rPr dirty="0"/>
              <a:t> service. Ce choix </a:t>
            </a:r>
            <a:r>
              <a:rPr dirty="0" err="1"/>
              <a:t>ajoute</a:t>
            </a:r>
            <a:r>
              <a:rPr dirty="0"/>
              <a:t> des </a:t>
            </a:r>
            <a:r>
              <a:rPr dirty="0" err="1"/>
              <a:t>accès</a:t>
            </a:r>
            <a:r>
              <a:rPr dirty="0"/>
              <a:t> BDD </a:t>
            </a:r>
            <a:r>
              <a:rPr dirty="0" err="1"/>
              <a:t>mais</a:t>
            </a:r>
            <a:r>
              <a:rPr dirty="0"/>
              <a:t> </a:t>
            </a:r>
            <a:r>
              <a:rPr dirty="0" err="1"/>
              <a:t>garantit</a:t>
            </a:r>
            <a:r>
              <a:rPr dirty="0"/>
              <a:t> </a:t>
            </a:r>
            <a:r>
              <a:rPr dirty="0" err="1"/>
              <a:t>que</a:t>
            </a:r>
            <a:r>
              <a:rPr dirty="0"/>
              <a:t> les </a:t>
            </a:r>
            <a:r>
              <a:rPr dirty="0" err="1"/>
              <a:t>valeurs</a:t>
            </a:r>
            <a:r>
              <a:rPr dirty="0"/>
              <a:t> </a:t>
            </a:r>
            <a:r>
              <a:rPr dirty="0" err="1"/>
              <a:t>effectivement</a:t>
            </a:r>
            <a:r>
              <a:rPr dirty="0"/>
              <a:t> </a:t>
            </a:r>
            <a:r>
              <a:rPr dirty="0" err="1"/>
              <a:t>calculées</a:t>
            </a:r>
            <a:r>
              <a:rPr dirty="0"/>
              <a:t> </a:t>
            </a:r>
            <a:r>
              <a:rPr dirty="0" err="1"/>
              <a:t>sont</a:t>
            </a:r>
            <a:r>
              <a:rPr dirty="0"/>
              <a:t> </a:t>
            </a:r>
            <a:r>
              <a:rPr dirty="0" err="1"/>
              <a:t>celles</a:t>
            </a:r>
            <a:r>
              <a:rPr dirty="0"/>
              <a:t> </a:t>
            </a:r>
            <a:r>
              <a:rPr dirty="0" err="1"/>
              <a:t>stockées</a:t>
            </a:r>
            <a:r>
              <a:rPr dirty="0"/>
              <a:t>.</a:t>
            </a:r>
          </a:p>
          <a:p>
            <a:endParaRPr dirty="0"/>
          </a:p>
          <a:p>
            <a:r>
              <a:rPr dirty="0"/>
              <a:t>Sources : Sources : </a:t>
            </a:r>
            <a:r>
              <a:rPr dirty="0" err="1"/>
              <a:t>api.py</a:t>
            </a:r>
            <a:r>
              <a:rPr dirty="0"/>
              <a:t> ; </a:t>
            </a:r>
            <a:r>
              <a:rPr dirty="0" err="1"/>
              <a:t>schemas.py</a:t>
            </a:r>
            <a:r>
              <a:rPr dirty="0"/>
              <a:t> ; </a:t>
            </a:r>
            <a:r>
              <a:rPr dirty="0" err="1"/>
              <a:t>inference.py</a:t>
            </a:r>
            <a:r>
              <a:rPr dirty="0"/>
              <a:t> ; docs/</a:t>
            </a:r>
            <a:r>
              <a:rPr dirty="0" err="1"/>
              <a:t>architecture.md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BDD contient huit tables. Les sources sont employees, surveys et evaluations, reliées par identifiant salarié. prepared_employees conserve les variables par salarié et version de modèle. model_versions conserve le SHA-256, les noms de variables et le seuil. api_exchanges relie chaque requête aux model_inputs et model_outputs. Une contrainte interdit de dupliquer une ligne d'entrée au sein d'un échange. La vue api_logs expose une lecture plus pratique. Le rôle applicatif ne peut pas modifier les sources ni supprimer les traces.</a:t>
            </a:r>
          </a:p>
          <a:p>
            <a:endParaRPr/>
          </a:p>
          <a:p>
            <a:r>
              <a:t>Sources : Sources : database.py ; docs/database.md ; docs/schema.sql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PostgreSQL est le serveur qui stocke les données et exécute les requêtes SQL. Dans la configuration locale du projet, le serveur est joint sur 127.0.0.1 au port 5433 et la base s’appelle hrnova. Une base contient des schémas, dont public ; les schémas contiennent des tables. Une table possède des colonnes typées et des lignes. DBeaver est un client pour se connecter au serveur et explorer ces objets. Installer DBeaver ne démarre pas PostgreSQL et ne crée pas la base. Les paramètres de connexion restent configurables par l’environnement ; aucun mot de passe n’est inclus ici.</a:t>
            </a:r>
          </a:p>
          <a:p>
            <a:endParaRPr/>
          </a:p>
          <a:p>
            <a:r>
              <a:t>Sources : Configuration et modèles de données du projet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clé primaire identifie une ligne de manière unique. Une clé étrangère pointe vers une ligne d’une autre table et empêche de créer un lien vers un identifiant inexistant. L’exemple emploie l’identifiant fictif 42. Dans HRNova, employees.id_employee est relié aux tables d’enquêtes et d’évaluations par employee_id. Les échanges API possèdent également leur identifiant ; les entrées et les sorties y sont rattachées. La paire exchange_id et row_index est unique pour les entrées d’un échange. SQLAlchemy traduit les objets Python en SQL, puis PostgreSQL applique les contraintes. JSONB permet de stocker les variables et résultats structurés.</a:t>
            </a:r>
          </a:p>
          <a:p>
            <a:endParaRPr/>
          </a:p>
          <a:p>
            <a:r>
              <a:t>Sources : Modèles SQLAlchemy du projet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transaction regroupe des instructions SQL : commit les rend durables, rollback les annule en cas d’échec. Les garanties ACID couvrent l’atomicité, la cohérence des contraintes, l’isolation et la durabilité. Elles s’appliquent à chaque transaction, pas automatiquement à l’ensemble d’une requête HTTP. Dans HRNova, les entrées sont validées et commitées avant le calcul, puis relues depuis la base. Le modèle produit une sortie qui est validée, enregistrée puis relue. Cela conserve les entrées en cas d’échec ultérieur. Si PostgreSQL est indisponible, l’inférence ne doit pas contourner la base ; si la sortie ne peut pas être enregistrée, elle n’est pas livrée comme un succès.</a:t>
            </a:r>
          </a:p>
          <a:p>
            <a:endParaRPr/>
          </a:p>
          <a:p>
            <a:r>
              <a:t>Sources : https://www.postgresql.org/docs/18/tutorial-transactions.html</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api_exchanges décrit la requête et son déroulement. model_inputs conserve les entrées validées, model_outputs les résultats valides, et model_versions identifie le modèle. L’identifiant de requête permet de corréler ces tables et les logs. La vue api_logs présente une lecture simplifiée des échanges ; une vue est une requête sauvegardée, pas une duplication des traces. Les requêtes rejetées gardent une trace d’erreur, même sans entrée modèle valide. Le rôle applicatif doit disposer des seuls droits nécessaires. Un échec total de la base empêche évidemment d’écrire cette trace en base : les logs applicatifs complètent alors l’investigation.</a:t>
            </a:r>
          </a:p>
          <a:p>
            <a:endParaRPr/>
          </a:p>
          <a:p>
            <a:r>
              <a:t>Sources : Schéma PostgreSQL du projet · vue public.api_logs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requête reçoit un identifiant unique X-Request-ID. Le journal conserve la route, le contexte utile, les dates, la durée, le fichier, le nombre de lignes, la version du modèle et les erreurs. Les étapes persistées permettent de voir où un traitement s'est arrêté. Un échec du modèle conserve les inputs. Si la BDD n'est pas accessible dès le départ, l'API refuse le calcul et l'erreur ne peut être écrite que dans les logs du processus. Un arrêt brutal peut laisser pending ; il n'y a pas de garantie exactement une fois.</a:t>
            </a:r>
          </a:p>
          <a:p>
            <a:endParaRPr/>
          </a:p>
          <a:p>
            <a:r>
              <a:t>Sources : Sources : audit.py ; api.py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Présenter les trois routes demandées pour le fichier : predict/file renvoie les classes natives ; predict-proba/file renvoie les probabilités dans l'ordre de classes ; score/file exige les vraies réponses et renvoie l'accuracy native et les métriques au seuil optimisé. Les routes JSON et par ID utilisent le seuil optimisé. Les deux endpoints techniques sont health et features. L'ordre des lignes est conservé. Les CSV doivent être UTF-8 et leur contenu est limité à dix Mio. Swagger permet de sélectionner un fichier et de tester une route.</a:t>
            </a:r>
          </a:p>
          <a:p>
            <a:endParaRPr/>
          </a:p>
          <a:p>
            <a:r>
              <a:t>Sources : Sources : api.py ; docs/api.md ; docs/openapi.json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validation est partagée entre le JSON et chaque ligne CSV. Elle contrôle les noms de variables selon le modèle, la présence de valeurs numériques finies et les cibles binaires. Les booléens et valeurs nulles ne sont pas acceptés comme nombres. Les sorties sont contrôlées avant insertion : classe entière 0 ou 1, probabilités bornées dont la somme vaut un à la tolérance près, dimensions cohérentes et métriques bornées. Pydantic assure le respect du contrat, pas la performance statistique ni toutes les règles métier.</a:t>
            </a:r>
          </a:p>
          <a:p>
            <a:endParaRPr/>
          </a:p>
          <a:p>
            <a:r>
              <a:t>Sources : Sources : schemas.py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Pydantic décrit la structure et les types attendus. Il vérifie la donnée et peut la convertir selon les règles choisies. Les exemples de cette diapositive montrent un seul champ numérique : une vraie requête HRNova doit également fournir toutes les variables attendues. Le projet accepte une chaîne numérique convertible et rejette les booléens, les valeurs absentes et les nombres non finis. Certaines de ces règles sont des validateurs spécifiques à HRNova ; elles ne sont pas toutes les valeurs par défaut de Pydantic. La validation technique ne garantit pas la qualité statistique de la prédiction.</a:t>
            </a:r>
          </a:p>
          <a:p>
            <a:endParaRPr/>
          </a:p>
          <a:p>
            <a:r>
              <a:t>Sources : https://docs.pydantic.dev/latest/concepts/validators/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Cet extrait est volontairement simplifié : la version complète est dans schemas.py. NumericValue associe un nombre fini à un validateur exécuté avant la conversion. Le validateur numeric_value rejette notamment les booléens et les valeurs nulles. Field(min_length=1) impose au moins une variable. ConfigDict(extra='forbid') rejette les champs supplémentaires à la racine du modèle. Un autre validateur du projet compare les clés de features à la liste exacte des variables attendues : il détecte les variables manquantes et inconnues. Ce dernier contrôle n’est pas assuré par extra='forbid' dans un dictionnaire.</a:t>
            </a:r>
          </a:p>
          <a:p>
            <a:endParaRPr/>
          </a:p>
          <a:p>
            <a:r>
              <a:t>Sources : Code du projet : schemas.py · https://docs.pydantic.dev/latest/concepts/validators/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 fichier envoyé à l’API est décodé puis transformé en lignes. Chaque ligne est soumise au schéma de prédiction ; le lot doit contenir au moins une ligne. Le projet vérifie les variables attendues, convertit les valeurs numériques et prépare les colonnes dans l’ordre du modèle. Une erreur est renvoyée avec un contexte exploitable pour retrouver la ligne et le champ. Le modèle n’est pas appelé si l’entrée est invalide. Pour score, les cibles doivent aussi être valides et alignées avec les lignes : les formes acceptées sont Non/Oui ou 0/1 selon les règles du projet.</a:t>
            </a:r>
          </a:p>
          <a:p>
            <a:endParaRPr/>
          </a:p>
          <a:p>
            <a:r>
              <a:t>Sources : Code du projet : schemas.py, inference.py</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La validation continue après le calcul. Le projet impose des classes binaires 0 et 1 pour les prédictions, des probabilités finies dans l’intervalle [0,1] et une somme par ligne égale à 1 à une tolérance de 10 puissance moins 6. Les réponses par fichier doivent avoir le bon nombre de lignes. Les métriques sont également contrôlées. Une sortie invalide provoque une erreur 500 et une trace d’échec ; les entrées déjà enregistrées restent disponibles, mais aucune sortie invalide n’est sauvegardée comme résultat. Pydantic contrôle le contrat de réponse, pas la pertinence métier ni la performance sur de nouvelles données.</a:t>
            </a:r>
          </a:p>
          <a:p>
            <a:endParaRPr/>
          </a:p>
          <a:p>
            <a:r>
              <a:t>Sources : Code du projet : schemas.py, inference.py</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suite vérifiée contient 87 tests et la couverture des modules suivis est arrondie à 89 %. Chaque endpoint dispose de cas valides et invalides. Les modèles simulés permettent de fixer précisément les réponses attendues. Les tests de BDD vérifient la relecture des inputs committés avant calcul, les sorties persistées et le comportement en cas d'échec. La CI utilise PostgreSQL avec un schéma isolé par test. Ces tests logiciels ne constituent pas une mesure de généralisation du modèle.</a:t>
            </a:r>
          </a:p>
          <a:p>
            <a:endParaRPr/>
          </a:p>
          <a:p>
            <a:r>
              <a:t>Sources : Sources : tests/ ; rapports de vérification du projet ; docs/api_validation.md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À chaque push ou pull request, la pipeline vérifie les tests avec PostgreSQL, la documentation et le package. L'export préparé ne conserve que model, threshold, feature_names et positive_class. Les lignes individuelles ne sont pas publiées avec cet export. Sur main, après validation d'environnement, le job transmet les quatre fichiers à SamGabb/hrnova avec le secret HF_TOKEN. Cela ne réentraîne pas le modèle et ne crée pas une API hébergée. Les protections de branche doivent être configurées dans GitHub pour bloquer les fusions.</a:t>
            </a:r>
          </a:p>
          <a:p>
            <a:endParaRPr/>
          </a:p>
          <a:p>
            <a:r>
              <a:t>Sources : Sources : .github/workflows/ci.yml ; docs/huggingface.md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Git est le logiciel de gestion de versions. Il fonctionne en local : chaque commit conserve un état du projet et ses liens avec les commits précédents. GitHub héberge une copie distante du dépôt et apporte les pull requests. GitHub Actions exécute des workflows sur des machines appelées runners. Un commit local ne lance pas à lui seul les tests sur GitHub : il faut notamment un push et un workflow configuré pour cet événement.</a:t>
            </a:r>
          </a:p>
          <a:p>
            <a:endParaRPr/>
          </a:p>
          <a:p>
            <a:r>
              <a:t>Sources : https://git-scm.com/book/en/v2/Getting-Started-What-is-Git%3F</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Le répertoire de travail contient les fichiers que l’on modifie. git add sélectionne les changements à enregistrer et les place dans l’index. git commit crée un instantané local avec un message, un auteur et un parent. git push transmet les commits à la branche distante. git status permet de vérifier chaque étape. Une fois un fichier ajouté, une nouvelle modification doit être ajoutée à nouveau pour entrer dans le prochain commit. Ne jamais versionner de jetons ni le fichier .env.</a:t>
            </a:r>
          </a:p>
          <a:p>
            <a:endParaRPr/>
          </a:p>
          <a:p>
            <a:r>
              <a:t>Sources : https://git-scm.com/book/en/v2/Getting-Started-What-is-Git%3F</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Une branche est une référence vers un commit, pas une copie indépendante du dossier. Créer une branche permet de développer une fonctionnalité sans faire évoluer main immédiatement. Après le push, la pull request présente les différences, les contrôles et les commentaires. Les conflits surviennent lorsque Git ne peut pas combiner automatiquement des modifications ; il faut choisir le contenu correct et enregistrer la résolution. Les vérifications obligatoires et la protection de main se configurent dans GitHub : le YAML seul ne bloque pas les fusions.</a:t>
            </a:r>
          </a:p>
          <a:p>
            <a:endParaRPr/>
          </a:p>
          <a:p>
            <a:r>
              <a:t>Sources : https://git-scm.com/book/en/v2/Getting-Started-What-is-Git%3F</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Un workflow est un fichier YAML sous .github/workflows. Il définit les événements, les jobs et leurs étapes. Chaque job s’exécute sur un runner ; les étapes d’un même job s’enchaînent. Les jobs peuvent fonctionner en parallèle, sauf dépendance déclarée avec needs. Dans HRNova, la CI vérifie le projet et l’intégration PostgreSQL. La publication Hugging Face envoie les artefacts préparés vers SamGabb/hrnova ; elle ne réentraîne pas automatiquement le modèle. Le jeton est fourni par les secrets GitHub au job de publication, jamais écrit dans le dépôt.</a:t>
            </a:r>
          </a:p>
          <a:p>
            <a:endParaRPr/>
          </a:p>
          <a:p>
            <a:r>
              <a:t>Sources : https://docs.github.com/en/actions/get-started/understand-github-actions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documentation comporte douze pages MkDocs avec navigation et recherche. Elle distingue le parcours utilisateur, les contrats API et les informations développeur. Swagger et ReDoc décrivent les endpoints ; le contrat OpenAPI peut être exporté sans connexion BDD. Les guides détaillent les performances historiques et leurs limites, le schéma, les logs, l'installation, le déploiement et le protocole de maintenance. La CI construit le site en mode strict et conserve l'HTML comme artefact ; elle ne publie pas automatiquement un site public.</a:t>
            </a:r>
          </a:p>
          <a:p>
            <a:endParaRPr/>
          </a:p>
          <a:p>
            <a:r>
              <a:t>Sources : Sources : mkdocs.yml ; docs/index.md ; README.md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priorité est d'apprendre les transformations uniquement sur le train et dans chaque fold, puis de sérialiser l'ensemble de la préparation. Aujourd'hui, les médianes et l'encodeur nominal sont calculés avant le split ; cela peut influencer les résultats. Il faut ensuite confirmer les performances sur des données temporelles ou externes, car le test actuel ne comporte que 47 départs. Une analyse des erreurs par sous-population est nécessaire. Enfin, le service est local et sans authentification HTTP : son exposition distante demanderait un travail spécifique.</a:t>
            </a:r>
          </a:p>
          <a:p>
            <a:endParaRPr/>
          </a:p>
          <a:p>
            <a:r>
              <a:t>Sources : Sources : docs/model.md ; docs/maintenance.md ; docs/deployment.md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Conclure sur les éléments réellement livrés : modèle calibré, API validée, données et échanges structurés en BDD, tests, documentation et publication contrôlée du modèle. Le rappel augmente avec le seuil optimisé, mais les performances demeurent limitées et doivent être confirmées après correction de la préparation. La suite logique est une pipeline de prétraitement réutilisable, une validation indépendante et une exploitation surveillée. Inviter aux questions ou proposer la démonstration en annexe.</a:t>
            </a:r>
          </a:p>
          <a:p>
            <a:endParaRPr/>
          </a:p>
          <a:p>
            <a:r>
              <a:t>Sources : Sources : documentation du projet et résultats vérifiés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Avant la soutenance, démarrer PostgreSQL et l'API. Ouvrir Swagger pour montrer les sept endpoints. Envoyer le CSV synthétique aux routes predict-proba/file puis score/file. Expliquer que les cibles de l'exemple sont fictives et que le score obtenu n'est pas une mesure de performance. Relever le X-Request-ID et retrouver le journal, les inputs et les outputs dans PostgreSQL. Terminer avec une requête invalide pour montrer le code 422 et la cause dans api_logs. Ne jamais afficher .env ou les tokens pendant la démonstration.</a:t>
            </a:r>
          </a:p>
          <a:p>
            <a:endParaRPr/>
          </a:p>
          <a:p>
            <a:r>
              <a:t>Sources : Sources : examples/ ; docs/api.md ; docs/api_logs.md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chiffres du modèle proviennent des sorties enregistrées dans le notebook et du relevé model_metrics.json, associé au hash de l'artefact. Le rapport de tests prouve la conformité logicielle, pas la performance statistique. Le contrat OpenAPI et la documentation sont construits depuis les sources. Les liens GitHub et Hugging Face permettent de retrouver le projet et la version publiée ; leur accessibilité dépend des droits du visiteur.</a:t>
            </a:r>
          </a:p>
          <a:p>
            <a:endParaRPr/>
          </a:p>
          <a:p>
            <a:r>
              <a:t>Sources : Références du projet • état examiné le 27 octobre 2026</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Un environnement associe le code de l’API, sa configuration, sa base PostgreSQL et une version du modèle. Development sert à développer, staging à répéter la mise en service et production à servir les utilisateurs. Chaque cible doit disposer de ses accès et de sa base, pour éviter que les tests écrivent dans les données de production. Le code peut être identique ; les paramètres changent. Dans HRNova, l’API actuellement disponible reste l’instance locale. Les trois environnements GitHub existants organisent les validations sans créer trois serveurs.</a:t>
            </a:r>
          </a:p>
          <a:p/>
          <a:p>
            <a:r>
              <a:t>Sources : Sources : docs/deployment.md · .github/workflows/ci.yml</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Le parcours cible commence par une branche de travail et des contrôles CI. Une pull request permet de revoir les changements. Le candidat est testé en préproduction avant une validation de mise en production. L’objectif est de promouvoir les mêmes artefacts validés, identifiés par un commit Git et un hash de modèle. Si la fusion change le code, le nouveau candidat doit être vérifié. Après déploiement, contrôler la santé de l’API, une prédiction et sa trace en base. Ce protocole décrit une cible d’exploitation ; la pipeline actuelle ne réalise pas de déploiement distant de FastAPI.</a:t>
            </a:r>
          </a:p>
          <a:p/>
          <a:p>
            <a:r>
              <a:t>Sources : Source : docs/deployment.md — protocole cible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Le workflow sélectionne development pour les branches de travail, staging pour develop et production pour main, lors des push ou lancements manuels. Les pull requests exécutent les tests sans accéder à ces environnements. Chaque environnement GitHub peut contenir des variables et secrets propres et des règles de branches. Les approbations requises dépendent des fonctionnalités disponibles pour le dépôt. Le job environment-validation utilise une base PostgreSQL de test éphémère, vérifie le chemin du modèle puis relance les tests. Sur main, le job de publication utilise production pour envoyer le modèle vers SamGabb/hrnova. Il ne démarre pas de serveur API.</a:t>
            </a:r>
          </a:p>
          <a:p/>
          <a:p>
            <a:r>
              <a:t>Sources : Source : .github/workflows/ci.yml · docs/deployment.md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DATABASE_URL doit pointer vers la base propre à la cible et HRNOVA_MODEL_PATH vers le fichier validé. Les fichiers .env.staging et .env.production ne sont pas versionnés. L’exemple suppose que la préproduction, ses tables, ses droits et son modèle ont déjà été préparés. Uvicorn écoute ici uniquement en local sur un port distinct. Avant de mettre en service une version, sauvegarder la base et conserver les références de l’ancienne version. Après démarrage, vérifier /health puis une inférence tracée. En cas d’incident, revenir au code et au modèle précédents ; une migration de schéma peut nécessiter un traitement supplémentaire. Aucun serveur de production n’est provisionné par cet exemple.</a:t>
            </a:r>
          </a:p>
          <a:p/>
          <a:p>
            <a:r>
              <a:t>Sources : Sources : docs/deployment.md · docs/maintenance.md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HRNOVA / TECHNOVA PARTNERS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Du modèle à une API traçable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01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État du projet examiné le 27 octobre 2026</a:t>
            </a:r>
          </a:p>
        </p:txBody>
      </p:sp>
      <p:sp>
        <p:nvSpPr>
          <p:cNvPr id="8" name="TextBox 7"/>
          <p:cNvSpPr txBox="1"/>
          <p:nvPr/>
        </p:nvSpPr>
        <p:spPr>
          <a:xfrm>
            <a:off x="594360" y="1828800"/>
            <a:ext cx="8138160" cy="196596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Anticiper les départs.</a:t>
            </a:r>
          </a:p>
          <a:p>
            <a:pPr algn="l">
              <a:lnSpc>
                <a:spcPts val="3540"/>
              </a:lnSpc>
              <a:spcBef>
                <a:spcPts val="0"/>
              </a:spcBef>
              <a:spcAft>
                <a:spcPts val="0"/>
              </a:spcAft>
              <a:defRPr sz="3000" b="1">
                <a:solidFill>
                  <a:srgbClr val="FFFFFF"/>
                </a:solidFill>
                <a:latin typeface="Arial"/>
              </a:defRPr>
            </a:pPr>
            <a:r>
              <a:t>Comprendre chaque résultat.</a:t>
            </a:r>
          </a:p>
          <a:p>
            <a:pPr algn="l">
              <a:lnSpc>
                <a:spcPts val="3540"/>
              </a:lnSpc>
              <a:spcBef>
                <a:spcPts val="0"/>
              </a:spcBef>
              <a:spcAft>
                <a:spcPts val="0"/>
              </a:spcAft>
              <a:defRPr sz="3000" b="1">
                <a:solidFill>
                  <a:srgbClr val="FFFFFF"/>
                </a:solidFill>
                <a:latin typeface="Arial"/>
              </a:defRPr>
            </a:pPr>
            <a:r>
              <a:t>Retrouver chaque échange.</a:t>
            </a:r>
          </a:p>
        </p:txBody>
      </p:sp>
      <p:sp>
        <p:nvSpPr>
          <p:cNvPr id="9" name="Rounded Rectangle 8"/>
          <p:cNvSpPr/>
          <p:nvPr/>
        </p:nvSpPr>
        <p:spPr>
          <a:xfrm>
            <a:off x="9372600" y="1828800"/>
            <a:ext cx="2240280" cy="219456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65208" y="2130552"/>
            <a:ext cx="1682496" cy="1645920"/>
          </a:xfrm>
          <a:prstGeom prst="rect">
            <a:avLst/>
          </a:prstGeom>
          <a:noFill/>
        </p:spPr>
        <p:txBody>
          <a:bodyPr wrap="none" lIns="0" tIns="0" rIns="0" bIns="0" anchor="t">
            <a:spAutoFit/>
          </a:bodyPr>
          <a:lstStyle/>
          <a:p>
            <a:pPr algn="l">
              <a:lnSpc>
                <a:spcPts val="3540"/>
              </a:lnSpc>
              <a:spcBef>
                <a:spcPts val="0"/>
              </a:spcBef>
              <a:spcAft>
                <a:spcPts val="0"/>
              </a:spcAft>
              <a:defRPr sz="3000" b="1">
                <a:solidFill>
                  <a:srgbClr val="FFFFFF"/>
                </a:solidFill>
                <a:latin typeface="Arial"/>
              </a:defRPr>
            </a:pPr>
            <a:r>
              <a:t>DATA</a:t>
            </a:r>
          </a:p>
          <a:p>
            <a:pPr algn="l">
              <a:lnSpc>
                <a:spcPts val="3540"/>
              </a:lnSpc>
              <a:spcBef>
                <a:spcPts val="0"/>
              </a:spcBef>
              <a:spcAft>
                <a:spcPts val="0"/>
              </a:spcAft>
              <a:defRPr sz="3000" b="1">
                <a:solidFill>
                  <a:srgbClr val="FFFFFF"/>
                </a:solidFill>
                <a:latin typeface="Arial"/>
              </a:defRPr>
            </a:pPr>
            <a:r>
              <a:t>MODEL</a:t>
            </a:r>
          </a:p>
          <a:p>
            <a:pPr algn="l">
              <a:lnSpc>
                <a:spcPts val="3540"/>
              </a:lnSpc>
              <a:spcBef>
                <a:spcPts val="0"/>
              </a:spcBef>
              <a:spcAft>
                <a:spcPts val="0"/>
              </a:spcAft>
              <a:defRPr sz="3000" b="1">
                <a:solidFill>
                  <a:srgbClr val="FFFFFF"/>
                </a:solidFill>
                <a:latin typeface="Arial"/>
              </a:defRPr>
            </a:pPr>
            <a:r>
              <a:t>API</a:t>
            </a:r>
          </a:p>
        </p:txBody>
      </p:sp>
      <p:sp>
        <p:nvSpPr>
          <p:cNvPr id="11" name="TextBox 10"/>
          <p:cNvSpPr txBox="1"/>
          <p:nvPr/>
        </p:nvSpPr>
        <p:spPr>
          <a:xfrm>
            <a:off x="59436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1 470</a:t>
            </a:r>
          </a:p>
        </p:txBody>
      </p:sp>
      <p:sp>
        <p:nvSpPr>
          <p:cNvPr id="12" name="TextBox 11"/>
          <p:cNvSpPr txBox="1"/>
          <p:nvPr/>
        </p:nvSpPr>
        <p:spPr>
          <a:xfrm>
            <a:off x="59436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salariés</a:t>
            </a:r>
          </a:p>
        </p:txBody>
      </p:sp>
      <p:sp>
        <p:nvSpPr>
          <p:cNvPr id="13" name="TextBox 12"/>
          <p:cNvSpPr txBox="1"/>
          <p:nvPr/>
        </p:nvSpPr>
        <p:spPr>
          <a:xfrm>
            <a:off x="443484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43</a:t>
            </a:r>
          </a:p>
        </p:txBody>
      </p:sp>
      <p:sp>
        <p:nvSpPr>
          <p:cNvPr id="14" name="TextBox 13"/>
          <p:cNvSpPr txBox="1"/>
          <p:nvPr/>
        </p:nvSpPr>
        <p:spPr>
          <a:xfrm>
            <a:off x="443484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variables préparées</a:t>
            </a:r>
          </a:p>
        </p:txBody>
      </p:sp>
      <p:sp>
        <p:nvSpPr>
          <p:cNvPr id="15" name="TextBox 14"/>
          <p:cNvSpPr txBox="1"/>
          <p:nvPr/>
        </p:nvSpPr>
        <p:spPr>
          <a:xfrm>
            <a:off x="8275320" y="4663440"/>
            <a:ext cx="329184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C7EA73"/>
                </a:solidFill>
                <a:latin typeface="Arial"/>
              </a:defRPr>
            </a:pPr>
            <a:r>
              <a:t>7</a:t>
            </a:r>
          </a:p>
        </p:txBody>
      </p:sp>
      <p:sp>
        <p:nvSpPr>
          <p:cNvPr id="16" name="TextBox 15"/>
          <p:cNvSpPr txBox="1"/>
          <p:nvPr/>
        </p:nvSpPr>
        <p:spPr>
          <a:xfrm>
            <a:off x="8275320" y="5376672"/>
            <a:ext cx="329184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endpoints documentés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01 / BESOIN MÉTIER</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outil d'aide à l'analyse RH</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02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README.md ; docs/model.md</a:t>
            </a:r>
          </a:p>
        </p:txBody>
      </p:sp>
      <p:sp>
        <p:nvSpPr>
          <p:cNvPr id="8" name="Rounded Rectangle 7"/>
          <p:cNvSpPr/>
          <p:nvPr/>
        </p:nvSpPr>
        <p:spPr>
          <a:xfrm>
            <a:off x="50292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1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COMPRENDRE</a:t>
            </a:r>
          </a:p>
        </p:txBody>
      </p:sp>
      <p:sp>
        <p:nvSpPr>
          <p:cNvPr id="11" name="TextBox 10"/>
          <p:cNvSpPr txBox="1"/>
          <p:nvPr/>
        </p:nvSpPr>
        <p:spPr>
          <a:xfrm>
            <a:off x="71323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Relier données RH,</a:t>
            </a:r>
          </a:p>
          <a:p>
            <a:pPr algn="l">
              <a:lnSpc>
                <a:spcPts val="2124"/>
              </a:lnSpc>
              <a:spcBef>
                <a:spcPts val="0"/>
              </a:spcBef>
              <a:spcAft>
                <a:spcPts val="0"/>
              </a:spcAft>
              <a:defRPr sz="1800" b="0">
                <a:solidFill>
                  <a:srgbClr val="183744"/>
                </a:solidFill>
                <a:latin typeface="Arial"/>
              </a:defRPr>
            </a:pPr>
            <a:r>
              <a:t>évaluations et sondages.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Identifier des associations</a:t>
            </a:r>
          </a:p>
          <a:p>
            <a:pPr algn="l">
              <a:lnSpc>
                <a:spcPts val="2124"/>
              </a:lnSpc>
              <a:spcBef>
                <a:spcPts val="0"/>
              </a:spcBef>
              <a:spcAft>
                <a:spcPts val="0"/>
              </a:spcAft>
              <a:defRPr sz="1800" b="0">
                <a:solidFill>
                  <a:srgbClr val="183744"/>
                </a:solidFill>
                <a:latin typeface="Arial"/>
              </a:defRPr>
            </a:pPr>
            <a:r>
              <a:t>statistiques.</a:t>
            </a:r>
          </a:p>
        </p:txBody>
      </p:sp>
      <p:sp>
        <p:nvSpPr>
          <p:cNvPr id="12" name="Rounded Rectangle 11"/>
          <p:cNvSpPr/>
          <p:nvPr/>
        </p:nvSpPr>
        <p:spPr>
          <a:xfrm>
            <a:off x="4251960" y="1874519"/>
            <a:ext cx="3593592"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5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ESTIMER</a:t>
            </a:r>
          </a:p>
        </p:txBody>
      </p:sp>
      <p:sp>
        <p:nvSpPr>
          <p:cNvPr id="15" name="TextBox 14"/>
          <p:cNvSpPr txBox="1"/>
          <p:nvPr/>
        </p:nvSpPr>
        <p:spPr>
          <a:xfrm>
            <a:off x="4462272" y="2807208"/>
            <a:ext cx="3172968"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Produire une probabilité de</a:t>
            </a:r>
          </a:p>
          <a:p>
            <a:pPr algn="l">
              <a:lnSpc>
                <a:spcPts val="2124"/>
              </a:lnSpc>
              <a:spcBef>
                <a:spcPts val="0"/>
              </a:spcBef>
              <a:spcAft>
                <a:spcPts val="0"/>
              </a:spcAft>
              <a:defRPr sz="1800" b="0">
                <a:solidFill>
                  <a:srgbClr val="183744"/>
                </a:solidFill>
                <a:latin typeface="Arial"/>
              </a:defRPr>
            </a:pPr>
            <a:r>
              <a:t>départ et une décision au seuil</a:t>
            </a:r>
          </a:p>
          <a:p>
            <a:pPr algn="l">
              <a:lnSpc>
                <a:spcPts val="2124"/>
              </a:lnSpc>
              <a:spcBef>
                <a:spcPts val="0"/>
              </a:spcBef>
              <a:spcAft>
                <a:spcPts val="0"/>
              </a:spcAft>
              <a:defRPr sz="1800" b="0">
                <a:solidFill>
                  <a:srgbClr val="183744"/>
                </a:solidFill>
                <a:latin typeface="Arial"/>
              </a:defRPr>
            </a:pPr>
            <a:r>
              <a:t>choisi.</a:t>
            </a:r>
          </a:p>
        </p:txBody>
      </p:sp>
      <p:sp>
        <p:nvSpPr>
          <p:cNvPr id="16" name="Rounded Rectangle 15"/>
          <p:cNvSpPr/>
          <p:nvPr/>
        </p:nvSpPr>
        <p:spPr>
          <a:xfrm>
            <a:off x="8001000" y="1874519"/>
            <a:ext cx="3648456" cy="32004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0999" y="2093976"/>
            <a:ext cx="45719" cy="27569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TRACER</a:t>
            </a:r>
          </a:p>
        </p:txBody>
      </p:sp>
      <p:sp>
        <p:nvSpPr>
          <p:cNvPr id="19" name="TextBox 18"/>
          <p:cNvSpPr txBox="1"/>
          <p:nvPr/>
        </p:nvSpPr>
        <p:spPr>
          <a:xfrm>
            <a:off x="8211312" y="2807208"/>
            <a:ext cx="3227832" cy="211226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Retrouver les données</a:t>
            </a:r>
          </a:p>
          <a:p>
            <a:pPr algn="l">
              <a:lnSpc>
                <a:spcPts val="2124"/>
              </a:lnSpc>
              <a:spcBef>
                <a:spcPts val="0"/>
              </a:spcBef>
              <a:spcAft>
                <a:spcPts val="0"/>
              </a:spcAft>
              <a:defRPr sz="1800" b="0">
                <a:solidFill>
                  <a:srgbClr val="183744"/>
                </a:solidFill>
                <a:latin typeface="Arial"/>
              </a:defRPr>
            </a:pPr>
            <a:r>
              <a:t>utilisées, la version du modèle</a:t>
            </a:r>
          </a:p>
          <a:p>
            <a:pPr algn="l">
              <a:lnSpc>
                <a:spcPts val="2124"/>
              </a:lnSpc>
              <a:spcBef>
                <a:spcPts val="0"/>
              </a:spcBef>
              <a:spcAft>
                <a:spcPts val="0"/>
              </a:spcAft>
              <a:defRPr sz="1800" b="0">
                <a:solidFill>
                  <a:srgbClr val="183744"/>
                </a:solidFill>
                <a:latin typeface="Arial"/>
              </a:defRPr>
            </a:pPr>
            <a:r>
              <a:t>et le résultat.</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qualité métier se mesure sur des données indépendantes, au-delà du bon fonctionnement de l'API.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02 /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Trois sources, une population de 1 470 salariés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03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Data/*.csv ; docs/model.md ; docs/database.md</a:t>
            </a:r>
          </a:p>
        </p:txBody>
      </p:sp>
      <p:sp>
        <p:nvSpPr>
          <p:cNvPr id="8" name="Rounded Rectangle 7"/>
          <p:cNvSpPr/>
          <p:nvPr/>
        </p:nvSpPr>
        <p:spPr>
          <a:xfrm>
            <a:off x="50292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SIRH</a:t>
            </a:r>
          </a:p>
        </p:txBody>
      </p:sp>
      <p:sp>
        <p:nvSpPr>
          <p:cNvPr id="11" name="TextBox 10"/>
          <p:cNvSpPr txBox="1"/>
          <p:nvPr/>
        </p:nvSpPr>
        <p:spPr>
          <a:xfrm>
            <a:off x="71323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Âge, rémunération, poste et</a:t>
            </a:r>
          </a:p>
          <a:p>
            <a:pPr algn="l">
              <a:lnSpc>
                <a:spcPts val="1888"/>
              </a:lnSpc>
              <a:spcBef>
                <a:spcPts val="0"/>
              </a:spcBef>
              <a:spcAft>
                <a:spcPts val="0"/>
              </a:spcAft>
              <a:defRPr sz="1600" b="0">
                <a:solidFill>
                  <a:srgbClr val="183744"/>
                </a:solidFill>
                <a:latin typeface="Arial"/>
              </a:defRPr>
            </a:pPr>
            <a:r>
              <a:t>ancienneté</a:t>
            </a:r>
          </a:p>
        </p:txBody>
      </p:sp>
      <p:sp>
        <p:nvSpPr>
          <p:cNvPr id="12" name="Rounded Rectangle 11"/>
          <p:cNvSpPr/>
          <p:nvPr/>
        </p:nvSpPr>
        <p:spPr>
          <a:xfrm>
            <a:off x="425196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SONDAGE</a:t>
            </a:r>
          </a:p>
        </p:txBody>
      </p:sp>
      <p:sp>
        <p:nvSpPr>
          <p:cNvPr id="15" name="TextBox 14"/>
          <p:cNvSpPr txBox="1"/>
          <p:nvPr/>
        </p:nvSpPr>
        <p:spPr>
          <a:xfrm>
            <a:off x="446227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Engagement, contexte et cible de</a:t>
            </a:r>
          </a:p>
          <a:p>
            <a:pPr algn="l">
              <a:lnSpc>
                <a:spcPts val="1888"/>
              </a:lnSpc>
              <a:spcBef>
                <a:spcPts val="0"/>
              </a:spcBef>
              <a:spcAft>
                <a:spcPts val="0"/>
              </a:spcAft>
              <a:defRPr sz="1600" b="0">
                <a:solidFill>
                  <a:srgbClr val="183744"/>
                </a:solidFill>
                <a:latin typeface="Arial"/>
              </a:defRPr>
            </a:pPr>
            <a:r>
              <a:t>départ</a:t>
            </a:r>
          </a:p>
        </p:txBody>
      </p:sp>
      <p:sp>
        <p:nvSpPr>
          <p:cNvPr id="16" name="Rounded Rectangle 15"/>
          <p:cNvSpPr/>
          <p:nvPr/>
        </p:nvSpPr>
        <p:spPr>
          <a:xfrm>
            <a:off x="8001000" y="1709928"/>
            <a:ext cx="3611880" cy="178308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709928"/>
            <a:ext cx="41148" cy="17830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1929384"/>
            <a:ext cx="31912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ÉVALUATIONS</a:t>
            </a:r>
          </a:p>
        </p:txBody>
      </p:sp>
      <p:sp>
        <p:nvSpPr>
          <p:cNvPr id="19" name="TextBox 18"/>
          <p:cNvSpPr txBox="1"/>
          <p:nvPr/>
        </p:nvSpPr>
        <p:spPr>
          <a:xfrm>
            <a:off x="8211312" y="2642616"/>
            <a:ext cx="3191256" cy="69494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Satisfaction, notes et heures</a:t>
            </a:r>
          </a:p>
          <a:p>
            <a:pPr algn="l">
              <a:lnSpc>
                <a:spcPts val="1888"/>
              </a:lnSpc>
              <a:spcBef>
                <a:spcPts val="0"/>
              </a:spcBef>
              <a:spcAft>
                <a:spcPts val="0"/>
              </a:spcAft>
              <a:defRPr sz="1600" b="0">
                <a:solidFill>
                  <a:srgbClr val="183744"/>
                </a:solidFill>
                <a:latin typeface="Arial"/>
              </a:defRPr>
            </a:pPr>
            <a:r>
              <a:t>supplémentaires</a:t>
            </a:r>
          </a:p>
        </p:txBody>
      </p:sp>
      <p:graphicFrame>
        <p:nvGraphicFramePr>
          <p:cNvPr id="20" name="Chart 19"/>
          <p:cNvGraphicFramePr>
            <a:graphicFrameLocks noGrp="1"/>
          </p:cNvGraphicFramePr>
          <p:nvPr/>
        </p:nvGraphicFramePr>
        <p:xfrm>
          <a:off x="822960" y="3685032"/>
          <a:ext cx="23774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p:cNvSpPr txBox="1"/>
          <p:nvPr/>
        </p:nvSpPr>
        <p:spPr>
          <a:xfrm>
            <a:off x="1271016" y="4498848"/>
            <a:ext cx="1444752" cy="475488"/>
          </a:xfrm>
          <a:prstGeom prst="rect">
            <a:avLst/>
          </a:prstGeom>
          <a:noFill/>
        </p:spPr>
        <p:txBody>
          <a:bodyPr wrap="none" lIns="0" tIns="0" rIns="0" bIns="0" anchor="t">
            <a:spAutoFit/>
          </a:bodyPr>
          <a:lstStyle/>
          <a:p>
            <a:pPr algn="ctr">
              <a:lnSpc>
                <a:spcPts val="2950"/>
              </a:lnSpc>
              <a:spcBef>
                <a:spcPts val="0"/>
              </a:spcBef>
              <a:spcAft>
                <a:spcPts val="0"/>
              </a:spcAft>
              <a:defRPr sz="2500" b="1">
                <a:solidFill>
                  <a:srgbClr val="007F82"/>
                </a:solidFill>
                <a:latin typeface="Arial"/>
              </a:defRPr>
            </a:pPr>
            <a:r>
              <a:t>16,1 %</a:t>
            </a:r>
          </a:p>
        </p:txBody>
      </p:sp>
      <p:sp>
        <p:nvSpPr>
          <p:cNvPr id="22" name="TextBox 21"/>
          <p:cNvSpPr txBox="1"/>
          <p:nvPr/>
        </p:nvSpPr>
        <p:spPr>
          <a:xfrm>
            <a:off x="1280160" y="5010912"/>
            <a:ext cx="1417320" cy="256032"/>
          </a:xfrm>
          <a:prstGeom prst="rect">
            <a:avLst/>
          </a:prstGeom>
          <a:noFill/>
        </p:spPr>
        <p:txBody>
          <a:bodyPr wrap="none" lIns="0" tIns="0" rIns="0" bIns="0" anchor="t">
            <a:spAutoFit/>
          </a:bodyPr>
          <a:lstStyle/>
          <a:p>
            <a:pPr algn="ctr">
              <a:lnSpc>
                <a:spcPts val="1416"/>
              </a:lnSpc>
              <a:spcBef>
                <a:spcPts val="0"/>
              </a:spcBef>
              <a:spcAft>
                <a:spcPts val="0"/>
              </a:spcAft>
              <a:defRPr sz="1200" b="0">
                <a:solidFill>
                  <a:srgbClr val="526A75"/>
                </a:solidFill>
                <a:latin typeface="Arial"/>
              </a:defRPr>
            </a:pPr>
            <a:r>
              <a:t>de départs</a:t>
            </a:r>
          </a:p>
        </p:txBody>
      </p:sp>
      <p:sp>
        <p:nvSpPr>
          <p:cNvPr id="23" name="TextBox 22"/>
          <p:cNvSpPr txBox="1"/>
          <p:nvPr/>
        </p:nvSpPr>
        <p:spPr>
          <a:xfrm>
            <a:off x="3794760" y="3840480"/>
            <a:ext cx="342900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237</a:t>
            </a:r>
          </a:p>
        </p:txBody>
      </p:sp>
      <p:sp>
        <p:nvSpPr>
          <p:cNvPr id="24" name="TextBox 23"/>
          <p:cNvSpPr txBox="1"/>
          <p:nvPr/>
        </p:nvSpPr>
        <p:spPr>
          <a:xfrm>
            <a:off x="3794760" y="4553712"/>
            <a:ext cx="342900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départs • classe 1</a:t>
            </a:r>
          </a:p>
        </p:txBody>
      </p:sp>
      <p:sp>
        <p:nvSpPr>
          <p:cNvPr id="25" name="TextBox 24"/>
          <p:cNvSpPr txBox="1"/>
          <p:nvPr/>
        </p:nvSpPr>
        <p:spPr>
          <a:xfrm>
            <a:off x="7680960" y="3840480"/>
            <a:ext cx="347472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1 233</a:t>
            </a:r>
          </a:p>
        </p:txBody>
      </p:sp>
      <p:sp>
        <p:nvSpPr>
          <p:cNvPr id="26" name="TextBox 25"/>
          <p:cNvSpPr txBox="1"/>
          <p:nvPr/>
        </p:nvSpPr>
        <p:spPr>
          <a:xfrm>
            <a:off x="7680960" y="4553712"/>
            <a:ext cx="347472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salariés restés • classe 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03 / PRÉPARATION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Transformer les données en 43 variables numériques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04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12 à 28 ; docs/features.md</a:t>
            </a:r>
          </a:p>
        </p:txBody>
      </p:sp>
      <p:sp>
        <p:nvSpPr>
          <p:cNvPr id="8" name="Rounded Rectangle 7"/>
          <p:cNvSpPr/>
          <p:nvPr/>
        </p:nvSpPr>
        <p:spPr>
          <a:xfrm>
            <a:off x="502920"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11" name="TextBox 10"/>
          <p:cNvSpPr txBox="1"/>
          <p:nvPr/>
        </p:nvSpPr>
        <p:spPr>
          <a:xfrm>
            <a:off x="713232"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3 sources</a:t>
            </a:r>
          </a:p>
          <a:p>
            <a:pPr algn="l">
              <a:lnSpc>
                <a:spcPts val="2005"/>
              </a:lnSpc>
              <a:spcBef>
                <a:spcPts val="0"/>
              </a:spcBef>
              <a:spcAft>
                <a:spcPts val="0"/>
              </a:spcAft>
              <a:defRPr sz="1700" b="0">
                <a:solidFill>
                  <a:srgbClr val="183744"/>
                </a:solidFill>
                <a:latin typeface="Arial"/>
              </a:defRPr>
            </a:pPr>
            <a:r>
              <a:t>31 colonnes</a:t>
            </a:r>
          </a:p>
        </p:txBody>
      </p:sp>
      <p:cxnSp>
        <p:nvCxnSpPr>
          <p:cNvPr id="12" name="Connector 11"/>
          <p:cNvCxnSpPr/>
          <p:nvPr/>
        </p:nvCxnSpPr>
        <p:spPr>
          <a:xfrm>
            <a:off x="3136391" y="3291840"/>
            <a:ext cx="18288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NETTOYAGE</a:t>
            </a:r>
          </a:p>
        </p:txBody>
      </p:sp>
      <p:sp>
        <p:nvSpPr>
          <p:cNvPr id="16" name="TextBox 15"/>
          <p:cNvSpPr txBox="1"/>
          <p:nvPr/>
        </p:nvSpPr>
        <p:spPr>
          <a:xfrm>
            <a:off x="3566160"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Types, pourcentages</a:t>
            </a:r>
          </a:p>
          <a:p>
            <a:pPr algn="l">
              <a:lnSpc>
                <a:spcPts val="2005"/>
              </a:lnSpc>
              <a:spcBef>
                <a:spcPts val="0"/>
              </a:spcBef>
              <a:spcAft>
                <a:spcPts val="0"/>
              </a:spcAft>
              <a:defRPr sz="1700" b="0">
                <a:solidFill>
                  <a:srgbClr val="183744"/>
                </a:solidFill>
                <a:latin typeface="Arial"/>
              </a:defRPr>
            </a:pPr>
            <a:r>
              <a:t>et encodages</a:t>
            </a:r>
          </a:p>
        </p:txBody>
      </p:sp>
      <p:cxnSp>
        <p:nvCxnSpPr>
          <p:cNvPr id="17" name="Connector 16"/>
          <p:cNvCxnSpPr/>
          <p:nvPr/>
        </p:nvCxnSpPr>
        <p:spPr>
          <a:xfrm>
            <a:off x="5989320"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ENRICHISSEMENT</a:t>
            </a:r>
          </a:p>
        </p:txBody>
      </p:sp>
      <p:sp>
        <p:nvSpPr>
          <p:cNvPr id="21" name="TextBox 20"/>
          <p:cNvSpPr txBox="1"/>
          <p:nvPr/>
        </p:nvSpPr>
        <p:spPr>
          <a:xfrm>
            <a:off x="6419088"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Rémunération relative</a:t>
            </a:r>
          </a:p>
          <a:p>
            <a:pPr algn="l">
              <a:lnSpc>
                <a:spcPts val="2005"/>
              </a:lnSpc>
              <a:spcBef>
                <a:spcPts val="0"/>
              </a:spcBef>
              <a:spcAft>
                <a:spcPts val="0"/>
              </a:spcAft>
              <a:defRPr sz="1700" b="0">
                <a:solidFill>
                  <a:srgbClr val="183744"/>
                </a:solidFill>
                <a:latin typeface="Arial"/>
              </a:defRPr>
            </a:pPr>
            <a:r>
              <a:t>et satisfaction</a:t>
            </a:r>
          </a:p>
        </p:txBody>
      </p:sp>
      <p:cxnSp>
        <p:nvCxnSpPr>
          <p:cNvPr id="22" name="Connector 21"/>
          <p:cNvCxnSpPr/>
          <p:nvPr/>
        </p:nvCxnSpPr>
        <p:spPr>
          <a:xfrm>
            <a:off x="8842248" y="3291840"/>
            <a:ext cx="1828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2057400"/>
            <a:ext cx="2606040" cy="25146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61704" y="2057400"/>
            <a:ext cx="41148" cy="2514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2016" y="2276856"/>
            <a:ext cx="21854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MATRICE FINALE</a:t>
            </a:r>
          </a:p>
        </p:txBody>
      </p:sp>
      <p:sp>
        <p:nvSpPr>
          <p:cNvPr id="26" name="TextBox 25"/>
          <p:cNvSpPr txBox="1"/>
          <p:nvPr/>
        </p:nvSpPr>
        <p:spPr>
          <a:xfrm>
            <a:off x="9272016" y="2990088"/>
            <a:ext cx="2185416" cy="14264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43 variables</a:t>
            </a:r>
          </a:p>
          <a:p>
            <a:pPr algn="l">
              <a:lnSpc>
                <a:spcPts val="2005"/>
              </a:lnSpc>
              <a:spcBef>
                <a:spcPts val="0"/>
              </a:spcBef>
              <a:spcAft>
                <a:spcPts val="0"/>
              </a:spcAft>
              <a:defRPr sz="1700" b="0">
                <a:solidFill>
                  <a:srgbClr val="183744"/>
                </a:solidFill>
                <a:latin typeface="Arial"/>
              </a:defRPr>
            </a:pPr>
            <a:r>
              <a:t>numériques</a:t>
            </a:r>
          </a:p>
        </p:txBody>
      </p:sp>
      <p:sp>
        <p:nvSpPr>
          <p:cNvPr id="27" name="Rounded Rectangle 26"/>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Contrat d'entrée : variables préparées, sans cible ni identifiant, avec les noms exacts de /features.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04 / PROTOCOLE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Séparer l'évaluation du choix du seuil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05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28 à 41 ; docs/model.md</a:t>
            </a:r>
          </a:p>
        </p:txBody>
      </p:sp>
      <p:sp>
        <p:nvSpPr>
          <p:cNvPr id="8" name="Rounded Rectangle 7"/>
          <p:cNvSpPr/>
          <p:nvPr/>
        </p:nvSpPr>
        <p:spPr>
          <a:xfrm>
            <a:off x="594360" y="1965960"/>
            <a:ext cx="8823960" cy="603504"/>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528048" y="1965960"/>
            <a:ext cx="2084831" cy="603504"/>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2112264"/>
            <a:ext cx="813816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80 % : entraînement</a:t>
            </a:r>
          </a:p>
        </p:txBody>
      </p:sp>
      <p:sp>
        <p:nvSpPr>
          <p:cNvPr id="11" name="TextBox 10"/>
          <p:cNvSpPr txBox="1"/>
          <p:nvPr/>
        </p:nvSpPr>
        <p:spPr>
          <a:xfrm>
            <a:off x="9692640" y="2112264"/>
            <a:ext cx="1783080" cy="274320"/>
          </a:xfrm>
          <a:prstGeom prst="rect">
            <a:avLst/>
          </a:prstGeom>
          <a:noFill/>
        </p:spPr>
        <p:txBody>
          <a:bodyPr wrap="none" lIns="0" tIns="0" rIns="0" bIns="0" anchor="t">
            <a:spAutoFit/>
          </a:bodyPr>
          <a:lstStyle/>
          <a:p>
            <a:pPr algn="l">
              <a:lnSpc>
                <a:spcPts val="2005"/>
              </a:lnSpc>
              <a:spcBef>
                <a:spcPts val="0"/>
              </a:spcBef>
              <a:spcAft>
                <a:spcPts val="0"/>
              </a:spcAft>
              <a:defRPr sz="1700" b="1">
                <a:solidFill>
                  <a:srgbClr val="FFFFFF"/>
                </a:solidFill>
                <a:latin typeface="Arial"/>
              </a:defRPr>
            </a:pPr>
            <a:r>
              <a:t>20 % : test</a:t>
            </a:r>
          </a:p>
        </p:txBody>
      </p:sp>
      <p:sp>
        <p:nvSpPr>
          <p:cNvPr id="12" name="Rounded Rectangle 11"/>
          <p:cNvSpPr/>
          <p:nvPr/>
        </p:nvSpPr>
        <p:spPr>
          <a:xfrm>
            <a:off x="594360" y="2926080"/>
            <a:ext cx="534924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3145536"/>
            <a:ext cx="49286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1 176 LIGNES</a:t>
            </a:r>
          </a:p>
        </p:txBody>
      </p:sp>
      <p:sp>
        <p:nvSpPr>
          <p:cNvPr id="15" name="TextBox 14"/>
          <p:cNvSpPr txBox="1"/>
          <p:nvPr/>
        </p:nvSpPr>
        <p:spPr>
          <a:xfrm>
            <a:off x="804672" y="3858768"/>
            <a:ext cx="492861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CV stratifiée à 5 folds</a:t>
            </a:r>
          </a:p>
          <a:p>
            <a:pPr algn="l">
              <a:lnSpc>
                <a:spcPts val="2005"/>
              </a:lnSpc>
              <a:spcBef>
                <a:spcPts val="0"/>
              </a:spcBef>
              <a:spcAft>
                <a:spcPts val="0"/>
              </a:spcAft>
              <a:defRPr sz="1700" b="0">
                <a:solidFill>
                  <a:srgbClr val="183744"/>
                </a:solidFill>
                <a:latin typeface="Arial"/>
              </a:defRPr>
            </a:pPr>
            <a:r>
              <a:t>Optimisation et seuil sur le train</a:t>
            </a:r>
          </a:p>
        </p:txBody>
      </p:sp>
      <p:sp>
        <p:nvSpPr>
          <p:cNvPr id="16" name="Rounded Rectangle 15"/>
          <p:cNvSpPr/>
          <p:nvPr/>
        </p:nvSpPr>
        <p:spPr>
          <a:xfrm>
            <a:off x="6144768" y="2926080"/>
            <a:ext cx="5468112"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44768" y="29260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55080" y="3145536"/>
            <a:ext cx="504748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294 LIGNES</a:t>
            </a:r>
          </a:p>
        </p:txBody>
      </p:sp>
      <p:sp>
        <p:nvSpPr>
          <p:cNvPr id="19" name="TextBox 18"/>
          <p:cNvSpPr txBox="1"/>
          <p:nvPr/>
        </p:nvSpPr>
        <p:spPr>
          <a:xfrm>
            <a:off x="6355080" y="3858768"/>
            <a:ext cx="5047488"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47 départs pour l'évaluation finale</a:t>
            </a:r>
          </a:p>
          <a:p>
            <a:pPr algn="l">
              <a:lnSpc>
                <a:spcPts val="2005"/>
              </a:lnSpc>
              <a:spcBef>
                <a:spcPts val="0"/>
              </a:spcBef>
              <a:spcAft>
                <a:spcPts val="0"/>
              </a:spcAft>
              <a:defRPr sz="1700" b="0">
                <a:solidFill>
                  <a:srgbClr val="183744"/>
                </a:solidFill>
                <a:latin typeface="Arial"/>
              </a:defRPr>
            </a:pPr>
            <a:r>
              <a:t>random_state = 42</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Une mesure sur les données d'entraînement ou des cibles fictives n'est pas une mesure de généralisation.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05 / MODÈLES COMPARÉS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Comparer plusieurs approches, sans surinterpréter le</a:t>
            </a:r>
          </a:p>
          <a:p>
            <a:pPr algn="l">
              <a:lnSpc>
                <a:spcPts val="3304"/>
              </a:lnSpc>
              <a:spcBef>
                <a:spcPts val="0"/>
              </a:spcBef>
              <a:spcAft>
                <a:spcPts val="0"/>
              </a:spcAft>
              <a:defRPr sz="2800" b="1">
                <a:solidFill>
                  <a:srgbClr val="102C3A"/>
                </a:solidFill>
                <a:latin typeface="Arial"/>
              </a:defRPr>
            </a:pPr>
            <a:r>
              <a:t>classement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06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notebook, cellules 31, 34, 54 et 55 ; docs/model.md</a:t>
            </a:r>
          </a:p>
        </p:txBody>
      </p:sp>
      <p:sp>
        <p:nvSpPr>
          <p:cNvPr id="8" name="TextBox 7"/>
          <p:cNvSpPr txBox="1"/>
          <p:nvPr/>
        </p:nvSpPr>
        <p:spPr>
          <a:xfrm>
            <a:off x="594360" y="1673352"/>
            <a:ext cx="10881360" cy="32004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526A75"/>
                </a:solidFill>
                <a:latin typeface="Arial"/>
              </a:defRPr>
            </a:pPr>
            <a:r>
              <a:t>F1 moyen sur le train • validation croisée à 5 folds</a:t>
            </a:r>
          </a:p>
        </p:txBody>
      </p:sp>
      <p:sp>
        <p:nvSpPr>
          <p:cNvPr id="9" name="TextBox 8"/>
          <p:cNvSpPr txBox="1"/>
          <p:nvPr/>
        </p:nvSpPr>
        <p:spPr>
          <a:xfrm>
            <a:off x="594360" y="224028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LightGBM</a:t>
            </a:r>
          </a:p>
        </p:txBody>
      </p:sp>
      <p:sp>
        <p:nvSpPr>
          <p:cNvPr id="10" name="Rectangle 9"/>
          <p:cNvSpPr/>
          <p:nvPr/>
        </p:nvSpPr>
        <p:spPr>
          <a:xfrm>
            <a:off x="4096512" y="225399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096512" y="2253996"/>
            <a:ext cx="4778654"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38360" y="222656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0,5226 ± 0,0426</a:t>
            </a:r>
          </a:p>
        </p:txBody>
      </p:sp>
      <p:sp>
        <p:nvSpPr>
          <p:cNvPr id="13" name="TextBox 12"/>
          <p:cNvSpPr txBox="1"/>
          <p:nvPr/>
        </p:nvSpPr>
        <p:spPr>
          <a:xfrm>
            <a:off x="594360" y="2715768"/>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1">
                <a:solidFill>
                  <a:srgbClr val="007F82"/>
                </a:solidFill>
                <a:latin typeface="Arial"/>
              </a:defRPr>
            </a:pPr>
            <a:r>
              <a:t>Random Forest optimisé</a:t>
            </a:r>
          </a:p>
        </p:txBody>
      </p:sp>
      <p:sp>
        <p:nvSpPr>
          <p:cNvPr id="14" name="Rectangle 13"/>
          <p:cNvSpPr/>
          <p:nvPr/>
        </p:nvSpPr>
        <p:spPr>
          <a:xfrm>
            <a:off x="4096512" y="2729484"/>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096512" y="2729484"/>
            <a:ext cx="4615891" cy="21945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38360" y="2702052"/>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183744"/>
                </a:solidFill>
                <a:latin typeface="Arial"/>
              </a:defRPr>
            </a:pPr>
            <a:r>
              <a:t>0,5048 ± 0,0714</a:t>
            </a:r>
          </a:p>
        </p:txBody>
      </p:sp>
      <p:sp>
        <p:nvSpPr>
          <p:cNvPr id="17" name="TextBox 16"/>
          <p:cNvSpPr txBox="1"/>
          <p:nvPr/>
        </p:nvSpPr>
        <p:spPr>
          <a:xfrm>
            <a:off x="594360" y="3191256"/>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Régression logistique</a:t>
            </a:r>
          </a:p>
        </p:txBody>
      </p:sp>
      <p:sp>
        <p:nvSpPr>
          <p:cNvPr id="18" name="Rectangle 17"/>
          <p:cNvSpPr/>
          <p:nvPr/>
        </p:nvSpPr>
        <p:spPr>
          <a:xfrm>
            <a:off x="4096512" y="3204972"/>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096512" y="3204972"/>
            <a:ext cx="4542739"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38360" y="3177540"/>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0,4968 ± 0,0280</a:t>
            </a:r>
          </a:p>
        </p:txBody>
      </p:sp>
      <p:sp>
        <p:nvSpPr>
          <p:cNvPr id="21" name="TextBox 20"/>
          <p:cNvSpPr txBox="1"/>
          <p:nvPr/>
        </p:nvSpPr>
        <p:spPr>
          <a:xfrm>
            <a:off x="594360" y="3666744"/>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 SMOTE</a:t>
            </a:r>
          </a:p>
        </p:txBody>
      </p:sp>
      <p:sp>
        <p:nvSpPr>
          <p:cNvPr id="22" name="Rectangle 21"/>
          <p:cNvSpPr/>
          <p:nvPr/>
        </p:nvSpPr>
        <p:spPr>
          <a:xfrm>
            <a:off x="4096512" y="3680459"/>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096512" y="3680459"/>
            <a:ext cx="4206240"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738360" y="3653027"/>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0,4600 ± 0,0936</a:t>
            </a:r>
          </a:p>
        </p:txBody>
      </p:sp>
      <p:sp>
        <p:nvSpPr>
          <p:cNvPr id="25" name="TextBox 24"/>
          <p:cNvSpPr txBox="1"/>
          <p:nvPr/>
        </p:nvSpPr>
        <p:spPr>
          <a:xfrm>
            <a:off x="594360" y="4142232"/>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Random Forest initial</a:t>
            </a:r>
          </a:p>
        </p:txBody>
      </p:sp>
      <p:sp>
        <p:nvSpPr>
          <p:cNvPr id="26" name="Rectangle 25"/>
          <p:cNvSpPr/>
          <p:nvPr/>
        </p:nvSpPr>
        <p:spPr>
          <a:xfrm>
            <a:off x="4096512" y="4155948"/>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096512" y="4155948"/>
            <a:ext cx="3830421"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38360" y="4128516"/>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0,4189 ± 0,0967</a:t>
            </a:r>
          </a:p>
        </p:txBody>
      </p:sp>
      <p:sp>
        <p:nvSpPr>
          <p:cNvPr id="29" name="TextBox 28"/>
          <p:cNvSpPr txBox="1"/>
          <p:nvPr/>
        </p:nvSpPr>
        <p:spPr>
          <a:xfrm>
            <a:off x="594360" y="4617720"/>
            <a:ext cx="3383280" cy="28346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Dummy stratifié</a:t>
            </a:r>
          </a:p>
        </p:txBody>
      </p:sp>
      <p:sp>
        <p:nvSpPr>
          <p:cNvPr id="30" name="Rectangle 29"/>
          <p:cNvSpPr/>
          <p:nvPr/>
        </p:nvSpPr>
        <p:spPr>
          <a:xfrm>
            <a:off x="4096512" y="4631436"/>
            <a:ext cx="5486400" cy="219456"/>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096512" y="4631436"/>
            <a:ext cx="1503273" cy="219456"/>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38360" y="4604004"/>
            <a:ext cx="1920240" cy="329184"/>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0,1644 ± 0,0300</a:t>
            </a:r>
          </a:p>
        </p:txBody>
      </p:sp>
      <p:sp>
        <p:nvSpPr>
          <p:cNvPr id="33" name="TextBox 32"/>
          <p:cNvSpPr txBox="1"/>
          <p:nvPr/>
        </p:nvSpPr>
        <p:spPr>
          <a:xfrm>
            <a:off x="4087368" y="5257800"/>
            <a:ext cx="457200" cy="219456"/>
          </a:xfrm>
          <a:prstGeom prst="rect">
            <a:avLst/>
          </a:prstGeom>
          <a:noFill/>
        </p:spPr>
        <p:txBody>
          <a:bodyPr wrap="none" lIns="0" tIns="0" rIns="0" bIns="0" anchor="t">
            <a:spAutoFit/>
          </a:bodyPr>
          <a:lstStyle/>
          <a:p>
            <a:pPr algn="l">
              <a:lnSpc>
                <a:spcPts val="1297"/>
              </a:lnSpc>
              <a:spcBef>
                <a:spcPts val="0"/>
              </a:spcBef>
              <a:spcAft>
                <a:spcPts val="0"/>
              </a:spcAft>
              <a:defRPr sz="1100" b="0">
                <a:solidFill>
                  <a:srgbClr val="526A75"/>
                </a:solidFill>
                <a:latin typeface="Arial"/>
              </a:defRPr>
            </a:pPr>
            <a:r>
              <a:t>0</a:t>
            </a:r>
          </a:p>
        </p:txBody>
      </p:sp>
      <p:sp>
        <p:nvSpPr>
          <p:cNvPr id="34" name="TextBox 33"/>
          <p:cNvSpPr txBox="1"/>
          <p:nvPr/>
        </p:nvSpPr>
        <p:spPr>
          <a:xfrm>
            <a:off x="9089136" y="5257800"/>
            <a:ext cx="502920" cy="219456"/>
          </a:xfrm>
          <a:prstGeom prst="rect">
            <a:avLst/>
          </a:prstGeom>
          <a:noFill/>
        </p:spPr>
        <p:txBody>
          <a:bodyPr wrap="none" lIns="0" tIns="0" rIns="0" bIns="0" anchor="t">
            <a:spAutoFit/>
          </a:bodyPr>
          <a:lstStyle/>
          <a:p>
            <a:pPr algn="r">
              <a:lnSpc>
                <a:spcPts val="1297"/>
              </a:lnSpc>
              <a:spcBef>
                <a:spcPts val="0"/>
              </a:spcBef>
              <a:spcAft>
                <a:spcPts val="0"/>
              </a:spcAft>
              <a:defRPr sz="1100" b="0">
                <a:solidFill>
                  <a:srgbClr val="526A75"/>
                </a:solidFill>
                <a:latin typeface="Arial"/>
              </a:defRPr>
            </a:pPr>
            <a:r>
              <a:t>0,60</a:t>
            </a:r>
          </a:p>
        </p:txBody>
      </p:sp>
      <p:sp>
        <p:nvSpPr>
          <p:cNvPr id="35" name="Rounded Rectangle 34"/>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 forêt optimisée est le modèle livré ; les alternatives restent compétitives.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06 / MODÈLE RETENU</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modèle livré : forêt régularisée et probabilités calibrées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07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artefact local ; docs/model.md ; notebook, cellules 34 et 36</a:t>
            </a:r>
          </a:p>
        </p:txBody>
      </p:sp>
      <p:sp>
        <p:nvSpPr>
          <p:cNvPr id="8" name="Rounded Rectangle 7"/>
          <p:cNvSpPr/>
          <p:nvPr/>
        </p:nvSpPr>
        <p:spPr>
          <a:xfrm>
            <a:off x="50292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FORÊT</a:t>
            </a:r>
          </a:p>
        </p:txBody>
      </p:sp>
      <p:sp>
        <p:nvSpPr>
          <p:cNvPr id="11" name="TextBox 10"/>
          <p:cNvSpPr txBox="1"/>
          <p:nvPr/>
        </p:nvSpPr>
        <p:spPr>
          <a:xfrm>
            <a:off x="71323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300 arbres</a:t>
            </a:r>
          </a:p>
          <a:p>
            <a:pPr algn="l">
              <a:lnSpc>
                <a:spcPts val="2124"/>
              </a:lnSpc>
              <a:spcBef>
                <a:spcPts val="0"/>
              </a:spcBef>
              <a:spcAft>
                <a:spcPts val="0"/>
              </a:spcAft>
              <a:defRPr sz="1800" b="0">
                <a:solidFill>
                  <a:srgbClr val="183744"/>
                </a:solidFill>
                <a:latin typeface="Arial"/>
              </a:defRPr>
            </a:pPr>
            <a:r>
              <a:t>Profondeur maximale : 5</a:t>
            </a:r>
          </a:p>
          <a:p>
            <a:pPr algn="l">
              <a:lnSpc>
                <a:spcPts val="2124"/>
              </a:lnSpc>
              <a:spcBef>
                <a:spcPts val="0"/>
              </a:spcBef>
              <a:spcAft>
                <a:spcPts val="0"/>
              </a:spcAft>
              <a:defRPr sz="1800" b="0">
                <a:solidFill>
                  <a:srgbClr val="183744"/>
                </a:solidFill>
                <a:latin typeface="Arial"/>
              </a:defRPr>
            </a:pPr>
            <a:r>
              <a:t>Classes pondérées</a:t>
            </a:r>
          </a:p>
          <a:p>
            <a:pPr algn="l">
              <a:lnSpc>
                <a:spcPts val="2124"/>
              </a:lnSpc>
              <a:spcBef>
                <a:spcPts val="0"/>
              </a:spcBef>
              <a:spcAft>
                <a:spcPts val="0"/>
              </a:spcAft>
              <a:defRPr sz="1800" b="0">
                <a:solidFill>
                  <a:srgbClr val="183744"/>
                </a:solidFill>
                <a:latin typeface="Arial"/>
              </a:defRPr>
            </a:pPr>
            <a:r>
              <a:t>random_state = 42</a:t>
            </a:r>
          </a:p>
        </p:txBody>
      </p:sp>
      <p:sp>
        <p:nvSpPr>
          <p:cNvPr id="12" name="Rounded Rectangle 11"/>
          <p:cNvSpPr/>
          <p:nvPr/>
        </p:nvSpPr>
        <p:spPr>
          <a:xfrm>
            <a:off x="4251960" y="1874519"/>
            <a:ext cx="3593592"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CALIBRATION</a:t>
            </a:r>
          </a:p>
        </p:txBody>
      </p:sp>
      <p:sp>
        <p:nvSpPr>
          <p:cNvPr id="15" name="TextBox 14"/>
          <p:cNvSpPr txBox="1"/>
          <p:nvPr/>
        </p:nvSpPr>
        <p:spPr>
          <a:xfrm>
            <a:off x="4462272" y="2807208"/>
            <a:ext cx="3172968"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Méthode sigmoid</a:t>
            </a:r>
          </a:p>
          <a:p>
            <a:pPr algn="l">
              <a:lnSpc>
                <a:spcPts val="2124"/>
              </a:lnSpc>
              <a:spcBef>
                <a:spcPts val="0"/>
              </a:spcBef>
              <a:spcAft>
                <a:spcPts val="0"/>
              </a:spcAft>
              <a:defRPr sz="1800" b="0">
                <a:solidFill>
                  <a:srgbClr val="183744"/>
                </a:solidFill>
                <a:latin typeface="Arial"/>
              </a:defRPr>
            </a:pPr>
            <a:r>
              <a:t>Validation interne : 5 folds</a:t>
            </a:r>
          </a:p>
          <a:p>
            <a:pPr algn="l">
              <a:lnSpc>
                <a:spcPts val="2124"/>
              </a:lnSpc>
              <a:spcBef>
                <a:spcPts val="0"/>
              </a:spcBef>
              <a:spcAft>
                <a:spcPts val="0"/>
              </a:spcAft>
              <a:defRPr sz="1800" b="0">
                <a:solidFill>
                  <a:srgbClr val="183744"/>
                </a:solidFill>
                <a:latin typeface="Arial"/>
              </a:defRPr>
            </a:pPr>
            <a:r>
              <a:t>Probabilité de la classe 1</a:t>
            </a:r>
          </a:p>
        </p:txBody>
      </p:sp>
      <p:sp>
        <p:nvSpPr>
          <p:cNvPr id="16" name="Rounded Rectangle 15"/>
          <p:cNvSpPr/>
          <p:nvPr/>
        </p:nvSpPr>
        <p:spPr>
          <a:xfrm>
            <a:off x="8001000" y="1874519"/>
            <a:ext cx="3648456" cy="324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2461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DÉCISION</a:t>
            </a:r>
          </a:p>
        </p:txBody>
      </p:sp>
      <p:sp>
        <p:nvSpPr>
          <p:cNvPr id="19" name="TextBox 18"/>
          <p:cNvSpPr txBox="1"/>
          <p:nvPr/>
        </p:nvSpPr>
        <p:spPr>
          <a:xfrm>
            <a:off x="8211312" y="2807208"/>
            <a:ext cx="3227832" cy="21579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Seuil optimisé : 0,2232</a:t>
            </a:r>
          </a:p>
          <a:p>
            <a:pPr algn="l">
              <a:lnSpc>
                <a:spcPts val="2124"/>
              </a:lnSpc>
              <a:spcBef>
                <a:spcPts val="0"/>
              </a:spcBef>
              <a:spcAft>
                <a:spcPts val="0"/>
              </a:spcAft>
              <a:defRPr sz="1800" b="0">
                <a:solidFill>
                  <a:srgbClr val="183744"/>
                </a:solidFill>
                <a:latin typeface="Arial"/>
              </a:defRPr>
            </a:pPr>
            <a:r>
              <a:t>Choisi sur le F1 OOF</a:t>
            </a:r>
          </a:p>
          <a:p>
            <a:pPr algn="l">
              <a:lnSpc>
                <a:spcPts val="2124"/>
              </a:lnSpc>
              <a:spcBef>
                <a:spcPts val="0"/>
              </a:spcBef>
              <a:spcAft>
                <a:spcPts val="0"/>
              </a:spcAft>
              <a:defRPr sz="1800" b="0">
                <a:solidFill>
                  <a:srgbClr val="183744"/>
                </a:solidFill>
                <a:latin typeface="Arial"/>
              </a:defRPr>
            </a:pPr>
            <a:r>
              <a:t>Stocké avec le modèle</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L'artefact attend 43 variables déjà transformées ; la préparation brute n'est pas embarquée.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07 / PERFORMANCES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seuil optimisé augmente le rappel sur le test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08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 : notebook, cellule 41 ; docs/model_metrics.json • test : 294 lignes, 47 départs</a:t>
            </a:r>
          </a:p>
        </p:txBody>
      </p:sp>
      <p:sp>
        <p:nvSpPr>
          <p:cNvPr id="8" name="TextBox 7"/>
          <p:cNvSpPr txBox="1"/>
          <p:nvPr/>
        </p:nvSpPr>
        <p:spPr>
          <a:xfrm>
            <a:off x="64008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RAPPEL</a:t>
            </a:r>
          </a:p>
        </p:txBody>
      </p:sp>
      <p:sp>
        <p:nvSpPr>
          <p:cNvPr id="9" name="TextBox 8"/>
          <p:cNvSpPr txBox="1"/>
          <p:nvPr/>
        </p:nvSpPr>
        <p:spPr>
          <a:xfrm>
            <a:off x="64008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0" name="Rectangle 9"/>
          <p:cNvSpPr/>
          <p:nvPr/>
        </p:nvSpPr>
        <p:spPr>
          <a:xfrm>
            <a:off x="64008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2852928"/>
            <a:ext cx="466928"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0,170</a:t>
            </a:r>
          </a:p>
        </p:txBody>
      </p:sp>
      <p:sp>
        <p:nvSpPr>
          <p:cNvPr id="13" name="TextBox 12"/>
          <p:cNvSpPr txBox="1"/>
          <p:nvPr/>
        </p:nvSpPr>
        <p:spPr>
          <a:xfrm>
            <a:off x="64008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14" name="Rectangle 13"/>
          <p:cNvSpPr/>
          <p:nvPr/>
        </p:nvSpPr>
        <p:spPr>
          <a:xfrm>
            <a:off x="64008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 y="3904488"/>
            <a:ext cx="1692612"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0,617</a:t>
            </a:r>
          </a:p>
        </p:txBody>
      </p:sp>
      <p:sp>
        <p:nvSpPr>
          <p:cNvPr id="17" name="TextBox 16"/>
          <p:cNvSpPr txBox="1"/>
          <p:nvPr/>
        </p:nvSpPr>
        <p:spPr>
          <a:xfrm>
            <a:off x="443484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PRÉCISION</a:t>
            </a:r>
          </a:p>
        </p:txBody>
      </p:sp>
      <p:sp>
        <p:nvSpPr>
          <p:cNvPr id="18" name="TextBox 17"/>
          <p:cNvSpPr txBox="1"/>
          <p:nvPr/>
        </p:nvSpPr>
        <p:spPr>
          <a:xfrm>
            <a:off x="443484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19" name="Rectangle 18"/>
          <p:cNvSpPr/>
          <p:nvPr/>
        </p:nvSpPr>
        <p:spPr>
          <a:xfrm>
            <a:off x="443484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434840" y="2852928"/>
            <a:ext cx="954156"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484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0,348</a:t>
            </a:r>
          </a:p>
        </p:txBody>
      </p:sp>
      <p:sp>
        <p:nvSpPr>
          <p:cNvPr id="22" name="TextBox 21"/>
          <p:cNvSpPr txBox="1"/>
          <p:nvPr/>
        </p:nvSpPr>
        <p:spPr>
          <a:xfrm>
            <a:off x="443484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23" name="Rectangle 22"/>
          <p:cNvSpPr/>
          <p:nvPr/>
        </p:nvSpPr>
        <p:spPr>
          <a:xfrm>
            <a:off x="443484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434840" y="3904488"/>
            <a:ext cx="1152939"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0,420</a:t>
            </a:r>
          </a:p>
        </p:txBody>
      </p:sp>
      <p:sp>
        <p:nvSpPr>
          <p:cNvPr id="26" name="TextBox 25"/>
          <p:cNvSpPr txBox="1"/>
          <p:nvPr/>
        </p:nvSpPr>
        <p:spPr>
          <a:xfrm>
            <a:off x="8229600" y="1755648"/>
            <a:ext cx="3474720" cy="320040"/>
          </a:xfrm>
          <a:prstGeom prst="rect">
            <a:avLst/>
          </a:prstGeom>
          <a:noFill/>
        </p:spPr>
        <p:txBody>
          <a:bodyPr wrap="none" lIns="0" tIns="0" rIns="0" bIns="0" anchor="t">
            <a:spAutoFit/>
          </a:bodyPr>
          <a:lstStyle/>
          <a:p>
            <a:pPr algn="l">
              <a:lnSpc>
                <a:spcPts val="2124"/>
              </a:lnSpc>
              <a:spcBef>
                <a:spcPts val="0"/>
              </a:spcBef>
              <a:spcAft>
                <a:spcPts val="0"/>
              </a:spcAft>
              <a:defRPr sz="1800" b="1">
                <a:solidFill>
                  <a:srgbClr val="007F82"/>
                </a:solidFill>
                <a:latin typeface="Arial"/>
              </a:defRPr>
            </a:pPr>
            <a:r>
              <a:t>F1</a:t>
            </a:r>
          </a:p>
        </p:txBody>
      </p:sp>
      <p:sp>
        <p:nvSpPr>
          <p:cNvPr id="27" name="TextBox 26"/>
          <p:cNvSpPr txBox="1"/>
          <p:nvPr/>
        </p:nvSpPr>
        <p:spPr>
          <a:xfrm>
            <a:off x="8229600" y="246888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0,50</a:t>
            </a:r>
          </a:p>
        </p:txBody>
      </p:sp>
      <p:sp>
        <p:nvSpPr>
          <p:cNvPr id="28" name="Rectangle 27"/>
          <p:cNvSpPr/>
          <p:nvPr/>
        </p:nvSpPr>
        <p:spPr>
          <a:xfrm>
            <a:off x="8229600" y="285292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229600" y="2852928"/>
            <a:ext cx="627015" cy="283464"/>
          </a:xfrm>
          <a:prstGeom prst="rect">
            <a:avLst/>
          </a:prstGeom>
          <a:solidFill>
            <a:srgbClr val="83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29600" y="322783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839DA6"/>
                </a:solidFill>
                <a:latin typeface="Arial"/>
              </a:defRPr>
            </a:pPr>
            <a:r>
              <a:t>0,229</a:t>
            </a:r>
          </a:p>
        </p:txBody>
      </p:sp>
      <p:sp>
        <p:nvSpPr>
          <p:cNvPr id="31" name="TextBox 30"/>
          <p:cNvSpPr txBox="1"/>
          <p:nvPr/>
        </p:nvSpPr>
        <p:spPr>
          <a:xfrm>
            <a:off x="8229600" y="3520440"/>
            <a:ext cx="3246120" cy="27432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526A75"/>
                </a:solidFill>
                <a:latin typeface="Arial"/>
              </a:defRPr>
            </a:pPr>
            <a:r>
              <a:t>Seuil 0,2232</a:t>
            </a:r>
          </a:p>
        </p:txBody>
      </p:sp>
      <p:sp>
        <p:nvSpPr>
          <p:cNvPr id="32" name="Rectangle 31"/>
          <p:cNvSpPr/>
          <p:nvPr/>
        </p:nvSpPr>
        <p:spPr>
          <a:xfrm>
            <a:off x="8229600" y="3904488"/>
            <a:ext cx="2743200" cy="283464"/>
          </a:xfrm>
          <a:prstGeom prst="rect">
            <a:avLst/>
          </a:prstGeom>
          <a:solidFill>
            <a:srgbClr val="DC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8229600" y="3904488"/>
            <a:ext cx="1371600" cy="28346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4279392"/>
            <a:ext cx="2743200" cy="365760"/>
          </a:xfrm>
          <a:prstGeom prst="rect">
            <a:avLst/>
          </a:prstGeom>
          <a:noFill/>
        </p:spPr>
        <p:txBody>
          <a:bodyPr wrap="none" lIns="0" tIns="0" rIns="0" bIns="0" anchor="t">
            <a:spAutoFit/>
          </a:bodyPr>
          <a:lstStyle/>
          <a:p>
            <a:pPr algn="l">
              <a:lnSpc>
                <a:spcPts val="2477"/>
              </a:lnSpc>
              <a:spcBef>
                <a:spcPts val="0"/>
              </a:spcBef>
              <a:spcAft>
                <a:spcPts val="0"/>
              </a:spcAft>
              <a:defRPr sz="2100" b="1">
                <a:solidFill>
                  <a:srgbClr val="007F82"/>
                </a:solidFill>
                <a:latin typeface="Arial"/>
              </a:defRPr>
            </a:pPr>
            <a:r>
              <a:t>0,500</a:t>
            </a:r>
          </a:p>
        </p:txBody>
      </p:sp>
      <p:sp>
        <p:nvSpPr>
          <p:cNvPr id="35" name="Rounded Rectangle 34"/>
          <p:cNvSpPr/>
          <p:nvPr/>
        </p:nvSpPr>
        <p:spPr>
          <a:xfrm>
            <a:off x="502920" y="53492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94944" y="54589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Seuil optimisé : accuracy 0,8027 • ROC-AUC 0,7692 • Brier score 0,1226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08 / ARCHITECTURE</a:t>
            </a:r>
          </a:p>
        </p:txBody>
      </p:sp>
      <p:sp>
        <p:nvSpPr>
          <p:cNvPr id="4" name="TextBox 3"/>
          <p:cNvSpPr txBox="1"/>
          <p:nvPr/>
        </p:nvSpPr>
        <p:spPr>
          <a:xfrm>
            <a:off x="502920" y="694944"/>
            <a:ext cx="5126403"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Fonctionnement des requêtes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09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schemas.py ; inference.py ; docs/architecture.md</a:t>
            </a:r>
          </a:p>
        </p:txBody>
      </p:sp>
      <p:sp>
        <p:nvSpPr>
          <p:cNvPr id="8" name="Rounded Rectangle 7"/>
          <p:cNvSpPr/>
          <p:nvPr/>
        </p:nvSpPr>
        <p:spPr>
          <a:xfrm>
            <a:off x="59436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CLIENT</a:t>
            </a:r>
          </a:p>
        </p:txBody>
      </p:sp>
      <p:sp>
        <p:nvSpPr>
          <p:cNvPr id="11" name="TextBox 10"/>
          <p:cNvSpPr txBox="1"/>
          <p:nvPr/>
        </p:nvSpPr>
        <p:spPr>
          <a:xfrm>
            <a:off x="804672" y="276148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 CSV / ID</a:t>
            </a:r>
          </a:p>
        </p:txBody>
      </p:sp>
      <p:sp>
        <p:nvSpPr>
          <p:cNvPr id="12" name="Rounded Rectangle 11"/>
          <p:cNvSpPr/>
          <p:nvPr/>
        </p:nvSpPr>
        <p:spPr>
          <a:xfrm>
            <a:off x="4389120"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FASTAPI + PYDANTIC</a:t>
            </a:r>
          </a:p>
        </p:txBody>
      </p:sp>
      <p:sp>
        <p:nvSpPr>
          <p:cNvPr id="15" name="TextBox 14"/>
          <p:cNvSpPr txBox="1"/>
          <p:nvPr/>
        </p:nvSpPr>
        <p:spPr>
          <a:xfrm>
            <a:off x="4599432" y="2761488"/>
            <a:ext cx="1102866"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lang="fr-FR" dirty="0"/>
              <a:t>Appel à l’API</a:t>
            </a:r>
            <a:endParaRPr dirty="0"/>
          </a:p>
        </p:txBody>
      </p:sp>
      <p:sp>
        <p:nvSpPr>
          <p:cNvPr id="16" name="Rounded Rectangle 15"/>
          <p:cNvSpPr/>
          <p:nvPr/>
        </p:nvSpPr>
        <p:spPr>
          <a:xfrm>
            <a:off x="8183879" y="182880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83879" y="182880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94192" y="204825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INPUTS EN BDD</a:t>
            </a:r>
          </a:p>
        </p:txBody>
      </p:sp>
      <p:sp>
        <p:nvSpPr>
          <p:cNvPr id="19" name="TextBox 18"/>
          <p:cNvSpPr txBox="1"/>
          <p:nvPr/>
        </p:nvSpPr>
        <p:spPr>
          <a:xfrm>
            <a:off x="8394192" y="2761488"/>
            <a:ext cx="1391407"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err="1"/>
              <a:t>Écriture</a:t>
            </a:r>
            <a:r>
              <a:rPr dirty="0"/>
              <a:t> </a:t>
            </a:r>
            <a:r>
              <a:rPr lang="fr-FR" dirty="0"/>
              <a:t>en BDD</a:t>
            </a:r>
            <a:endParaRPr dirty="0"/>
          </a:p>
        </p:txBody>
      </p:sp>
      <p:sp>
        <p:nvSpPr>
          <p:cNvPr id="20" name="Rounded Rectangle 19"/>
          <p:cNvSpPr/>
          <p:nvPr/>
        </p:nvSpPr>
        <p:spPr>
          <a:xfrm>
            <a:off x="8183879"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9419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MODÈLE</a:t>
            </a:r>
          </a:p>
        </p:txBody>
      </p:sp>
      <p:sp>
        <p:nvSpPr>
          <p:cNvPr id="23" name="TextBox 22"/>
          <p:cNvSpPr txBox="1"/>
          <p:nvPr/>
        </p:nvSpPr>
        <p:spPr>
          <a:xfrm>
            <a:off x="8394192" y="4864608"/>
            <a:ext cx="2980944" cy="512064"/>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a:t>predict / </a:t>
            </a:r>
            <a:r>
              <a:rPr dirty="0" err="1"/>
              <a:t>proba</a:t>
            </a:r>
            <a:r>
              <a:rPr dirty="0"/>
              <a:t> / score</a:t>
            </a:r>
          </a:p>
        </p:txBody>
      </p:sp>
      <p:sp>
        <p:nvSpPr>
          <p:cNvPr id="24" name="Rounded Rectangle 23"/>
          <p:cNvSpPr/>
          <p:nvPr/>
        </p:nvSpPr>
        <p:spPr>
          <a:xfrm>
            <a:off x="438912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8912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9943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OUTPUTS EN BDD</a:t>
            </a:r>
          </a:p>
        </p:txBody>
      </p:sp>
      <p:sp>
        <p:nvSpPr>
          <p:cNvPr id="27" name="TextBox 26"/>
          <p:cNvSpPr txBox="1"/>
          <p:nvPr/>
        </p:nvSpPr>
        <p:spPr>
          <a:xfrm>
            <a:off x="4599432" y="4864608"/>
            <a:ext cx="3020186" cy="461665"/>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a:t>Validation et </a:t>
            </a:r>
            <a:r>
              <a:rPr lang="fr-FR" dirty="0"/>
              <a:t>Sauvegarde de l’appel</a:t>
            </a:r>
          </a:p>
          <a:p>
            <a:pPr algn="l">
              <a:lnSpc>
                <a:spcPts val="1770"/>
              </a:lnSpc>
              <a:spcBef>
                <a:spcPts val="0"/>
              </a:spcBef>
              <a:spcAft>
                <a:spcPts val="0"/>
              </a:spcAft>
              <a:defRPr sz="1500" b="0">
                <a:solidFill>
                  <a:srgbClr val="183744"/>
                </a:solidFill>
                <a:latin typeface="Arial"/>
              </a:defRPr>
            </a:pPr>
            <a:r>
              <a:rPr lang="fr-FR" dirty="0"/>
              <a:t>Et de la donnée</a:t>
            </a:r>
            <a:endParaRPr dirty="0"/>
          </a:p>
        </p:txBody>
      </p:sp>
      <p:sp>
        <p:nvSpPr>
          <p:cNvPr id="28" name="Rounded Rectangle 27"/>
          <p:cNvSpPr/>
          <p:nvPr/>
        </p:nvSpPr>
        <p:spPr>
          <a:xfrm>
            <a:off x="594360" y="3931920"/>
            <a:ext cx="3401568" cy="1600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94360" y="3931920"/>
            <a:ext cx="41148" cy="16002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4672" y="4151376"/>
            <a:ext cx="298094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RÉPONSE</a:t>
            </a:r>
          </a:p>
        </p:txBody>
      </p:sp>
      <p:sp>
        <p:nvSpPr>
          <p:cNvPr id="31" name="TextBox 30"/>
          <p:cNvSpPr txBox="1"/>
          <p:nvPr/>
        </p:nvSpPr>
        <p:spPr>
          <a:xfrm>
            <a:off x="804672" y="4864608"/>
            <a:ext cx="1381789" cy="23083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rPr dirty="0" err="1"/>
              <a:t>Résultat</a:t>
            </a:r>
            <a:r>
              <a:rPr lang="fr-FR" dirty="0"/>
              <a:t> envoyé</a:t>
            </a:r>
            <a:endParaRPr dirty="0"/>
          </a:p>
        </p:txBody>
      </p:sp>
      <p:cxnSp>
        <p:nvCxnSpPr>
          <p:cNvPr id="32" name="Connector 31"/>
          <p:cNvCxnSpPr/>
          <p:nvPr/>
        </p:nvCxnSpPr>
        <p:spPr>
          <a:xfrm>
            <a:off x="401421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08975" y="257860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84664" y="3474720"/>
            <a:ext cx="0" cy="36576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80897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014215" y="4681728"/>
            <a:ext cx="28346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09 / SCHÉMA RELATIONNEL</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PostgreSQL structure les données et l'historique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10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database.py ; docs/database.md ; docs/schema.sql</a:t>
            </a:r>
          </a:p>
        </p:txBody>
      </p:sp>
      <p:sp>
        <p:nvSpPr>
          <p:cNvPr id="8" name="Rounded Rectangle 7"/>
          <p:cNvSpPr/>
          <p:nvPr/>
        </p:nvSpPr>
        <p:spPr>
          <a:xfrm>
            <a:off x="5029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SOURCES RH</a:t>
            </a:r>
          </a:p>
        </p:txBody>
      </p:sp>
      <p:sp>
        <p:nvSpPr>
          <p:cNvPr id="11" name="TextBox 10"/>
          <p:cNvSpPr txBox="1"/>
          <p:nvPr/>
        </p:nvSpPr>
        <p:spPr>
          <a:xfrm>
            <a:off x="7132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employees</a:t>
            </a:r>
          </a:p>
          <a:p>
            <a:pPr algn="l">
              <a:lnSpc>
                <a:spcPts val="1888"/>
              </a:lnSpc>
              <a:spcBef>
                <a:spcPts val="0"/>
              </a:spcBef>
              <a:spcAft>
                <a:spcPts val="0"/>
              </a:spcAft>
              <a:defRPr sz="1600" b="0">
                <a:solidFill>
                  <a:srgbClr val="183744"/>
                </a:solidFill>
                <a:latin typeface="Arial"/>
              </a:defRPr>
            </a:pPr>
            <a:r>
              <a:t>surveys • evaluations</a:t>
            </a:r>
          </a:p>
        </p:txBody>
      </p:sp>
      <p:sp>
        <p:nvSpPr>
          <p:cNvPr id="12" name="Rounded Rectangle 11"/>
          <p:cNvSpPr/>
          <p:nvPr/>
        </p:nvSpPr>
        <p:spPr>
          <a:xfrm>
            <a:off x="4389120"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VARIABLES + VERSION</a:t>
            </a:r>
          </a:p>
        </p:txBody>
      </p:sp>
      <p:sp>
        <p:nvSpPr>
          <p:cNvPr id="15" name="TextBox 14"/>
          <p:cNvSpPr txBox="1"/>
          <p:nvPr/>
        </p:nvSpPr>
        <p:spPr>
          <a:xfrm>
            <a:off x="4599432"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prepared_employees</a:t>
            </a:r>
          </a:p>
          <a:p>
            <a:pPr algn="l">
              <a:lnSpc>
                <a:spcPts val="1888"/>
              </a:lnSpc>
              <a:spcBef>
                <a:spcPts val="0"/>
              </a:spcBef>
              <a:spcAft>
                <a:spcPts val="0"/>
              </a:spcAft>
              <a:defRPr sz="1600" b="0">
                <a:solidFill>
                  <a:srgbClr val="183744"/>
                </a:solidFill>
                <a:latin typeface="Arial"/>
              </a:defRPr>
            </a:pPr>
            <a:r>
              <a:t>model_versions</a:t>
            </a:r>
          </a:p>
        </p:txBody>
      </p:sp>
      <p:cxnSp>
        <p:nvCxnSpPr>
          <p:cNvPr id="16" name="Connector 15"/>
          <p:cNvCxnSpPr/>
          <p:nvPr/>
        </p:nvCxnSpPr>
        <p:spPr>
          <a:xfrm>
            <a:off x="3941063" y="2779776"/>
            <a:ext cx="374905"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7031" y="1810512"/>
            <a:ext cx="3383280" cy="1920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257031" y="1810512"/>
            <a:ext cx="41148" cy="1920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67344" y="2029967"/>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ÉCHANGE API</a:t>
            </a:r>
          </a:p>
        </p:txBody>
      </p:sp>
      <p:sp>
        <p:nvSpPr>
          <p:cNvPr id="20" name="TextBox 19"/>
          <p:cNvSpPr txBox="1"/>
          <p:nvPr/>
        </p:nvSpPr>
        <p:spPr>
          <a:xfrm>
            <a:off x="8467344" y="2743200"/>
            <a:ext cx="2962656" cy="8321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rPr dirty="0" err="1"/>
              <a:t>api_exchanges</a:t>
            </a:r>
            <a:endParaRPr dirty="0"/>
          </a:p>
          <a:p>
            <a:pPr algn="l">
              <a:lnSpc>
                <a:spcPts val="1888"/>
              </a:lnSpc>
              <a:spcBef>
                <a:spcPts val="0"/>
              </a:spcBef>
              <a:spcAft>
                <a:spcPts val="0"/>
              </a:spcAft>
              <a:defRPr sz="1600" b="0">
                <a:solidFill>
                  <a:srgbClr val="183744"/>
                </a:solidFill>
                <a:latin typeface="Arial"/>
              </a:defRPr>
            </a:pPr>
            <a:r>
              <a:rPr dirty="0"/>
              <a:t>ID, route, </a:t>
            </a:r>
            <a:r>
              <a:rPr dirty="0" err="1"/>
              <a:t>statut</a:t>
            </a:r>
            <a:r>
              <a:rPr dirty="0"/>
              <a:t>, durée</a:t>
            </a:r>
          </a:p>
        </p:txBody>
      </p:sp>
      <p:cxnSp>
        <p:nvCxnSpPr>
          <p:cNvPr id="21" name="Connector 20"/>
          <p:cNvCxnSpPr/>
          <p:nvPr/>
        </p:nvCxnSpPr>
        <p:spPr>
          <a:xfrm>
            <a:off x="7818120" y="2779776"/>
            <a:ext cx="36575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9120"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4389120"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9432"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ENTRÉES</a:t>
            </a:r>
          </a:p>
        </p:txBody>
      </p:sp>
      <p:sp>
        <p:nvSpPr>
          <p:cNvPr id="25" name="TextBox 24"/>
          <p:cNvSpPr txBox="1"/>
          <p:nvPr/>
        </p:nvSpPr>
        <p:spPr>
          <a:xfrm>
            <a:off x="4599432"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model_inputs</a:t>
            </a:r>
          </a:p>
          <a:p>
            <a:pPr algn="l">
              <a:lnSpc>
                <a:spcPts val="1770"/>
              </a:lnSpc>
              <a:spcBef>
                <a:spcPts val="0"/>
              </a:spcBef>
              <a:spcAft>
                <a:spcPts val="0"/>
              </a:spcAft>
              <a:defRPr sz="1500" b="0">
                <a:solidFill>
                  <a:srgbClr val="183744"/>
                </a:solidFill>
                <a:latin typeface="Arial"/>
              </a:defRPr>
            </a:pPr>
            <a:r>
              <a:t>features, cible, ordre</a:t>
            </a:r>
          </a:p>
        </p:txBody>
      </p:sp>
      <p:sp>
        <p:nvSpPr>
          <p:cNvPr id="26" name="Rounded Rectangle 25"/>
          <p:cNvSpPr/>
          <p:nvPr/>
        </p:nvSpPr>
        <p:spPr>
          <a:xfrm>
            <a:off x="8257031" y="4096512"/>
            <a:ext cx="3383280" cy="1618488"/>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257031" y="4096512"/>
            <a:ext cx="41148" cy="161848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467344" y="4315968"/>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SORTIES</a:t>
            </a:r>
          </a:p>
        </p:txBody>
      </p:sp>
      <p:sp>
        <p:nvSpPr>
          <p:cNvPr id="29" name="TextBox 28"/>
          <p:cNvSpPr txBox="1"/>
          <p:nvPr/>
        </p:nvSpPr>
        <p:spPr>
          <a:xfrm>
            <a:off x="8467344" y="5029200"/>
            <a:ext cx="2962656" cy="530352"/>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model_outputs</a:t>
            </a:r>
          </a:p>
          <a:p>
            <a:pPr algn="l">
              <a:lnSpc>
                <a:spcPts val="1770"/>
              </a:lnSpc>
              <a:spcBef>
                <a:spcPts val="0"/>
              </a:spcBef>
              <a:spcAft>
                <a:spcPts val="0"/>
              </a:spcAft>
              <a:defRPr sz="1500" b="0">
                <a:solidFill>
                  <a:srgbClr val="183744"/>
                </a:solidFill>
                <a:latin typeface="Arial"/>
              </a:defRPr>
            </a:pPr>
            <a:r>
              <a:t>réponse et valeurs modèle</a:t>
            </a:r>
          </a:p>
        </p:txBody>
      </p:sp>
      <p:cxnSp>
        <p:nvCxnSpPr>
          <p:cNvPr id="30" name="Connector 29"/>
          <p:cNvCxnSpPr/>
          <p:nvPr/>
        </p:nvCxnSpPr>
        <p:spPr>
          <a:xfrm>
            <a:off x="9930384" y="3767328"/>
            <a:ext cx="0" cy="246887"/>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a:cxnSpLocks/>
          </p:cNvCxnSpPr>
          <p:nvPr/>
        </p:nvCxnSpPr>
        <p:spPr>
          <a:xfrm flipH="1">
            <a:off x="7059168" y="3785615"/>
            <a:ext cx="1810512" cy="237745"/>
          </a:xfrm>
          <a:prstGeom prst="line">
            <a:avLst/>
          </a:prstGeom>
          <a:ln w="25400" cap="sq">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40080" y="4370832"/>
            <a:ext cx="3108960" cy="1097280"/>
          </a:xfrm>
          <a:prstGeom prst="rect">
            <a:avLst/>
          </a:prstGeom>
          <a:noFill/>
        </p:spPr>
        <p:txBody>
          <a:bodyPr wrap="none" lIns="0" tIns="0" rIns="0" bIns="0" anchor="t">
            <a:spAutoFit/>
          </a:bodyPr>
          <a:lstStyle/>
          <a:p>
            <a:pPr algn="l">
              <a:lnSpc>
                <a:spcPts val="3186"/>
              </a:lnSpc>
              <a:spcBef>
                <a:spcPts val="0"/>
              </a:spcBef>
              <a:spcAft>
                <a:spcPts val="0"/>
              </a:spcAft>
              <a:defRPr sz="2700" b="1">
                <a:solidFill>
                  <a:srgbClr val="007F82"/>
                </a:solidFill>
                <a:latin typeface="Arial"/>
              </a:defRPr>
            </a:pPr>
            <a:r>
              <a:t>8 tables</a:t>
            </a:r>
          </a:p>
          <a:p>
            <a:pPr algn="l">
              <a:lnSpc>
                <a:spcPts val="3186"/>
              </a:lnSpc>
              <a:spcBef>
                <a:spcPts val="0"/>
              </a:spcBef>
              <a:spcAft>
                <a:spcPts val="0"/>
              </a:spcAft>
              <a:defRPr sz="2700" b="1">
                <a:solidFill>
                  <a:srgbClr val="007F82"/>
                </a:solidFill>
                <a:latin typeface="Arial"/>
              </a:defRPr>
            </a:pPr>
            <a:r>
              <a:t>+ vue api_logs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1 / 4</a:t>
            </a:r>
          </a:p>
        </p:txBody>
      </p:sp>
      <p:sp>
        <p:nvSpPr>
          <p:cNvPr id="4" name="TextBox 3"/>
          <p:cNvSpPr txBox="1"/>
          <p:nvPr/>
        </p:nvSpPr>
        <p:spPr>
          <a:xfrm>
            <a:off x="502920" y="694944"/>
            <a:ext cx="7425046"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a:t>PostgreSQL : </a:t>
            </a:r>
            <a:r>
              <a:rPr dirty="0" err="1"/>
              <a:t>où</a:t>
            </a:r>
            <a:r>
              <a:rPr dirty="0"/>
              <a:t> </a:t>
            </a:r>
            <a:r>
              <a:rPr lang="fr-FR" dirty="0"/>
              <a:t>sauvegarde</a:t>
            </a:r>
            <a:r>
              <a:rPr dirty="0"/>
              <a:t> les données ?</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11 / 36</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Serveur</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PostgreSQL local</a:t>
            </a:r>
          </a:p>
          <a:p>
            <a:pPr algn="l">
              <a:lnSpc>
                <a:spcPts val="2005"/>
              </a:lnSpc>
              <a:spcBef>
                <a:spcPts val="0"/>
              </a:spcBef>
              <a:spcAft>
                <a:spcPts val="0"/>
              </a:spcAft>
              <a:defRPr sz="1700" b="0">
                <a:solidFill>
                  <a:srgbClr val="183744"/>
                </a:solidFill>
                <a:latin typeface="Arial"/>
              </a:defRPr>
            </a:pPr>
            <a:r>
              <a:t>127.0.0.1:5433</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Base / schéma</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Base : hrnova</a:t>
            </a:r>
          </a:p>
          <a:p>
            <a:pPr algn="l">
              <a:lnSpc>
                <a:spcPts val="2005"/>
              </a:lnSpc>
              <a:spcBef>
                <a:spcPts val="0"/>
              </a:spcBef>
              <a:spcAft>
                <a:spcPts val="0"/>
              </a:spcAft>
              <a:defRPr sz="1700" b="0">
                <a:solidFill>
                  <a:srgbClr val="183744"/>
                </a:solidFill>
                <a:latin typeface="Arial"/>
              </a:defRPr>
            </a:pPr>
            <a:r>
              <a:t>Schéma : public</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Tables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employees</a:t>
            </a:r>
          </a:p>
          <a:p>
            <a:pPr algn="l">
              <a:lnSpc>
                <a:spcPts val="2005"/>
              </a:lnSpc>
              <a:spcBef>
                <a:spcPts val="0"/>
              </a:spcBef>
              <a:spcAft>
                <a:spcPts val="0"/>
              </a:spcAft>
              <a:defRPr sz="1700" b="0">
                <a:solidFill>
                  <a:srgbClr val="183744"/>
                </a:solidFill>
                <a:latin typeface="Arial"/>
              </a:defRPr>
            </a:pPr>
            <a:r>
              <a:t>model_inputs / outputs</a:t>
            </a:r>
          </a:p>
        </p:txBody>
      </p:sp>
      <p:sp>
        <p:nvSpPr>
          <p:cNvPr id="22" name="Rounded Rectangle 21"/>
          <p:cNvSpPr/>
          <p:nvPr/>
        </p:nvSpPr>
        <p:spPr>
          <a:xfrm>
            <a:off x="502920" y="457200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736592"/>
            <a:ext cx="5788444" cy="346249"/>
          </a:xfrm>
          <a:prstGeom prst="rect">
            <a:avLst/>
          </a:prstGeom>
          <a:noFill/>
        </p:spPr>
        <p:txBody>
          <a:bodyPr wrap="none" lIns="0" tIns="0" rIns="0" bIns="0" anchor="t">
            <a:spAutoFit/>
          </a:bodyPr>
          <a:lstStyle/>
          <a:p>
            <a:pPr algn="l">
              <a:lnSpc>
                <a:spcPts val="2713"/>
              </a:lnSpc>
              <a:spcBef>
                <a:spcPts val="0"/>
              </a:spcBef>
              <a:spcAft>
                <a:spcPts val="0"/>
              </a:spcAft>
              <a:defRPr sz="2300" b="1">
                <a:solidFill>
                  <a:srgbClr val="007F82"/>
                </a:solidFill>
                <a:latin typeface="Arial"/>
              </a:defRPr>
            </a:pPr>
            <a:r>
              <a:rPr lang="fr-FR" dirty="0"/>
              <a:t>Outil </a:t>
            </a:r>
            <a:r>
              <a:rPr lang="fr-FR" dirty="0" err="1"/>
              <a:t>DBeaver</a:t>
            </a:r>
            <a:r>
              <a:rPr lang="fr-FR" dirty="0"/>
              <a:t> pour consulter la donnée </a:t>
            </a:r>
            <a:endParaRPr dirty="0"/>
          </a:p>
        </p:txBody>
      </p:sp>
      <p:sp>
        <p:nvSpPr>
          <p:cNvPr id="24" name="TextBox 23"/>
          <p:cNvSpPr txBox="1"/>
          <p:nvPr/>
        </p:nvSpPr>
        <p:spPr>
          <a:xfrm>
            <a:off x="731520" y="5184648"/>
            <a:ext cx="10698480" cy="274320"/>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DBeaver affiche les données ; le serveur PostgreSQL doit être démarré.</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Les clés relient les tables entre elles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12 / 36</a:t>
            </a:r>
          </a:p>
        </p:txBody>
      </p:sp>
      <p:sp>
        <p:nvSpPr>
          <p:cNvPr id="8" name="Rounded Rectangle 7"/>
          <p:cNvSpPr/>
          <p:nvPr/>
        </p:nvSpPr>
        <p:spPr>
          <a:xfrm>
            <a:off x="5029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employees</a:t>
            </a:r>
          </a:p>
        </p:txBody>
      </p:sp>
      <p:sp>
        <p:nvSpPr>
          <p:cNvPr id="11" name="TextBox 10"/>
          <p:cNvSpPr txBox="1"/>
          <p:nvPr/>
        </p:nvSpPr>
        <p:spPr>
          <a:xfrm>
            <a:off x="7132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id_employee = 42</a:t>
            </a:r>
          </a:p>
          <a:p>
            <a:pPr algn="l">
              <a:lnSpc>
                <a:spcPts val="2124"/>
              </a:lnSpc>
              <a:spcBef>
                <a:spcPts val="0"/>
              </a:spcBef>
              <a:spcAft>
                <a:spcPts val="0"/>
              </a:spcAft>
              <a:defRPr sz="1800" b="0">
                <a:solidFill>
                  <a:srgbClr val="183744"/>
                </a:solidFill>
                <a:latin typeface="Arial"/>
              </a:defRPr>
            </a:pPr>
            <a:r>
              <a:t>Clé primaire : identité</a:t>
            </a:r>
          </a:p>
        </p:txBody>
      </p:sp>
      <p:sp>
        <p:nvSpPr>
          <p:cNvPr id="12" name="Rounded Rectangle 11"/>
          <p:cNvSpPr/>
          <p:nvPr/>
        </p:nvSpPr>
        <p:spPr>
          <a:xfrm>
            <a:off x="43891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994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surveys</a:t>
            </a:r>
          </a:p>
        </p:txBody>
      </p:sp>
      <p:sp>
        <p:nvSpPr>
          <p:cNvPr id="15" name="TextBox 14"/>
          <p:cNvSpPr txBox="1"/>
          <p:nvPr/>
        </p:nvSpPr>
        <p:spPr>
          <a:xfrm>
            <a:off x="45994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rPr dirty="0" err="1"/>
              <a:t>employee_id</a:t>
            </a:r>
            <a:r>
              <a:rPr dirty="0"/>
              <a:t> = 42</a:t>
            </a:r>
          </a:p>
          <a:p>
            <a:pPr algn="l">
              <a:lnSpc>
                <a:spcPts val="2124"/>
              </a:lnSpc>
              <a:spcBef>
                <a:spcPts val="0"/>
              </a:spcBef>
              <a:spcAft>
                <a:spcPts val="0"/>
              </a:spcAft>
              <a:defRPr sz="1800" b="0">
                <a:solidFill>
                  <a:srgbClr val="183744"/>
                </a:solidFill>
                <a:latin typeface="Arial"/>
              </a:defRPr>
            </a:pPr>
            <a:r>
              <a:rPr dirty="0"/>
              <a:t>Clé </a:t>
            </a:r>
            <a:r>
              <a:rPr dirty="0" err="1"/>
              <a:t>étrangère</a:t>
            </a:r>
            <a:r>
              <a:rPr dirty="0"/>
              <a:t> : lien</a:t>
            </a:r>
          </a:p>
        </p:txBody>
      </p:sp>
      <p:sp>
        <p:nvSpPr>
          <p:cNvPr id="16" name="Rounded Rectangle 15"/>
          <p:cNvSpPr/>
          <p:nvPr/>
        </p:nvSpPr>
        <p:spPr>
          <a:xfrm>
            <a:off x="8275320" y="1828800"/>
            <a:ext cx="338328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275320" y="1828800"/>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85632" y="2048256"/>
            <a:ext cx="29626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evaluations</a:t>
            </a:r>
          </a:p>
        </p:txBody>
      </p:sp>
      <p:sp>
        <p:nvSpPr>
          <p:cNvPr id="19" name="TextBox 18"/>
          <p:cNvSpPr txBox="1"/>
          <p:nvPr/>
        </p:nvSpPr>
        <p:spPr>
          <a:xfrm>
            <a:off x="8485632" y="2761488"/>
            <a:ext cx="296265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employee_id = 42</a:t>
            </a:r>
          </a:p>
          <a:p>
            <a:pPr algn="l">
              <a:lnSpc>
                <a:spcPts val="2124"/>
              </a:lnSpc>
              <a:spcBef>
                <a:spcPts val="0"/>
              </a:spcBef>
              <a:spcAft>
                <a:spcPts val="0"/>
              </a:spcAft>
              <a:defRPr sz="1800" b="0">
                <a:solidFill>
                  <a:srgbClr val="183744"/>
                </a:solidFill>
                <a:latin typeface="Arial"/>
              </a:defRPr>
            </a:pPr>
            <a:r>
              <a:t>Clé étrangère : lien</a:t>
            </a:r>
          </a:p>
        </p:txBody>
      </p:sp>
      <p:cxnSp>
        <p:nvCxnSpPr>
          <p:cNvPr id="20" name="Connector 19"/>
          <p:cNvCxnSpPr/>
          <p:nvPr/>
        </p:nvCxnSpPr>
        <p:spPr>
          <a:xfrm>
            <a:off x="3931920" y="3063240"/>
            <a:ext cx="41148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23360" y="4526280"/>
            <a:ext cx="5852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754880"/>
            <a:ext cx="11155680" cy="548640"/>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rPr dirty="0" err="1"/>
              <a:t>Exemple</a:t>
            </a:r>
            <a:r>
              <a:rPr dirty="0"/>
              <a:t> </a:t>
            </a:r>
            <a:r>
              <a:rPr dirty="0" err="1"/>
              <a:t>fictif</a:t>
            </a:r>
            <a:r>
              <a:rPr dirty="0"/>
              <a:t> : les tables </a:t>
            </a:r>
            <a:r>
              <a:rPr dirty="0" err="1"/>
              <a:t>partagent</a:t>
            </a:r>
            <a:r>
              <a:rPr dirty="0"/>
              <a:t> un </a:t>
            </a:r>
            <a:r>
              <a:rPr dirty="0" err="1"/>
              <a:t>identifiant</a:t>
            </a:r>
            <a:r>
              <a:rPr dirty="0"/>
              <a:t>, sans </a:t>
            </a:r>
            <a:r>
              <a:rPr dirty="0" err="1"/>
              <a:t>recopier</a:t>
            </a:r>
            <a:r>
              <a:rPr dirty="0"/>
              <a:t> toute la fiche.</a:t>
            </a:r>
          </a:p>
        </p:txBody>
      </p:sp>
      <p:sp>
        <p:nvSpPr>
          <p:cNvPr id="23" name="Rounded Rectangle 22"/>
          <p:cNvSpPr/>
          <p:nvPr/>
        </p:nvSpPr>
        <p:spPr>
          <a:xfrm>
            <a:off x="502920" y="55321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4944" y="564184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SQLAlchemy : objets Python → requêtes SQL → contraintes vérifiées par PostgreSQL.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a:t>Une transaction </a:t>
            </a:r>
            <a:r>
              <a:rPr dirty="0" err="1"/>
              <a:t>protège</a:t>
            </a:r>
            <a:r>
              <a:rPr dirty="0"/>
              <a:t> un </a:t>
            </a:r>
            <a:r>
              <a:rPr dirty="0" err="1"/>
              <a:t>groupe</a:t>
            </a:r>
            <a:r>
              <a:rPr dirty="0"/>
              <a:t> </a:t>
            </a:r>
            <a:r>
              <a:rPr dirty="0" err="1"/>
              <a:t>d’écritures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13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https://www.postgresql.org/docs/18/tutorial-transactions.html</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Transaction A</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Sauver les entrées</a:t>
            </a:r>
          </a:p>
          <a:p>
            <a:pPr algn="l">
              <a:lnSpc>
                <a:spcPts val="2005"/>
              </a:lnSpc>
              <a:spcBef>
                <a:spcPts val="0"/>
              </a:spcBef>
              <a:spcAft>
                <a:spcPts val="0"/>
              </a:spcAft>
              <a:defRPr sz="1700" b="0">
                <a:solidFill>
                  <a:srgbClr val="183744"/>
                </a:solidFill>
                <a:latin typeface="Arial"/>
              </a:defRPr>
            </a:pPr>
            <a:r>
              <a:t>COMMIT avant le modèle</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Calcul</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Relire depuis la base</a:t>
            </a:r>
          </a:p>
          <a:p>
            <a:pPr algn="l">
              <a:lnSpc>
                <a:spcPts val="2005"/>
              </a:lnSpc>
              <a:spcBef>
                <a:spcPts val="0"/>
              </a:spcBef>
              <a:spcAft>
                <a:spcPts val="0"/>
              </a:spcAft>
              <a:defRPr sz="1700" b="0">
                <a:solidFill>
                  <a:srgbClr val="183744"/>
                </a:solidFill>
                <a:latin typeface="Arial"/>
              </a:defRPr>
            </a:pPr>
            <a:r>
              <a:t>Exécuter le modèle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Transaction B</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Valider et sauver la sortie</a:t>
            </a:r>
          </a:p>
          <a:p>
            <a:pPr algn="l">
              <a:lnSpc>
                <a:spcPts val="2005"/>
              </a:lnSpc>
              <a:spcBef>
                <a:spcPts val="0"/>
              </a:spcBef>
              <a:spcAft>
                <a:spcPts val="0"/>
              </a:spcAft>
              <a:defRPr sz="1700" b="0">
                <a:solidFill>
                  <a:srgbClr val="183744"/>
                </a:solidFill>
                <a:latin typeface="Arial"/>
              </a:defRPr>
            </a:pPr>
            <a:r>
              <a:t>COMMIT puis relecture</a:t>
            </a:r>
          </a:p>
        </p:txBody>
      </p:sp>
      <p:sp>
        <p:nvSpPr>
          <p:cNvPr id="22" name="Rounded Rectangle 21"/>
          <p:cNvSpPr/>
          <p:nvPr/>
        </p:nvSpPr>
        <p:spPr>
          <a:xfrm>
            <a:off x="502920" y="4526280"/>
            <a:ext cx="7315200" cy="123444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727448"/>
            <a:ext cx="6912864" cy="8321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with session() as db, db.begin():</a:t>
            </a:r>
          </a:p>
          <a:p>
            <a:pPr algn="l">
              <a:lnSpc>
                <a:spcPts val="2005"/>
              </a:lnSpc>
              <a:spcBef>
                <a:spcPts val="0"/>
              </a:spcBef>
              <a:spcAft>
                <a:spcPts val="0"/>
              </a:spcAft>
              <a:defRPr sz="1700" b="0">
                <a:solidFill>
                  <a:srgbClr val="FFFFFF"/>
                </a:solidFill>
                <a:latin typeface="Arial"/>
              </a:defRPr>
            </a:pPr>
            <a:r>
              <a:t>db.add(entree)</a:t>
            </a:r>
          </a:p>
          <a:p>
            <a:pPr algn="l">
              <a:lnSpc>
                <a:spcPts val="2005"/>
              </a:lnSpc>
              <a:spcBef>
                <a:spcPts val="0"/>
              </a:spcBef>
              <a:spcAft>
                <a:spcPts val="0"/>
              </a:spcAft>
              <a:defRPr sz="1700" b="0">
                <a:solidFill>
                  <a:srgbClr val="FFFFFF"/>
                </a:solidFill>
                <a:latin typeface="Arial"/>
              </a:defRPr>
            </a:pPr>
            <a:r>
              <a:t># succès : commit ; exception : rollback</a:t>
            </a:r>
          </a:p>
        </p:txBody>
      </p:sp>
      <p:sp>
        <p:nvSpPr>
          <p:cNvPr id="24" name="TextBox 23"/>
          <p:cNvSpPr txBox="1"/>
          <p:nvPr/>
        </p:nvSpPr>
        <p:spPr>
          <a:xfrm>
            <a:off x="8138160" y="4681728"/>
            <a:ext cx="3383280" cy="1024128"/>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Les entrées déjà commitées</a:t>
            </a:r>
          </a:p>
          <a:p>
            <a:pPr algn="l">
              <a:lnSpc>
                <a:spcPts val="2124"/>
              </a:lnSpc>
              <a:spcBef>
                <a:spcPts val="0"/>
              </a:spcBef>
              <a:spcAft>
                <a:spcPts val="0"/>
              </a:spcAft>
              <a:defRPr sz="1800" b="0">
                <a:solidFill>
                  <a:srgbClr val="183744"/>
                </a:solidFill>
                <a:latin typeface="Arial"/>
              </a:defRPr>
            </a:pPr>
            <a:r>
              <a:t>restent traçables si le calcul</a:t>
            </a:r>
          </a:p>
          <a:p>
            <a:pPr algn="l">
              <a:lnSpc>
                <a:spcPts val="2124"/>
              </a:lnSpc>
              <a:spcBef>
                <a:spcPts val="0"/>
              </a:spcBef>
              <a:spcAft>
                <a:spcPts val="0"/>
              </a:spcAft>
              <a:defRPr sz="1800" b="0">
                <a:solidFill>
                  <a:srgbClr val="183744"/>
                </a:solidFill>
                <a:latin typeface="Arial"/>
              </a:defRPr>
            </a:pPr>
            <a:r>
              <a:t>échoue.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POSTGRESQL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Tracer un appel : retrouver son parcours en SQL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14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Schéma PostgreSQL du projet · vue public.api_logs</a:t>
            </a:r>
          </a:p>
        </p:txBody>
      </p:sp>
      <p:sp>
        <p:nvSpPr>
          <p:cNvPr id="8" name="Rounded Rectangle 7"/>
          <p:cNvSpPr/>
          <p:nvPr/>
        </p:nvSpPr>
        <p:spPr>
          <a:xfrm>
            <a:off x="502920" y="1783080"/>
            <a:ext cx="11155680" cy="173736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10753344" cy="1335024"/>
          </a:xfrm>
          <a:prstGeom prst="rect">
            <a:avLst/>
          </a:prstGeom>
          <a:noFill/>
        </p:spPr>
        <p:txBody>
          <a:bodyPr wrap="none" lIns="0" tIns="0" rIns="0" bIns="0" anchor="t">
            <a:spAutoFit/>
          </a:bodyPr>
          <a:lstStyle/>
          <a:p>
            <a:pPr algn="l">
              <a:lnSpc>
                <a:spcPts val="2360"/>
              </a:lnSpc>
              <a:spcBef>
                <a:spcPts val="0"/>
              </a:spcBef>
              <a:spcAft>
                <a:spcPts val="0"/>
              </a:spcAft>
              <a:defRPr sz="2000" b="0">
                <a:solidFill>
                  <a:srgbClr val="FFFFFF"/>
                </a:solidFill>
                <a:latin typeface="Arial"/>
              </a:defRPr>
            </a:pPr>
            <a:r>
              <a:t>SELECT date_requete, route, code_http, message</a:t>
            </a:r>
          </a:p>
          <a:p>
            <a:pPr algn="l">
              <a:lnSpc>
                <a:spcPts val="2360"/>
              </a:lnSpc>
              <a:spcBef>
                <a:spcPts val="0"/>
              </a:spcBef>
              <a:spcAft>
                <a:spcPts val="0"/>
              </a:spcAft>
              <a:defRPr sz="2000" b="0">
                <a:solidFill>
                  <a:srgbClr val="FFFFFF"/>
                </a:solidFill>
                <a:latin typeface="Arial"/>
              </a:defRPr>
            </a:pPr>
            <a:r>
              <a:t>FROM public.api_logs</a:t>
            </a:r>
          </a:p>
          <a:p>
            <a:pPr algn="l">
              <a:lnSpc>
                <a:spcPts val="2360"/>
              </a:lnSpc>
              <a:spcBef>
                <a:spcPts val="0"/>
              </a:spcBef>
              <a:spcAft>
                <a:spcPts val="0"/>
              </a:spcAft>
              <a:defRPr sz="2000" b="0">
                <a:solidFill>
                  <a:srgbClr val="FFFFFF"/>
                </a:solidFill>
                <a:latin typeface="Arial"/>
              </a:defRPr>
            </a:pPr>
            <a:r>
              <a:t>ORDER BY date_requete DESC</a:t>
            </a:r>
          </a:p>
          <a:p>
            <a:pPr algn="l">
              <a:lnSpc>
                <a:spcPts val="2360"/>
              </a:lnSpc>
              <a:spcBef>
                <a:spcPts val="0"/>
              </a:spcBef>
              <a:spcAft>
                <a:spcPts val="0"/>
              </a:spcAft>
              <a:defRPr sz="2000" b="0">
                <a:solidFill>
                  <a:srgbClr val="FFFFFF"/>
                </a:solidFill>
                <a:latin typeface="Arial"/>
              </a:defRPr>
            </a:pPr>
            <a:r>
              <a:t>LIMIT 5;</a:t>
            </a:r>
          </a:p>
        </p:txBody>
      </p:sp>
      <p:sp>
        <p:nvSpPr>
          <p:cNvPr id="10" name="Rounded Rectangle 9"/>
          <p:cNvSpPr/>
          <p:nvPr/>
        </p:nvSpPr>
        <p:spPr>
          <a:xfrm>
            <a:off x="502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014216"/>
            <a:ext cx="50200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Une requête, un identifiant</a:t>
            </a:r>
          </a:p>
        </p:txBody>
      </p:sp>
      <p:sp>
        <p:nvSpPr>
          <p:cNvPr id="13" name="TextBox 12"/>
          <p:cNvSpPr txBox="1"/>
          <p:nvPr/>
        </p:nvSpPr>
        <p:spPr>
          <a:xfrm>
            <a:off x="713232" y="4727448"/>
            <a:ext cx="502005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Relier l’appel API, les entrées, les sorties et les</a:t>
            </a:r>
          </a:p>
          <a:p>
            <a:pPr algn="l">
              <a:lnSpc>
                <a:spcPts val="2005"/>
              </a:lnSpc>
              <a:spcBef>
                <a:spcPts val="0"/>
              </a:spcBef>
              <a:spcAft>
                <a:spcPts val="0"/>
              </a:spcAft>
              <a:defRPr sz="1700" b="0">
                <a:solidFill>
                  <a:srgbClr val="183744"/>
                </a:solidFill>
                <a:latin typeface="Arial"/>
              </a:defRPr>
            </a:pPr>
            <a:r>
              <a:t>étapes d’exécution.</a:t>
            </a:r>
          </a:p>
        </p:txBody>
      </p:sp>
      <p:sp>
        <p:nvSpPr>
          <p:cNvPr id="14" name="Rounded Rectangle 13"/>
          <p:cNvSpPr/>
          <p:nvPr/>
        </p:nvSpPr>
        <p:spPr>
          <a:xfrm>
            <a:off x="6217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17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28232" y="4014216"/>
            <a:ext cx="502005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Un modèle identifiable</a:t>
            </a:r>
          </a:p>
        </p:txBody>
      </p:sp>
      <p:sp>
        <p:nvSpPr>
          <p:cNvPr id="17" name="TextBox 16"/>
          <p:cNvSpPr txBox="1"/>
          <p:nvPr/>
        </p:nvSpPr>
        <p:spPr>
          <a:xfrm>
            <a:off x="6428232" y="4727448"/>
            <a:ext cx="5020056" cy="106070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Retrouver la version du modèle utilisée et</a:t>
            </a:r>
          </a:p>
          <a:p>
            <a:pPr algn="l">
              <a:lnSpc>
                <a:spcPts val="2005"/>
              </a:lnSpc>
              <a:spcBef>
                <a:spcPts val="0"/>
              </a:spcBef>
              <a:spcAft>
                <a:spcPts val="0"/>
              </a:spcAft>
              <a:defRPr sz="1700" b="0">
                <a:solidFill>
                  <a:srgbClr val="183744"/>
                </a:solidFill>
                <a:latin typeface="Arial"/>
              </a:defRPr>
            </a:pPr>
            <a:r>
              <a:t>comprendre les erreurs.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10 / TRAÇABILITÉ</a:t>
            </a:r>
          </a:p>
        </p:txBody>
      </p:sp>
      <p:sp>
        <p:nvSpPr>
          <p:cNvPr id="4" name="TextBox 3"/>
          <p:cNvSpPr txBox="1"/>
          <p:nvPr/>
        </p:nvSpPr>
        <p:spPr>
          <a:xfrm>
            <a:off x="502920" y="694944"/>
            <a:ext cx="4196085"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Traçabilité de la requête</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15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audit.py ; api.py ; docs/api_logs.md</a:t>
            </a:r>
          </a:p>
        </p:txBody>
      </p:sp>
      <p:sp>
        <p:nvSpPr>
          <p:cNvPr id="8" name="TextBox 7"/>
          <p:cNvSpPr txBox="1"/>
          <p:nvPr/>
        </p:nvSpPr>
        <p:spPr>
          <a:xfrm>
            <a:off x="594360" y="1728216"/>
            <a:ext cx="10972800" cy="50292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183744"/>
                </a:solidFill>
                <a:latin typeface="Arial"/>
              </a:defRPr>
            </a:pPr>
            <a:r>
              <a:rPr dirty="0"/>
              <a:t>X-Request-ID </a:t>
            </a:r>
            <a:r>
              <a:rPr dirty="0" err="1"/>
              <a:t>relie</a:t>
            </a:r>
            <a:r>
              <a:rPr dirty="0"/>
              <a:t> le journal, les entrées, la version et les sorties.</a:t>
            </a:r>
          </a:p>
        </p:txBody>
      </p:sp>
      <p:sp>
        <p:nvSpPr>
          <p:cNvPr id="9" name="Rounded Rectangle 8"/>
          <p:cNvSpPr/>
          <p:nvPr/>
        </p:nvSpPr>
        <p:spPr>
          <a:xfrm>
            <a:off x="59436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408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received</a:t>
            </a:r>
          </a:p>
        </p:txBody>
      </p:sp>
      <p:cxnSp>
        <p:nvCxnSpPr>
          <p:cNvPr id="11" name="Connector 10"/>
          <p:cNvCxnSpPr/>
          <p:nvPr/>
        </p:nvCxnSpPr>
        <p:spPr>
          <a:xfrm>
            <a:off x="265176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4436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inputs_saved</a:t>
            </a:r>
          </a:p>
        </p:txBody>
      </p:sp>
      <p:cxnSp>
        <p:nvCxnSpPr>
          <p:cNvPr id="14" name="Connector 13"/>
          <p:cNvCxnSpPr/>
          <p:nvPr/>
        </p:nvCxnSpPr>
        <p:spPr>
          <a:xfrm>
            <a:off x="489204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7492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8464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model_running</a:t>
            </a:r>
          </a:p>
        </p:txBody>
      </p:sp>
      <p:cxnSp>
        <p:nvCxnSpPr>
          <p:cNvPr id="17" name="Connector 16"/>
          <p:cNvCxnSpPr/>
          <p:nvPr/>
        </p:nvCxnSpPr>
        <p:spPr>
          <a:xfrm>
            <a:off x="713232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0" y="2606040"/>
            <a:ext cx="2039112" cy="6858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24927"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183744"/>
                </a:solidFill>
                <a:latin typeface="Arial"/>
              </a:defRPr>
            </a:pPr>
            <a:r>
              <a:t>outputs_saved</a:t>
            </a:r>
          </a:p>
        </p:txBody>
      </p:sp>
      <p:cxnSp>
        <p:nvCxnSpPr>
          <p:cNvPr id="20" name="Connector 19"/>
          <p:cNvCxnSpPr/>
          <p:nvPr/>
        </p:nvCxnSpPr>
        <p:spPr>
          <a:xfrm>
            <a:off x="9372600" y="2944368"/>
            <a:ext cx="137160"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55480" y="2606040"/>
            <a:ext cx="2039112" cy="685800"/>
          </a:xfrm>
          <a:prstGeom prst="roundRect">
            <a:avLst>
              <a:gd name="adj" fmla="val 10000"/>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65208" y="2816352"/>
            <a:ext cx="1819656" cy="283464"/>
          </a:xfrm>
          <a:prstGeom prst="rect">
            <a:avLst/>
          </a:prstGeom>
          <a:noFill/>
        </p:spPr>
        <p:txBody>
          <a:bodyPr wrap="none" lIns="0" tIns="0" rIns="0" bIns="0" anchor="t">
            <a:spAutoFit/>
          </a:bodyPr>
          <a:lstStyle/>
          <a:p>
            <a:pPr algn="ctr">
              <a:lnSpc>
                <a:spcPts val="1534"/>
              </a:lnSpc>
              <a:spcBef>
                <a:spcPts val="0"/>
              </a:spcBef>
              <a:spcAft>
                <a:spcPts val="0"/>
              </a:spcAft>
              <a:defRPr sz="1300" b="1">
                <a:solidFill>
                  <a:srgbClr val="FFFFFF"/>
                </a:solidFill>
                <a:latin typeface="Arial"/>
              </a:defRPr>
            </a:pPr>
            <a:r>
              <a:t>completed</a:t>
            </a:r>
          </a:p>
        </p:txBody>
      </p:sp>
      <p:sp>
        <p:nvSpPr>
          <p:cNvPr id="23" name="Rounded Rectangle 22"/>
          <p:cNvSpPr/>
          <p:nvPr/>
        </p:nvSpPr>
        <p:spPr>
          <a:xfrm>
            <a:off x="594360"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SUCCÈS</a:t>
            </a:r>
          </a:p>
        </p:txBody>
      </p:sp>
      <p:sp>
        <p:nvSpPr>
          <p:cNvPr id="26" name="TextBox 25"/>
          <p:cNvSpPr txBox="1"/>
          <p:nvPr/>
        </p:nvSpPr>
        <p:spPr>
          <a:xfrm>
            <a:off x="804672"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Message, durée, lignes, fichier et résumé du</a:t>
            </a:r>
          </a:p>
          <a:p>
            <a:pPr algn="l">
              <a:lnSpc>
                <a:spcPts val="2005"/>
              </a:lnSpc>
              <a:spcBef>
                <a:spcPts val="0"/>
              </a:spcBef>
              <a:spcAft>
                <a:spcPts val="0"/>
              </a:spcAft>
              <a:defRPr sz="1700" b="0">
                <a:solidFill>
                  <a:srgbClr val="183744"/>
                </a:solidFill>
                <a:latin typeface="Arial"/>
              </a:defRPr>
            </a:pPr>
            <a:r>
              <a:t>résultat.</a:t>
            </a:r>
          </a:p>
        </p:txBody>
      </p:sp>
      <p:sp>
        <p:nvSpPr>
          <p:cNvPr id="27" name="Rounded Rectangle 26"/>
          <p:cNvSpPr/>
          <p:nvPr/>
        </p:nvSpPr>
        <p:spPr>
          <a:xfrm>
            <a:off x="6208776" y="3749039"/>
            <a:ext cx="5413248" cy="181051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08776" y="3749039"/>
            <a:ext cx="41148" cy="181051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396849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ÉCHEC</a:t>
            </a:r>
          </a:p>
        </p:txBody>
      </p:sp>
      <p:sp>
        <p:nvSpPr>
          <p:cNvPr id="30" name="TextBox 29"/>
          <p:cNvSpPr txBox="1"/>
          <p:nvPr/>
        </p:nvSpPr>
        <p:spPr>
          <a:xfrm>
            <a:off x="6419088" y="4681727"/>
            <a:ext cx="4992624" cy="72237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Cause détaillée et dernière étape atteinte,</a:t>
            </a:r>
          </a:p>
          <a:p>
            <a:pPr algn="l">
              <a:lnSpc>
                <a:spcPts val="2005"/>
              </a:lnSpc>
              <a:spcBef>
                <a:spcPts val="0"/>
              </a:spcBef>
              <a:spcAft>
                <a:spcPts val="0"/>
              </a:spcAft>
              <a:defRPr sz="1700" b="0">
                <a:solidFill>
                  <a:srgbClr val="183744"/>
                </a:solidFill>
                <a:latin typeface="Arial"/>
              </a:defRPr>
            </a:pPr>
            <a:r>
              <a:t>consultables dans api_logs.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11 / API</a:t>
            </a:r>
          </a:p>
        </p:txBody>
      </p:sp>
      <p:sp>
        <p:nvSpPr>
          <p:cNvPr id="4" name="TextBox 3"/>
          <p:cNvSpPr txBox="1"/>
          <p:nvPr/>
        </p:nvSpPr>
        <p:spPr>
          <a:xfrm>
            <a:off x="502920" y="694944"/>
            <a:ext cx="6056145"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lang="fr-FR" dirty="0"/>
              <a:t>Description des services proposés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16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api.py ; docs/api.md ; docs/openapi.json</a:t>
            </a:r>
          </a:p>
        </p:txBody>
      </p:sp>
      <p:sp>
        <p:nvSpPr>
          <p:cNvPr id="8" name="Rectangle 7"/>
          <p:cNvSpPr/>
          <p:nvPr/>
        </p:nvSpPr>
        <p:spPr>
          <a:xfrm>
            <a:off x="594360" y="1783080"/>
            <a:ext cx="11018520" cy="512064"/>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 y="1911095"/>
            <a:ext cx="49103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Méthode / route</a:t>
            </a:r>
          </a:p>
        </p:txBody>
      </p:sp>
      <p:sp>
        <p:nvSpPr>
          <p:cNvPr id="10" name="TextBox 9"/>
          <p:cNvSpPr txBox="1"/>
          <p:nvPr/>
        </p:nvSpPr>
        <p:spPr>
          <a:xfrm>
            <a:off x="5888736" y="1911095"/>
            <a:ext cx="5596128" cy="356616"/>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FFFFFF"/>
                </a:solidFill>
                <a:latin typeface="Arial"/>
              </a:defRPr>
            </a:pPr>
            <a:r>
              <a:t>Usage</a:t>
            </a:r>
          </a:p>
        </p:txBody>
      </p:sp>
      <p:sp>
        <p:nvSpPr>
          <p:cNvPr id="11" name="Rectangle 10"/>
          <p:cNvSpPr/>
          <p:nvPr/>
        </p:nvSpPr>
        <p:spPr>
          <a:xfrm>
            <a:off x="594360" y="2295144"/>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22376" y="2414015"/>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/predict/file</a:t>
            </a:r>
          </a:p>
        </p:txBody>
      </p:sp>
      <p:sp>
        <p:nvSpPr>
          <p:cNvPr id="13" name="TextBox 12"/>
          <p:cNvSpPr txBox="1"/>
          <p:nvPr/>
        </p:nvSpPr>
        <p:spPr>
          <a:xfrm>
            <a:off x="5888736" y="2414015"/>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Classes natives par ligne</a:t>
            </a:r>
          </a:p>
        </p:txBody>
      </p:sp>
      <p:sp>
        <p:nvSpPr>
          <p:cNvPr id="14" name="Rectangle 13"/>
          <p:cNvSpPr/>
          <p:nvPr/>
        </p:nvSpPr>
        <p:spPr>
          <a:xfrm>
            <a:off x="594360" y="2807208"/>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 y="2926080"/>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/predict-proba/file</a:t>
            </a:r>
          </a:p>
        </p:txBody>
      </p:sp>
      <p:sp>
        <p:nvSpPr>
          <p:cNvPr id="16" name="TextBox 15"/>
          <p:cNvSpPr txBox="1"/>
          <p:nvPr/>
        </p:nvSpPr>
        <p:spPr>
          <a:xfrm>
            <a:off x="5888736" y="2926080"/>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Probabilités par classe</a:t>
            </a:r>
          </a:p>
        </p:txBody>
      </p:sp>
      <p:sp>
        <p:nvSpPr>
          <p:cNvPr id="17" name="Rectangle 16"/>
          <p:cNvSpPr/>
          <p:nvPr/>
        </p:nvSpPr>
        <p:spPr>
          <a:xfrm>
            <a:off x="594360" y="3319272"/>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3438144"/>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/score/file</a:t>
            </a:r>
          </a:p>
        </p:txBody>
      </p:sp>
      <p:sp>
        <p:nvSpPr>
          <p:cNvPr id="19" name="TextBox 18"/>
          <p:cNvSpPr txBox="1"/>
          <p:nvPr/>
        </p:nvSpPr>
        <p:spPr>
          <a:xfrm>
            <a:off x="5888736" y="3438144"/>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Score avec les vraies réponses</a:t>
            </a:r>
          </a:p>
        </p:txBody>
      </p:sp>
      <p:sp>
        <p:nvSpPr>
          <p:cNvPr id="20" name="Rectangle 19"/>
          <p:cNvSpPr/>
          <p:nvPr/>
        </p:nvSpPr>
        <p:spPr>
          <a:xfrm>
            <a:off x="594360" y="3831336"/>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2376" y="3950208"/>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POST /predict</a:t>
            </a:r>
          </a:p>
        </p:txBody>
      </p:sp>
      <p:sp>
        <p:nvSpPr>
          <p:cNvPr id="22" name="TextBox 21"/>
          <p:cNvSpPr txBox="1"/>
          <p:nvPr/>
        </p:nvSpPr>
        <p:spPr>
          <a:xfrm>
            <a:off x="5888736" y="3950208"/>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JSON au seuil optimisé</a:t>
            </a:r>
          </a:p>
        </p:txBody>
      </p:sp>
      <p:sp>
        <p:nvSpPr>
          <p:cNvPr id="23" name="Rectangle 22"/>
          <p:cNvSpPr/>
          <p:nvPr/>
        </p:nvSpPr>
        <p:spPr>
          <a:xfrm>
            <a:off x="594360" y="4343400"/>
            <a:ext cx="11018520" cy="5120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22376" y="4462272"/>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/employees/{id}/score</a:t>
            </a:r>
          </a:p>
        </p:txBody>
      </p:sp>
      <p:sp>
        <p:nvSpPr>
          <p:cNvPr id="25" name="TextBox 24"/>
          <p:cNvSpPr txBox="1"/>
          <p:nvPr/>
        </p:nvSpPr>
        <p:spPr>
          <a:xfrm>
            <a:off x="5888736" y="4462272"/>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Variables du salarié lues en BDD</a:t>
            </a:r>
          </a:p>
        </p:txBody>
      </p:sp>
      <p:sp>
        <p:nvSpPr>
          <p:cNvPr id="26" name="Rectangle 25"/>
          <p:cNvSpPr/>
          <p:nvPr/>
        </p:nvSpPr>
        <p:spPr>
          <a:xfrm>
            <a:off x="594360" y="4855464"/>
            <a:ext cx="11018520" cy="512064"/>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2376" y="4974336"/>
            <a:ext cx="49103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GET /health • GET /features</a:t>
            </a:r>
          </a:p>
        </p:txBody>
      </p:sp>
      <p:sp>
        <p:nvSpPr>
          <p:cNvPr id="28" name="TextBox 27"/>
          <p:cNvSpPr txBox="1"/>
          <p:nvPr/>
        </p:nvSpPr>
        <p:spPr>
          <a:xfrm>
            <a:off x="5888736" y="4974336"/>
            <a:ext cx="5596128" cy="365760"/>
          </a:xfrm>
          <a:prstGeom prst="rect">
            <a:avLst/>
          </a:prstGeom>
          <a:noFill/>
        </p:spPr>
        <p:txBody>
          <a:bodyPr wrap="none" lIns="0" tIns="0" rIns="0" bIns="0" anchor="t">
            <a:spAutoFit/>
          </a:bodyPr>
          <a:lstStyle/>
          <a:p>
            <a:pPr algn="l">
              <a:lnSpc>
                <a:spcPts val="1770"/>
              </a:lnSpc>
              <a:spcBef>
                <a:spcPts val="0"/>
              </a:spcBef>
              <a:spcAft>
                <a:spcPts val="0"/>
              </a:spcAft>
              <a:defRPr sz="1500" b="0">
                <a:solidFill>
                  <a:srgbClr val="183744"/>
                </a:solidFill>
                <a:latin typeface="Arial"/>
              </a:defRPr>
            </a:pPr>
            <a:r>
              <a:t>Santé et noms des variables</a:t>
            </a:r>
          </a:p>
        </p:txBody>
      </p:sp>
      <p:sp>
        <p:nvSpPr>
          <p:cNvPr id="29" name="Rounded Rectangle 28"/>
          <p:cNvSpPr/>
          <p:nvPr/>
        </p:nvSpPr>
        <p:spPr>
          <a:xfrm>
            <a:off x="502920" y="5614416"/>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94944" y="5724144"/>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predict/file applique la décision native ; predict et la route par ID appliquent le seuil optimisé.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12 / CONTRATS DE DONNÉES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Pydantic valide les entrées et les sorties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17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schemas.py ; docs/api_validation.md</a:t>
            </a:r>
          </a:p>
        </p:txBody>
      </p:sp>
      <p:sp>
        <p:nvSpPr>
          <p:cNvPr id="8" name="Rounded Rectangle 7"/>
          <p:cNvSpPr/>
          <p:nvPr/>
        </p:nvSpPr>
        <p:spPr>
          <a:xfrm>
            <a:off x="594360"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 CALCUL</a:t>
            </a:r>
          </a:p>
        </p:txBody>
      </p:sp>
      <p:sp>
        <p:nvSpPr>
          <p:cNvPr id="11" name="TextBox 10"/>
          <p:cNvSpPr txBox="1"/>
          <p:nvPr/>
        </p:nvSpPr>
        <p:spPr>
          <a:xfrm>
            <a:off x="804672"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Variables exactes et dictionnaire non vide</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Nombres finis, sans booléens ni null</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Cible 0/1 ou Non/Oui ; ID positif</a:t>
            </a:r>
          </a:p>
        </p:txBody>
      </p:sp>
      <p:sp>
        <p:nvSpPr>
          <p:cNvPr id="12" name="Rounded Rectangle 11"/>
          <p:cNvSpPr/>
          <p:nvPr/>
        </p:nvSpPr>
        <p:spPr>
          <a:xfrm>
            <a:off x="6199632" y="1828800"/>
            <a:ext cx="5394960" cy="33375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48256"/>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AVANT L'ENREGISTREMENT</a:t>
            </a:r>
          </a:p>
        </p:txBody>
      </p:sp>
      <p:sp>
        <p:nvSpPr>
          <p:cNvPr id="15" name="TextBox 14"/>
          <p:cNvSpPr txBox="1"/>
          <p:nvPr/>
        </p:nvSpPr>
        <p:spPr>
          <a:xfrm>
            <a:off x="6409944" y="2761488"/>
            <a:ext cx="4974336" cy="224942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Classes entières 0 ou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Probabilités dans [0 ; 1], somme = 1</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Une sortie par ligne ; métriques bornées</a:t>
            </a:r>
          </a:p>
        </p:txBody>
      </p:sp>
      <p:sp>
        <p:nvSpPr>
          <p:cNvPr id="16" name="Rounded Rectangle 15"/>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422 : entrée invalide • 500 : calcul ou sortie invalide • 503 : BDD ou modèle indisponible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1 / 4</a:t>
            </a:r>
          </a:p>
        </p:txBody>
      </p:sp>
      <p:sp>
        <p:nvSpPr>
          <p:cNvPr id="4" name="TextBox 3"/>
          <p:cNvSpPr txBox="1"/>
          <p:nvPr/>
        </p:nvSpPr>
        <p:spPr>
          <a:xfrm>
            <a:off x="502920" y="694944"/>
            <a:ext cx="5395708" cy="423193"/>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rPr dirty="0" err="1"/>
              <a:t>Pydantic</a:t>
            </a:r>
            <a:r>
              <a:rPr dirty="0"/>
              <a:t> </a:t>
            </a:r>
            <a:r>
              <a:rPr lang="fr-FR" dirty="0"/>
              <a:t>: Contrôle des entrées</a:t>
            </a:r>
            <a:endParaRPr dirty="0"/>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18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https://docs.pydantic.dev/latest/concepts/validators/</a:t>
            </a:r>
          </a:p>
        </p:txBody>
      </p:sp>
      <p:sp>
        <p:nvSpPr>
          <p:cNvPr id="8" name="Rectangle 7"/>
          <p:cNvSpPr/>
          <p:nvPr/>
        </p:nvSpPr>
        <p:spPr>
          <a:xfrm>
            <a:off x="502920" y="1783080"/>
            <a:ext cx="11155680" cy="640080"/>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6" y="1911095"/>
            <a:ext cx="4956048" cy="484631"/>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FFFFFF"/>
                </a:solidFill>
                <a:latin typeface="Arial"/>
              </a:defRPr>
            </a:pPr>
            <a:r>
              <a:t>Valeur reçue pour un champ</a:t>
            </a:r>
          </a:p>
        </p:txBody>
      </p:sp>
      <p:sp>
        <p:nvSpPr>
          <p:cNvPr id="10" name="TextBox 9"/>
          <p:cNvSpPr txBox="1"/>
          <p:nvPr/>
        </p:nvSpPr>
        <p:spPr>
          <a:xfrm>
            <a:off x="5843016" y="1911095"/>
            <a:ext cx="5687568" cy="484631"/>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FFFFFF"/>
                </a:solidFill>
                <a:latin typeface="Arial"/>
              </a:defRPr>
            </a:pPr>
            <a:r>
              <a:t>Résultat dans HRNova</a:t>
            </a:r>
          </a:p>
        </p:txBody>
      </p:sp>
      <p:sp>
        <p:nvSpPr>
          <p:cNvPr id="11" name="Rectangle 10"/>
          <p:cNvSpPr/>
          <p:nvPr/>
        </p:nvSpPr>
        <p:spPr>
          <a:xfrm>
            <a:off x="502920" y="242316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0936" y="2542032"/>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3" name="TextBox 12"/>
          <p:cNvSpPr txBox="1"/>
          <p:nvPr/>
        </p:nvSpPr>
        <p:spPr>
          <a:xfrm>
            <a:off x="5843016" y="2542032"/>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Acceptée → 35.0</a:t>
            </a:r>
          </a:p>
        </p:txBody>
      </p:sp>
      <p:sp>
        <p:nvSpPr>
          <p:cNvPr id="14" name="Rectangle 13"/>
          <p:cNvSpPr/>
          <p:nvPr/>
        </p:nvSpPr>
        <p:spPr>
          <a:xfrm>
            <a:off x="502920" y="3063239"/>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 y="3182111"/>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"35"</a:t>
            </a:r>
          </a:p>
        </p:txBody>
      </p:sp>
      <p:sp>
        <p:nvSpPr>
          <p:cNvPr id="16" name="TextBox 15"/>
          <p:cNvSpPr txBox="1"/>
          <p:nvPr/>
        </p:nvSpPr>
        <p:spPr>
          <a:xfrm>
            <a:off x="5843016" y="3182111"/>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Convertie → 35.0</a:t>
            </a:r>
          </a:p>
        </p:txBody>
      </p:sp>
      <p:sp>
        <p:nvSpPr>
          <p:cNvPr id="17" name="Rectangle 16"/>
          <p:cNvSpPr/>
          <p:nvPr/>
        </p:nvSpPr>
        <p:spPr>
          <a:xfrm>
            <a:off x="502920" y="3703320"/>
            <a:ext cx="1115568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 y="3822191"/>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"trente"</a:t>
            </a:r>
          </a:p>
        </p:txBody>
      </p:sp>
      <p:sp>
        <p:nvSpPr>
          <p:cNvPr id="19" name="TextBox 18"/>
          <p:cNvSpPr txBox="1"/>
          <p:nvPr/>
        </p:nvSpPr>
        <p:spPr>
          <a:xfrm>
            <a:off x="5843016" y="3822191"/>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Rejetée → HTTP 422</a:t>
            </a:r>
          </a:p>
        </p:txBody>
      </p:sp>
      <p:sp>
        <p:nvSpPr>
          <p:cNvPr id="20" name="Rectangle 19"/>
          <p:cNvSpPr/>
          <p:nvPr/>
        </p:nvSpPr>
        <p:spPr>
          <a:xfrm>
            <a:off x="502920" y="4343400"/>
            <a:ext cx="11155680" cy="64008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 y="4462272"/>
            <a:ext cx="495604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null ou true</a:t>
            </a:r>
          </a:p>
        </p:txBody>
      </p:sp>
      <p:sp>
        <p:nvSpPr>
          <p:cNvPr id="22" name="TextBox 21"/>
          <p:cNvSpPr txBox="1"/>
          <p:nvPr/>
        </p:nvSpPr>
        <p:spPr>
          <a:xfrm>
            <a:off x="5843016" y="4462272"/>
            <a:ext cx="5687568" cy="493775"/>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183744"/>
                </a:solidFill>
                <a:latin typeface="Arial"/>
              </a:defRPr>
            </a:pPr>
            <a:r>
              <a:t>Rejeté → HTTP 422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schéma Python décrit les données attendues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19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 https://docs.pydantic.dev/latest/concepts/validators/</a:t>
            </a:r>
          </a:p>
        </p:txBody>
      </p:sp>
      <p:sp>
        <p:nvSpPr>
          <p:cNvPr id="8" name="Rounded Rectangle 7"/>
          <p:cNvSpPr/>
          <p:nvPr/>
        </p:nvSpPr>
        <p:spPr>
          <a:xfrm>
            <a:off x="502920" y="1783080"/>
            <a:ext cx="7315200" cy="342900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6912864" cy="302666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FFFFFF"/>
                </a:solidFill>
                <a:latin typeface="Arial"/>
              </a:defRPr>
            </a:pPr>
            <a:r>
              <a:t>NumericValue = Annotated[</a:t>
            </a:r>
          </a:p>
          <a:p>
            <a:pPr algn="l">
              <a:lnSpc>
                <a:spcPts val="2005"/>
              </a:lnSpc>
              <a:spcBef>
                <a:spcPts val="0"/>
              </a:spcBef>
              <a:spcAft>
                <a:spcPts val="0"/>
              </a:spcAft>
              <a:defRPr sz="1700" b="0">
                <a:solidFill>
                  <a:srgbClr val="FFFFFF"/>
                </a:solidFill>
                <a:latin typeface="Arial"/>
              </a:defRPr>
            </a:pPr>
            <a:r>
              <a:t>FiniteFloat, BeforeValidator(numeric_value)</a:t>
            </a:r>
          </a:p>
          <a:p>
            <a:pPr algn="l">
              <a:lnSpc>
                <a:spcPts val="2005"/>
              </a:lnSpc>
              <a:spcBef>
                <a:spcPts val="0"/>
              </a:spcBef>
              <a:spcAft>
                <a:spcPts val="0"/>
              </a:spcAft>
              <a:defRPr sz="1700" b="0">
                <a:solidFill>
                  <a:srgbClr val="FFFFFF"/>
                </a:solidFill>
                <a:latin typeface="Arial"/>
              </a:defRPr>
            </a:pPr>
            <a:r>
              <a:t>]</a:t>
            </a:r>
          </a:p>
          <a:p>
            <a:pPr algn="l">
              <a:lnSpc>
                <a:spcPts val="2005"/>
              </a:lnSpc>
              <a:spcBef>
                <a:spcPts val="0"/>
              </a:spcBef>
              <a:spcAft>
                <a:spcPts val="0"/>
              </a:spcAft>
              <a:defRPr sz="1700" b="0">
                <a:solidFill>
                  <a:srgbClr val="FFFFFF"/>
                </a:solidFill>
                <a:latin typeface="Arial"/>
              </a:defRPr>
            </a:pPr>
            <a:endParaRPr/>
          </a:p>
          <a:p>
            <a:pPr algn="l">
              <a:lnSpc>
                <a:spcPts val="2005"/>
              </a:lnSpc>
              <a:spcBef>
                <a:spcPts val="0"/>
              </a:spcBef>
              <a:spcAft>
                <a:spcPts val="0"/>
              </a:spcAft>
              <a:defRPr sz="1700" b="0">
                <a:solidFill>
                  <a:srgbClr val="FFFFFF"/>
                </a:solidFill>
                <a:latin typeface="Arial"/>
              </a:defRPr>
            </a:pPr>
            <a:r>
              <a:t>class PredictionRequest(BaseModel):</a:t>
            </a:r>
          </a:p>
          <a:p>
            <a:pPr algn="l">
              <a:lnSpc>
                <a:spcPts val="2005"/>
              </a:lnSpc>
              <a:spcBef>
                <a:spcPts val="0"/>
              </a:spcBef>
              <a:spcAft>
                <a:spcPts val="0"/>
              </a:spcAft>
              <a:defRPr sz="1700" b="0">
                <a:solidFill>
                  <a:srgbClr val="FFFFFF"/>
                </a:solidFill>
                <a:latin typeface="Arial"/>
              </a:defRPr>
            </a:pPr>
            <a:r>
              <a:t>model_config = ConfigDict(extra="forbid")</a:t>
            </a:r>
          </a:p>
          <a:p>
            <a:pPr algn="l">
              <a:lnSpc>
                <a:spcPts val="2005"/>
              </a:lnSpc>
              <a:spcBef>
                <a:spcPts val="0"/>
              </a:spcBef>
              <a:spcAft>
                <a:spcPts val="0"/>
              </a:spcAft>
              <a:defRPr sz="1700" b="0">
                <a:solidFill>
                  <a:srgbClr val="FFFFFF"/>
                </a:solidFill>
                <a:latin typeface="Arial"/>
              </a:defRPr>
            </a:pPr>
            <a:r>
              <a:t>features: dict[str, NumericValue] = Field(min_length=1)</a:t>
            </a:r>
          </a:p>
        </p:txBody>
      </p:sp>
      <p:sp>
        <p:nvSpPr>
          <p:cNvPr id="10" name="TextBox 9"/>
          <p:cNvSpPr txBox="1"/>
          <p:nvPr/>
        </p:nvSpPr>
        <p:spPr>
          <a:xfrm>
            <a:off x="8138160" y="2011680"/>
            <a:ext cx="3383280" cy="2697480"/>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1. Contrôler les valeurs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2. Convertir les nombres</a:t>
            </a:r>
          </a:p>
          <a:p>
            <a:pPr algn="l">
              <a:lnSpc>
                <a:spcPts val="2124"/>
              </a:lnSpc>
              <a:spcBef>
                <a:spcPts val="0"/>
              </a:spcBef>
              <a:spcAft>
                <a:spcPts val="0"/>
              </a:spcAft>
              <a:defRPr sz="1800" b="0">
                <a:solidFill>
                  <a:srgbClr val="183744"/>
                </a:solidFill>
                <a:latin typeface="Arial"/>
              </a:defRPr>
            </a:pPr>
            <a:endParaRPr/>
          </a:p>
          <a:p>
            <a:pPr algn="l">
              <a:lnSpc>
                <a:spcPts val="2124"/>
              </a:lnSpc>
              <a:spcBef>
                <a:spcPts val="0"/>
              </a:spcBef>
              <a:spcAft>
                <a:spcPts val="0"/>
              </a:spcAft>
              <a:defRPr sz="1800" b="0">
                <a:solidFill>
                  <a:srgbClr val="183744"/>
                </a:solidFill>
                <a:latin typeface="Arial"/>
              </a:defRPr>
            </a:pPr>
            <a:r>
              <a:t>3. Vérifier les noms attendus</a:t>
            </a:r>
          </a:p>
        </p:txBody>
      </p:sp>
      <p:sp>
        <p:nvSpPr>
          <p:cNvPr id="11" name="Rounded Rectangle 10"/>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Extrait simplifié : les clés de features sont aussi vérifiées par un validateur dédié.</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 fichier CSV passe les mêmes contrôles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20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Fichier CSV</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Lire le contenu</a:t>
            </a:r>
          </a:p>
          <a:p>
            <a:pPr algn="l">
              <a:lnSpc>
                <a:spcPts val="2005"/>
              </a:lnSpc>
              <a:spcBef>
                <a:spcPts val="0"/>
              </a:spcBef>
              <a:spcAft>
                <a:spcPts val="0"/>
              </a:spcAft>
              <a:defRPr sz="1700" b="0">
                <a:solidFill>
                  <a:srgbClr val="183744"/>
                </a:solidFill>
                <a:latin typeface="Arial"/>
              </a:defRPr>
            </a:pPr>
            <a:r>
              <a:t>Repérer les colonnes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Lignes typées</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Valider chaque ligne</a:t>
            </a:r>
          </a:p>
          <a:p>
            <a:pPr algn="l">
              <a:lnSpc>
                <a:spcPts val="2005"/>
              </a:lnSpc>
              <a:spcBef>
                <a:spcPts val="0"/>
              </a:spcBef>
              <a:spcAft>
                <a:spcPts val="0"/>
              </a:spcAft>
              <a:defRPr sz="1700" b="0">
                <a:solidFill>
                  <a:srgbClr val="183744"/>
                </a:solidFill>
                <a:latin typeface="Arial"/>
              </a:defRPr>
            </a:pPr>
            <a:r>
              <a:t>Vérifier chaque variable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Entrées valides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Ordonner les colonnes</a:t>
            </a:r>
          </a:p>
          <a:p>
            <a:pPr algn="l">
              <a:lnSpc>
                <a:spcPts val="2005"/>
              </a:lnSpc>
              <a:spcBef>
                <a:spcPts val="0"/>
              </a:spcBef>
              <a:spcAft>
                <a:spcPts val="0"/>
              </a:spcAft>
              <a:defRPr sz="1700" b="0">
                <a:solidFill>
                  <a:srgbClr val="183744"/>
                </a:solidFill>
                <a:latin typeface="Arial"/>
              </a:defRPr>
            </a:pPr>
            <a:r>
              <a:t>Enregistrer puis calculer</a:t>
            </a:r>
          </a:p>
        </p:txBody>
      </p:sp>
      <p:sp>
        <p:nvSpPr>
          <p:cNvPr id="22" name="Rounded Rectangle 21"/>
          <p:cNvSpPr/>
          <p:nvPr/>
        </p:nvSpPr>
        <p:spPr>
          <a:xfrm>
            <a:off x="502920" y="4526280"/>
            <a:ext cx="11155680" cy="100584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4663440"/>
            <a:ext cx="10698480" cy="3200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Exemple : une cellule numérique contient "trente".</a:t>
            </a:r>
          </a:p>
        </p:txBody>
      </p:sp>
      <p:sp>
        <p:nvSpPr>
          <p:cNvPr id="24" name="TextBox 23"/>
          <p:cNvSpPr txBox="1"/>
          <p:nvPr/>
        </p:nvSpPr>
        <p:spPr>
          <a:xfrm>
            <a:off x="731520" y="5084064"/>
            <a:ext cx="10698480" cy="32004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Réponse 422 avec le contexte de l’erreur ; aucune prédiction produite.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PYDANTIC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Valider aussi ce que renvoie le modèle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21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Code du projet : schemas.py, inference.py</a:t>
            </a:r>
          </a:p>
        </p:txBody>
      </p:sp>
      <p:sp>
        <p:nvSpPr>
          <p:cNvPr id="8" name="Rounded Rectangle 7"/>
          <p:cNvSpPr/>
          <p:nvPr/>
        </p:nvSpPr>
        <p:spPr>
          <a:xfrm>
            <a:off x="502920"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predict</a:t>
            </a:r>
          </a:p>
        </p:txBody>
      </p:sp>
      <p:sp>
        <p:nvSpPr>
          <p:cNvPr id="11" name="TextBox 10"/>
          <p:cNvSpPr txBox="1"/>
          <p:nvPr/>
        </p:nvSpPr>
        <p:spPr>
          <a:xfrm>
            <a:off x="713232"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Classe autorisée : 0 ou 1</a:t>
            </a:r>
          </a:p>
          <a:p>
            <a:pPr algn="l">
              <a:lnSpc>
                <a:spcPts val="2124"/>
              </a:lnSpc>
              <a:spcBef>
                <a:spcPts val="0"/>
              </a:spcBef>
              <a:spcAft>
                <a:spcPts val="0"/>
              </a:spcAft>
              <a:defRPr sz="1800" b="0">
                <a:solidFill>
                  <a:srgbClr val="183744"/>
                </a:solidFill>
                <a:latin typeface="Arial"/>
              </a:defRPr>
            </a:pPr>
            <a:r>
              <a:t>Une prédiction par ligne</a:t>
            </a:r>
          </a:p>
        </p:txBody>
      </p:sp>
      <p:sp>
        <p:nvSpPr>
          <p:cNvPr id="12" name="Rounded Rectangle 11"/>
          <p:cNvSpPr/>
          <p:nvPr/>
        </p:nvSpPr>
        <p:spPr>
          <a:xfrm>
            <a:off x="4315968"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15968"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predict_proba</a:t>
            </a:r>
          </a:p>
        </p:txBody>
      </p:sp>
      <p:sp>
        <p:nvSpPr>
          <p:cNvPr id="15" name="TextBox 14"/>
          <p:cNvSpPr txBox="1"/>
          <p:nvPr/>
        </p:nvSpPr>
        <p:spPr>
          <a:xfrm>
            <a:off x="4526280"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Probabilités entre 0 et 1</a:t>
            </a:r>
          </a:p>
          <a:p>
            <a:pPr algn="l">
              <a:lnSpc>
                <a:spcPts val="2124"/>
              </a:lnSpc>
              <a:spcBef>
                <a:spcPts val="0"/>
              </a:spcBef>
              <a:spcAft>
                <a:spcPts val="0"/>
              </a:spcAft>
              <a:defRPr sz="1800" b="0">
                <a:solidFill>
                  <a:srgbClr val="183744"/>
                </a:solidFill>
                <a:latin typeface="Arial"/>
              </a:defRPr>
            </a:pPr>
            <a:r>
              <a:t>Somme par ligne ≈ 1</a:t>
            </a:r>
          </a:p>
        </p:txBody>
      </p:sp>
      <p:sp>
        <p:nvSpPr>
          <p:cNvPr id="16" name="Rounded Rectangle 15"/>
          <p:cNvSpPr/>
          <p:nvPr/>
        </p:nvSpPr>
        <p:spPr>
          <a:xfrm>
            <a:off x="8129016" y="1874519"/>
            <a:ext cx="3520440" cy="25603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29016" y="1874519"/>
            <a:ext cx="41148" cy="2560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9328" y="2093976"/>
            <a:ext cx="309981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score</a:t>
            </a:r>
          </a:p>
        </p:txBody>
      </p:sp>
      <p:sp>
        <p:nvSpPr>
          <p:cNvPr id="19" name="TextBox 18"/>
          <p:cNvSpPr txBox="1"/>
          <p:nvPr/>
        </p:nvSpPr>
        <p:spPr>
          <a:xfrm>
            <a:off x="8339328" y="2807208"/>
            <a:ext cx="3099816" cy="147218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Métriques finies</a:t>
            </a:r>
          </a:p>
          <a:p>
            <a:pPr algn="l">
              <a:lnSpc>
                <a:spcPts val="2124"/>
              </a:lnSpc>
              <a:spcBef>
                <a:spcPts val="0"/>
              </a:spcBef>
              <a:spcAft>
                <a:spcPts val="0"/>
              </a:spcAft>
              <a:defRPr sz="1800" b="0">
                <a:solidFill>
                  <a:srgbClr val="183744"/>
                </a:solidFill>
                <a:latin typeface="Arial"/>
              </a:defRPr>
            </a:pPr>
            <a:r>
              <a:t>Valeurs dans les bornes</a:t>
            </a:r>
          </a:p>
        </p:txBody>
      </p:sp>
      <p:sp>
        <p:nvSpPr>
          <p:cNvPr id="20" name="Rounded Rectangle 19"/>
          <p:cNvSpPr/>
          <p:nvPr/>
        </p:nvSpPr>
        <p:spPr>
          <a:xfrm>
            <a:off x="502920" y="51663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27608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Une réponse hors contrat est rejetée et tracée ; elle ne devient pas un résultat valide.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13 / QUALITÉ LOGICIELLE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Tester le service sans confondre tests et performance ML</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22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tests/ ; rapports de vérification du projet ; docs/api_validation.md</a:t>
            </a:r>
          </a:p>
        </p:txBody>
      </p:sp>
      <p:sp>
        <p:nvSpPr>
          <p:cNvPr id="8" name="TextBox 7"/>
          <p:cNvSpPr txBox="1"/>
          <p:nvPr/>
        </p:nvSpPr>
        <p:spPr>
          <a:xfrm>
            <a:off x="64008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87</a:t>
            </a:r>
          </a:p>
        </p:txBody>
      </p:sp>
      <p:sp>
        <p:nvSpPr>
          <p:cNvPr id="9" name="TextBox 8"/>
          <p:cNvSpPr txBox="1"/>
          <p:nvPr/>
        </p:nvSpPr>
        <p:spPr>
          <a:xfrm>
            <a:off x="64008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tests automatisés</a:t>
            </a:r>
          </a:p>
        </p:txBody>
      </p:sp>
      <p:sp>
        <p:nvSpPr>
          <p:cNvPr id="10" name="TextBox 9"/>
          <p:cNvSpPr txBox="1"/>
          <p:nvPr/>
        </p:nvSpPr>
        <p:spPr>
          <a:xfrm>
            <a:off x="443484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89 %</a:t>
            </a:r>
          </a:p>
        </p:txBody>
      </p:sp>
      <p:sp>
        <p:nvSpPr>
          <p:cNvPr id="11" name="TextBox 10"/>
          <p:cNvSpPr txBox="1"/>
          <p:nvPr/>
        </p:nvSpPr>
        <p:spPr>
          <a:xfrm>
            <a:off x="443484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de couverture des modules suivis</a:t>
            </a:r>
          </a:p>
        </p:txBody>
      </p:sp>
      <p:sp>
        <p:nvSpPr>
          <p:cNvPr id="12" name="TextBox 11"/>
          <p:cNvSpPr txBox="1"/>
          <p:nvPr/>
        </p:nvSpPr>
        <p:spPr>
          <a:xfrm>
            <a:off x="8229600" y="1783080"/>
            <a:ext cx="3383280" cy="640080"/>
          </a:xfrm>
          <a:prstGeom prst="rect">
            <a:avLst/>
          </a:prstGeom>
          <a:noFill/>
        </p:spPr>
        <p:txBody>
          <a:bodyPr wrap="none" lIns="0" tIns="0" rIns="0" bIns="0" anchor="t">
            <a:spAutoFit/>
          </a:bodyPr>
          <a:lstStyle/>
          <a:p>
            <a:pPr algn="l">
              <a:lnSpc>
                <a:spcPts val="4484"/>
              </a:lnSpc>
              <a:spcBef>
                <a:spcPts val="0"/>
              </a:spcBef>
              <a:spcAft>
                <a:spcPts val="0"/>
              </a:spcAft>
              <a:defRPr sz="3800" b="1">
                <a:solidFill>
                  <a:srgbClr val="007F82"/>
                </a:solidFill>
                <a:latin typeface="Arial"/>
              </a:defRPr>
            </a:pPr>
            <a:r>
              <a:t>7</a:t>
            </a:r>
          </a:p>
        </p:txBody>
      </p:sp>
      <p:sp>
        <p:nvSpPr>
          <p:cNvPr id="13" name="TextBox 12"/>
          <p:cNvSpPr txBox="1"/>
          <p:nvPr/>
        </p:nvSpPr>
        <p:spPr>
          <a:xfrm>
            <a:off x="8229600" y="2496312"/>
            <a:ext cx="3383280" cy="64008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endpoints testés</a:t>
            </a:r>
          </a:p>
        </p:txBody>
      </p:sp>
      <p:sp>
        <p:nvSpPr>
          <p:cNvPr id="14" name="Rounded Rectangle 13"/>
          <p:cNvSpPr/>
          <p:nvPr/>
        </p:nvSpPr>
        <p:spPr>
          <a:xfrm>
            <a:off x="594360"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4360"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API</a:t>
            </a:r>
          </a:p>
        </p:txBody>
      </p:sp>
      <p:sp>
        <p:nvSpPr>
          <p:cNvPr id="17" name="TextBox 16"/>
          <p:cNvSpPr txBox="1"/>
          <p:nvPr/>
        </p:nvSpPr>
        <p:spPr>
          <a:xfrm>
            <a:off x="804672"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Réponses attendues, erreurs, paramètres et</a:t>
            </a:r>
          </a:p>
          <a:p>
            <a:pPr algn="l">
              <a:lnSpc>
                <a:spcPts val="2005"/>
              </a:lnSpc>
              <a:spcBef>
                <a:spcPts val="0"/>
              </a:spcBef>
              <a:spcAft>
                <a:spcPts val="0"/>
              </a:spcAft>
              <a:defRPr sz="1700" b="0">
                <a:solidFill>
                  <a:srgbClr val="183744"/>
                </a:solidFill>
                <a:latin typeface="Arial"/>
              </a:defRPr>
            </a:pPr>
            <a:r>
              <a:t>validation des fichiers.</a:t>
            </a:r>
          </a:p>
        </p:txBody>
      </p:sp>
      <p:sp>
        <p:nvSpPr>
          <p:cNvPr id="18" name="Rounded Rectangle 17"/>
          <p:cNvSpPr/>
          <p:nvPr/>
        </p:nvSpPr>
        <p:spPr>
          <a:xfrm>
            <a:off x="6208776" y="3657600"/>
            <a:ext cx="5413248" cy="1719072"/>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3657600"/>
            <a:ext cx="41148" cy="17190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3877056"/>
            <a:ext cx="499262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BASE DE DONNÉES</a:t>
            </a:r>
          </a:p>
        </p:txBody>
      </p:sp>
      <p:sp>
        <p:nvSpPr>
          <p:cNvPr id="21" name="TextBox 20"/>
          <p:cNvSpPr txBox="1"/>
          <p:nvPr/>
        </p:nvSpPr>
        <p:spPr>
          <a:xfrm>
            <a:off x="6419088" y="4590288"/>
            <a:ext cx="4992624" cy="63093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Import idempotent, inputs avant calcul et refus des</a:t>
            </a:r>
          </a:p>
          <a:p>
            <a:pPr algn="l">
              <a:lnSpc>
                <a:spcPts val="2005"/>
              </a:lnSpc>
              <a:spcBef>
                <a:spcPts val="0"/>
              </a:spcBef>
              <a:spcAft>
                <a:spcPts val="0"/>
              </a:spcAft>
              <a:defRPr sz="1700" b="0">
                <a:solidFill>
                  <a:srgbClr val="183744"/>
                </a:solidFill>
                <a:latin typeface="Arial"/>
              </a:defRPr>
            </a:pPr>
            <a:r>
              <a:t>sorties non persistées.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14 / CI/CD ET HUGGING FACE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 push déclenche une publication contrôlée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23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.github/workflows/ci.yml ; docs/huggingface.md ; docs/deployment.md</a:t>
            </a:r>
          </a:p>
        </p:txBody>
      </p:sp>
      <p:sp>
        <p:nvSpPr>
          <p:cNvPr id="8" name="Rounded Rectangle 7"/>
          <p:cNvSpPr/>
          <p:nvPr/>
        </p:nvSpPr>
        <p:spPr>
          <a:xfrm>
            <a:off x="594360"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PUSH / PR</a:t>
            </a:r>
          </a:p>
        </p:txBody>
      </p:sp>
      <p:sp>
        <p:nvSpPr>
          <p:cNvPr id="11" name="TextBox 10"/>
          <p:cNvSpPr txBox="1"/>
          <p:nvPr/>
        </p:nvSpPr>
        <p:spPr>
          <a:xfrm>
            <a:off x="804672"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Code et artefact</a:t>
            </a:r>
          </a:p>
        </p:txBody>
      </p:sp>
      <p:cxnSp>
        <p:nvCxnSpPr>
          <p:cNvPr id="12" name="Connector 11"/>
          <p:cNvCxnSpPr/>
          <p:nvPr/>
        </p:nvCxnSpPr>
        <p:spPr>
          <a:xfrm>
            <a:off x="3200400" y="3063240"/>
            <a:ext cx="164591"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10712"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10712"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21024"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VÉRIFICATIONS</a:t>
            </a:r>
          </a:p>
        </p:txBody>
      </p:sp>
      <p:sp>
        <p:nvSpPr>
          <p:cNvPr id="16" name="TextBox 15"/>
          <p:cNvSpPr txBox="1"/>
          <p:nvPr/>
        </p:nvSpPr>
        <p:spPr>
          <a:xfrm>
            <a:off x="3621024"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Tests, docs, package</a:t>
            </a:r>
          </a:p>
        </p:txBody>
      </p:sp>
      <p:cxnSp>
        <p:nvCxnSpPr>
          <p:cNvPr id="17" name="Connector 16"/>
          <p:cNvCxnSpPr/>
          <p:nvPr/>
        </p:nvCxnSpPr>
        <p:spPr>
          <a:xfrm>
            <a:off x="6016752"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27064"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27064"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37376"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EXPORT VALIDÉ</a:t>
            </a:r>
          </a:p>
        </p:txBody>
      </p:sp>
      <p:sp>
        <p:nvSpPr>
          <p:cNvPr id="21" name="TextBox 20"/>
          <p:cNvSpPr txBox="1"/>
          <p:nvPr/>
        </p:nvSpPr>
        <p:spPr>
          <a:xfrm>
            <a:off x="6437376"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Sans lignes salariées</a:t>
            </a:r>
          </a:p>
        </p:txBody>
      </p:sp>
      <p:cxnSp>
        <p:nvCxnSpPr>
          <p:cNvPr id="22" name="Connector 21"/>
          <p:cNvCxnSpPr/>
          <p:nvPr/>
        </p:nvCxnSpPr>
        <p:spPr>
          <a:xfrm>
            <a:off x="8833104" y="3063240"/>
            <a:ext cx="164592"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43416" y="2011680"/>
            <a:ext cx="2578608"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43416" y="201168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53728" y="2231136"/>
            <a:ext cx="2157984"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 → HUB</a:t>
            </a:r>
          </a:p>
        </p:txBody>
      </p:sp>
      <p:sp>
        <p:nvSpPr>
          <p:cNvPr id="26" name="TextBox 25"/>
          <p:cNvSpPr txBox="1"/>
          <p:nvPr/>
        </p:nvSpPr>
        <p:spPr>
          <a:xfrm>
            <a:off x="9253728" y="2944368"/>
            <a:ext cx="2157984" cy="106070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SamGabb/hrnova</a:t>
            </a:r>
          </a:p>
        </p:txBody>
      </p:sp>
      <p:sp>
        <p:nvSpPr>
          <p:cNvPr id="27" name="TextBox 26"/>
          <p:cNvSpPr txBox="1"/>
          <p:nvPr/>
        </p:nvSpPr>
        <p:spPr>
          <a:xfrm>
            <a:off x="658368" y="4617720"/>
            <a:ext cx="10881360" cy="41148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Production : validations et éventuelles approbations GitHub.</a:t>
            </a:r>
          </a:p>
        </p:txBody>
      </p:sp>
      <p:sp>
        <p:nvSpPr>
          <p:cNvPr id="28" name="Rounded Rectangle 27"/>
          <p:cNvSpPr/>
          <p:nvPr/>
        </p:nvSpPr>
        <p:spPr>
          <a:xfrm>
            <a:off x="502920" y="5504688"/>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94944" y="5614416"/>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Publication du modèle ≠ réentraînement automatique ≠ déploiement d'une API publique.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1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Git garde l’histoire ; GitHub la partage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24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Sur ton ordinateur</a:t>
            </a:r>
          </a:p>
          <a:p>
            <a:pPr algn="l">
              <a:lnSpc>
                <a:spcPts val="2005"/>
              </a:lnSpc>
              <a:spcBef>
                <a:spcPts val="0"/>
              </a:spcBef>
              <a:spcAft>
                <a:spcPts val="0"/>
              </a:spcAft>
              <a:defRPr sz="1700" b="0">
                <a:solidFill>
                  <a:srgbClr val="183744"/>
                </a:solidFill>
                <a:latin typeface="Arial"/>
              </a:defRPr>
            </a:pPr>
            <a:r>
              <a:t>Historique des fichiers</a:t>
            </a:r>
          </a:p>
          <a:p>
            <a:pPr algn="l">
              <a:lnSpc>
                <a:spcPts val="2005"/>
              </a:lnSpc>
              <a:spcBef>
                <a:spcPts val="0"/>
              </a:spcBef>
              <a:spcAft>
                <a:spcPts val="0"/>
              </a:spcAft>
              <a:defRPr sz="1700" b="0">
                <a:solidFill>
                  <a:srgbClr val="183744"/>
                </a:solidFill>
                <a:latin typeface="Arial"/>
              </a:defRPr>
            </a:pPr>
            <a:r>
              <a:t>Commits et branches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GitHub</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Partage du code</a:t>
            </a:r>
          </a:p>
          <a:p>
            <a:pPr algn="l">
              <a:lnSpc>
                <a:spcPts val="2005"/>
              </a:lnSpc>
              <a:spcBef>
                <a:spcPts val="0"/>
              </a:spcBef>
              <a:spcAft>
                <a:spcPts val="0"/>
              </a:spcAft>
              <a:defRPr sz="1700" b="0">
                <a:solidFill>
                  <a:srgbClr val="183744"/>
                </a:solidFill>
                <a:latin typeface="Arial"/>
              </a:defRPr>
            </a:pPr>
            <a:r>
              <a:t>Pull requests et revues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GitHub Actions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Automatisation</a:t>
            </a:r>
          </a:p>
          <a:p>
            <a:pPr algn="l">
              <a:lnSpc>
                <a:spcPts val="2005"/>
              </a:lnSpc>
              <a:spcBef>
                <a:spcPts val="0"/>
              </a:spcBef>
              <a:spcAft>
                <a:spcPts val="0"/>
              </a:spcAft>
              <a:defRPr sz="1700" b="0">
                <a:solidFill>
                  <a:srgbClr val="183744"/>
                </a:solidFill>
                <a:latin typeface="Arial"/>
              </a:defRPr>
            </a:pPr>
            <a:r>
              <a:t>Tests à chaque push</a:t>
            </a:r>
          </a:p>
          <a:p>
            <a:pPr algn="l">
              <a:lnSpc>
                <a:spcPts val="2005"/>
              </a:lnSpc>
              <a:spcBef>
                <a:spcPts val="0"/>
              </a:spcBef>
              <a:spcAft>
                <a:spcPts val="0"/>
              </a:spcAft>
              <a:defRPr sz="1700" b="0">
                <a:solidFill>
                  <a:srgbClr val="183744"/>
                </a:solidFill>
                <a:latin typeface="Arial"/>
              </a:defRPr>
            </a:pPr>
            <a:r>
              <a:t>Publication du modèle</a:t>
            </a:r>
          </a:p>
        </p:txBody>
      </p:sp>
      <p:sp>
        <p:nvSpPr>
          <p:cNvPr id="22" name="Rounded Rectangle 21"/>
          <p:cNvSpPr/>
          <p:nvPr/>
        </p:nvSpPr>
        <p:spPr>
          <a:xfrm>
            <a:off x="502920" y="50749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4944" y="518464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Dans HRNova : je modifie le code → je pousse → les contrôles se lancent.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2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Du fichier modifié au dépôt distant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25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Modifier</a:t>
            </a:r>
          </a:p>
        </p:txBody>
      </p:sp>
      <p:sp>
        <p:nvSpPr>
          <p:cNvPr id="11" name="TextBox 10"/>
          <p:cNvSpPr txBox="1"/>
          <p:nvPr/>
        </p:nvSpPr>
        <p:spPr>
          <a:xfrm>
            <a:off x="713232"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Répertoire de travail</a:t>
            </a:r>
          </a:p>
          <a:p>
            <a:pPr algn="l">
              <a:lnSpc>
                <a:spcPts val="2005"/>
              </a:lnSpc>
              <a:spcBef>
                <a:spcPts val="0"/>
              </a:spcBef>
              <a:spcAft>
                <a:spcPts val="0"/>
              </a:spcAft>
              <a:defRPr sz="1700" b="0">
                <a:solidFill>
                  <a:srgbClr val="183744"/>
                </a:solidFill>
                <a:latin typeface="Arial"/>
              </a:defRPr>
            </a:pPr>
            <a:r>
              <a:t>Ex. : schemas.py</a:t>
            </a:r>
          </a:p>
        </p:txBody>
      </p:sp>
      <p:cxnSp>
        <p:nvCxnSpPr>
          <p:cNvPr id="12" name="Connector 11"/>
          <p:cNvCxnSpPr/>
          <p:nvPr/>
        </p:nvCxnSpPr>
        <p:spPr>
          <a:xfrm>
            <a:off x="312724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55848"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 Sélectionner</a:t>
            </a:r>
          </a:p>
        </p:txBody>
      </p:sp>
      <p:sp>
        <p:nvSpPr>
          <p:cNvPr id="16" name="TextBox 15"/>
          <p:cNvSpPr txBox="1"/>
          <p:nvPr/>
        </p:nvSpPr>
        <p:spPr>
          <a:xfrm>
            <a:off x="3566160"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Index / staging</a:t>
            </a:r>
          </a:p>
          <a:p>
            <a:pPr algn="l">
              <a:lnSpc>
                <a:spcPts val="2005"/>
              </a:lnSpc>
              <a:spcBef>
                <a:spcPts val="0"/>
              </a:spcBef>
              <a:spcAft>
                <a:spcPts val="0"/>
              </a:spcAft>
              <a:defRPr sz="1700" b="0">
                <a:solidFill>
                  <a:srgbClr val="183744"/>
                </a:solidFill>
                <a:latin typeface="Arial"/>
              </a:defRPr>
            </a:pPr>
            <a:r>
              <a:t>Choisir les</a:t>
            </a:r>
          </a:p>
          <a:p>
            <a:pPr algn="l">
              <a:lnSpc>
                <a:spcPts val="2005"/>
              </a:lnSpc>
              <a:spcBef>
                <a:spcPts val="0"/>
              </a:spcBef>
              <a:spcAft>
                <a:spcPts val="0"/>
              </a:spcAft>
              <a:defRPr sz="1700" b="0">
                <a:solidFill>
                  <a:srgbClr val="183744"/>
                </a:solidFill>
                <a:latin typeface="Arial"/>
              </a:defRPr>
            </a:pPr>
            <a:r>
              <a:t>changements</a:t>
            </a:r>
          </a:p>
        </p:txBody>
      </p:sp>
      <p:cxnSp>
        <p:nvCxnSpPr>
          <p:cNvPr id="17" name="Connector 16"/>
          <p:cNvCxnSpPr/>
          <p:nvPr/>
        </p:nvCxnSpPr>
        <p:spPr>
          <a:xfrm>
            <a:off x="5980176"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8776"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08776"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3. Enregistrer</a:t>
            </a:r>
          </a:p>
        </p:txBody>
      </p:sp>
      <p:sp>
        <p:nvSpPr>
          <p:cNvPr id="21" name="TextBox 20"/>
          <p:cNvSpPr txBox="1"/>
          <p:nvPr/>
        </p:nvSpPr>
        <p:spPr>
          <a:xfrm>
            <a:off x="6419088"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Historique local</a:t>
            </a:r>
          </a:p>
          <a:p>
            <a:pPr algn="l">
              <a:lnSpc>
                <a:spcPts val="2005"/>
              </a:lnSpc>
              <a:spcBef>
                <a:spcPts val="0"/>
              </a:spcBef>
              <a:spcAft>
                <a:spcPts val="0"/>
              </a:spcAft>
              <a:defRPr sz="1700" b="0">
                <a:solidFill>
                  <a:srgbClr val="183744"/>
                </a:solidFill>
                <a:latin typeface="Arial"/>
              </a:defRPr>
            </a:pPr>
            <a:r>
              <a:t>Créer un commit</a:t>
            </a:r>
          </a:p>
        </p:txBody>
      </p:sp>
      <p:cxnSp>
        <p:nvCxnSpPr>
          <p:cNvPr id="22" name="Connector 21"/>
          <p:cNvCxnSpPr/>
          <p:nvPr/>
        </p:nvCxnSpPr>
        <p:spPr>
          <a:xfrm>
            <a:off x="8833103" y="3017520"/>
            <a:ext cx="201169"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061704" y="1874519"/>
            <a:ext cx="2596896"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61704"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72016" y="2093976"/>
            <a:ext cx="217627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4. Partager</a:t>
            </a:r>
          </a:p>
        </p:txBody>
      </p:sp>
      <p:sp>
        <p:nvSpPr>
          <p:cNvPr id="26" name="TextBox 25"/>
          <p:cNvSpPr txBox="1"/>
          <p:nvPr/>
        </p:nvSpPr>
        <p:spPr>
          <a:xfrm>
            <a:off x="9272016" y="2807208"/>
            <a:ext cx="2176272"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Dépôt distant</a:t>
            </a:r>
          </a:p>
          <a:p>
            <a:pPr algn="l">
              <a:lnSpc>
                <a:spcPts val="2005"/>
              </a:lnSpc>
              <a:spcBef>
                <a:spcPts val="0"/>
              </a:spcBef>
              <a:spcAft>
                <a:spcPts val="0"/>
              </a:spcAft>
              <a:defRPr sz="1700" b="0">
                <a:solidFill>
                  <a:srgbClr val="183744"/>
                </a:solidFill>
                <a:latin typeface="Arial"/>
              </a:defRPr>
            </a:pPr>
            <a:r>
              <a:t>Envoyer les commits</a:t>
            </a:r>
          </a:p>
        </p:txBody>
      </p:sp>
      <p:sp>
        <p:nvSpPr>
          <p:cNvPr id="27" name="Rounded Rectangle 26"/>
          <p:cNvSpPr/>
          <p:nvPr/>
        </p:nvSpPr>
        <p:spPr>
          <a:xfrm>
            <a:off x="502920" y="4526280"/>
            <a:ext cx="6720840" cy="1435608"/>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4088" y="4727448"/>
            <a:ext cx="6318503" cy="1033272"/>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FFFFFF"/>
                </a:solidFill>
                <a:latin typeface="Arial"/>
              </a:defRPr>
            </a:pPr>
            <a:r>
              <a:t>git status</a:t>
            </a:r>
          </a:p>
          <a:p>
            <a:pPr algn="l">
              <a:lnSpc>
                <a:spcPts val="1888"/>
              </a:lnSpc>
              <a:spcBef>
                <a:spcPts val="0"/>
              </a:spcBef>
              <a:spcAft>
                <a:spcPts val="0"/>
              </a:spcAft>
              <a:defRPr sz="1600" b="0">
                <a:solidFill>
                  <a:srgbClr val="FFFFFF"/>
                </a:solidFill>
                <a:latin typeface="Arial"/>
              </a:defRPr>
            </a:pPr>
            <a:r>
              <a:t>git add schemas.py</a:t>
            </a:r>
          </a:p>
          <a:p>
            <a:pPr algn="l">
              <a:lnSpc>
                <a:spcPts val="1888"/>
              </a:lnSpc>
              <a:spcBef>
                <a:spcPts val="0"/>
              </a:spcBef>
              <a:spcAft>
                <a:spcPts val="0"/>
              </a:spcAft>
              <a:defRPr sz="1600" b="0">
                <a:solidFill>
                  <a:srgbClr val="FFFFFF"/>
                </a:solidFill>
                <a:latin typeface="Arial"/>
              </a:defRPr>
            </a:pPr>
            <a:r>
              <a:t>git commit -m "Valider les entrees"</a:t>
            </a:r>
          </a:p>
          <a:p>
            <a:pPr algn="l">
              <a:lnSpc>
                <a:spcPts val="1888"/>
              </a:lnSpc>
              <a:spcBef>
                <a:spcPts val="0"/>
              </a:spcBef>
              <a:spcAft>
                <a:spcPts val="0"/>
              </a:spcAft>
              <a:defRPr sz="1600" b="0">
                <a:solidFill>
                  <a:srgbClr val="FFFFFF"/>
                </a:solidFill>
                <a:latin typeface="Arial"/>
              </a:defRPr>
            </a:pPr>
            <a:r>
              <a:t>git push</a:t>
            </a:r>
          </a:p>
        </p:txBody>
      </p:sp>
      <p:sp>
        <p:nvSpPr>
          <p:cNvPr id="29" name="TextBox 28"/>
          <p:cNvSpPr txBox="1"/>
          <p:nvPr/>
        </p:nvSpPr>
        <p:spPr>
          <a:xfrm>
            <a:off x="7498079" y="4663440"/>
            <a:ext cx="4023360" cy="1005840"/>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.gitignore écarte .env des nouveaux</a:t>
            </a:r>
          </a:p>
          <a:p>
            <a:pPr algn="l">
              <a:lnSpc>
                <a:spcPts val="2005"/>
              </a:lnSpc>
              <a:spcBef>
                <a:spcPts val="0"/>
              </a:spcBef>
              <a:spcAft>
                <a:spcPts val="0"/>
              </a:spcAft>
              <a:defRPr sz="1700" b="0">
                <a:solidFill>
                  <a:srgbClr val="183744"/>
                </a:solidFill>
                <a:latin typeface="Arial"/>
              </a:defRPr>
            </a:pPr>
            <a:r>
              <a:t>suivis.</a:t>
            </a:r>
          </a:p>
          <a:p>
            <a:pPr algn="l">
              <a:lnSpc>
                <a:spcPts val="2005"/>
              </a:lnSpc>
              <a:spcBef>
                <a:spcPts val="0"/>
              </a:spcBef>
              <a:spcAft>
                <a:spcPts val="0"/>
              </a:spcAft>
              <a:defRPr sz="1700" b="0">
                <a:solidFill>
                  <a:srgbClr val="183744"/>
                </a:solidFill>
                <a:latin typeface="Arial"/>
              </a:defRPr>
            </a:pPr>
            <a:r>
              <a:t>Il ne supprime pas un secret déjà</a:t>
            </a:r>
          </a:p>
          <a:p>
            <a:pPr algn="l">
              <a:lnSpc>
                <a:spcPts val="2005"/>
              </a:lnSpc>
              <a:spcBef>
                <a:spcPts val="0"/>
              </a:spcBef>
              <a:spcAft>
                <a:spcPts val="0"/>
              </a:spcAft>
              <a:defRPr sz="1700" b="0">
                <a:solidFill>
                  <a:srgbClr val="183744"/>
                </a:solidFill>
                <a:latin typeface="Arial"/>
              </a:defRPr>
            </a:pPr>
            <a:r>
              <a:t>commité.</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3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Branches : proposer, vérifier, puis fusionner</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26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https://git-scm.com/book/en/v2/Getting-Started-What-is-Git%3F</a:t>
            </a:r>
          </a:p>
        </p:txBody>
      </p:sp>
      <p:sp>
        <p:nvSpPr>
          <p:cNvPr id="8" name="Rounded Rectangle 7"/>
          <p:cNvSpPr/>
          <p:nvPr/>
        </p:nvSpPr>
        <p:spPr>
          <a:xfrm>
            <a:off x="502920" y="1783080"/>
            <a:ext cx="11155680" cy="141732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4088" y="1984248"/>
            <a:ext cx="10753344" cy="1014984"/>
          </a:xfrm>
          <a:prstGeom prst="rect">
            <a:avLst/>
          </a:prstGeom>
          <a:noFill/>
        </p:spPr>
        <p:txBody>
          <a:bodyPr wrap="none" lIns="0" tIns="0" rIns="0" bIns="0" anchor="t">
            <a:spAutoFit/>
          </a:bodyPr>
          <a:lstStyle/>
          <a:p>
            <a:pPr algn="l">
              <a:lnSpc>
                <a:spcPts val="2242"/>
              </a:lnSpc>
              <a:spcBef>
                <a:spcPts val="0"/>
              </a:spcBef>
              <a:spcAft>
                <a:spcPts val="0"/>
              </a:spcAft>
              <a:defRPr sz="1900" b="0">
                <a:solidFill>
                  <a:srgbClr val="FFFFFF"/>
                </a:solidFill>
                <a:latin typeface="Arial"/>
              </a:defRPr>
            </a:pPr>
            <a:r>
              <a:t>git switch -c feature/validation</a:t>
            </a:r>
          </a:p>
          <a:p>
            <a:pPr algn="l">
              <a:lnSpc>
                <a:spcPts val="2242"/>
              </a:lnSpc>
              <a:spcBef>
                <a:spcPts val="0"/>
              </a:spcBef>
              <a:spcAft>
                <a:spcPts val="0"/>
              </a:spcAft>
              <a:defRPr sz="1900" b="0">
                <a:solidFill>
                  <a:srgbClr val="FFFFFF"/>
                </a:solidFill>
                <a:latin typeface="Arial"/>
              </a:defRPr>
            </a:pPr>
            <a:r>
              <a:t># modifier puis commiter</a:t>
            </a:r>
          </a:p>
          <a:p>
            <a:pPr algn="l">
              <a:lnSpc>
                <a:spcPts val="2242"/>
              </a:lnSpc>
              <a:spcBef>
                <a:spcPts val="0"/>
              </a:spcBef>
              <a:spcAft>
                <a:spcPts val="0"/>
              </a:spcAft>
              <a:defRPr sz="1900" b="0">
                <a:solidFill>
                  <a:srgbClr val="FFFFFF"/>
                </a:solidFill>
                <a:latin typeface="Arial"/>
              </a:defRPr>
            </a:pPr>
            <a:r>
              <a:t>git push -u origin feature/validation</a:t>
            </a:r>
          </a:p>
        </p:txBody>
      </p:sp>
      <p:sp>
        <p:nvSpPr>
          <p:cNvPr id="10" name="Rounded Rectangle 9"/>
          <p:cNvSpPr/>
          <p:nvPr/>
        </p:nvSpPr>
        <p:spPr>
          <a:xfrm>
            <a:off x="502920"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Branche</a:t>
            </a:r>
          </a:p>
        </p:txBody>
      </p:sp>
      <p:sp>
        <p:nvSpPr>
          <p:cNvPr id="13" name="TextBox 12"/>
          <p:cNvSpPr txBox="1"/>
          <p:nvPr/>
        </p:nvSpPr>
        <p:spPr>
          <a:xfrm>
            <a:off x="713232"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Développer une évolution</a:t>
            </a:r>
          </a:p>
          <a:p>
            <a:pPr algn="l">
              <a:lnSpc>
                <a:spcPts val="2005"/>
              </a:lnSpc>
              <a:spcBef>
                <a:spcPts val="0"/>
              </a:spcBef>
              <a:spcAft>
                <a:spcPts val="0"/>
              </a:spcAft>
              <a:defRPr sz="1700" b="0">
                <a:solidFill>
                  <a:srgbClr val="183744"/>
                </a:solidFill>
                <a:latin typeface="Arial"/>
              </a:defRPr>
            </a:pPr>
            <a:r>
              <a:t>Historique isolé de main</a:t>
            </a:r>
          </a:p>
        </p:txBody>
      </p:sp>
      <p:cxnSp>
        <p:nvCxnSpPr>
          <p:cNvPr id="14" name="Connector 13"/>
          <p:cNvCxnSpPr/>
          <p:nvPr/>
        </p:nvCxnSpPr>
        <p:spPr>
          <a:xfrm>
            <a:off x="4078224"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306823"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306823"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7136"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Pull request</a:t>
            </a:r>
          </a:p>
        </p:txBody>
      </p:sp>
      <p:sp>
        <p:nvSpPr>
          <p:cNvPr id="18" name="TextBox 17"/>
          <p:cNvSpPr txBox="1"/>
          <p:nvPr/>
        </p:nvSpPr>
        <p:spPr>
          <a:xfrm>
            <a:off x="4517136"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Comparer les changements</a:t>
            </a:r>
          </a:p>
          <a:p>
            <a:pPr algn="l">
              <a:lnSpc>
                <a:spcPts val="2005"/>
              </a:lnSpc>
              <a:spcBef>
                <a:spcPts val="0"/>
              </a:spcBef>
              <a:spcAft>
                <a:spcPts val="0"/>
              </a:spcAft>
              <a:defRPr sz="1700" b="0">
                <a:solidFill>
                  <a:srgbClr val="183744"/>
                </a:solidFill>
                <a:latin typeface="Arial"/>
              </a:defRPr>
            </a:pPr>
            <a:r>
              <a:t>Tests et revue du code</a:t>
            </a:r>
          </a:p>
        </p:txBody>
      </p:sp>
      <p:cxnSp>
        <p:nvCxnSpPr>
          <p:cNvPr id="19" name="Connector 18"/>
          <p:cNvCxnSpPr/>
          <p:nvPr/>
        </p:nvCxnSpPr>
        <p:spPr>
          <a:xfrm>
            <a:off x="7882127" y="457200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10727" y="3429000"/>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10727" y="3429000"/>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21040" y="364845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Fusion</a:t>
            </a:r>
          </a:p>
        </p:txBody>
      </p:sp>
      <p:sp>
        <p:nvSpPr>
          <p:cNvPr id="23" name="TextBox 22"/>
          <p:cNvSpPr txBox="1"/>
          <p:nvPr/>
        </p:nvSpPr>
        <p:spPr>
          <a:xfrm>
            <a:off x="8321040" y="436168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Intégrer dans main</a:t>
            </a:r>
          </a:p>
          <a:p>
            <a:pPr algn="l">
              <a:lnSpc>
                <a:spcPts val="2005"/>
              </a:lnSpc>
              <a:spcBef>
                <a:spcPts val="0"/>
              </a:spcBef>
              <a:spcAft>
                <a:spcPts val="0"/>
              </a:spcAft>
              <a:defRPr sz="1700" b="0">
                <a:solidFill>
                  <a:srgbClr val="183744"/>
                </a:solidFill>
                <a:latin typeface="Arial"/>
              </a:defRPr>
            </a:pPr>
            <a:r>
              <a:t>Résoudre les conflits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GIT · 4 / 4</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GitHub Actions : que se passe-t-il au push ?</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27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https://docs.github.com/en/actions/get-started/understand-github-actions</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Événement</a:t>
            </a:r>
          </a:p>
        </p:txBody>
      </p:sp>
      <p:sp>
        <p:nvSpPr>
          <p:cNvPr id="11" name="TextBox 10"/>
          <p:cNvSpPr txBox="1"/>
          <p:nvPr/>
        </p:nvSpPr>
        <p:spPr>
          <a:xfrm>
            <a:off x="713232"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push ou pull_request</a:t>
            </a:r>
          </a:p>
          <a:p>
            <a:pPr algn="l">
              <a:lnSpc>
                <a:spcPts val="2005"/>
              </a:lnSpc>
              <a:spcBef>
                <a:spcPts val="0"/>
              </a:spcBef>
              <a:spcAft>
                <a:spcPts val="0"/>
              </a:spcAft>
              <a:defRPr sz="1700" b="0">
                <a:solidFill>
                  <a:srgbClr val="183744"/>
                </a:solidFill>
                <a:latin typeface="Arial"/>
              </a:defRPr>
            </a:pPr>
            <a:r>
              <a:t>Déclenche le workflow</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17136"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Runner</a:t>
            </a:r>
          </a:p>
        </p:txBody>
      </p:sp>
      <p:sp>
        <p:nvSpPr>
          <p:cNvPr id="16" name="TextBox 15"/>
          <p:cNvSpPr txBox="1"/>
          <p:nvPr/>
        </p:nvSpPr>
        <p:spPr>
          <a:xfrm>
            <a:off x="4517136"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Machine de travail</a:t>
            </a:r>
          </a:p>
          <a:p>
            <a:pPr algn="l">
              <a:lnSpc>
                <a:spcPts val="2005"/>
              </a:lnSpc>
              <a:spcBef>
                <a:spcPts val="0"/>
              </a:spcBef>
              <a:spcAft>
                <a:spcPts val="0"/>
              </a:spcAft>
              <a:defRPr sz="1700" b="0">
                <a:solidFill>
                  <a:srgbClr val="183744"/>
                </a:solidFill>
                <a:latin typeface="Arial"/>
              </a:defRPr>
            </a:pPr>
            <a:r>
              <a:t>Installe Python et outils</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21040" y="2093976"/>
            <a:ext cx="3127247"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Jobs / étapes</a:t>
            </a:r>
          </a:p>
        </p:txBody>
      </p:sp>
      <p:sp>
        <p:nvSpPr>
          <p:cNvPr id="21" name="TextBox 20"/>
          <p:cNvSpPr txBox="1"/>
          <p:nvPr/>
        </p:nvSpPr>
        <p:spPr>
          <a:xfrm>
            <a:off x="8321040" y="2807208"/>
            <a:ext cx="3127247" cy="124358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Exécute les contrôles</a:t>
            </a:r>
          </a:p>
          <a:p>
            <a:pPr algn="l">
              <a:lnSpc>
                <a:spcPts val="2005"/>
              </a:lnSpc>
              <a:spcBef>
                <a:spcPts val="0"/>
              </a:spcBef>
              <a:spcAft>
                <a:spcPts val="0"/>
              </a:spcAft>
              <a:defRPr sz="1700" b="0">
                <a:solidFill>
                  <a:srgbClr val="183744"/>
                </a:solidFill>
                <a:latin typeface="Arial"/>
              </a:defRPr>
            </a:pPr>
            <a:r>
              <a:t>Signale succès ou échec</a:t>
            </a:r>
          </a:p>
        </p:txBody>
      </p:sp>
      <p:sp>
        <p:nvSpPr>
          <p:cNvPr id="22" name="Rounded Rectangle 21"/>
          <p:cNvSpPr/>
          <p:nvPr/>
        </p:nvSpPr>
        <p:spPr>
          <a:xfrm>
            <a:off x="502920" y="4480560"/>
            <a:ext cx="11155680" cy="987552"/>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 y="4681728"/>
            <a:ext cx="10753344" cy="585216"/>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FFFFFF"/>
                </a:solidFill>
                <a:latin typeface="Arial"/>
              </a:defRPr>
            </a:pPr>
            <a:r>
              <a:t>.github/workflows/ci.yml</a:t>
            </a:r>
          </a:p>
          <a:p>
            <a:pPr algn="l">
              <a:lnSpc>
                <a:spcPts val="2124"/>
              </a:lnSpc>
              <a:spcBef>
                <a:spcPts val="0"/>
              </a:spcBef>
              <a:spcAft>
                <a:spcPts val="0"/>
              </a:spcAft>
              <a:defRPr sz="1800" b="0">
                <a:solidFill>
                  <a:srgbClr val="FFFFFF"/>
                </a:solidFill>
                <a:latin typeface="Arial"/>
              </a:defRPr>
            </a:pPr>
            <a:r>
              <a:t>Contrôles → tests → artefacts → publication autorisée</a:t>
            </a:r>
          </a:p>
        </p:txBody>
      </p:sp>
      <p:sp>
        <p:nvSpPr>
          <p:cNvPr id="24" name="Rounded Rectangle 23"/>
          <p:cNvSpPr/>
          <p:nvPr/>
        </p:nvSpPr>
        <p:spPr>
          <a:xfrm>
            <a:off x="502920" y="562356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94944" y="573328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Publier un modèle existant et réentraîner un modèle sont deux opérations distinctes.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15 / TRANSMISSION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Une documentation pour utiliser et maintenir le projet</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32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mkdocs.yml ; docs/index.md ; README.md</a:t>
            </a:r>
          </a:p>
        </p:txBody>
      </p:sp>
      <p:sp>
        <p:nvSpPr>
          <p:cNvPr id="8" name="Rounded Rectangle 7"/>
          <p:cNvSpPr/>
          <p:nvPr/>
        </p:nvSpPr>
        <p:spPr>
          <a:xfrm>
            <a:off x="50292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0292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UTILISATEUR</a:t>
            </a:r>
          </a:p>
        </p:txBody>
      </p:sp>
      <p:sp>
        <p:nvSpPr>
          <p:cNvPr id="11" name="TextBox 10"/>
          <p:cNvSpPr txBox="1"/>
          <p:nvPr/>
        </p:nvSpPr>
        <p:spPr>
          <a:xfrm>
            <a:off x="71323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Swagger et ReDoc</a:t>
            </a:r>
          </a:p>
          <a:p>
            <a:pPr algn="l">
              <a:lnSpc>
                <a:spcPts val="2124"/>
              </a:lnSpc>
              <a:spcBef>
                <a:spcPts val="0"/>
              </a:spcBef>
              <a:spcAft>
                <a:spcPts val="0"/>
              </a:spcAft>
              <a:defRPr sz="1800" b="0">
                <a:solidFill>
                  <a:srgbClr val="183744"/>
                </a:solidFill>
                <a:latin typeface="Arial"/>
              </a:defRPr>
            </a:pPr>
            <a:r>
              <a:t>Exemples JSON / CSV</a:t>
            </a:r>
          </a:p>
          <a:p>
            <a:pPr algn="l">
              <a:lnSpc>
                <a:spcPts val="2124"/>
              </a:lnSpc>
              <a:spcBef>
                <a:spcPts val="0"/>
              </a:spcBef>
              <a:spcAft>
                <a:spcPts val="0"/>
              </a:spcAft>
              <a:defRPr sz="1800" b="0">
                <a:solidFill>
                  <a:srgbClr val="183744"/>
                </a:solidFill>
                <a:latin typeface="Arial"/>
              </a:defRPr>
            </a:pPr>
            <a:r>
              <a:t>Contrat des 43 variables</a:t>
            </a:r>
          </a:p>
          <a:p>
            <a:pPr algn="l">
              <a:lnSpc>
                <a:spcPts val="2124"/>
              </a:lnSpc>
              <a:spcBef>
                <a:spcPts val="0"/>
              </a:spcBef>
              <a:spcAft>
                <a:spcPts val="0"/>
              </a:spcAft>
              <a:defRPr sz="1800" b="0">
                <a:solidFill>
                  <a:srgbClr val="183744"/>
                </a:solidFill>
                <a:latin typeface="Arial"/>
              </a:defRPr>
            </a:pPr>
            <a:r>
              <a:t>Codes d'erreur</a:t>
            </a:r>
          </a:p>
        </p:txBody>
      </p:sp>
      <p:sp>
        <p:nvSpPr>
          <p:cNvPr id="12" name="Rounded Rectangle 11"/>
          <p:cNvSpPr/>
          <p:nvPr/>
        </p:nvSpPr>
        <p:spPr>
          <a:xfrm>
            <a:off x="4251960" y="1874519"/>
            <a:ext cx="3593592"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5196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62272" y="2093976"/>
            <a:ext cx="3172968"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DÉVELOPPEUR</a:t>
            </a:r>
          </a:p>
        </p:txBody>
      </p:sp>
      <p:sp>
        <p:nvSpPr>
          <p:cNvPr id="15" name="TextBox 14"/>
          <p:cNvSpPr txBox="1"/>
          <p:nvPr/>
        </p:nvSpPr>
        <p:spPr>
          <a:xfrm>
            <a:off x="4462272" y="2807208"/>
            <a:ext cx="3172968"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Architecture et schéma</a:t>
            </a:r>
          </a:p>
          <a:p>
            <a:pPr algn="l">
              <a:lnSpc>
                <a:spcPts val="2124"/>
              </a:lnSpc>
              <a:spcBef>
                <a:spcPts val="0"/>
              </a:spcBef>
              <a:spcAft>
                <a:spcPts val="0"/>
              </a:spcAft>
              <a:defRPr sz="1800" b="0">
                <a:solidFill>
                  <a:srgbClr val="183744"/>
                </a:solidFill>
                <a:latin typeface="Arial"/>
              </a:defRPr>
            </a:pPr>
            <a:r>
              <a:t>Tests et logs</a:t>
            </a:r>
          </a:p>
          <a:p>
            <a:pPr algn="l">
              <a:lnSpc>
                <a:spcPts val="2124"/>
              </a:lnSpc>
              <a:spcBef>
                <a:spcPts val="0"/>
              </a:spcBef>
              <a:spcAft>
                <a:spcPts val="0"/>
              </a:spcAft>
              <a:defRPr sz="1800" b="0">
                <a:solidFill>
                  <a:srgbClr val="183744"/>
                </a:solidFill>
                <a:latin typeface="Arial"/>
              </a:defRPr>
            </a:pPr>
            <a:r>
              <a:t>Versions et déploiement</a:t>
            </a:r>
          </a:p>
          <a:p>
            <a:pPr algn="l">
              <a:lnSpc>
                <a:spcPts val="2124"/>
              </a:lnSpc>
              <a:spcBef>
                <a:spcPts val="0"/>
              </a:spcBef>
              <a:spcAft>
                <a:spcPts val="0"/>
              </a:spcAft>
              <a:defRPr sz="1800" b="0">
                <a:solidFill>
                  <a:srgbClr val="183744"/>
                </a:solidFill>
                <a:latin typeface="Arial"/>
              </a:defRPr>
            </a:pPr>
            <a:r>
              <a:t>Sources des métriques</a:t>
            </a:r>
          </a:p>
        </p:txBody>
      </p:sp>
      <p:sp>
        <p:nvSpPr>
          <p:cNvPr id="16" name="Rounded Rectangle 15"/>
          <p:cNvSpPr/>
          <p:nvPr/>
        </p:nvSpPr>
        <p:spPr>
          <a:xfrm>
            <a:off x="8001000" y="1874519"/>
            <a:ext cx="3648456" cy="30632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01000" y="1874519"/>
            <a:ext cx="41148" cy="30632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11312" y="2093976"/>
            <a:ext cx="3227832"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MAINTENEUR</a:t>
            </a:r>
          </a:p>
        </p:txBody>
      </p:sp>
      <p:sp>
        <p:nvSpPr>
          <p:cNvPr id="19" name="TextBox 18"/>
          <p:cNvSpPr txBox="1"/>
          <p:nvPr/>
        </p:nvSpPr>
        <p:spPr>
          <a:xfrm>
            <a:off x="8211312" y="2807208"/>
            <a:ext cx="3227832" cy="1975104"/>
          </a:xfrm>
          <a:prstGeom prst="rect">
            <a:avLst/>
          </a:prstGeom>
          <a:noFill/>
        </p:spPr>
        <p:txBody>
          <a:bodyPr wrap="none" lIns="0" tIns="0" rIns="0" bIns="0" anchor="t">
            <a:spAutoFit/>
          </a:bodyPr>
          <a:lstStyle/>
          <a:p>
            <a:pPr algn="l">
              <a:lnSpc>
                <a:spcPts val="2124"/>
              </a:lnSpc>
              <a:spcBef>
                <a:spcPts val="0"/>
              </a:spcBef>
              <a:spcAft>
                <a:spcPts val="0"/>
              </a:spcAft>
              <a:defRPr sz="1800" b="0">
                <a:solidFill>
                  <a:srgbClr val="183744"/>
                </a:solidFill>
                <a:latin typeface="Arial"/>
              </a:defRPr>
            </a:pPr>
            <a:r>
              <a:t>Mises à jour du modèle</a:t>
            </a:r>
          </a:p>
          <a:p>
            <a:pPr algn="l">
              <a:lnSpc>
                <a:spcPts val="2124"/>
              </a:lnSpc>
              <a:spcBef>
                <a:spcPts val="0"/>
              </a:spcBef>
              <a:spcAft>
                <a:spcPts val="0"/>
              </a:spcAft>
              <a:defRPr sz="1800" b="0">
                <a:solidFill>
                  <a:srgbClr val="183744"/>
                </a:solidFill>
                <a:latin typeface="Arial"/>
              </a:defRPr>
            </a:pPr>
            <a:r>
              <a:t>Sauvegardes et restauration</a:t>
            </a:r>
          </a:p>
          <a:p>
            <a:pPr algn="l">
              <a:lnSpc>
                <a:spcPts val="2124"/>
              </a:lnSpc>
              <a:spcBef>
                <a:spcPts val="0"/>
              </a:spcBef>
              <a:spcAft>
                <a:spcPts val="0"/>
              </a:spcAft>
              <a:defRPr sz="1800" b="0">
                <a:solidFill>
                  <a:srgbClr val="183744"/>
                </a:solidFill>
                <a:latin typeface="Arial"/>
              </a:defRPr>
            </a:pPr>
            <a:r>
              <a:t>Retour arrière</a:t>
            </a:r>
          </a:p>
          <a:p>
            <a:pPr algn="l">
              <a:lnSpc>
                <a:spcPts val="2124"/>
              </a:lnSpc>
              <a:spcBef>
                <a:spcPts val="0"/>
              </a:spcBef>
              <a:spcAft>
                <a:spcPts val="0"/>
              </a:spcAft>
              <a:defRPr sz="1800" b="0">
                <a:solidFill>
                  <a:srgbClr val="183744"/>
                </a:solidFill>
                <a:latin typeface="Arial"/>
              </a:defRPr>
            </a:pPr>
            <a:r>
              <a:t>Diagnostic des incidents</a:t>
            </a:r>
          </a:p>
        </p:txBody>
      </p:sp>
      <p:sp>
        <p:nvSpPr>
          <p:cNvPr id="20" name="Rounded Rectangle 19"/>
          <p:cNvSpPr/>
          <p:nvPr/>
        </p:nvSpPr>
        <p:spPr>
          <a:xfrm>
            <a:off x="502920" y="548640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4944" y="559612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Swagger : localhost:8000/docs • Documentation MkDocs : localhost:8001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16 / REGARD CRITIQUE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Les limites définissent les prochaines priorités</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33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docs/model.md ; docs/maintenance.md ; docs/deployment.md</a:t>
            </a:r>
          </a:p>
        </p:txBody>
      </p:sp>
      <p:sp>
        <p:nvSpPr>
          <p:cNvPr id="8" name="TextBox 7"/>
          <p:cNvSpPr txBox="1"/>
          <p:nvPr/>
        </p:nvSpPr>
        <p:spPr>
          <a:xfrm>
            <a:off x="621792" y="173736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01</a:t>
            </a:r>
          </a:p>
        </p:txBody>
      </p:sp>
      <p:sp>
        <p:nvSpPr>
          <p:cNvPr id="9" name="TextBox 8"/>
          <p:cNvSpPr txBox="1"/>
          <p:nvPr/>
        </p:nvSpPr>
        <p:spPr>
          <a:xfrm>
            <a:off x="1508760" y="173736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Préparation sans fuite</a:t>
            </a:r>
          </a:p>
        </p:txBody>
      </p:sp>
      <p:sp>
        <p:nvSpPr>
          <p:cNvPr id="10" name="TextBox 9"/>
          <p:cNvSpPr txBox="1"/>
          <p:nvPr/>
        </p:nvSpPr>
        <p:spPr>
          <a:xfrm>
            <a:off x="1508760" y="215798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Ajuster médianes et encodeurs dans les folds ; exporter une pipeline complète.</a:t>
            </a:r>
          </a:p>
        </p:txBody>
      </p:sp>
      <p:sp>
        <p:nvSpPr>
          <p:cNvPr id="11" name="TextBox 10"/>
          <p:cNvSpPr txBox="1"/>
          <p:nvPr/>
        </p:nvSpPr>
        <p:spPr>
          <a:xfrm>
            <a:off x="621792" y="274320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02</a:t>
            </a:r>
          </a:p>
        </p:txBody>
      </p:sp>
      <p:sp>
        <p:nvSpPr>
          <p:cNvPr id="12" name="TextBox 11"/>
          <p:cNvSpPr txBox="1"/>
          <p:nvPr/>
        </p:nvSpPr>
        <p:spPr>
          <a:xfrm>
            <a:off x="1508760" y="274320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Validation indépendante</a:t>
            </a:r>
          </a:p>
        </p:txBody>
      </p:sp>
      <p:sp>
        <p:nvSpPr>
          <p:cNvPr id="13" name="TextBox 12"/>
          <p:cNvSpPr txBox="1"/>
          <p:nvPr/>
        </p:nvSpPr>
        <p:spPr>
          <a:xfrm>
            <a:off x="1508760" y="316382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Évaluer sur des données nouvelles ; documenter incertitude et calibration.</a:t>
            </a:r>
          </a:p>
        </p:txBody>
      </p:sp>
      <p:sp>
        <p:nvSpPr>
          <p:cNvPr id="14" name="TextBox 13"/>
          <p:cNvSpPr txBox="1"/>
          <p:nvPr/>
        </p:nvSpPr>
        <p:spPr>
          <a:xfrm>
            <a:off x="621792" y="3749039"/>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03</a:t>
            </a:r>
          </a:p>
        </p:txBody>
      </p:sp>
      <p:sp>
        <p:nvSpPr>
          <p:cNvPr id="15" name="TextBox 14"/>
          <p:cNvSpPr txBox="1"/>
          <p:nvPr/>
        </p:nvSpPr>
        <p:spPr>
          <a:xfrm>
            <a:off x="1508760" y="3749039"/>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Usage responsable</a:t>
            </a:r>
          </a:p>
        </p:txBody>
      </p:sp>
      <p:sp>
        <p:nvSpPr>
          <p:cNvPr id="16" name="TextBox 15"/>
          <p:cNvSpPr txBox="1"/>
          <p:nvPr/>
        </p:nvSpPr>
        <p:spPr>
          <a:xfrm>
            <a:off x="1508760" y="4169663"/>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Étudier les erreurs par groupe et définir les coûts des fausses alertes.</a:t>
            </a:r>
          </a:p>
        </p:txBody>
      </p:sp>
      <p:sp>
        <p:nvSpPr>
          <p:cNvPr id="17" name="TextBox 16"/>
          <p:cNvSpPr txBox="1"/>
          <p:nvPr/>
        </p:nvSpPr>
        <p:spPr>
          <a:xfrm>
            <a:off x="621792" y="4754880"/>
            <a:ext cx="612648" cy="502920"/>
          </a:xfrm>
          <a:prstGeom prst="rect">
            <a:avLst/>
          </a:prstGeom>
          <a:noFill/>
        </p:spPr>
        <p:txBody>
          <a:bodyPr wrap="none" lIns="0" tIns="0" rIns="0" bIns="0" anchor="t">
            <a:spAutoFit/>
          </a:bodyPr>
          <a:lstStyle/>
          <a:p>
            <a:pPr algn="l">
              <a:lnSpc>
                <a:spcPts val="3068"/>
              </a:lnSpc>
              <a:spcBef>
                <a:spcPts val="0"/>
              </a:spcBef>
              <a:spcAft>
                <a:spcPts val="0"/>
              </a:spcAft>
              <a:defRPr sz="2600" b="1">
                <a:solidFill>
                  <a:srgbClr val="007F82"/>
                </a:solidFill>
                <a:latin typeface="Arial"/>
              </a:defRPr>
            </a:pPr>
            <a:r>
              <a:t>04</a:t>
            </a:r>
          </a:p>
        </p:txBody>
      </p:sp>
      <p:sp>
        <p:nvSpPr>
          <p:cNvPr id="18" name="TextBox 17"/>
          <p:cNvSpPr txBox="1"/>
          <p:nvPr/>
        </p:nvSpPr>
        <p:spPr>
          <a:xfrm>
            <a:off x="1508760" y="4754880"/>
            <a:ext cx="9875520" cy="329184"/>
          </a:xfrm>
          <a:prstGeom prst="rect">
            <a:avLst/>
          </a:prstGeom>
          <a:noFill/>
        </p:spPr>
        <p:txBody>
          <a:bodyPr wrap="none" lIns="0" tIns="0" rIns="0" bIns="0" anchor="t">
            <a:spAutoFit/>
          </a:bodyPr>
          <a:lstStyle/>
          <a:p>
            <a:pPr algn="l">
              <a:lnSpc>
                <a:spcPts val="2360"/>
              </a:lnSpc>
              <a:spcBef>
                <a:spcPts val="0"/>
              </a:spcBef>
              <a:spcAft>
                <a:spcPts val="0"/>
              </a:spcAft>
              <a:defRPr sz="2000" b="1">
                <a:solidFill>
                  <a:srgbClr val="183744"/>
                </a:solidFill>
                <a:latin typeface="Arial"/>
              </a:defRPr>
            </a:pPr>
            <a:r>
              <a:t>Exploitation distante</a:t>
            </a:r>
          </a:p>
        </p:txBody>
      </p:sp>
      <p:sp>
        <p:nvSpPr>
          <p:cNvPr id="19" name="TextBox 18"/>
          <p:cNvSpPr txBox="1"/>
          <p:nvPr/>
        </p:nvSpPr>
        <p:spPr>
          <a:xfrm>
            <a:off x="1508760" y="5175504"/>
            <a:ext cx="9875520" cy="448056"/>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526A75"/>
                </a:solidFill>
                <a:latin typeface="Arial"/>
              </a:defRPr>
            </a:pPr>
            <a:r>
              <a:t>Prévoir authentification, accès BDD, supervision et déploiement sécurisé.</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02C3A"/>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C7EA73"/>
                </a:solidFill>
                <a:latin typeface="Arial"/>
              </a:defRPr>
            </a:pPr>
            <a:r>
              <a:t>17 / CONCLUSION</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FFFFFF"/>
                </a:solidFill>
                <a:latin typeface="Arial"/>
              </a:defRPr>
            </a:pPr>
            <a:r>
              <a:t>Un modèle exploitable, un résultat vérifiable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BDD1D6"/>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BDD1D6"/>
                </a:solidFill>
                <a:latin typeface="Arial"/>
              </a:defRPr>
            </a:pPr>
            <a:r>
              <a:t>34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BDD1D6"/>
                </a:solidFill>
                <a:latin typeface="Arial"/>
              </a:defRPr>
            </a:pPr>
            <a:r>
              <a:t>Sources : documentation du projet et résultats vérifiés</a:t>
            </a:r>
          </a:p>
        </p:txBody>
      </p:sp>
      <p:sp>
        <p:nvSpPr>
          <p:cNvPr id="8" name="TextBox 7"/>
          <p:cNvSpPr txBox="1"/>
          <p:nvPr/>
        </p:nvSpPr>
        <p:spPr>
          <a:xfrm>
            <a:off x="64008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ESTIMER</a:t>
            </a:r>
          </a:p>
        </p:txBody>
      </p:sp>
      <p:sp>
        <p:nvSpPr>
          <p:cNvPr id="9" name="TextBox 8"/>
          <p:cNvSpPr txBox="1"/>
          <p:nvPr/>
        </p:nvSpPr>
        <p:spPr>
          <a:xfrm>
            <a:off x="64008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Une probabilité calibrée</a:t>
            </a:r>
          </a:p>
          <a:p>
            <a:pPr algn="l">
              <a:lnSpc>
                <a:spcPts val="2595"/>
              </a:lnSpc>
              <a:spcBef>
                <a:spcPts val="0"/>
              </a:spcBef>
              <a:spcAft>
                <a:spcPts val="0"/>
              </a:spcAft>
              <a:defRPr sz="2200" b="0">
                <a:solidFill>
                  <a:srgbClr val="FFFFFF"/>
                </a:solidFill>
                <a:latin typeface="Arial"/>
              </a:defRPr>
            </a:pPr>
            <a:r>
              <a:t>et un seuil explicite.</a:t>
            </a:r>
          </a:p>
        </p:txBody>
      </p:sp>
      <p:sp>
        <p:nvSpPr>
          <p:cNvPr id="10" name="TextBox 9"/>
          <p:cNvSpPr txBox="1"/>
          <p:nvPr/>
        </p:nvSpPr>
        <p:spPr>
          <a:xfrm>
            <a:off x="448056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TRACER</a:t>
            </a:r>
          </a:p>
        </p:txBody>
      </p:sp>
      <p:sp>
        <p:nvSpPr>
          <p:cNvPr id="11" name="TextBox 10"/>
          <p:cNvSpPr txBox="1"/>
          <p:nvPr/>
        </p:nvSpPr>
        <p:spPr>
          <a:xfrm>
            <a:off x="448056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inputs, des outputs</a:t>
            </a:r>
          </a:p>
          <a:p>
            <a:pPr algn="l">
              <a:lnSpc>
                <a:spcPts val="2595"/>
              </a:lnSpc>
              <a:spcBef>
                <a:spcPts val="0"/>
              </a:spcBef>
              <a:spcAft>
                <a:spcPts val="0"/>
              </a:spcAft>
              <a:defRPr sz="2200" b="0">
                <a:solidFill>
                  <a:srgbClr val="FFFFFF"/>
                </a:solidFill>
                <a:latin typeface="Arial"/>
              </a:defRPr>
            </a:pPr>
            <a:r>
              <a:t>et une version</a:t>
            </a:r>
          </a:p>
          <a:p>
            <a:pPr algn="l">
              <a:lnSpc>
                <a:spcPts val="2595"/>
              </a:lnSpc>
              <a:spcBef>
                <a:spcPts val="0"/>
              </a:spcBef>
              <a:spcAft>
                <a:spcPts val="0"/>
              </a:spcAft>
              <a:defRPr sz="2200" b="0">
                <a:solidFill>
                  <a:srgbClr val="FFFFFF"/>
                </a:solidFill>
                <a:latin typeface="Arial"/>
              </a:defRPr>
            </a:pPr>
            <a:r>
              <a:t>retrouvables.</a:t>
            </a:r>
          </a:p>
        </p:txBody>
      </p:sp>
      <p:sp>
        <p:nvSpPr>
          <p:cNvPr id="12" name="TextBox 11"/>
          <p:cNvSpPr txBox="1"/>
          <p:nvPr/>
        </p:nvSpPr>
        <p:spPr>
          <a:xfrm>
            <a:off x="8275320" y="1920240"/>
            <a:ext cx="3383280" cy="502920"/>
          </a:xfrm>
          <a:prstGeom prst="rect">
            <a:avLst/>
          </a:prstGeom>
          <a:noFill/>
        </p:spPr>
        <p:txBody>
          <a:bodyPr wrap="none" lIns="0" tIns="0" rIns="0" bIns="0" anchor="t">
            <a:spAutoFit/>
          </a:bodyPr>
          <a:lstStyle/>
          <a:p>
            <a:pPr algn="l">
              <a:lnSpc>
                <a:spcPts val="3422"/>
              </a:lnSpc>
              <a:spcBef>
                <a:spcPts val="0"/>
              </a:spcBef>
              <a:spcAft>
                <a:spcPts val="0"/>
              </a:spcAft>
              <a:defRPr sz="2900" b="1">
                <a:solidFill>
                  <a:srgbClr val="C7EA73"/>
                </a:solidFill>
                <a:latin typeface="Arial"/>
              </a:defRPr>
            </a:pPr>
            <a:r>
              <a:t>MAINTENIR</a:t>
            </a:r>
          </a:p>
        </p:txBody>
      </p:sp>
      <p:sp>
        <p:nvSpPr>
          <p:cNvPr id="13" name="TextBox 12"/>
          <p:cNvSpPr txBox="1"/>
          <p:nvPr/>
        </p:nvSpPr>
        <p:spPr>
          <a:xfrm>
            <a:off x="8275320" y="2743200"/>
            <a:ext cx="3383280" cy="1280160"/>
          </a:xfrm>
          <a:prstGeom prst="rect">
            <a:avLst/>
          </a:prstGeom>
          <a:noFill/>
        </p:spPr>
        <p:txBody>
          <a:bodyPr wrap="none" lIns="0" tIns="0" rIns="0" bIns="0" anchor="t">
            <a:spAutoFit/>
          </a:bodyPr>
          <a:lstStyle/>
          <a:p>
            <a:pPr algn="l">
              <a:lnSpc>
                <a:spcPts val="2595"/>
              </a:lnSpc>
              <a:spcBef>
                <a:spcPts val="0"/>
              </a:spcBef>
              <a:spcAft>
                <a:spcPts val="0"/>
              </a:spcAft>
              <a:defRPr sz="2200" b="0">
                <a:solidFill>
                  <a:srgbClr val="FFFFFF"/>
                </a:solidFill>
                <a:latin typeface="Arial"/>
              </a:defRPr>
            </a:pPr>
            <a:r>
              <a:t>Des tests, des guides</a:t>
            </a:r>
          </a:p>
          <a:p>
            <a:pPr algn="l">
              <a:lnSpc>
                <a:spcPts val="2595"/>
              </a:lnSpc>
              <a:spcBef>
                <a:spcPts val="0"/>
              </a:spcBef>
              <a:spcAft>
                <a:spcPts val="0"/>
              </a:spcAft>
              <a:defRPr sz="2200" b="0">
                <a:solidFill>
                  <a:srgbClr val="FFFFFF"/>
                </a:solidFill>
                <a:latin typeface="Arial"/>
              </a:defRPr>
            </a:pPr>
            <a:r>
              <a:t>et un protocole de mise à</a:t>
            </a:r>
          </a:p>
          <a:p>
            <a:pPr algn="l">
              <a:lnSpc>
                <a:spcPts val="2595"/>
              </a:lnSpc>
              <a:spcBef>
                <a:spcPts val="0"/>
              </a:spcBef>
              <a:spcAft>
                <a:spcPts val="0"/>
              </a:spcAft>
              <a:defRPr sz="2200" b="0">
                <a:solidFill>
                  <a:srgbClr val="FFFFFF"/>
                </a:solidFill>
                <a:latin typeface="Arial"/>
              </a:defRPr>
            </a:pPr>
            <a:r>
              <a:t>jour.</a:t>
            </a:r>
          </a:p>
        </p:txBody>
      </p:sp>
      <p:sp>
        <p:nvSpPr>
          <p:cNvPr id="14" name="TextBox 13"/>
          <p:cNvSpPr txBox="1"/>
          <p:nvPr/>
        </p:nvSpPr>
        <p:spPr>
          <a:xfrm>
            <a:off x="640080" y="5166360"/>
            <a:ext cx="10698480" cy="594360"/>
          </a:xfrm>
          <a:prstGeom prst="rect">
            <a:avLst/>
          </a:prstGeom>
          <a:noFill/>
        </p:spPr>
        <p:txBody>
          <a:bodyPr wrap="none" lIns="0" tIns="0" rIns="0" bIns="0" anchor="t">
            <a:spAutoFit/>
          </a:bodyPr>
          <a:lstStyle/>
          <a:p>
            <a:pPr algn="l">
              <a:lnSpc>
                <a:spcPts val="2950"/>
              </a:lnSpc>
              <a:spcBef>
                <a:spcPts val="0"/>
              </a:spcBef>
              <a:spcAft>
                <a:spcPts val="0"/>
              </a:spcAft>
              <a:defRPr sz="2500" b="1">
                <a:solidFill>
                  <a:srgbClr val="FFFFFF"/>
                </a:solidFill>
                <a:latin typeface="Arial"/>
              </a:defRPr>
            </a:pPr>
            <a:r>
              <a:t>Questions / démonstration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A / DÉMO LOCALE</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Démonstration : du fichier au journal de requête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35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Sources : examples/ ; docs/api.md ; docs/api_logs.md</a:t>
            </a:r>
          </a:p>
        </p:txBody>
      </p:sp>
      <p:sp>
        <p:nvSpPr>
          <p:cNvPr id="8" name="Rounded Rectangle 7"/>
          <p:cNvSpPr/>
          <p:nvPr/>
        </p:nvSpPr>
        <p:spPr>
          <a:xfrm>
            <a:off x="594360"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94360"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1. APPELER L'API</a:t>
            </a:r>
          </a:p>
        </p:txBody>
      </p:sp>
      <p:sp>
        <p:nvSpPr>
          <p:cNvPr id="11" name="TextBox 10"/>
          <p:cNvSpPr txBox="1"/>
          <p:nvPr/>
        </p:nvSpPr>
        <p:spPr>
          <a:xfrm>
            <a:off x="804672" y="2734056"/>
            <a:ext cx="4974336" cy="2478024"/>
          </a:xfrm>
          <a:prstGeom prst="rect">
            <a:avLst/>
          </a:prstGeom>
          <a:noFill/>
        </p:spPr>
        <p:txBody>
          <a:bodyPr wrap="none" lIns="0" tIns="0" rIns="0" bIns="0" anchor="t">
            <a:spAutoFit/>
          </a:bodyPr>
          <a:lstStyle/>
          <a:p>
            <a:pPr algn="l">
              <a:lnSpc>
                <a:spcPts val="1888"/>
              </a:lnSpc>
              <a:spcBef>
                <a:spcPts val="0"/>
              </a:spcBef>
              <a:spcAft>
                <a:spcPts val="0"/>
              </a:spcAft>
              <a:defRPr sz="1600" b="0">
                <a:solidFill>
                  <a:srgbClr val="183744"/>
                </a:solidFill>
                <a:latin typeface="Arial"/>
              </a:defRPr>
            </a:pPr>
            <a:r>
              <a:t>Ouvrir localhost:8000/docs</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/predict-proba/file</a:t>
            </a:r>
          </a:p>
          <a:p>
            <a:pPr algn="l">
              <a:lnSpc>
                <a:spcPts val="1888"/>
              </a:lnSpc>
              <a:spcBef>
                <a:spcPts val="0"/>
              </a:spcBef>
              <a:spcAft>
                <a:spcPts val="0"/>
              </a:spcAft>
              <a:defRPr sz="1600" b="0">
                <a:solidFill>
                  <a:srgbClr val="183744"/>
                </a:solidFill>
                <a:latin typeface="Arial"/>
              </a:defRPr>
            </a:pPr>
            <a:r>
              <a:t>Fichier : examples/employees.csv</a:t>
            </a:r>
          </a:p>
          <a:p>
            <a:pPr algn="l">
              <a:lnSpc>
                <a:spcPts val="1888"/>
              </a:lnSpc>
              <a:spcBef>
                <a:spcPts val="0"/>
              </a:spcBef>
              <a:spcAft>
                <a:spcPts val="0"/>
              </a:spcAft>
              <a:defRPr sz="1600" b="0">
                <a:solidFill>
                  <a:srgbClr val="183744"/>
                </a:solidFill>
                <a:latin typeface="Arial"/>
              </a:defRPr>
            </a:pPr>
            <a:endParaRPr/>
          </a:p>
          <a:p>
            <a:pPr algn="l">
              <a:lnSpc>
                <a:spcPts val="1888"/>
              </a:lnSpc>
              <a:spcBef>
                <a:spcPts val="0"/>
              </a:spcBef>
              <a:spcAft>
                <a:spcPts val="0"/>
              </a:spcAft>
              <a:defRPr sz="1600" b="0">
                <a:solidFill>
                  <a:srgbClr val="183744"/>
                </a:solidFill>
                <a:latin typeface="Arial"/>
              </a:defRPr>
            </a:pPr>
            <a:r>
              <a:t>POST /score/file</a:t>
            </a:r>
          </a:p>
          <a:p>
            <a:pPr algn="l">
              <a:lnSpc>
                <a:spcPts val="1888"/>
              </a:lnSpc>
              <a:spcBef>
                <a:spcPts val="0"/>
              </a:spcBef>
              <a:spcAft>
                <a:spcPts val="0"/>
              </a:spcAft>
              <a:defRPr sz="1600" b="0">
                <a:solidFill>
                  <a:srgbClr val="183744"/>
                </a:solidFill>
                <a:latin typeface="Arial"/>
              </a:defRPr>
            </a:pPr>
            <a:r>
              <a:t>Fichier : employees_with_target.csv</a:t>
            </a:r>
          </a:p>
        </p:txBody>
      </p:sp>
      <p:sp>
        <p:nvSpPr>
          <p:cNvPr id="12" name="Rounded Rectangle 11"/>
          <p:cNvSpPr/>
          <p:nvPr/>
        </p:nvSpPr>
        <p:spPr>
          <a:xfrm>
            <a:off x="6199632" y="1801368"/>
            <a:ext cx="5394960" cy="356616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99632" y="1801368"/>
            <a:ext cx="41148" cy="35661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9944" y="2020824"/>
            <a:ext cx="4974336" cy="548640"/>
          </a:xfrm>
          <a:prstGeom prst="rect">
            <a:avLst/>
          </a:prstGeom>
          <a:noFill/>
        </p:spPr>
        <p:txBody>
          <a:bodyPr wrap="none" lIns="0" tIns="0" rIns="0" bIns="0" anchor="t">
            <a:spAutoFit/>
          </a:bodyPr>
          <a:lstStyle/>
          <a:p>
            <a:pPr algn="l">
              <a:lnSpc>
                <a:spcPts val="2242"/>
              </a:lnSpc>
              <a:spcBef>
                <a:spcPts val="0"/>
              </a:spcBef>
              <a:spcAft>
                <a:spcPts val="0"/>
              </a:spcAft>
              <a:defRPr sz="1900" b="1">
                <a:solidFill>
                  <a:srgbClr val="007F82"/>
                </a:solidFill>
                <a:latin typeface="Arial"/>
              </a:defRPr>
            </a:pPr>
            <a:r>
              <a:t>2. RETROUVER LA TRACE</a:t>
            </a:r>
          </a:p>
        </p:txBody>
      </p:sp>
      <p:sp>
        <p:nvSpPr>
          <p:cNvPr id="15" name="TextBox 14"/>
          <p:cNvSpPr txBox="1"/>
          <p:nvPr/>
        </p:nvSpPr>
        <p:spPr>
          <a:xfrm>
            <a:off x="6409944" y="2734056"/>
            <a:ext cx="4974336" cy="2478024"/>
          </a:xfrm>
          <a:prstGeom prst="rect">
            <a:avLst/>
          </a:prstGeom>
          <a:noFill/>
        </p:spPr>
        <p:txBody>
          <a:bodyPr wrap="none" lIns="0" tIns="0" rIns="0" bIns="0" anchor="t">
            <a:spAutoFit/>
          </a:bodyPr>
          <a:lstStyle/>
          <a:p>
            <a:pPr algn="l">
              <a:lnSpc>
                <a:spcPts val="2005"/>
              </a:lnSpc>
              <a:spcBef>
                <a:spcPts val="0"/>
              </a:spcBef>
              <a:spcAft>
                <a:spcPts val="0"/>
              </a:spcAft>
              <a:defRPr sz="1700" b="0">
                <a:solidFill>
                  <a:srgbClr val="183744"/>
                </a:solidFill>
                <a:latin typeface="Arial"/>
              </a:defRPr>
            </a:pPr>
            <a:r>
              <a:t>Relever X-Request-ID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Ouvrir public.api_logs</a:t>
            </a:r>
          </a:p>
          <a:p>
            <a:pPr algn="l">
              <a:lnSpc>
                <a:spcPts val="2005"/>
              </a:lnSpc>
              <a:spcBef>
                <a:spcPts val="0"/>
              </a:spcBef>
              <a:spcAft>
                <a:spcPts val="0"/>
              </a:spcAft>
              <a:defRPr sz="1700" b="0">
                <a:solidFill>
                  <a:srgbClr val="183744"/>
                </a:solidFill>
                <a:latin typeface="Arial"/>
              </a:defRPr>
            </a:pPr>
            <a:r>
              <a:t>Filtrer avec requete_id</a:t>
            </a:r>
          </a:p>
          <a:p>
            <a:pPr algn="l">
              <a:lnSpc>
                <a:spcPts val="2005"/>
              </a:lnSpc>
              <a:spcBef>
                <a:spcPts val="0"/>
              </a:spcBef>
              <a:spcAft>
                <a:spcPts val="0"/>
              </a:spcAft>
              <a:defRPr sz="1700" b="0">
                <a:solidFill>
                  <a:srgbClr val="183744"/>
                </a:solidFill>
                <a:latin typeface="Arial"/>
              </a:defRPr>
            </a:pPr>
            <a:endParaRPr/>
          </a:p>
          <a:p>
            <a:pPr algn="l">
              <a:lnSpc>
                <a:spcPts val="2005"/>
              </a:lnSpc>
              <a:spcBef>
                <a:spcPts val="0"/>
              </a:spcBef>
              <a:spcAft>
                <a:spcPts val="0"/>
              </a:spcAft>
              <a:defRPr sz="1700" b="0">
                <a:solidFill>
                  <a:srgbClr val="183744"/>
                </a:solidFill>
                <a:latin typeface="Arial"/>
              </a:defRPr>
            </a:pPr>
            <a:r>
              <a:t>Contrôler route, durée, étape,</a:t>
            </a:r>
          </a:p>
          <a:p>
            <a:pPr algn="l">
              <a:lnSpc>
                <a:spcPts val="2005"/>
              </a:lnSpc>
              <a:spcBef>
                <a:spcPts val="0"/>
              </a:spcBef>
              <a:spcAft>
                <a:spcPts val="0"/>
              </a:spcAft>
              <a:defRPr sz="1700" b="0">
                <a:solidFill>
                  <a:srgbClr val="183744"/>
                </a:solidFill>
                <a:latin typeface="Arial"/>
              </a:defRPr>
            </a:pPr>
            <a:r>
              <a:t>message et résumé du résultat</a:t>
            </a:r>
          </a:p>
        </p:txBody>
      </p:sp>
      <p:sp>
        <p:nvSpPr>
          <p:cNvPr id="16" name="Rounded Rectangle 15"/>
          <p:cNvSpPr/>
          <p:nvPr/>
        </p:nvSpPr>
        <p:spPr>
          <a:xfrm>
            <a:off x="502920" y="557784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4944" y="5687568"/>
            <a:ext cx="10771632" cy="292608"/>
          </a:xfrm>
          <a:prstGeom prst="rect">
            <a:avLst/>
          </a:prstGeom>
          <a:noFill/>
        </p:spPr>
        <p:txBody>
          <a:bodyPr wrap="none" lIns="0" tIns="0" rIns="0" bIns="0" anchor="t">
            <a:spAutoFit/>
          </a:bodyPr>
          <a:lstStyle/>
          <a:p>
            <a:pPr algn="l">
              <a:lnSpc>
                <a:spcPts val="1652"/>
              </a:lnSpc>
              <a:spcBef>
                <a:spcPts val="0"/>
              </a:spcBef>
              <a:spcAft>
                <a:spcPts val="0"/>
              </a:spcAft>
              <a:defRPr sz="1400" b="1">
                <a:solidFill>
                  <a:srgbClr val="007F82"/>
                </a:solidFill>
                <a:latin typeface="Arial"/>
              </a:defRPr>
            </a:pPr>
            <a:r>
              <a:t>Les exemples sont synthétiques : les scores de démonstration ne sont pas des performances ML.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7F8"/>
        </a:solidFill>
        <a:effectLst/>
      </p:bgPr>
    </p:bg>
    <p:spTree>
      <p:nvGrpSpPr>
        <p:cNvPr id="1" name=""/>
        <p:cNvGrpSpPr/>
        <p:nvPr/>
      </p:nvGrpSpPr>
      <p:grpSpPr>
        <a:xfrm>
          <a:off x="0" y="0"/>
          <a:ext cx="0" cy="0"/>
          <a:chOff x="0" y="0"/>
          <a:chExt cx="0" cy="0"/>
        </a:xfrm>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65176"/>
            <a:ext cx="11064240" cy="237744"/>
          </a:xfrm>
          <a:prstGeom prst="rect">
            <a:avLst/>
          </a:prstGeom>
          <a:noFill/>
        </p:spPr>
        <p:txBody>
          <a:bodyPr wrap="none" lIns="0" tIns="0" rIns="0" bIns="0" anchor="t">
            <a:spAutoFit/>
          </a:bodyPr>
          <a:lstStyle/>
          <a:p>
            <a:pPr algn="l">
              <a:lnSpc>
                <a:spcPts val="1238"/>
              </a:lnSpc>
              <a:spcBef>
                <a:spcPts val="0"/>
              </a:spcBef>
              <a:spcAft>
                <a:spcPts val="0"/>
              </a:spcAft>
              <a:defRPr sz="1050" b="1">
                <a:solidFill>
                  <a:srgbClr val="007F82"/>
                </a:solidFill>
                <a:latin typeface="Arial"/>
              </a:defRPr>
            </a:pPr>
            <a:r>
              <a:t>ANNEXE B / RÉFÉRENCES</a:t>
            </a:r>
          </a:p>
        </p:txBody>
      </p:sp>
      <p:sp>
        <p:nvSpPr>
          <p:cNvPr id="4" name="TextBox 3"/>
          <p:cNvSpPr txBox="1"/>
          <p:nvPr/>
        </p:nvSpPr>
        <p:spPr>
          <a:xfrm>
            <a:off x="502920" y="694944"/>
            <a:ext cx="11064240" cy="859536"/>
          </a:xfrm>
          <a:prstGeom prst="rect">
            <a:avLst/>
          </a:prstGeom>
          <a:noFill/>
        </p:spPr>
        <p:txBody>
          <a:bodyPr wrap="none" lIns="0" tIns="0" rIns="0" bIns="0" anchor="t">
            <a:spAutoFit/>
          </a:bodyPr>
          <a:lstStyle/>
          <a:p>
            <a:pPr algn="l">
              <a:lnSpc>
                <a:spcPts val="3304"/>
              </a:lnSpc>
              <a:spcBef>
                <a:spcPts val="0"/>
              </a:spcBef>
              <a:spcAft>
                <a:spcPts val="0"/>
              </a:spcAft>
              <a:defRPr sz="2800" b="1">
                <a:solidFill>
                  <a:srgbClr val="102C3A"/>
                </a:solidFill>
                <a:latin typeface="Arial"/>
              </a:defRPr>
            </a:pPr>
            <a:r>
              <a:t>Sources et éléments de preuve</a:t>
            </a:r>
          </a:p>
        </p:txBody>
      </p:sp>
      <p:sp>
        <p:nvSpPr>
          <p:cNvPr id="5" name="TextBox 4"/>
          <p:cNvSpPr txBox="1"/>
          <p:nvPr/>
        </p:nvSpPr>
        <p:spPr>
          <a:xfrm>
            <a:off x="502920" y="6473952"/>
            <a:ext cx="4572000" cy="182880"/>
          </a:xfrm>
          <a:prstGeom prst="rect">
            <a:avLst/>
          </a:prstGeom>
          <a:noFill/>
        </p:spPr>
        <p:txBody>
          <a:bodyPr wrap="none" lIns="0" tIns="0" r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tIns="0" rIns="0" bIns="0" anchor="t">
            <a:spAutoFit/>
          </a:bodyPr>
          <a:lstStyle/>
          <a:p>
            <a:pPr algn="r">
              <a:lnSpc>
                <a:spcPts val="1180"/>
              </a:lnSpc>
              <a:spcBef>
                <a:spcPts val="0"/>
              </a:spcBef>
              <a:spcAft>
                <a:spcPts val="0"/>
              </a:spcAft>
              <a:defRPr sz="1000" b="0">
                <a:solidFill>
                  <a:srgbClr val="526A75"/>
                </a:solidFill>
                <a:latin typeface="Arial"/>
              </a:defRPr>
            </a:pPr>
            <a:r>
              <a:t>36 / 36</a:t>
            </a:r>
          </a:p>
        </p:txBody>
      </p:sp>
      <p:sp>
        <p:nvSpPr>
          <p:cNvPr id="7" name="TextBox 6"/>
          <p:cNvSpPr txBox="1"/>
          <p:nvPr/>
        </p:nvSpPr>
        <p:spPr>
          <a:xfrm>
            <a:off x="502920" y="6190488"/>
            <a:ext cx="11064240" cy="201168"/>
          </a:xfrm>
          <a:prstGeom prst="rect">
            <a:avLst/>
          </a:prstGeom>
          <a:noFill/>
        </p:spPr>
        <p:txBody>
          <a:bodyPr wrap="none" lIns="0" tIns="0" rIns="0" bIns="0" anchor="t">
            <a:spAutoFit/>
          </a:bodyPr>
          <a:lstStyle/>
          <a:p>
            <a:pPr algn="l">
              <a:lnSpc>
                <a:spcPts val="1002"/>
              </a:lnSpc>
              <a:spcBef>
                <a:spcPts val="0"/>
              </a:spcBef>
              <a:spcAft>
                <a:spcPts val="0"/>
              </a:spcAft>
              <a:defRPr sz="850" b="0">
                <a:solidFill>
                  <a:srgbClr val="526A75"/>
                </a:solidFill>
                <a:latin typeface="Arial"/>
              </a:defRPr>
            </a:pPr>
            <a:r>
              <a:t>Références du projet • état examiné le 27 octobre 2026</a:t>
            </a:r>
          </a:p>
        </p:txBody>
      </p:sp>
      <p:sp>
        <p:nvSpPr>
          <p:cNvPr id="8" name="Rounded Rectangle 7"/>
          <p:cNvSpPr/>
          <p:nvPr/>
        </p:nvSpPr>
        <p:spPr>
          <a:xfrm>
            <a:off x="594360" y="1737360"/>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3816" y="1856231"/>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DONNÉES ET MODÈLE</a:t>
            </a:r>
          </a:p>
        </p:txBody>
      </p:sp>
      <p:sp>
        <p:nvSpPr>
          <p:cNvPr id="10" name="TextBox 9"/>
          <p:cNvSpPr txBox="1"/>
          <p:nvPr/>
        </p:nvSpPr>
        <p:spPr>
          <a:xfrm>
            <a:off x="813816" y="2212848"/>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dataScientistTechNova.ipynb • cellules 28 à 41</a:t>
            </a:r>
          </a:p>
          <a:p>
            <a:pPr algn="l">
              <a:lnSpc>
                <a:spcPts val="1652"/>
              </a:lnSpc>
              <a:spcBef>
                <a:spcPts val="0"/>
              </a:spcBef>
              <a:spcAft>
                <a:spcPts val="0"/>
              </a:spcAft>
              <a:defRPr sz="1400" b="0">
                <a:solidFill>
                  <a:srgbClr val="183744"/>
                </a:solidFill>
                <a:latin typeface="Arial"/>
              </a:defRPr>
            </a:pPr>
            <a:r>
              <a:t>docs/model.md • docs/model_metrics.json</a:t>
            </a:r>
          </a:p>
        </p:txBody>
      </p:sp>
      <p:sp>
        <p:nvSpPr>
          <p:cNvPr id="11" name="Rounded Rectangle 10"/>
          <p:cNvSpPr/>
          <p:nvPr/>
        </p:nvSpPr>
        <p:spPr>
          <a:xfrm>
            <a:off x="594360" y="3127248"/>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 y="3246120"/>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API, BDD ET VALIDATION</a:t>
            </a:r>
          </a:p>
        </p:txBody>
      </p:sp>
      <p:sp>
        <p:nvSpPr>
          <p:cNvPr id="13" name="TextBox 12"/>
          <p:cNvSpPr txBox="1"/>
          <p:nvPr/>
        </p:nvSpPr>
        <p:spPr>
          <a:xfrm>
            <a:off x="813816" y="3602736"/>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docs/api.md • docs/api_validation.md</a:t>
            </a:r>
          </a:p>
          <a:p>
            <a:pPr algn="l">
              <a:lnSpc>
                <a:spcPts val="1652"/>
              </a:lnSpc>
              <a:spcBef>
                <a:spcPts val="0"/>
              </a:spcBef>
              <a:spcAft>
                <a:spcPts val="0"/>
              </a:spcAft>
              <a:defRPr sz="1400" b="0">
                <a:solidFill>
                  <a:srgbClr val="183744"/>
                </a:solidFill>
                <a:latin typeface="Arial"/>
              </a:defRPr>
            </a:pPr>
            <a:r>
              <a:t>docs/database.md • docs/api_logs.md</a:t>
            </a:r>
          </a:p>
        </p:txBody>
      </p:sp>
      <p:sp>
        <p:nvSpPr>
          <p:cNvPr id="14" name="Rounded Rectangle 13"/>
          <p:cNvSpPr/>
          <p:nvPr/>
        </p:nvSpPr>
        <p:spPr>
          <a:xfrm>
            <a:off x="594360" y="4517136"/>
            <a:ext cx="11018520" cy="12344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 y="4636007"/>
            <a:ext cx="10561320" cy="320040"/>
          </a:xfrm>
          <a:prstGeom prst="rect">
            <a:avLst/>
          </a:prstGeom>
          <a:noFill/>
        </p:spPr>
        <p:txBody>
          <a:bodyPr wrap="none" lIns="0" tIns="0" rIns="0" bIns="0" anchor="t">
            <a:spAutoFit/>
          </a:bodyPr>
          <a:lstStyle/>
          <a:p>
            <a:pPr algn="l">
              <a:lnSpc>
                <a:spcPts val="1770"/>
              </a:lnSpc>
              <a:spcBef>
                <a:spcPts val="0"/>
              </a:spcBef>
              <a:spcAft>
                <a:spcPts val="0"/>
              </a:spcAft>
              <a:defRPr sz="1500" b="1">
                <a:solidFill>
                  <a:srgbClr val="007F82"/>
                </a:solidFill>
                <a:latin typeface="Arial"/>
              </a:defRPr>
            </a:pPr>
            <a:r>
              <a:t>EXPLOITATION ET SOURCES</a:t>
            </a:r>
          </a:p>
        </p:txBody>
      </p:sp>
      <p:sp>
        <p:nvSpPr>
          <p:cNvPr id="16" name="TextBox 15"/>
          <p:cNvSpPr txBox="1"/>
          <p:nvPr/>
        </p:nvSpPr>
        <p:spPr>
          <a:xfrm>
            <a:off x="813816" y="4992623"/>
            <a:ext cx="10561320" cy="685800"/>
          </a:xfrm>
          <a:prstGeom prst="rect">
            <a:avLst/>
          </a:prstGeom>
          <a:noFill/>
        </p:spPr>
        <p:txBody>
          <a:bodyPr wrap="none" lIns="0" tIns="0" rIns="0" bIns="0" anchor="t">
            <a:spAutoFit/>
          </a:bodyPr>
          <a:lstStyle/>
          <a:p>
            <a:pPr algn="l">
              <a:lnSpc>
                <a:spcPts val="1652"/>
              </a:lnSpc>
              <a:spcBef>
                <a:spcPts val="0"/>
              </a:spcBef>
              <a:spcAft>
                <a:spcPts val="0"/>
              </a:spcAft>
              <a:defRPr sz="1400" b="0">
                <a:solidFill>
                  <a:srgbClr val="183744"/>
                </a:solidFill>
                <a:latin typeface="Arial"/>
              </a:defRPr>
            </a:pPr>
            <a:r>
              <a:t>docs/maintenance.md • docs/deployment.md</a:t>
            </a:r>
          </a:p>
          <a:p>
            <a:pPr algn="l">
              <a:lnSpc>
                <a:spcPts val="1652"/>
              </a:lnSpc>
              <a:spcBef>
                <a:spcPts val="0"/>
              </a:spcBef>
              <a:spcAft>
                <a:spcPts val="0"/>
              </a:spcAft>
              <a:defRPr sz="1400" b="0">
                <a:solidFill>
                  <a:srgbClr val="183744"/>
                </a:solidFill>
                <a:latin typeface="Arial"/>
              </a:defRPr>
            </a:pPr>
            <a:r>
              <a:t>github.com/samuelGabbai/P5_Futurisys</a:t>
            </a:r>
          </a:p>
          <a:p>
            <a:pPr algn="l">
              <a:lnSpc>
                <a:spcPts val="1652"/>
              </a:lnSpc>
              <a:spcBef>
                <a:spcPts val="0"/>
              </a:spcBef>
              <a:spcAft>
                <a:spcPts val="0"/>
              </a:spcAft>
              <a:defRPr sz="1400" b="0">
                <a:solidFill>
                  <a:srgbClr val="183744"/>
                </a:solidFill>
                <a:latin typeface="Arial"/>
              </a:defRPr>
            </a:pPr>
            <a:r>
              <a:t>huggingface.co/SamGabb/hrnova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1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Un environnement = une instance et sa configuration</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28 / 36</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Sources : docs/deployment.md · .github/workflows/ci.yml</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Development</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Développer et déboguer</a:t>
            </a:r>
          </a:p>
          <a:p>
            <a:pPr algn="l">
              <a:lnSpc>
                <a:spcPts val="2005"/>
              </a:lnSpc>
              <a:spcBef>
                <a:spcPts val="0"/>
              </a:spcBef>
              <a:spcAft>
                <a:spcPts val="0"/>
              </a:spcAft>
              <a:defRPr sz="1700" b="0">
                <a:solidFill>
                  <a:srgbClr val="183744"/>
                </a:solidFill>
                <a:latin typeface="Arial"/>
              </a:defRPr>
            </a:pPr>
            <a:r>
              <a:t>Données de test</a:t>
            </a:r>
          </a:p>
          <a:p>
            <a:pPr algn="l">
              <a:lnSpc>
                <a:spcPts val="2005"/>
              </a:lnSpc>
              <a:spcBef>
                <a:spcPts val="0"/>
              </a:spcBef>
              <a:spcAft>
                <a:spcPts val="0"/>
              </a:spcAft>
              <a:defRPr sz="1700" b="0">
                <a:solidFill>
                  <a:srgbClr val="183744"/>
                </a:solidFill>
                <a:latin typeface="Arial"/>
              </a:defRPr>
            </a:pPr>
            <a:r>
              <a:t>Retours rapides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Staging</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Préproduction</a:t>
            </a:r>
          </a:p>
          <a:p>
            <a:pPr algn="l">
              <a:lnSpc>
                <a:spcPts val="2005"/>
              </a:lnSpc>
              <a:spcBef>
                <a:spcPts val="0"/>
              </a:spcBef>
              <a:spcAft>
                <a:spcPts val="0"/>
              </a:spcAft>
              <a:defRPr sz="1700" b="0">
                <a:solidFill>
                  <a:srgbClr val="183744"/>
                </a:solidFill>
                <a:latin typeface="Arial"/>
              </a:defRPr>
            </a:pPr>
            <a:r>
              <a:t>Tester le candidat</a:t>
            </a:r>
          </a:p>
          <a:p>
            <a:pPr algn="l">
              <a:lnSpc>
                <a:spcPts val="2005"/>
              </a:lnSpc>
              <a:spcBef>
                <a:spcPts val="0"/>
              </a:spcBef>
              <a:spcAft>
                <a:spcPts val="0"/>
              </a:spcAft>
              <a:defRPr sz="1700" b="0">
                <a:solidFill>
                  <a:srgbClr val="183744"/>
                </a:solidFill>
                <a:latin typeface="Arial"/>
              </a:defRPr>
            </a:pPr>
            <a:r>
              <a:t>Configuration réaliste</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Production</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Servir les utilisateurs</a:t>
            </a:r>
          </a:p>
          <a:p>
            <a:pPr algn="l">
              <a:lnSpc>
                <a:spcPts val="2005"/>
              </a:lnSpc>
              <a:spcBef>
                <a:spcPts val="0"/>
              </a:spcBef>
              <a:spcAft>
                <a:spcPts val="0"/>
              </a:spcAft>
              <a:defRPr sz="1700" b="0">
                <a:solidFill>
                  <a:srgbClr val="183744"/>
                </a:solidFill>
                <a:latin typeface="Arial"/>
              </a:defRPr>
            </a:pPr>
            <a:r>
              <a:t>Données et accès dédiés</a:t>
            </a:r>
          </a:p>
          <a:p>
            <a:pPr algn="l">
              <a:lnSpc>
                <a:spcPts val="2005"/>
              </a:lnSpc>
              <a:spcBef>
                <a:spcPts val="0"/>
              </a:spcBef>
              <a:spcAft>
                <a:spcPts val="0"/>
              </a:spcAft>
              <a:defRPr sz="1700" b="0">
                <a:solidFill>
                  <a:srgbClr val="183744"/>
                </a:solidFill>
                <a:latin typeface="Arial"/>
              </a:defRPr>
            </a:pPr>
            <a:r>
              <a:t>Version validée</a:t>
            </a:r>
          </a:p>
        </p:txBody>
      </p:sp>
      <p:sp>
        <p:nvSpPr>
          <p:cNvPr id="22" name="Rounded Rectangle 21"/>
          <p:cNvSpPr/>
          <p:nvPr/>
        </p:nvSpPr>
        <p:spPr>
          <a:xfrm>
            <a:off x="502920" y="521208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32180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Séparer les bases, les secrets et les instances ; identifier les versions du code et du modèle.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2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Du push à la mise en production</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29 / 36</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 : docs/deployment.md — protocole cible</a:t>
            </a:r>
          </a:p>
        </p:txBody>
      </p:sp>
      <p:sp>
        <p:nvSpPr>
          <p:cNvPr id="8" name="Rounded Rectangle 7"/>
          <p:cNvSpPr/>
          <p:nvPr/>
        </p:nvSpPr>
        <p:spPr>
          <a:xfrm>
            <a:off x="502920"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1. Construire</a:t>
            </a:r>
          </a:p>
        </p:txBody>
      </p:sp>
      <p:sp>
        <p:nvSpPr>
          <p:cNvPr id="11" name="TextBox 10"/>
          <p:cNvSpPr txBox="1"/>
          <p:nvPr/>
        </p:nvSpPr>
        <p:spPr>
          <a:xfrm>
            <a:off x="713232"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Push et pull request</a:t>
            </a:r>
          </a:p>
          <a:p>
            <a:pPr algn="l">
              <a:lnSpc>
                <a:spcPts val="2005"/>
              </a:lnSpc>
              <a:spcBef>
                <a:spcPts val="0"/>
              </a:spcBef>
              <a:spcAft>
                <a:spcPts val="0"/>
              </a:spcAft>
              <a:defRPr sz="1700" b="0">
                <a:solidFill>
                  <a:srgbClr val="183744"/>
                </a:solidFill>
                <a:latin typeface="Arial"/>
              </a:defRPr>
            </a:pPr>
            <a:r>
              <a:t>Tests automatiques</a:t>
            </a:r>
          </a:p>
          <a:p>
            <a:pPr algn="l">
              <a:lnSpc>
                <a:spcPts val="2005"/>
              </a:lnSpc>
              <a:spcBef>
                <a:spcPts val="0"/>
              </a:spcBef>
              <a:spcAft>
                <a:spcPts val="0"/>
              </a:spcAft>
              <a:defRPr sz="1700" b="0">
                <a:solidFill>
                  <a:srgbClr val="183744"/>
                </a:solidFill>
                <a:latin typeface="Arial"/>
              </a:defRPr>
            </a:pPr>
            <a:r>
              <a:t>Artefacts versionnés</a:t>
            </a:r>
          </a:p>
        </p:txBody>
      </p:sp>
      <p:cxnSp>
        <p:nvCxnSpPr>
          <p:cNvPr id="12" name="Connector 11"/>
          <p:cNvCxnSpPr/>
          <p:nvPr/>
        </p:nvCxnSpPr>
        <p:spPr>
          <a:xfrm>
            <a:off x="4078224"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06823"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3"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2. Vérifier</a:t>
            </a:r>
          </a:p>
        </p:txBody>
      </p:sp>
      <p:sp>
        <p:nvSpPr>
          <p:cNvPr id="16" name="TextBox 15"/>
          <p:cNvSpPr txBox="1"/>
          <p:nvPr/>
        </p:nvSpPr>
        <p:spPr>
          <a:xfrm>
            <a:off x="4517136"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Candidat en staging</a:t>
            </a:r>
          </a:p>
          <a:p>
            <a:pPr algn="l">
              <a:lnSpc>
                <a:spcPts val="2005"/>
              </a:lnSpc>
              <a:spcBef>
                <a:spcPts val="0"/>
              </a:spcBef>
              <a:spcAft>
                <a:spcPts val="0"/>
              </a:spcAft>
              <a:defRPr sz="1700" b="0">
                <a:solidFill>
                  <a:srgbClr val="183744"/>
                </a:solidFill>
                <a:latin typeface="Arial"/>
              </a:defRPr>
            </a:pPr>
            <a:r>
              <a:t>Tests d’intégration</a:t>
            </a:r>
          </a:p>
          <a:p>
            <a:pPr algn="l">
              <a:lnSpc>
                <a:spcPts val="2005"/>
              </a:lnSpc>
              <a:spcBef>
                <a:spcPts val="0"/>
              </a:spcBef>
              <a:spcAft>
                <a:spcPts val="0"/>
              </a:spcAft>
              <a:defRPr sz="1700" b="0">
                <a:solidFill>
                  <a:srgbClr val="183744"/>
                </a:solidFill>
                <a:latin typeface="Arial"/>
              </a:defRPr>
            </a:pPr>
            <a:r>
              <a:t>Validation de version</a:t>
            </a:r>
          </a:p>
        </p:txBody>
      </p:sp>
      <p:cxnSp>
        <p:nvCxnSpPr>
          <p:cNvPr id="17" name="Connector 16"/>
          <p:cNvCxnSpPr/>
          <p:nvPr/>
        </p:nvCxnSpPr>
        <p:spPr>
          <a:xfrm>
            <a:off x="7882127" y="3017520"/>
            <a:ext cx="201168" cy="0"/>
          </a:xfrm>
          <a:prstGeom prst="line">
            <a:avLst/>
          </a:prstGeom>
          <a:ln w="25400">
            <a:solidFill>
              <a:srgbClr val="007F82"/>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0727" y="1874519"/>
            <a:ext cx="3547871" cy="23317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0727" y="1874519"/>
            <a:ext cx="41148" cy="2331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093976"/>
            <a:ext cx="3127247"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3. Mettre en service</a:t>
            </a:r>
          </a:p>
        </p:txBody>
      </p:sp>
      <p:sp>
        <p:nvSpPr>
          <p:cNvPr id="21" name="TextBox 20"/>
          <p:cNvSpPr txBox="1"/>
          <p:nvPr/>
        </p:nvSpPr>
        <p:spPr>
          <a:xfrm>
            <a:off x="8321040" y="2807208"/>
            <a:ext cx="3127247" cy="124358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Déployer en production</a:t>
            </a:r>
          </a:p>
          <a:p>
            <a:pPr algn="l">
              <a:lnSpc>
                <a:spcPts val="2005"/>
              </a:lnSpc>
              <a:spcBef>
                <a:spcPts val="0"/>
              </a:spcBef>
              <a:spcAft>
                <a:spcPts val="0"/>
              </a:spcAft>
              <a:defRPr sz="1700" b="0">
                <a:solidFill>
                  <a:srgbClr val="183744"/>
                </a:solidFill>
                <a:latin typeface="Arial"/>
              </a:defRPr>
            </a:pPr>
            <a:r>
              <a:t>Redémarrer et vérifier</a:t>
            </a:r>
          </a:p>
          <a:p>
            <a:pPr algn="l">
              <a:lnSpc>
                <a:spcPts val="2005"/>
              </a:lnSpc>
              <a:spcBef>
                <a:spcPts val="0"/>
              </a:spcBef>
              <a:spcAft>
                <a:spcPts val="0"/>
              </a:spcAft>
              <a:defRPr sz="1700" b="0">
                <a:solidFill>
                  <a:srgbClr val="183744"/>
                </a:solidFill>
                <a:latin typeface="Arial"/>
              </a:defRPr>
            </a:pPr>
            <a:r>
              <a:t>Suivre les traces</a:t>
            </a:r>
          </a:p>
        </p:txBody>
      </p:sp>
      <p:sp>
        <p:nvSpPr>
          <p:cNvPr id="22" name="Rounded Rectangle 21"/>
          <p:cNvSpPr/>
          <p:nvPr/>
        </p:nvSpPr>
        <p:spPr>
          <a:xfrm>
            <a:off x="502920" y="521208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4944" y="532180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Une mise à jour du dépôt Hugging Face ne redémarre pas l’API et ne réentraîne pas le modèle.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3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GitHub Environments : variables, secrets et règles</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30 / 36</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 : .github/workflows/ci.yml · docs/deployment.md</a:t>
            </a:r>
          </a:p>
        </p:txBody>
      </p:sp>
      <p:sp>
        <p:nvSpPr>
          <p:cNvPr id="8" name="Rectangle 7"/>
          <p:cNvSpPr/>
          <p:nvPr/>
        </p:nvSpPr>
        <p:spPr>
          <a:xfrm>
            <a:off x="502920" y="1828800"/>
            <a:ext cx="11155680" cy="731520"/>
          </a:xfrm>
          <a:prstGeom prst="rect">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56816"/>
            <a:ext cx="248716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Branche</a:t>
            </a:r>
          </a:p>
        </p:txBody>
      </p:sp>
      <p:sp>
        <p:nvSpPr>
          <p:cNvPr id="10" name="TextBox 9"/>
          <p:cNvSpPr txBox="1"/>
          <p:nvPr/>
        </p:nvSpPr>
        <p:spPr>
          <a:xfrm>
            <a:off x="3374136" y="1956816"/>
            <a:ext cx="221284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Environnement</a:t>
            </a:r>
          </a:p>
        </p:txBody>
      </p:sp>
      <p:sp>
        <p:nvSpPr>
          <p:cNvPr id="11" name="TextBox 10"/>
          <p:cNvSpPr txBox="1"/>
          <p:nvPr/>
        </p:nvSpPr>
        <p:spPr>
          <a:xfrm>
            <a:off x="5843016" y="1956816"/>
            <a:ext cx="5687568" cy="576072"/>
          </a:xfrm>
          <a:prstGeom prst="rect">
            <a:avLst/>
          </a:prstGeom>
          <a:noFill/>
        </p:spPr>
        <p:txBody>
          <a:bodyPr wrap="none" lIns="0" rIns="0" tIns="0" bIns="0" anchor="t">
            <a:spAutoFit/>
          </a:bodyPr>
          <a:lstStyle/>
          <a:p>
            <a:pPr algn="l">
              <a:lnSpc>
                <a:spcPts val="2005"/>
              </a:lnSpc>
              <a:spcBef>
                <a:spcPts val="0"/>
              </a:spcBef>
              <a:spcAft>
                <a:spcPts val="0"/>
              </a:spcAft>
              <a:defRPr sz="1700" b="1">
                <a:solidFill>
                  <a:srgbClr val="FFFFFF"/>
                </a:solidFill>
                <a:latin typeface="Arial"/>
              </a:defRPr>
            </a:pPr>
            <a:r>
              <a:t>Rôle actuel dans HRNova</a:t>
            </a:r>
          </a:p>
        </p:txBody>
      </p:sp>
      <p:sp>
        <p:nvSpPr>
          <p:cNvPr id="12" name="Rectangle 11"/>
          <p:cNvSpPr/>
          <p:nvPr/>
        </p:nvSpPr>
        <p:spPr>
          <a:xfrm>
            <a:off x="502920" y="2560320"/>
            <a:ext cx="1115568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 y="2679191"/>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Branche de travail</a:t>
            </a:r>
          </a:p>
        </p:txBody>
      </p:sp>
      <p:sp>
        <p:nvSpPr>
          <p:cNvPr id="14" name="TextBox 13"/>
          <p:cNvSpPr txBox="1"/>
          <p:nvPr/>
        </p:nvSpPr>
        <p:spPr>
          <a:xfrm>
            <a:off x="3374136" y="2679191"/>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development</a:t>
            </a:r>
          </a:p>
        </p:txBody>
      </p:sp>
      <p:sp>
        <p:nvSpPr>
          <p:cNvPr id="15" name="TextBox 14"/>
          <p:cNvSpPr txBox="1"/>
          <p:nvPr/>
        </p:nvSpPr>
        <p:spPr>
          <a:xfrm>
            <a:off x="5843016" y="2679191"/>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de configuration et tests</a:t>
            </a:r>
          </a:p>
        </p:txBody>
      </p:sp>
      <p:sp>
        <p:nvSpPr>
          <p:cNvPr id="16" name="Rectangle 15"/>
          <p:cNvSpPr/>
          <p:nvPr/>
        </p:nvSpPr>
        <p:spPr>
          <a:xfrm>
            <a:off x="502920" y="3291840"/>
            <a:ext cx="11155680" cy="731520"/>
          </a:xfrm>
          <a:prstGeom prst="rect">
            <a:avLst/>
          </a:prstGeom>
          <a:solidFill>
            <a:srgbClr val="EAF0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 y="3410712"/>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develop</a:t>
            </a:r>
          </a:p>
        </p:txBody>
      </p:sp>
      <p:sp>
        <p:nvSpPr>
          <p:cNvPr id="18" name="TextBox 17"/>
          <p:cNvSpPr txBox="1"/>
          <p:nvPr/>
        </p:nvSpPr>
        <p:spPr>
          <a:xfrm>
            <a:off x="3374136" y="3410712"/>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staging</a:t>
            </a:r>
          </a:p>
        </p:txBody>
      </p:sp>
      <p:sp>
        <p:nvSpPr>
          <p:cNvPr id="19" name="TextBox 18"/>
          <p:cNvSpPr txBox="1"/>
          <p:nvPr/>
        </p:nvSpPr>
        <p:spPr>
          <a:xfrm>
            <a:off x="5843016" y="3410712"/>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de configuration et tests</a:t>
            </a:r>
          </a:p>
        </p:txBody>
      </p:sp>
      <p:sp>
        <p:nvSpPr>
          <p:cNvPr id="20" name="Rectangle 19"/>
          <p:cNvSpPr/>
          <p:nvPr/>
        </p:nvSpPr>
        <p:spPr>
          <a:xfrm>
            <a:off x="502920" y="4023360"/>
            <a:ext cx="1115568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 y="4142232"/>
            <a:ext cx="24871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main</a:t>
            </a:r>
          </a:p>
        </p:txBody>
      </p:sp>
      <p:sp>
        <p:nvSpPr>
          <p:cNvPr id="22" name="TextBox 21"/>
          <p:cNvSpPr txBox="1"/>
          <p:nvPr/>
        </p:nvSpPr>
        <p:spPr>
          <a:xfrm>
            <a:off x="3374136" y="4142232"/>
            <a:ext cx="221284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production</a:t>
            </a:r>
          </a:p>
        </p:txBody>
      </p:sp>
      <p:sp>
        <p:nvSpPr>
          <p:cNvPr id="23" name="TextBox 22"/>
          <p:cNvSpPr txBox="1"/>
          <p:nvPr/>
        </p:nvSpPr>
        <p:spPr>
          <a:xfrm>
            <a:off x="5843016" y="4142232"/>
            <a:ext cx="5687568" cy="585216"/>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Validation puis publication Hugging Face</a:t>
            </a:r>
          </a:p>
        </p:txBody>
      </p:sp>
      <p:sp>
        <p:nvSpPr>
          <p:cNvPr id="24" name="Rounded Rectangle 23"/>
          <p:cNvSpPr/>
          <p:nvPr/>
        </p:nvSpPr>
        <p:spPr>
          <a:xfrm>
            <a:off x="502920" y="5303520"/>
            <a:ext cx="11155680" cy="502920"/>
          </a:xfrm>
          <a:prstGeom prst="roundRect">
            <a:avLst>
              <a:gd name="adj" fmla="val 10000"/>
            </a:avLst>
          </a:prstGeom>
          <a:solidFill>
            <a:srgbClr val="E3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 y="5413248"/>
            <a:ext cx="10771632" cy="292608"/>
          </a:xfrm>
          <a:prstGeom prst="rect">
            <a:avLst/>
          </a:prstGeom>
          <a:noFill/>
        </p:spPr>
        <p:txBody>
          <a:bodyPr wrap="none" lIns="0" rIns="0" tIns="0" bIns="0" anchor="t">
            <a:spAutoFit/>
          </a:bodyPr>
          <a:lstStyle/>
          <a:p>
            <a:pPr algn="l">
              <a:lnSpc>
                <a:spcPts val="1652"/>
              </a:lnSpc>
              <a:spcBef>
                <a:spcPts val="0"/>
              </a:spcBef>
              <a:spcAft>
                <a:spcPts val="0"/>
              </a:spcAft>
              <a:defRPr sz="1400" b="1">
                <a:solidFill>
                  <a:srgbClr val="007F82"/>
                </a:solidFill>
                <a:latin typeface="Arial"/>
              </a:defRPr>
            </a:pPr>
            <a:r>
              <a:t>Un environnement GitHub protège un job ; il ne provisionne pas une API ni une base distante.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8"/>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37744"/>
          </a:xfrm>
          <a:prstGeom prst="rect">
            <a:avLst/>
          </a:prstGeom>
          <a:noFill/>
        </p:spPr>
        <p:txBody>
          <a:bodyPr wrap="none" lIns="0" rIns="0" tIns="0" bIns="0" anchor="t">
            <a:spAutoFit/>
          </a:bodyPr>
          <a:lstStyle/>
          <a:p>
            <a:pPr algn="l">
              <a:lnSpc>
                <a:spcPts val="1238"/>
              </a:lnSpc>
              <a:spcBef>
                <a:spcPts val="0"/>
              </a:spcBef>
              <a:spcAft>
                <a:spcPts val="0"/>
              </a:spcAft>
              <a:defRPr sz="1050" b="1">
                <a:solidFill>
                  <a:srgbClr val="007F82"/>
                </a:solidFill>
                <a:latin typeface="Arial"/>
              </a:defRPr>
            </a:pPr>
            <a:r>
              <a:t>DÉPLOIEMENT · 4 / 4</a:t>
            </a:r>
          </a:p>
        </p:txBody>
      </p:sp>
      <p:sp>
        <p:nvSpPr>
          <p:cNvPr id="4" name="TextBox 3"/>
          <p:cNvSpPr txBox="1"/>
          <p:nvPr/>
        </p:nvSpPr>
        <p:spPr>
          <a:xfrm>
            <a:off x="502920" y="694944"/>
            <a:ext cx="11064240" cy="859536"/>
          </a:xfrm>
          <a:prstGeom prst="rect">
            <a:avLst/>
          </a:prstGeom>
          <a:noFill/>
        </p:spPr>
        <p:txBody>
          <a:bodyPr wrap="none" lIns="0" rIns="0" tIns="0" bIns="0" anchor="t">
            <a:spAutoFit/>
          </a:bodyPr>
          <a:lstStyle/>
          <a:p>
            <a:pPr algn="l">
              <a:lnSpc>
                <a:spcPts val="3304"/>
              </a:lnSpc>
              <a:spcBef>
                <a:spcPts val="0"/>
              </a:spcBef>
              <a:spcAft>
                <a:spcPts val="0"/>
              </a:spcAft>
              <a:defRPr sz="2800" b="1">
                <a:solidFill>
                  <a:srgbClr val="102C3A"/>
                </a:solidFill>
                <a:latin typeface="Arial"/>
              </a:defRPr>
            </a:pPr>
            <a:r>
              <a:t>Configurer, vérifier et pouvoir revenir en arrière</a:t>
            </a:r>
          </a:p>
        </p:txBody>
      </p:sp>
      <p:sp>
        <p:nvSpPr>
          <p:cNvPr id="5" name="TextBox 4"/>
          <p:cNvSpPr txBox="1"/>
          <p:nvPr/>
        </p:nvSpPr>
        <p:spPr>
          <a:xfrm>
            <a:off x="502920" y="6473952"/>
            <a:ext cx="4572000" cy="182880"/>
          </a:xfrm>
          <a:prstGeom prst="rect">
            <a:avLst/>
          </a:prstGeom>
          <a:noFill/>
        </p:spPr>
        <p:txBody>
          <a:bodyPr wrap="none" lIns="0" rIns="0" tIns="0" bIns="0" anchor="t">
            <a:spAutoFit/>
          </a:bodyPr>
          <a:lstStyle/>
          <a:p>
            <a:pPr algn="l">
              <a:lnSpc>
                <a:spcPts val="1062"/>
              </a:lnSpc>
              <a:spcBef>
                <a:spcPts val="0"/>
              </a:spcBef>
              <a:spcAft>
                <a:spcPts val="0"/>
              </a:spcAft>
              <a:defRPr sz="900" b="0">
                <a:solidFill>
                  <a:srgbClr val="526A75"/>
                </a:solidFill>
                <a:latin typeface="Arial"/>
              </a:defRPr>
            </a:pPr>
            <a:r>
              <a:t>SAMUEL GABBAI / HRNOVA</a:t>
            </a:r>
          </a:p>
        </p:txBody>
      </p:sp>
      <p:sp>
        <p:nvSpPr>
          <p:cNvPr id="6" name="TextBox 5"/>
          <p:cNvSpPr txBox="1"/>
          <p:nvPr/>
        </p:nvSpPr>
        <p:spPr>
          <a:xfrm>
            <a:off x="10652760" y="6455664"/>
            <a:ext cx="1024128" cy="210312"/>
          </a:xfrm>
          <a:prstGeom prst="rect">
            <a:avLst/>
          </a:prstGeom>
          <a:noFill/>
        </p:spPr>
        <p:txBody>
          <a:bodyPr wrap="none" lIns="0" rIns="0" tIns="0" bIns="0" anchor="t">
            <a:spAutoFit/>
          </a:bodyPr>
          <a:lstStyle/>
          <a:p>
            <a:pPr algn="r">
              <a:lnSpc>
                <a:spcPts val="1180"/>
              </a:lnSpc>
              <a:spcBef>
                <a:spcPts val="0"/>
              </a:spcBef>
              <a:spcAft>
                <a:spcPts val="0"/>
              </a:spcAft>
              <a:defRPr sz="1000" b="0">
                <a:solidFill>
                  <a:srgbClr val="526A75"/>
                </a:solidFill>
                <a:latin typeface="Arial"/>
              </a:defRPr>
            </a:pPr>
            <a:r>
              <a:t>31 / 36</a:t>
            </a:r>
          </a:p>
        </p:txBody>
      </p:sp>
      <p:sp>
        <p:nvSpPr>
          <p:cNvPr id="7" name="TextBox 6"/>
          <p:cNvSpPr txBox="1"/>
          <p:nvPr/>
        </p:nvSpPr>
        <p:spPr>
          <a:xfrm>
            <a:off x="502920" y="6190488"/>
            <a:ext cx="11064240" cy="201168"/>
          </a:xfrm>
          <a:prstGeom prst="rect">
            <a:avLst/>
          </a:prstGeom>
          <a:noFill/>
        </p:spPr>
        <p:txBody>
          <a:bodyPr wrap="none" lIns="0" rIns="0" tIns="0" bIns="0" anchor="t">
            <a:spAutoFit/>
          </a:bodyPr>
          <a:lstStyle/>
          <a:p>
            <a:pPr algn="l">
              <a:lnSpc>
                <a:spcPts val="1002"/>
              </a:lnSpc>
              <a:spcBef>
                <a:spcPts val="0"/>
              </a:spcBef>
              <a:spcAft>
                <a:spcPts val="0"/>
              </a:spcAft>
              <a:defRPr sz="850" b="0">
                <a:solidFill>
                  <a:srgbClr val="526A75"/>
                </a:solidFill>
                <a:latin typeface="Arial"/>
              </a:defRPr>
            </a:pPr>
            <a:r>
              <a:t>Sources : docs/deployment.md · docs/maintenance.md</a:t>
            </a:r>
          </a:p>
        </p:txBody>
      </p:sp>
      <p:sp>
        <p:nvSpPr>
          <p:cNvPr id="8" name="Rounded Rectangle 7"/>
          <p:cNvSpPr/>
          <p:nvPr/>
        </p:nvSpPr>
        <p:spPr>
          <a:xfrm>
            <a:off x="502920" y="1783080"/>
            <a:ext cx="11155680" cy="1737360"/>
          </a:xfrm>
          <a:prstGeom prst="roundRect">
            <a:avLst>
              <a:gd name="adj" fmla="val 10000"/>
            </a:avLst>
          </a:prstGeom>
          <a:solidFill>
            <a:srgbClr val="10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984248"/>
            <a:ext cx="10753344" cy="1335024"/>
          </a:xfrm>
          <a:prstGeom prst="rect">
            <a:avLst/>
          </a:prstGeom>
          <a:noFill/>
        </p:spPr>
        <p:txBody>
          <a:bodyPr wrap="none" lIns="0" rIns="0" tIns="0" bIns="0" anchor="t">
            <a:spAutoFit/>
          </a:bodyPr>
          <a:lstStyle/>
          <a:p>
            <a:pPr algn="l">
              <a:lnSpc>
                <a:spcPts val="2242"/>
              </a:lnSpc>
              <a:spcBef>
                <a:spcPts val="0"/>
              </a:spcBef>
              <a:spcAft>
                <a:spcPts val="0"/>
              </a:spcAft>
              <a:defRPr sz="1900" b="0">
                <a:solidFill>
                  <a:srgbClr val="FFFFFF"/>
                </a:solidFill>
                <a:latin typeface="Arial"/>
              </a:defRPr>
            </a:pPr>
            <a:r>
              <a:t># Exemple : instance staging déjà préparée</a:t>
            </a:r>
          </a:p>
          <a:p>
            <a:pPr algn="l">
              <a:lnSpc>
                <a:spcPts val="2242"/>
              </a:lnSpc>
              <a:spcBef>
                <a:spcPts val="0"/>
              </a:spcBef>
              <a:spcAft>
                <a:spcPts val="0"/>
              </a:spcAft>
              <a:defRPr sz="1900" b="0">
                <a:solidFill>
                  <a:srgbClr val="FFFFFF"/>
                </a:solidFill>
                <a:latin typeface="Arial"/>
              </a:defRPr>
            </a:pPr>
            <a:r>
              <a:t>uv run --no-sync uvicorn api:app \</a:t>
            </a:r>
          </a:p>
          <a:p>
            <a:pPr algn="l">
              <a:lnSpc>
                <a:spcPts val="2242"/>
              </a:lnSpc>
              <a:spcBef>
                <a:spcPts val="0"/>
              </a:spcBef>
              <a:spcAft>
                <a:spcPts val="0"/>
              </a:spcAft>
              <a:defRPr sz="1900" b="0">
                <a:solidFill>
                  <a:srgbClr val="FFFFFF"/>
                </a:solidFill>
                <a:latin typeface="Arial"/>
              </a:defRPr>
            </a:pPr>
            <a:r>
              <a:t>--env-file .env.staging \</a:t>
            </a:r>
          </a:p>
          <a:p>
            <a:pPr algn="l">
              <a:lnSpc>
                <a:spcPts val="2242"/>
              </a:lnSpc>
              <a:spcBef>
                <a:spcPts val="0"/>
              </a:spcBef>
              <a:spcAft>
                <a:spcPts val="0"/>
              </a:spcAft>
              <a:defRPr sz="1900" b="0">
                <a:solidFill>
                  <a:srgbClr val="FFFFFF"/>
                </a:solidFill>
                <a:latin typeface="Arial"/>
              </a:defRPr>
            </a:pPr>
            <a:r>
              <a:t>--host 127.0.0.1 --port 8002</a:t>
            </a:r>
          </a:p>
        </p:txBody>
      </p:sp>
      <p:sp>
        <p:nvSpPr>
          <p:cNvPr id="10" name="Rounded Rectangle 9"/>
          <p:cNvSpPr/>
          <p:nvPr/>
        </p:nvSpPr>
        <p:spPr>
          <a:xfrm>
            <a:off x="502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Avant et après</a:t>
            </a:r>
          </a:p>
        </p:txBody>
      </p:sp>
      <p:sp>
        <p:nvSpPr>
          <p:cNvPr id="13" name="TextBox 12"/>
          <p:cNvSpPr txBox="1"/>
          <p:nvPr/>
        </p:nvSpPr>
        <p:spPr>
          <a:xfrm>
            <a:off x="713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Sauvegarder → déployer → vérifier /health et une</a:t>
            </a:r>
          </a:p>
          <a:p>
            <a:pPr algn="l">
              <a:lnSpc>
                <a:spcPts val="2005"/>
              </a:lnSpc>
              <a:spcBef>
                <a:spcPts val="0"/>
              </a:spcBef>
              <a:spcAft>
                <a:spcPts val="0"/>
              </a:spcAft>
              <a:defRPr sz="1700" b="0">
                <a:solidFill>
                  <a:srgbClr val="183744"/>
                </a:solidFill>
                <a:latin typeface="Arial"/>
              </a:defRPr>
            </a:pPr>
            <a:r>
              <a:t>prédiction enregistrée en BDD.</a:t>
            </a:r>
          </a:p>
        </p:txBody>
      </p:sp>
      <p:sp>
        <p:nvSpPr>
          <p:cNvPr id="14" name="Rounded Rectangle 13"/>
          <p:cNvSpPr/>
          <p:nvPr/>
        </p:nvSpPr>
        <p:spPr>
          <a:xfrm>
            <a:off x="6217920" y="3794760"/>
            <a:ext cx="5440680" cy="214884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3794760"/>
            <a:ext cx="41148" cy="214884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4014216"/>
            <a:ext cx="5020056" cy="548640"/>
          </a:xfrm>
          <a:prstGeom prst="rect">
            <a:avLst/>
          </a:prstGeom>
          <a:noFill/>
        </p:spPr>
        <p:txBody>
          <a:bodyPr wrap="none" lIns="0" rIns="0" tIns="0" bIns="0" anchor="t">
            <a:spAutoFit/>
          </a:bodyPr>
          <a:lstStyle/>
          <a:p>
            <a:pPr algn="l">
              <a:lnSpc>
                <a:spcPts val="2242"/>
              </a:lnSpc>
              <a:spcBef>
                <a:spcPts val="0"/>
              </a:spcBef>
              <a:spcAft>
                <a:spcPts val="0"/>
              </a:spcAft>
              <a:defRPr sz="1900" b="1">
                <a:solidFill>
                  <a:srgbClr val="007F82"/>
                </a:solidFill>
                <a:latin typeface="Arial"/>
              </a:defRPr>
            </a:pPr>
            <a:r>
              <a:t>Retour arrière</a:t>
            </a:r>
          </a:p>
        </p:txBody>
      </p:sp>
      <p:sp>
        <p:nvSpPr>
          <p:cNvPr id="17" name="TextBox 16"/>
          <p:cNvSpPr txBox="1"/>
          <p:nvPr/>
        </p:nvSpPr>
        <p:spPr>
          <a:xfrm>
            <a:off x="6428232" y="4727448"/>
            <a:ext cx="5020056" cy="1060704"/>
          </a:xfrm>
          <a:prstGeom prst="rect">
            <a:avLst/>
          </a:prstGeom>
          <a:noFill/>
        </p:spPr>
        <p:txBody>
          <a:bodyPr wrap="none" lIns="0" rIns="0" tIns="0" bIns="0" anchor="t">
            <a:spAutoFit/>
          </a:bodyPr>
          <a:lstStyle/>
          <a:p>
            <a:pPr algn="l">
              <a:lnSpc>
                <a:spcPts val="2005"/>
              </a:lnSpc>
              <a:spcBef>
                <a:spcPts val="0"/>
              </a:spcBef>
              <a:spcAft>
                <a:spcPts val="0"/>
              </a:spcAft>
              <a:defRPr sz="1700" b="0">
                <a:solidFill>
                  <a:srgbClr val="183744"/>
                </a:solidFill>
                <a:latin typeface="Arial"/>
              </a:defRPr>
            </a:pPr>
            <a:r>
              <a:t>Conserver les versions précédentes du code et du</a:t>
            </a:r>
          </a:p>
          <a:p>
            <a:pPr algn="l">
              <a:lnSpc>
                <a:spcPts val="2005"/>
              </a:lnSpc>
              <a:spcBef>
                <a:spcPts val="0"/>
              </a:spcBef>
              <a:spcAft>
                <a:spcPts val="0"/>
              </a:spcAft>
              <a:defRPr sz="1700" b="0">
                <a:solidFill>
                  <a:srgbClr val="183744"/>
                </a:solidFill>
                <a:latin typeface="Arial"/>
              </a:defRPr>
            </a:pPr>
            <a:r>
              <a:t>modèle, et prévoir les migrations.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233</TotalTime>
  <Words>6240</Words>
  <Application>Microsoft Macintosh PowerPoint</Application>
  <PresentationFormat>Grand écran</PresentationFormat>
  <Paragraphs>673</Paragraphs>
  <Slides>32</Slides>
  <Notes>32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32</vt:i4>
      </vt:variant>
    </vt:vector>
  </HeadingPairs>
  <TitlesOfParts>
    <vt:vector size="3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HRNova — Soutenance enrichie : Git, Pydantic et PostgreSQL</dc:title>
  <dc:subject>Soutenance Data Science : modèle, API, PostgreSQL, traçabilité et CI/CD</dc:subject>
  <dc:creator>Samuel Gabbai</dc:creator>
  <cp:keywords/>
  <dc:description>generated using python-pptx</dc:description>
  <cp:lastModifiedBy>Roxane Gabbai</cp:lastModifiedBy>
  <cp:revision>4</cp:revision>
  <dcterms:created xsi:type="dcterms:W3CDTF">2026-10-27T00:00:00Z</dcterms:created>
  <dcterms:modified xsi:type="dcterms:W3CDTF">2026-10-29T11:57:43Z</dcterms:modified>
  <cp:category/>
</cp:coreProperties>
</file>