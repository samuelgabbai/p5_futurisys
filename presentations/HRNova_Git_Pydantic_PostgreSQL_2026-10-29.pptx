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est le logiciel de gestion de versions. Il fonctionne en local : chaque commit conserve un état du projet et ses liens avec les commits précédents. GitHub héberge une copie distante du dépôt et apporte les pull requests. GitHub Actions exécute des workflows sur des machines appelées runners. Un commit local ne lance pas à lui seul les tests sur GitHub : il faut notamment un push et un workflow configuré pour cet événement.</a:t>
            </a:r>
          </a:p>
          <a:p/>
          <a:p>
            <a:r>
              <a:t>Sources : https://git-scm.com/book/en/v2/Getting-Started-What-is-Git%3F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répertoire de travail contient les fichiers que l’on modifie. git add sélectionne les changements à enregistrer et les place dans l’index. git commit crée un instantané local avec un message, un auteur et un parent. git push transmet les commits à la branche distante. git status permet de vérifier chaque étape. Une fois un fichier ajouté, une nouvelle modification doit être ajoutée à nouveau pour entrer dans le prochain commit. Ne jamais versionner de jetons ni le fichier .env.</a:t>
            </a:r>
          </a:p>
          <a:p/>
          <a:p>
            <a:r>
              <a:t>Sources : https://git-scm.com/book/en/v2/Getting-Started-What-is-Git%3F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branche est une référence vers un commit, pas une copie indépendante du dossier. Créer une branche permet de développer une fonctionnalité sans faire évoluer main immédiatement. Après le push, la pull request présente les différences, les contrôles et les commentaires. Les conflits surviennent lorsque Git ne peut pas combiner automatiquement des modifications ; il faut choisir le contenu correct et enregistrer la résolution. Les vérifications obligatoires et la protection de main se configurent dans GitHub : le YAML seul ne bloque pas les fusions.</a:t>
            </a:r>
          </a:p>
          <a:p/>
          <a:p>
            <a:r>
              <a:t>Sources : https://git-scm.com/book/en/v2/Getting-Started-What-is-Git%3F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workflow est un fichier YAML sous .github/workflows. Il définit les événements, les jobs et leurs étapes. Chaque job s’exécute sur un runner ; les étapes d’un même job s’enchaînent. Les jobs peuvent fonctionner en parallèle, sauf dépendance déclarée avec needs. Dans HRNova, la CI vérifie le projet et l’intégration PostgreSQL. La publication Hugging Face envoie les artefacts préparés vers SamGabb/hrnova ; elle ne réentraîne pas automatiquement le modèle. Le jeton est fourni par les secrets GitHub au job de publication, jamais écrit dans le dépôt.</a:t>
            </a:r>
          </a:p>
          <a:p/>
          <a:p>
            <a:r>
              <a:t>Sources : https://docs.github.com/en/actions/get-started/understand-github-actions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Pydantic décrit la structure et les types attendus. Il vérifie la donnée et peut la convertir selon les règles choisies. Les exemples de cette diapositive montrent un seul champ numérique : une vraie requête HRNova doit également fournir toutes les variables attendues. Le projet accepte une chaîne numérique convertible et rejette les booléens, les valeurs absentes et les nombres non finis. Certaines de ces règles sont des validateurs spécifiques à HRNova ; elles ne sont pas toutes les valeurs par défaut de Pydantic. La validation technique ne garantit pas la qualité statistique de la prédiction.</a:t>
            </a:r>
          </a:p>
          <a:p/>
          <a:p>
            <a:r>
              <a:t>Sources : https://docs.pydantic.dev/latest/concepts/validators/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 extrait est volontairement simplifié : la version complète est dans schemas.py. NumericValue associe un nombre fini à un validateur exécuté avant la conversion. Le validateur numeric_value rejette notamment les booléens et les valeurs nulles. Field(min_length=1) impose au moins une variable. ConfigDict(extra='forbid') rejette les champs supplémentaires à la racine du modèle. Un autre validateur du projet compare les clés de features à la liste exacte des variables attendues : il détecte les variables manquantes et inconnues. Ce dernier contrôle n’est pas assuré par extra='forbid' dans un dictionnaire.</a:t>
            </a:r>
          </a:p>
          <a:p/>
          <a:p>
            <a:r>
              <a:t>Sources : Code du projet : schemas.py · https://docs.pydantic.dev/latest/concepts/validators/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fichier envoyé à l’API est décodé puis transformé en lignes. Chaque ligne est soumise au schéma de prédiction ; le lot doit contenir au moins une ligne. Le projet vérifie les variables attendues, convertit les valeurs numériques et prépare les colonnes dans l’ordre du modèle. Une erreur est renvoyée avec un contexte exploitable pour retrouver la ligne et le champ. Le modèle n’est pas appelé si l’entrée est invalide. Pour score, les cibles doivent aussi être valides et alignées avec les lignes : les formes acceptées sont Non/Oui ou 0/1 selon les règles du projet.</a:t>
            </a:r>
          </a:p>
          <a:p/>
          <a:p>
            <a:r>
              <a:t>Sources : Code du projet : schemas.py, inference.py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validation continue après le calcul. Le projet impose des classes binaires 0 et 1 pour les prédictions, des probabilités finies dans l’intervalle [0,1] et une somme par ligne égale à 1 à une tolérance de 10 puissance moins 6. Les réponses par fichier doivent avoir le bon nombre de lignes. Les métriques sont également contrôlées. Une sortie invalide provoque une erreur 500 et une trace d’échec ; les entrées déjà enregistrées restent disponibles, mais aucune sortie invalide n’est sauvegardée comme résultat. Pydantic contrôle le contrat de réponse, pas la pertinence métier ni la performance sur de nouvelles données.</a:t>
            </a:r>
          </a:p>
          <a:p/>
          <a:p>
            <a:r>
              <a:t>Sources : Code du projet : schemas.py, inference.py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PostgreSQL est le serveur qui stocke les données et exécute les requêtes SQL. Dans la configuration locale du projet, le serveur est joint sur 127.0.0.1 au port 5433 et la base s’appelle hrnova. Une base contient des schémas, dont public ; les schémas contiennent des tables. Une table possède des colonnes typées et des lignes. DBeaver est un client pour se connecter au serveur et explorer ces objets. Installer DBeaver ne démarre pas PostgreSQL et ne crée pas la base. Les paramètres de connexion restent configurables par l’environnement ; aucun mot de passe n’est inclus ici.</a:t>
            </a:r>
          </a:p>
          <a:p/>
          <a:p>
            <a:r>
              <a:t>Sources : Configuration et modèles de données du projet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clé primaire identifie une ligne de manière unique. Une clé étrangère pointe vers une ligne d’une autre table et empêche de créer un lien vers un identifiant inexistant. L’exemple emploie l’identifiant fictif 42. Dans HRNova, employees.id_employee est relié aux tables d’enquêtes et d’évaluations par employee_id. Les échanges API possèdent également leur identifiant ; les entrées et les sorties y sont rattachées. La paire exchange_id et row_index est unique pour les entrées d’un échange. SQLAlchemy traduit les objets Python en SQL, puis PostgreSQL applique les contraintes. JSONB permet de stocker les variables et résultats structurés.</a:t>
            </a:r>
          </a:p>
          <a:p/>
          <a:p>
            <a:r>
              <a:t>Sources : Modèles SQLAlchemy du projet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transaction regroupe des instructions SQL : commit les rend durables, rollback les annule en cas d’échec. Les garanties ACID couvrent l’atomicité, la cohérence des contraintes, l’isolation et la durabilité. Elles s’appliquent à chaque transaction, pas automatiquement à l’ensemble d’une requête HTTP. Dans HRNova, les entrées sont validées et commitées avant le calcul, puis relues depuis la base. Le modèle produit une sortie qui est validée, enregistrée puis relue. Cela conserve les entrées en cas d’échec ultérieur. Si PostgreSQL est indisponible, l’inférence ne doit pas contourner la base ; si la sortie ne peut pas être enregistrée, elle n’est pas livrée comme un succès.</a:t>
            </a:r>
          </a:p>
          <a:p/>
          <a:p>
            <a:r>
              <a:t>Sources : https://www.postgresql.org/docs/18/tutorial-transactions.html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api_exchanges décrit la requête et son déroulement. model_inputs conserve les entrées validées, model_outputs les résultats valides, et model_versions identifie le modèle. L’identifiant de requête permet de corréler ces tables et les logs. La vue api_logs présente une lecture simplifiée des échanges ; une vue est une requête sauvegardée, pas une duplication des traces. Les requêtes rejetées gardent une trace d’erreur, même sans entrée modèle valide. Le rôle applicatif doit disposer des seuls droits nécessaires. Un échec total de la base empêche évidemment d’écrire cette trace en base : les logs applicatifs complètent alors l’investigation.</a:t>
            </a:r>
          </a:p>
          <a:p/>
          <a:p>
            <a:r>
              <a:t>Sources : Schéma PostgreSQL du projet · vue public.api_logs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GIT · 1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Git garde l’histoire ; GitHub la partage</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01 / 12</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https://git-scm.com/book/en/v2/Getting-Started-What-is-Git%3F</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Git</a:t>
            </a:r>
          </a:p>
        </p:txBody>
      </p:sp>
      <p:sp>
        <p:nvSpPr>
          <p:cNvPr id="11" name="TextBox 10"/>
          <p:cNvSpPr txBox="1"/>
          <p:nvPr/>
        </p:nvSpPr>
        <p:spPr>
          <a:xfrm>
            <a:off x="713232"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Sur ton ordinateur</a:t>
            </a:r>
          </a:p>
          <a:p>
            <a:pPr algn="l">
              <a:lnSpc>
                <a:spcPts val="2005"/>
              </a:lnSpc>
              <a:spcBef>
                <a:spcPts val="0"/>
              </a:spcBef>
              <a:spcAft>
                <a:spcPts val="0"/>
              </a:spcAft>
              <a:defRPr sz="1700" b="0">
                <a:solidFill>
                  <a:srgbClr val="183744"/>
                </a:solidFill>
                <a:latin typeface="Arial"/>
              </a:defRPr>
            </a:pPr>
            <a:r>
              <a:t>Historique des fichiers</a:t>
            </a:r>
          </a:p>
          <a:p>
            <a:pPr algn="l">
              <a:lnSpc>
                <a:spcPts val="2005"/>
              </a:lnSpc>
              <a:spcBef>
                <a:spcPts val="0"/>
              </a:spcBef>
              <a:spcAft>
                <a:spcPts val="0"/>
              </a:spcAft>
              <a:defRPr sz="1700" b="0">
                <a:solidFill>
                  <a:srgbClr val="183744"/>
                </a:solidFill>
                <a:latin typeface="Arial"/>
              </a:defRPr>
            </a:pPr>
            <a:r>
              <a:t>Commits et branches</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GitHub</a:t>
            </a:r>
          </a:p>
        </p:txBody>
      </p:sp>
      <p:sp>
        <p:nvSpPr>
          <p:cNvPr id="16" name="TextBox 15"/>
          <p:cNvSpPr txBox="1"/>
          <p:nvPr/>
        </p:nvSpPr>
        <p:spPr>
          <a:xfrm>
            <a:off x="4517136"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Dépôt distant</a:t>
            </a:r>
          </a:p>
          <a:p>
            <a:pPr algn="l">
              <a:lnSpc>
                <a:spcPts val="2005"/>
              </a:lnSpc>
              <a:spcBef>
                <a:spcPts val="0"/>
              </a:spcBef>
              <a:spcAft>
                <a:spcPts val="0"/>
              </a:spcAft>
              <a:defRPr sz="1700" b="0">
                <a:solidFill>
                  <a:srgbClr val="183744"/>
                </a:solidFill>
                <a:latin typeface="Arial"/>
              </a:defRPr>
            </a:pPr>
            <a:r>
              <a:t>Partage du code</a:t>
            </a:r>
          </a:p>
          <a:p>
            <a:pPr algn="l">
              <a:lnSpc>
                <a:spcPts val="2005"/>
              </a:lnSpc>
              <a:spcBef>
                <a:spcPts val="0"/>
              </a:spcBef>
              <a:spcAft>
                <a:spcPts val="0"/>
              </a:spcAft>
              <a:defRPr sz="1700" b="0">
                <a:solidFill>
                  <a:srgbClr val="183744"/>
                </a:solidFill>
                <a:latin typeface="Arial"/>
              </a:defRPr>
            </a:pPr>
            <a:r>
              <a:t>Pull requests et revues</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GitHub Actions</a:t>
            </a:r>
          </a:p>
        </p:txBody>
      </p:sp>
      <p:sp>
        <p:nvSpPr>
          <p:cNvPr id="21" name="TextBox 20"/>
          <p:cNvSpPr txBox="1"/>
          <p:nvPr/>
        </p:nvSpPr>
        <p:spPr>
          <a:xfrm>
            <a:off x="8321040"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Automatisation</a:t>
            </a:r>
          </a:p>
          <a:p>
            <a:pPr algn="l">
              <a:lnSpc>
                <a:spcPts val="2005"/>
              </a:lnSpc>
              <a:spcBef>
                <a:spcPts val="0"/>
              </a:spcBef>
              <a:spcAft>
                <a:spcPts val="0"/>
              </a:spcAft>
              <a:defRPr sz="1700" b="0">
                <a:solidFill>
                  <a:srgbClr val="183744"/>
                </a:solidFill>
                <a:latin typeface="Arial"/>
              </a:defRPr>
            </a:pPr>
            <a:r>
              <a:t>Tests à chaque push</a:t>
            </a:r>
          </a:p>
          <a:p>
            <a:pPr algn="l">
              <a:lnSpc>
                <a:spcPts val="2005"/>
              </a:lnSpc>
              <a:spcBef>
                <a:spcPts val="0"/>
              </a:spcBef>
              <a:spcAft>
                <a:spcPts val="0"/>
              </a:spcAft>
              <a:defRPr sz="1700" b="0">
                <a:solidFill>
                  <a:srgbClr val="183744"/>
                </a:solidFill>
                <a:latin typeface="Arial"/>
              </a:defRPr>
            </a:pPr>
            <a:r>
              <a:t>Publication du modèle</a:t>
            </a:r>
          </a:p>
        </p:txBody>
      </p:sp>
      <p:sp>
        <p:nvSpPr>
          <p:cNvPr id="22" name="Rounded Rectangle 21"/>
          <p:cNvSpPr/>
          <p:nvPr/>
        </p:nvSpPr>
        <p:spPr>
          <a:xfrm>
            <a:off x="502920" y="507492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5184648"/>
            <a:ext cx="10771632" cy="292608"/>
          </a:xfrm>
          <a:prstGeom prst="rect">
            <a:avLst/>
          </a:prstGeom>
          <a:noFill/>
        </p:spPr>
        <p:txBody>
          <a:bodyPr wrap="none" lIns="0" rIns="0" tIns="0" bIns="0" anchor="t">
            <a:spAutoFit/>
          </a:bodyPr>
          <a:lstStyle/>
          <a:p>
            <a:pPr algn="l">
              <a:lnSpc>
                <a:spcPts val="1652"/>
              </a:lnSpc>
              <a:spcBef>
                <a:spcPts val="0"/>
              </a:spcBef>
              <a:spcAft>
                <a:spcPts val="0"/>
              </a:spcAft>
              <a:defRPr sz="1400" b="1">
                <a:solidFill>
                  <a:srgbClr val="007F82"/>
                </a:solidFill>
                <a:latin typeface="Arial"/>
              </a:defRPr>
            </a:pPr>
            <a:r>
              <a:t>Dans HRNova : je modifie le code → je pousse → les contrôles se lancent.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GIT · 2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Du fichier modifié au dépôt distant</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02 / 12</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https://git-scm.com/book/en/v2/Getting-Started-What-is-Git%3F</a:t>
            </a:r>
          </a:p>
        </p:txBody>
      </p:sp>
      <p:sp>
        <p:nvSpPr>
          <p:cNvPr id="8" name="Rounded Rectangle 7"/>
          <p:cNvSpPr/>
          <p:nvPr/>
        </p:nvSpPr>
        <p:spPr>
          <a:xfrm>
            <a:off x="502920" y="1874519"/>
            <a:ext cx="2596896"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93976"/>
            <a:ext cx="2176272"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1. Modifier</a:t>
            </a:r>
          </a:p>
        </p:txBody>
      </p:sp>
      <p:sp>
        <p:nvSpPr>
          <p:cNvPr id="11" name="TextBox 10"/>
          <p:cNvSpPr txBox="1"/>
          <p:nvPr/>
        </p:nvSpPr>
        <p:spPr>
          <a:xfrm>
            <a:off x="713232" y="2807208"/>
            <a:ext cx="2176272"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Répertoire de travail</a:t>
            </a:r>
          </a:p>
          <a:p>
            <a:pPr algn="l">
              <a:lnSpc>
                <a:spcPts val="2005"/>
              </a:lnSpc>
              <a:spcBef>
                <a:spcPts val="0"/>
              </a:spcBef>
              <a:spcAft>
                <a:spcPts val="0"/>
              </a:spcAft>
              <a:defRPr sz="1700" b="0">
                <a:solidFill>
                  <a:srgbClr val="183744"/>
                </a:solidFill>
                <a:latin typeface="Arial"/>
              </a:defRPr>
            </a:pPr>
            <a:r>
              <a:t>Ex. : schemas.py</a:t>
            </a:r>
          </a:p>
        </p:txBody>
      </p:sp>
      <p:cxnSp>
        <p:nvCxnSpPr>
          <p:cNvPr id="12" name="Connector 11"/>
          <p:cNvCxnSpPr/>
          <p:nvPr/>
        </p:nvCxnSpPr>
        <p:spPr>
          <a:xfrm>
            <a:off x="312724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55848" y="1874519"/>
            <a:ext cx="2596896"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55848"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2093976"/>
            <a:ext cx="2176272"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2. Sélectionner</a:t>
            </a:r>
          </a:p>
        </p:txBody>
      </p:sp>
      <p:sp>
        <p:nvSpPr>
          <p:cNvPr id="16" name="TextBox 15"/>
          <p:cNvSpPr txBox="1"/>
          <p:nvPr/>
        </p:nvSpPr>
        <p:spPr>
          <a:xfrm>
            <a:off x="3566160" y="2807208"/>
            <a:ext cx="2176272"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Index / staging</a:t>
            </a:r>
          </a:p>
          <a:p>
            <a:pPr algn="l">
              <a:lnSpc>
                <a:spcPts val="2005"/>
              </a:lnSpc>
              <a:spcBef>
                <a:spcPts val="0"/>
              </a:spcBef>
              <a:spcAft>
                <a:spcPts val="0"/>
              </a:spcAft>
              <a:defRPr sz="1700" b="0">
                <a:solidFill>
                  <a:srgbClr val="183744"/>
                </a:solidFill>
                <a:latin typeface="Arial"/>
              </a:defRPr>
            </a:pPr>
            <a:r>
              <a:t>Choisir les</a:t>
            </a:r>
          </a:p>
          <a:p>
            <a:pPr algn="l">
              <a:lnSpc>
                <a:spcPts val="2005"/>
              </a:lnSpc>
              <a:spcBef>
                <a:spcPts val="0"/>
              </a:spcBef>
              <a:spcAft>
                <a:spcPts val="0"/>
              </a:spcAft>
              <a:defRPr sz="1700" b="0">
                <a:solidFill>
                  <a:srgbClr val="183744"/>
                </a:solidFill>
                <a:latin typeface="Arial"/>
              </a:defRPr>
            </a:pPr>
            <a:r>
              <a:t>changements</a:t>
            </a:r>
          </a:p>
        </p:txBody>
      </p:sp>
      <p:cxnSp>
        <p:nvCxnSpPr>
          <p:cNvPr id="17" name="Connector 16"/>
          <p:cNvCxnSpPr/>
          <p:nvPr/>
        </p:nvCxnSpPr>
        <p:spPr>
          <a:xfrm>
            <a:off x="5980176"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08776" y="1874519"/>
            <a:ext cx="2596896"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8776"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9088" y="2093976"/>
            <a:ext cx="2176272"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3. Enregistrer</a:t>
            </a:r>
          </a:p>
        </p:txBody>
      </p:sp>
      <p:sp>
        <p:nvSpPr>
          <p:cNvPr id="21" name="TextBox 20"/>
          <p:cNvSpPr txBox="1"/>
          <p:nvPr/>
        </p:nvSpPr>
        <p:spPr>
          <a:xfrm>
            <a:off x="6419088" y="2807208"/>
            <a:ext cx="2176272"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Historique local</a:t>
            </a:r>
          </a:p>
          <a:p>
            <a:pPr algn="l">
              <a:lnSpc>
                <a:spcPts val="2005"/>
              </a:lnSpc>
              <a:spcBef>
                <a:spcPts val="0"/>
              </a:spcBef>
              <a:spcAft>
                <a:spcPts val="0"/>
              </a:spcAft>
              <a:defRPr sz="1700" b="0">
                <a:solidFill>
                  <a:srgbClr val="183744"/>
                </a:solidFill>
                <a:latin typeface="Arial"/>
              </a:defRPr>
            </a:pPr>
            <a:r>
              <a:t>Créer un commit</a:t>
            </a:r>
          </a:p>
        </p:txBody>
      </p:sp>
      <p:cxnSp>
        <p:nvCxnSpPr>
          <p:cNvPr id="22" name="Connector 21"/>
          <p:cNvCxnSpPr/>
          <p:nvPr/>
        </p:nvCxnSpPr>
        <p:spPr>
          <a:xfrm>
            <a:off x="8833103" y="3017520"/>
            <a:ext cx="201169"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61704" y="1874519"/>
            <a:ext cx="2596896"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61704"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72016" y="2093976"/>
            <a:ext cx="2176272"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4. Partager</a:t>
            </a:r>
          </a:p>
        </p:txBody>
      </p:sp>
      <p:sp>
        <p:nvSpPr>
          <p:cNvPr id="26" name="TextBox 25"/>
          <p:cNvSpPr txBox="1"/>
          <p:nvPr/>
        </p:nvSpPr>
        <p:spPr>
          <a:xfrm>
            <a:off x="9272016" y="2807208"/>
            <a:ext cx="2176272"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Dépôt distant</a:t>
            </a:r>
          </a:p>
          <a:p>
            <a:pPr algn="l">
              <a:lnSpc>
                <a:spcPts val="2005"/>
              </a:lnSpc>
              <a:spcBef>
                <a:spcPts val="0"/>
              </a:spcBef>
              <a:spcAft>
                <a:spcPts val="0"/>
              </a:spcAft>
              <a:defRPr sz="1700" b="0">
                <a:solidFill>
                  <a:srgbClr val="183744"/>
                </a:solidFill>
                <a:latin typeface="Arial"/>
              </a:defRPr>
            </a:pPr>
            <a:r>
              <a:t>Envoyer les commits</a:t>
            </a:r>
          </a:p>
        </p:txBody>
      </p:sp>
      <p:sp>
        <p:nvSpPr>
          <p:cNvPr id="27" name="Rounded Rectangle 26"/>
          <p:cNvSpPr/>
          <p:nvPr/>
        </p:nvSpPr>
        <p:spPr>
          <a:xfrm>
            <a:off x="502920" y="4526280"/>
            <a:ext cx="6720840" cy="1435608"/>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 y="4727448"/>
            <a:ext cx="6318503" cy="1033272"/>
          </a:xfrm>
          <a:prstGeom prst="rect">
            <a:avLst/>
          </a:prstGeom>
          <a:noFill/>
        </p:spPr>
        <p:txBody>
          <a:bodyPr wrap="none" lIns="0" rIns="0" tIns="0" bIns="0" anchor="t">
            <a:spAutoFit/>
          </a:bodyPr>
          <a:lstStyle/>
          <a:p>
            <a:pPr algn="l">
              <a:lnSpc>
                <a:spcPts val="1888"/>
              </a:lnSpc>
              <a:spcBef>
                <a:spcPts val="0"/>
              </a:spcBef>
              <a:spcAft>
                <a:spcPts val="0"/>
              </a:spcAft>
              <a:defRPr sz="1600" b="0">
                <a:solidFill>
                  <a:srgbClr val="FFFFFF"/>
                </a:solidFill>
                <a:latin typeface="Arial"/>
              </a:defRPr>
            </a:pPr>
            <a:r>
              <a:t>git status</a:t>
            </a:r>
          </a:p>
          <a:p>
            <a:pPr algn="l">
              <a:lnSpc>
                <a:spcPts val="1888"/>
              </a:lnSpc>
              <a:spcBef>
                <a:spcPts val="0"/>
              </a:spcBef>
              <a:spcAft>
                <a:spcPts val="0"/>
              </a:spcAft>
              <a:defRPr sz="1600" b="0">
                <a:solidFill>
                  <a:srgbClr val="FFFFFF"/>
                </a:solidFill>
                <a:latin typeface="Arial"/>
              </a:defRPr>
            </a:pPr>
            <a:r>
              <a:t>git add schemas.py</a:t>
            </a:r>
          </a:p>
          <a:p>
            <a:pPr algn="l">
              <a:lnSpc>
                <a:spcPts val="1888"/>
              </a:lnSpc>
              <a:spcBef>
                <a:spcPts val="0"/>
              </a:spcBef>
              <a:spcAft>
                <a:spcPts val="0"/>
              </a:spcAft>
              <a:defRPr sz="1600" b="0">
                <a:solidFill>
                  <a:srgbClr val="FFFFFF"/>
                </a:solidFill>
                <a:latin typeface="Arial"/>
              </a:defRPr>
            </a:pPr>
            <a:r>
              <a:t>git commit -m "Valider les entrees"</a:t>
            </a:r>
          </a:p>
          <a:p>
            <a:pPr algn="l">
              <a:lnSpc>
                <a:spcPts val="1888"/>
              </a:lnSpc>
              <a:spcBef>
                <a:spcPts val="0"/>
              </a:spcBef>
              <a:spcAft>
                <a:spcPts val="0"/>
              </a:spcAft>
              <a:defRPr sz="1600" b="0">
                <a:solidFill>
                  <a:srgbClr val="FFFFFF"/>
                </a:solidFill>
                <a:latin typeface="Arial"/>
              </a:defRPr>
            </a:pPr>
            <a:r>
              <a:t>git push</a:t>
            </a:r>
          </a:p>
        </p:txBody>
      </p:sp>
      <p:sp>
        <p:nvSpPr>
          <p:cNvPr id="29" name="TextBox 28"/>
          <p:cNvSpPr txBox="1"/>
          <p:nvPr/>
        </p:nvSpPr>
        <p:spPr>
          <a:xfrm>
            <a:off x="7498079" y="4663440"/>
            <a:ext cx="4023360" cy="1005840"/>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.gitignore écarte .env des nouveaux</a:t>
            </a:r>
          </a:p>
          <a:p>
            <a:pPr algn="l">
              <a:lnSpc>
                <a:spcPts val="2005"/>
              </a:lnSpc>
              <a:spcBef>
                <a:spcPts val="0"/>
              </a:spcBef>
              <a:spcAft>
                <a:spcPts val="0"/>
              </a:spcAft>
              <a:defRPr sz="1700" b="0">
                <a:solidFill>
                  <a:srgbClr val="183744"/>
                </a:solidFill>
                <a:latin typeface="Arial"/>
              </a:defRPr>
            </a:pPr>
            <a:r>
              <a:t>suivis.</a:t>
            </a:r>
          </a:p>
          <a:p>
            <a:pPr algn="l">
              <a:lnSpc>
                <a:spcPts val="2005"/>
              </a:lnSpc>
              <a:spcBef>
                <a:spcPts val="0"/>
              </a:spcBef>
              <a:spcAft>
                <a:spcPts val="0"/>
              </a:spcAft>
              <a:defRPr sz="1700" b="0">
                <a:solidFill>
                  <a:srgbClr val="183744"/>
                </a:solidFill>
                <a:latin typeface="Arial"/>
              </a:defRPr>
            </a:pPr>
            <a:r>
              <a:t>Il ne supprime pas un secret déjà</a:t>
            </a:r>
          </a:p>
          <a:p>
            <a:pPr algn="l">
              <a:lnSpc>
                <a:spcPts val="2005"/>
              </a:lnSpc>
              <a:spcBef>
                <a:spcPts val="0"/>
              </a:spcBef>
              <a:spcAft>
                <a:spcPts val="0"/>
              </a:spcAft>
              <a:defRPr sz="1700" b="0">
                <a:solidFill>
                  <a:srgbClr val="183744"/>
                </a:solidFill>
                <a:latin typeface="Arial"/>
              </a:defRPr>
            </a:pPr>
            <a:r>
              <a:t>commité.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GIT · 3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Branches : proposer, vérifier, puis fusionner</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03 / 12</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https://git-scm.com/book/en/v2/Getting-Started-What-is-Git%3F</a:t>
            </a:r>
          </a:p>
        </p:txBody>
      </p:sp>
      <p:sp>
        <p:nvSpPr>
          <p:cNvPr id="8" name="Rounded Rectangle 7"/>
          <p:cNvSpPr/>
          <p:nvPr/>
        </p:nvSpPr>
        <p:spPr>
          <a:xfrm>
            <a:off x="502920" y="1783080"/>
            <a:ext cx="11155680" cy="1417320"/>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984248"/>
            <a:ext cx="10753344" cy="1014984"/>
          </a:xfrm>
          <a:prstGeom prst="rect">
            <a:avLst/>
          </a:prstGeom>
          <a:noFill/>
        </p:spPr>
        <p:txBody>
          <a:bodyPr wrap="none" lIns="0" rIns="0" tIns="0" bIns="0" anchor="t">
            <a:spAutoFit/>
          </a:bodyPr>
          <a:lstStyle/>
          <a:p>
            <a:pPr algn="l">
              <a:lnSpc>
                <a:spcPts val="2242"/>
              </a:lnSpc>
              <a:spcBef>
                <a:spcPts val="0"/>
              </a:spcBef>
              <a:spcAft>
                <a:spcPts val="0"/>
              </a:spcAft>
              <a:defRPr sz="1900" b="0">
                <a:solidFill>
                  <a:srgbClr val="FFFFFF"/>
                </a:solidFill>
                <a:latin typeface="Arial"/>
              </a:defRPr>
            </a:pPr>
            <a:r>
              <a:t>git switch -c feature/validation</a:t>
            </a:r>
          </a:p>
          <a:p>
            <a:pPr algn="l">
              <a:lnSpc>
                <a:spcPts val="2242"/>
              </a:lnSpc>
              <a:spcBef>
                <a:spcPts val="0"/>
              </a:spcBef>
              <a:spcAft>
                <a:spcPts val="0"/>
              </a:spcAft>
              <a:defRPr sz="1900" b="0">
                <a:solidFill>
                  <a:srgbClr val="FFFFFF"/>
                </a:solidFill>
                <a:latin typeface="Arial"/>
              </a:defRPr>
            </a:pPr>
            <a:r>
              <a:t># modifier puis commiter</a:t>
            </a:r>
          </a:p>
          <a:p>
            <a:pPr algn="l">
              <a:lnSpc>
                <a:spcPts val="2242"/>
              </a:lnSpc>
              <a:spcBef>
                <a:spcPts val="0"/>
              </a:spcBef>
              <a:spcAft>
                <a:spcPts val="0"/>
              </a:spcAft>
              <a:defRPr sz="1900" b="0">
                <a:solidFill>
                  <a:srgbClr val="FFFFFF"/>
                </a:solidFill>
                <a:latin typeface="Arial"/>
              </a:defRPr>
            </a:pPr>
            <a:r>
              <a:t>git push -u origin feature/validation</a:t>
            </a:r>
          </a:p>
        </p:txBody>
      </p:sp>
      <p:sp>
        <p:nvSpPr>
          <p:cNvPr id="10" name="Rounded Rectangle 9"/>
          <p:cNvSpPr/>
          <p:nvPr/>
        </p:nvSpPr>
        <p:spPr>
          <a:xfrm>
            <a:off x="502920" y="3429000"/>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429000"/>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64845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Branche</a:t>
            </a:r>
          </a:p>
        </p:txBody>
      </p:sp>
      <p:sp>
        <p:nvSpPr>
          <p:cNvPr id="13" name="TextBox 12"/>
          <p:cNvSpPr txBox="1"/>
          <p:nvPr/>
        </p:nvSpPr>
        <p:spPr>
          <a:xfrm>
            <a:off x="713232" y="436168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Développer une évolution</a:t>
            </a:r>
          </a:p>
          <a:p>
            <a:pPr algn="l">
              <a:lnSpc>
                <a:spcPts val="2005"/>
              </a:lnSpc>
              <a:spcBef>
                <a:spcPts val="0"/>
              </a:spcBef>
              <a:spcAft>
                <a:spcPts val="0"/>
              </a:spcAft>
              <a:defRPr sz="1700" b="0">
                <a:solidFill>
                  <a:srgbClr val="183744"/>
                </a:solidFill>
                <a:latin typeface="Arial"/>
              </a:defRPr>
            </a:pPr>
            <a:r>
              <a:t>Historique isolé de main</a:t>
            </a:r>
          </a:p>
        </p:txBody>
      </p:sp>
      <p:cxnSp>
        <p:nvCxnSpPr>
          <p:cNvPr id="14" name="Connector 13"/>
          <p:cNvCxnSpPr/>
          <p:nvPr/>
        </p:nvCxnSpPr>
        <p:spPr>
          <a:xfrm>
            <a:off x="4078224" y="457200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06823" y="3429000"/>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6823" y="3429000"/>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17136" y="364845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Pull request</a:t>
            </a:r>
          </a:p>
        </p:txBody>
      </p:sp>
      <p:sp>
        <p:nvSpPr>
          <p:cNvPr id="18" name="TextBox 17"/>
          <p:cNvSpPr txBox="1"/>
          <p:nvPr/>
        </p:nvSpPr>
        <p:spPr>
          <a:xfrm>
            <a:off x="4517136" y="436168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Comparer les changements</a:t>
            </a:r>
          </a:p>
          <a:p>
            <a:pPr algn="l">
              <a:lnSpc>
                <a:spcPts val="2005"/>
              </a:lnSpc>
              <a:spcBef>
                <a:spcPts val="0"/>
              </a:spcBef>
              <a:spcAft>
                <a:spcPts val="0"/>
              </a:spcAft>
              <a:defRPr sz="1700" b="0">
                <a:solidFill>
                  <a:srgbClr val="183744"/>
                </a:solidFill>
                <a:latin typeface="Arial"/>
              </a:defRPr>
            </a:pPr>
            <a:r>
              <a:t>Tests et revue du code</a:t>
            </a:r>
          </a:p>
        </p:txBody>
      </p:sp>
      <p:cxnSp>
        <p:nvCxnSpPr>
          <p:cNvPr id="19" name="Connector 18"/>
          <p:cNvCxnSpPr/>
          <p:nvPr/>
        </p:nvCxnSpPr>
        <p:spPr>
          <a:xfrm>
            <a:off x="7882127" y="457200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110727" y="3429000"/>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10727" y="3429000"/>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364845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Fusion</a:t>
            </a:r>
          </a:p>
        </p:txBody>
      </p:sp>
      <p:sp>
        <p:nvSpPr>
          <p:cNvPr id="23" name="TextBox 22"/>
          <p:cNvSpPr txBox="1"/>
          <p:nvPr/>
        </p:nvSpPr>
        <p:spPr>
          <a:xfrm>
            <a:off x="8321040" y="436168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Intégrer dans main</a:t>
            </a:r>
          </a:p>
          <a:p>
            <a:pPr algn="l">
              <a:lnSpc>
                <a:spcPts val="2005"/>
              </a:lnSpc>
              <a:spcBef>
                <a:spcPts val="0"/>
              </a:spcBef>
              <a:spcAft>
                <a:spcPts val="0"/>
              </a:spcAft>
              <a:defRPr sz="1700" b="0">
                <a:solidFill>
                  <a:srgbClr val="183744"/>
                </a:solidFill>
                <a:latin typeface="Arial"/>
              </a:defRPr>
            </a:pPr>
            <a:r>
              <a:t>Résoudre les conflits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GIT · 4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GitHub Actions : que se passe-t-il au push ?</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04 / 12</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https://docs.github.com/en/actions/get-started/understand-github-actions</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Événement</a:t>
            </a:r>
          </a:p>
        </p:txBody>
      </p:sp>
      <p:sp>
        <p:nvSpPr>
          <p:cNvPr id="11" name="TextBox 10"/>
          <p:cNvSpPr txBox="1"/>
          <p:nvPr/>
        </p:nvSpPr>
        <p:spPr>
          <a:xfrm>
            <a:off x="713232"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push ou pull_request</a:t>
            </a:r>
          </a:p>
          <a:p>
            <a:pPr algn="l">
              <a:lnSpc>
                <a:spcPts val="2005"/>
              </a:lnSpc>
              <a:spcBef>
                <a:spcPts val="0"/>
              </a:spcBef>
              <a:spcAft>
                <a:spcPts val="0"/>
              </a:spcAft>
              <a:defRPr sz="1700" b="0">
                <a:solidFill>
                  <a:srgbClr val="183744"/>
                </a:solidFill>
                <a:latin typeface="Arial"/>
              </a:defRPr>
            </a:pPr>
            <a:r>
              <a:t>Déclenche le workflow</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Runner</a:t>
            </a:r>
          </a:p>
        </p:txBody>
      </p:sp>
      <p:sp>
        <p:nvSpPr>
          <p:cNvPr id="16" name="TextBox 15"/>
          <p:cNvSpPr txBox="1"/>
          <p:nvPr/>
        </p:nvSpPr>
        <p:spPr>
          <a:xfrm>
            <a:off x="4517136"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Machine de travail</a:t>
            </a:r>
          </a:p>
          <a:p>
            <a:pPr algn="l">
              <a:lnSpc>
                <a:spcPts val="2005"/>
              </a:lnSpc>
              <a:spcBef>
                <a:spcPts val="0"/>
              </a:spcBef>
              <a:spcAft>
                <a:spcPts val="0"/>
              </a:spcAft>
              <a:defRPr sz="1700" b="0">
                <a:solidFill>
                  <a:srgbClr val="183744"/>
                </a:solidFill>
                <a:latin typeface="Arial"/>
              </a:defRPr>
            </a:pPr>
            <a:r>
              <a:t>Installe Python et outils</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Jobs / étapes</a:t>
            </a:r>
          </a:p>
        </p:txBody>
      </p:sp>
      <p:sp>
        <p:nvSpPr>
          <p:cNvPr id="21" name="TextBox 20"/>
          <p:cNvSpPr txBox="1"/>
          <p:nvPr/>
        </p:nvSpPr>
        <p:spPr>
          <a:xfrm>
            <a:off x="8321040"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Exécute les contrôles</a:t>
            </a:r>
          </a:p>
          <a:p>
            <a:pPr algn="l">
              <a:lnSpc>
                <a:spcPts val="2005"/>
              </a:lnSpc>
              <a:spcBef>
                <a:spcPts val="0"/>
              </a:spcBef>
              <a:spcAft>
                <a:spcPts val="0"/>
              </a:spcAft>
              <a:defRPr sz="1700" b="0">
                <a:solidFill>
                  <a:srgbClr val="183744"/>
                </a:solidFill>
                <a:latin typeface="Arial"/>
              </a:defRPr>
            </a:pPr>
            <a:r>
              <a:t>Signale succès ou échec</a:t>
            </a:r>
          </a:p>
        </p:txBody>
      </p:sp>
      <p:sp>
        <p:nvSpPr>
          <p:cNvPr id="22" name="Rounded Rectangle 21"/>
          <p:cNvSpPr/>
          <p:nvPr/>
        </p:nvSpPr>
        <p:spPr>
          <a:xfrm>
            <a:off x="502920" y="4480560"/>
            <a:ext cx="11155680" cy="987552"/>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4681728"/>
            <a:ext cx="10753344" cy="585216"/>
          </a:xfrm>
          <a:prstGeom prst="rect">
            <a:avLst/>
          </a:prstGeom>
          <a:noFill/>
        </p:spPr>
        <p:txBody>
          <a:bodyPr wrap="none" lIns="0" rIns="0" tIns="0" bIns="0" anchor="t">
            <a:spAutoFit/>
          </a:bodyPr>
          <a:lstStyle/>
          <a:p>
            <a:pPr algn="l">
              <a:lnSpc>
                <a:spcPts val="2124"/>
              </a:lnSpc>
              <a:spcBef>
                <a:spcPts val="0"/>
              </a:spcBef>
              <a:spcAft>
                <a:spcPts val="0"/>
              </a:spcAft>
              <a:defRPr sz="1800" b="0">
                <a:solidFill>
                  <a:srgbClr val="FFFFFF"/>
                </a:solidFill>
                <a:latin typeface="Arial"/>
              </a:defRPr>
            </a:pPr>
            <a:r>
              <a:t>.github/workflows/ci.yml</a:t>
            </a:r>
          </a:p>
          <a:p>
            <a:pPr algn="l">
              <a:lnSpc>
                <a:spcPts val="2124"/>
              </a:lnSpc>
              <a:spcBef>
                <a:spcPts val="0"/>
              </a:spcBef>
              <a:spcAft>
                <a:spcPts val="0"/>
              </a:spcAft>
              <a:defRPr sz="1800" b="0">
                <a:solidFill>
                  <a:srgbClr val="FFFFFF"/>
                </a:solidFill>
                <a:latin typeface="Arial"/>
              </a:defRPr>
            </a:pPr>
            <a:r>
              <a:t>Contrôles → tests → artefacts → publication autorisée</a:t>
            </a:r>
          </a:p>
        </p:txBody>
      </p:sp>
      <p:sp>
        <p:nvSpPr>
          <p:cNvPr id="24" name="Rounded Rectangle 23"/>
          <p:cNvSpPr/>
          <p:nvPr/>
        </p:nvSpPr>
        <p:spPr>
          <a:xfrm>
            <a:off x="502920" y="562356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733288"/>
            <a:ext cx="10771632" cy="292608"/>
          </a:xfrm>
          <a:prstGeom prst="rect">
            <a:avLst/>
          </a:prstGeom>
          <a:noFill/>
        </p:spPr>
        <p:txBody>
          <a:bodyPr wrap="none" lIns="0" rIns="0" tIns="0" bIns="0" anchor="t">
            <a:spAutoFit/>
          </a:bodyPr>
          <a:lstStyle/>
          <a:p>
            <a:pPr algn="l">
              <a:lnSpc>
                <a:spcPts val="1652"/>
              </a:lnSpc>
              <a:spcBef>
                <a:spcPts val="0"/>
              </a:spcBef>
              <a:spcAft>
                <a:spcPts val="0"/>
              </a:spcAft>
              <a:defRPr sz="1400" b="1">
                <a:solidFill>
                  <a:srgbClr val="007F82"/>
                </a:solidFill>
                <a:latin typeface="Arial"/>
              </a:defRPr>
            </a:pPr>
            <a:r>
              <a:t>Publier un modèle existant et réentraîner un modèle sont deux opérations distinctes.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PYDANTIC · 1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Pydantic transforme une entrée en contrat</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05 / 12</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https://docs.pydantic.dev/latest/concepts/validators/</a:t>
            </a:r>
          </a:p>
        </p:txBody>
      </p:sp>
      <p:sp>
        <p:nvSpPr>
          <p:cNvPr id="8" name="Rectangle 7"/>
          <p:cNvSpPr/>
          <p:nvPr/>
        </p:nvSpPr>
        <p:spPr>
          <a:xfrm>
            <a:off x="502920" y="1783080"/>
            <a:ext cx="11155680" cy="640080"/>
          </a:xfrm>
          <a:prstGeom prst="rect">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911095"/>
            <a:ext cx="4956048" cy="484631"/>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FFFFFF"/>
                </a:solidFill>
                <a:latin typeface="Arial"/>
              </a:defRPr>
            </a:pPr>
            <a:r>
              <a:t>Valeur reçue pour un champ</a:t>
            </a:r>
          </a:p>
        </p:txBody>
      </p:sp>
      <p:sp>
        <p:nvSpPr>
          <p:cNvPr id="10" name="TextBox 9"/>
          <p:cNvSpPr txBox="1"/>
          <p:nvPr/>
        </p:nvSpPr>
        <p:spPr>
          <a:xfrm>
            <a:off x="5843016" y="1911095"/>
            <a:ext cx="5687568" cy="484631"/>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FFFFFF"/>
                </a:solidFill>
                <a:latin typeface="Arial"/>
              </a:defRPr>
            </a:pPr>
            <a:r>
              <a:t>Résultat dans HRNova</a:t>
            </a:r>
          </a:p>
        </p:txBody>
      </p:sp>
      <p:sp>
        <p:nvSpPr>
          <p:cNvPr id="11" name="Rectangle 10"/>
          <p:cNvSpPr/>
          <p:nvPr/>
        </p:nvSpPr>
        <p:spPr>
          <a:xfrm>
            <a:off x="502920" y="2423160"/>
            <a:ext cx="1115568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542032"/>
            <a:ext cx="4956048" cy="493775"/>
          </a:xfrm>
          <a:prstGeom prst="rect">
            <a:avLst/>
          </a:prstGeom>
          <a:noFill/>
        </p:spPr>
        <p:txBody>
          <a:bodyPr wrap="none" lIns="0" rIns="0" tIns="0" bIns="0" anchor="t">
            <a:spAutoFit/>
          </a:bodyPr>
          <a:lstStyle/>
          <a:p>
            <a:pPr algn="l">
              <a:lnSpc>
                <a:spcPts val="2242"/>
              </a:lnSpc>
              <a:spcBef>
                <a:spcPts val="0"/>
              </a:spcBef>
              <a:spcAft>
                <a:spcPts val="0"/>
              </a:spcAft>
              <a:defRPr sz="1900" b="0">
                <a:solidFill>
                  <a:srgbClr val="183744"/>
                </a:solidFill>
                <a:latin typeface="Arial"/>
              </a:defRPr>
            </a:pPr>
            <a:r>
              <a:t>35</a:t>
            </a:r>
          </a:p>
        </p:txBody>
      </p:sp>
      <p:sp>
        <p:nvSpPr>
          <p:cNvPr id="13" name="TextBox 12"/>
          <p:cNvSpPr txBox="1"/>
          <p:nvPr/>
        </p:nvSpPr>
        <p:spPr>
          <a:xfrm>
            <a:off x="5843016" y="2542032"/>
            <a:ext cx="5687568" cy="493775"/>
          </a:xfrm>
          <a:prstGeom prst="rect">
            <a:avLst/>
          </a:prstGeom>
          <a:noFill/>
        </p:spPr>
        <p:txBody>
          <a:bodyPr wrap="none" lIns="0" rIns="0" tIns="0" bIns="0" anchor="t">
            <a:spAutoFit/>
          </a:bodyPr>
          <a:lstStyle/>
          <a:p>
            <a:pPr algn="l">
              <a:lnSpc>
                <a:spcPts val="2242"/>
              </a:lnSpc>
              <a:spcBef>
                <a:spcPts val="0"/>
              </a:spcBef>
              <a:spcAft>
                <a:spcPts val="0"/>
              </a:spcAft>
              <a:defRPr sz="1900" b="0">
                <a:solidFill>
                  <a:srgbClr val="183744"/>
                </a:solidFill>
                <a:latin typeface="Arial"/>
              </a:defRPr>
            </a:pPr>
            <a:r>
              <a:t>Acceptée → 35.0</a:t>
            </a:r>
          </a:p>
        </p:txBody>
      </p:sp>
      <p:sp>
        <p:nvSpPr>
          <p:cNvPr id="14" name="Rectangle 13"/>
          <p:cNvSpPr/>
          <p:nvPr/>
        </p:nvSpPr>
        <p:spPr>
          <a:xfrm>
            <a:off x="502920" y="3063239"/>
            <a:ext cx="11155680" cy="640080"/>
          </a:xfrm>
          <a:prstGeom prst="rect">
            <a:avLst/>
          </a:prstGeom>
          <a:solidFill>
            <a:srgbClr val="EA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 y="3182111"/>
            <a:ext cx="4956048" cy="493775"/>
          </a:xfrm>
          <a:prstGeom prst="rect">
            <a:avLst/>
          </a:prstGeom>
          <a:noFill/>
        </p:spPr>
        <p:txBody>
          <a:bodyPr wrap="none" lIns="0" rIns="0" tIns="0" bIns="0" anchor="t">
            <a:spAutoFit/>
          </a:bodyPr>
          <a:lstStyle/>
          <a:p>
            <a:pPr algn="l">
              <a:lnSpc>
                <a:spcPts val="2242"/>
              </a:lnSpc>
              <a:spcBef>
                <a:spcPts val="0"/>
              </a:spcBef>
              <a:spcAft>
                <a:spcPts val="0"/>
              </a:spcAft>
              <a:defRPr sz="1900" b="0">
                <a:solidFill>
                  <a:srgbClr val="183744"/>
                </a:solidFill>
                <a:latin typeface="Arial"/>
              </a:defRPr>
            </a:pPr>
            <a:r>
              <a:t>"35"</a:t>
            </a:r>
          </a:p>
        </p:txBody>
      </p:sp>
      <p:sp>
        <p:nvSpPr>
          <p:cNvPr id="16" name="TextBox 15"/>
          <p:cNvSpPr txBox="1"/>
          <p:nvPr/>
        </p:nvSpPr>
        <p:spPr>
          <a:xfrm>
            <a:off x="5843016" y="3182111"/>
            <a:ext cx="5687568" cy="493775"/>
          </a:xfrm>
          <a:prstGeom prst="rect">
            <a:avLst/>
          </a:prstGeom>
          <a:noFill/>
        </p:spPr>
        <p:txBody>
          <a:bodyPr wrap="none" lIns="0" rIns="0" tIns="0" bIns="0" anchor="t">
            <a:spAutoFit/>
          </a:bodyPr>
          <a:lstStyle/>
          <a:p>
            <a:pPr algn="l">
              <a:lnSpc>
                <a:spcPts val="2242"/>
              </a:lnSpc>
              <a:spcBef>
                <a:spcPts val="0"/>
              </a:spcBef>
              <a:spcAft>
                <a:spcPts val="0"/>
              </a:spcAft>
              <a:defRPr sz="1900" b="0">
                <a:solidFill>
                  <a:srgbClr val="183744"/>
                </a:solidFill>
                <a:latin typeface="Arial"/>
              </a:defRPr>
            </a:pPr>
            <a:r>
              <a:t>Convertie → 35.0</a:t>
            </a:r>
          </a:p>
        </p:txBody>
      </p:sp>
      <p:sp>
        <p:nvSpPr>
          <p:cNvPr id="17" name="Rectangle 16"/>
          <p:cNvSpPr/>
          <p:nvPr/>
        </p:nvSpPr>
        <p:spPr>
          <a:xfrm>
            <a:off x="502920" y="3703320"/>
            <a:ext cx="1115568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3822191"/>
            <a:ext cx="4956048" cy="493775"/>
          </a:xfrm>
          <a:prstGeom prst="rect">
            <a:avLst/>
          </a:prstGeom>
          <a:noFill/>
        </p:spPr>
        <p:txBody>
          <a:bodyPr wrap="none" lIns="0" rIns="0" tIns="0" bIns="0" anchor="t">
            <a:spAutoFit/>
          </a:bodyPr>
          <a:lstStyle/>
          <a:p>
            <a:pPr algn="l">
              <a:lnSpc>
                <a:spcPts val="2242"/>
              </a:lnSpc>
              <a:spcBef>
                <a:spcPts val="0"/>
              </a:spcBef>
              <a:spcAft>
                <a:spcPts val="0"/>
              </a:spcAft>
              <a:defRPr sz="1900" b="0">
                <a:solidFill>
                  <a:srgbClr val="183744"/>
                </a:solidFill>
                <a:latin typeface="Arial"/>
              </a:defRPr>
            </a:pPr>
            <a:r>
              <a:t>"trente"</a:t>
            </a:r>
          </a:p>
        </p:txBody>
      </p:sp>
      <p:sp>
        <p:nvSpPr>
          <p:cNvPr id="19" name="TextBox 18"/>
          <p:cNvSpPr txBox="1"/>
          <p:nvPr/>
        </p:nvSpPr>
        <p:spPr>
          <a:xfrm>
            <a:off x="5843016" y="3822191"/>
            <a:ext cx="5687568" cy="493775"/>
          </a:xfrm>
          <a:prstGeom prst="rect">
            <a:avLst/>
          </a:prstGeom>
          <a:noFill/>
        </p:spPr>
        <p:txBody>
          <a:bodyPr wrap="none" lIns="0" rIns="0" tIns="0" bIns="0" anchor="t">
            <a:spAutoFit/>
          </a:bodyPr>
          <a:lstStyle/>
          <a:p>
            <a:pPr algn="l">
              <a:lnSpc>
                <a:spcPts val="2242"/>
              </a:lnSpc>
              <a:spcBef>
                <a:spcPts val="0"/>
              </a:spcBef>
              <a:spcAft>
                <a:spcPts val="0"/>
              </a:spcAft>
              <a:defRPr sz="1900" b="0">
                <a:solidFill>
                  <a:srgbClr val="183744"/>
                </a:solidFill>
                <a:latin typeface="Arial"/>
              </a:defRPr>
            </a:pPr>
            <a:r>
              <a:t>Rejetée → HTTP 422</a:t>
            </a:r>
          </a:p>
        </p:txBody>
      </p:sp>
      <p:sp>
        <p:nvSpPr>
          <p:cNvPr id="20" name="Rectangle 19"/>
          <p:cNvSpPr/>
          <p:nvPr/>
        </p:nvSpPr>
        <p:spPr>
          <a:xfrm>
            <a:off x="502920" y="4343400"/>
            <a:ext cx="11155680" cy="640080"/>
          </a:xfrm>
          <a:prstGeom prst="rect">
            <a:avLst/>
          </a:prstGeom>
          <a:solidFill>
            <a:srgbClr val="EA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 y="4462272"/>
            <a:ext cx="4956048" cy="493775"/>
          </a:xfrm>
          <a:prstGeom prst="rect">
            <a:avLst/>
          </a:prstGeom>
          <a:noFill/>
        </p:spPr>
        <p:txBody>
          <a:bodyPr wrap="none" lIns="0" rIns="0" tIns="0" bIns="0" anchor="t">
            <a:spAutoFit/>
          </a:bodyPr>
          <a:lstStyle/>
          <a:p>
            <a:pPr algn="l">
              <a:lnSpc>
                <a:spcPts val="2242"/>
              </a:lnSpc>
              <a:spcBef>
                <a:spcPts val="0"/>
              </a:spcBef>
              <a:spcAft>
                <a:spcPts val="0"/>
              </a:spcAft>
              <a:defRPr sz="1900" b="0">
                <a:solidFill>
                  <a:srgbClr val="183744"/>
                </a:solidFill>
                <a:latin typeface="Arial"/>
              </a:defRPr>
            </a:pPr>
            <a:r>
              <a:t>null ou true</a:t>
            </a:r>
          </a:p>
        </p:txBody>
      </p:sp>
      <p:sp>
        <p:nvSpPr>
          <p:cNvPr id="22" name="TextBox 21"/>
          <p:cNvSpPr txBox="1"/>
          <p:nvPr/>
        </p:nvSpPr>
        <p:spPr>
          <a:xfrm>
            <a:off x="5843016" y="4462272"/>
            <a:ext cx="5687568" cy="493775"/>
          </a:xfrm>
          <a:prstGeom prst="rect">
            <a:avLst/>
          </a:prstGeom>
          <a:noFill/>
        </p:spPr>
        <p:txBody>
          <a:bodyPr wrap="none" lIns="0" rIns="0" tIns="0" bIns="0" anchor="t">
            <a:spAutoFit/>
          </a:bodyPr>
          <a:lstStyle/>
          <a:p>
            <a:pPr algn="l">
              <a:lnSpc>
                <a:spcPts val="2242"/>
              </a:lnSpc>
              <a:spcBef>
                <a:spcPts val="0"/>
              </a:spcBef>
              <a:spcAft>
                <a:spcPts val="0"/>
              </a:spcAft>
              <a:defRPr sz="1900" b="0">
                <a:solidFill>
                  <a:srgbClr val="183744"/>
                </a:solidFill>
                <a:latin typeface="Arial"/>
              </a:defRPr>
            </a:pPr>
            <a:r>
              <a:t>Rejeté → HTTP 422</a:t>
            </a:r>
          </a:p>
        </p:txBody>
      </p:sp>
      <p:sp>
        <p:nvSpPr>
          <p:cNvPr id="23" name="Rounded Rectangle 22"/>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5596128"/>
            <a:ext cx="10771632" cy="292608"/>
          </a:xfrm>
          <a:prstGeom prst="rect">
            <a:avLst/>
          </a:prstGeom>
          <a:noFill/>
        </p:spPr>
        <p:txBody>
          <a:bodyPr wrap="none" lIns="0" rIns="0" tIns="0" bIns="0" anchor="t">
            <a:spAutoFit/>
          </a:bodyPr>
          <a:lstStyle/>
          <a:p>
            <a:pPr algn="l">
              <a:lnSpc>
                <a:spcPts val="1652"/>
              </a:lnSpc>
              <a:spcBef>
                <a:spcPts val="0"/>
              </a:spcBef>
              <a:spcAft>
                <a:spcPts val="0"/>
              </a:spcAft>
              <a:defRPr sz="1400" b="1">
                <a:solidFill>
                  <a:srgbClr val="007F82"/>
                </a:solidFill>
                <a:latin typeface="Arial"/>
              </a:defRPr>
            </a:pPr>
            <a:r>
              <a:t>Validation = structure + types + règles. Une entrée valide peut encore être peu réaliste.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PYDANTIC · 2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Un schéma Python décrit les données attendues</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06 / 12</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Code du projet : schemas.py · https://docs.pydantic.dev/latest/concepts/validators/</a:t>
            </a:r>
          </a:p>
        </p:txBody>
      </p:sp>
      <p:sp>
        <p:nvSpPr>
          <p:cNvPr id="8" name="Rounded Rectangle 7"/>
          <p:cNvSpPr/>
          <p:nvPr/>
        </p:nvSpPr>
        <p:spPr>
          <a:xfrm>
            <a:off x="502920" y="1783080"/>
            <a:ext cx="7315200" cy="3429000"/>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984248"/>
            <a:ext cx="6912864" cy="302666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FFFFFF"/>
                </a:solidFill>
                <a:latin typeface="Arial"/>
              </a:defRPr>
            </a:pPr>
            <a:r>
              <a:t>NumericValue = Annotated[</a:t>
            </a:r>
          </a:p>
          <a:p>
            <a:pPr algn="l">
              <a:lnSpc>
                <a:spcPts val="2005"/>
              </a:lnSpc>
              <a:spcBef>
                <a:spcPts val="0"/>
              </a:spcBef>
              <a:spcAft>
                <a:spcPts val="0"/>
              </a:spcAft>
              <a:defRPr sz="1700" b="0">
                <a:solidFill>
                  <a:srgbClr val="FFFFFF"/>
                </a:solidFill>
                <a:latin typeface="Arial"/>
              </a:defRPr>
            </a:pPr>
            <a:r>
              <a:t>FiniteFloat, BeforeValidator(numeric_value)</a:t>
            </a:r>
          </a:p>
          <a:p>
            <a:pPr algn="l">
              <a:lnSpc>
                <a:spcPts val="2005"/>
              </a:lnSpc>
              <a:spcBef>
                <a:spcPts val="0"/>
              </a:spcBef>
              <a:spcAft>
                <a:spcPts val="0"/>
              </a:spcAft>
              <a:defRPr sz="1700" b="0">
                <a:solidFill>
                  <a:srgbClr val="FFFFFF"/>
                </a:solidFill>
                <a:latin typeface="Arial"/>
              </a:defRPr>
            </a:pPr>
            <a:r>
              <a:t>]</a:t>
            </a:r>
          </a:p>
          <a:p>
            <a:pPr algn="l">
              <a:lnSpc>
                <a:spcPts val="2005"/>
              </a:lnSpc>
              <a:spcBef>
                <a:spcPts val="0"/>
              </a:spcBef>
              <a:spcAft>
                <a:spcPts val="0"/>
              </a:spcAft>
              <a:defRPr sz="1700" b="0">
                <a:solidFill>
                  <a:srgbClr val="FFFFFF"/>
                </a:solidFill>
                <a:latin typeface="Arial"/>
              </a:defRPr>
            </a:pPr>
          </a:p>
          <a:p>
            <a:pPr algn="l">
              <a:lnSpc>
                <a:spcPts val="2005"/>
              </a:lnSpc>
              <a:spcBef>
                <a:spcPts val="0"/>
              </a:spcBef>
              <a:spcAft>
                <a:spcPts val="0"/>
              </a:spcAft>
              <a:defRPr sz="1700" b="0">
                <a:solidFill>
                  <a:srgbClr val="FFFFFF"/>
                </a:solidFill>
                <a:latin typeface="Arial"/>
              </a:defRPr>
            </a:pPr>
            <a:r>
              <a:t>class PredictionRequest(BaseModel):</a:t>
            </a:r>
          </a:p>
          <a:p>
            <a:pPr algn="l">
              <a:lnSpc>
                <a:spcPts val="2005"/>
              </a:lnSpc>
              <a:spcBef>
                <a:spcPts val="0"/>
              </a:spcBef>
              <a:spcAft>
                <a:spcPts val="0"/>
              </a:spcAft>
              <a:defRPr sz="1700" b="0">
                <a:solidFill>
                  <a:srgbClr val="FFFFFF"/>
                </a:solidFill>
                <a:latin typeface="Arial"/>
              </a:defRPr>
            </a:pPr>
            <a:r>
              <a:t>model_config = ConfigDict(extra="forbid")</a:t>
            </a:r>
          </a:p>
          <a:p>
            <a:pPr algn="l">
              <a:lnSpc>
                <a:spcPts val="2005"/>
              </a:lnSpc>
              <a:spcBef>
                <a:spcPts val="0"/>
              </a:spcBef>
              <a:spcAft>
                <a:spcPts val="0"/>
              </a:spcAft>
              <a:defRPr sz="1700" b="0">
                <a:solidFill>
                  <a:srgbClr val="FFFFFF"/>
                </a:solidFill>
                <a:latin typeface="Arial"/>
              </a:defRPr>
            </a:pPr>
            <a:r>
              <a:t>features: dict[str, NumericValue] = Field(min_length=1)</a:t>
            </a:r>
          </a:p>
        </p:txBody>
      </p:sp>
      <p:sp>
        <p:nvSpPr>
          <p:cNvPr id="10" name="TextBox 9"/>
          <p:cNvSpPr txBox="1"/>
          <p:nvPr/>
        </p:nvSpPr>
        <p:spPr>
          <a:xfrm>
            <a:off x="8138160" y="2011680"/>
            <a:ext cx="3383280" cy="2697480"/>
          </a:xfrm>
          <a:prstGeom prst="rect">
            <a:avLst/>
          </a:prstGeom>
          <a:noFill/>
        </p:spPr>
        <p:txBody>
          <a:bodyPr wrap="none" lIns="0" rIns="0" tIns="0" bIns="0" anchor="t">
            <a:spAutoFit/>
          </a:bodyPr>
          <a:lstStyle/>
          <a:p>
            <a:pPr algn="l">
              <a:lnSpc>
                <a:spcPts val="2124"/>
              </a:lnSpc>
              <a:spcBef>
                <a:spcPts val="0"/>
              </a:spcBef>
              <a:spcAft>
                <a:spcPts val="0"/>
              </a:spcAft>
              <a:defRPr sz="1800" b="0">
                <a:solidFill>
                  <a:srgbClr val="183744"/>
                </a:solidFill>
                <a:latin typeface="Arial"/>
              </a:defRPr>
            </a:pPr>
            <a:r>
              <a:t>1. Contrôler les valeurs</a:t>
            </a:r>
          </a:p>
          <a:p>
            <a:pPr algn="l">
              <a:lnSpc>
                <a:spcPts val="2124"/>
              </a:lnSpc>
              <a:spcBef>
                <a:spcPts val="0"/>
              </a:spcBef>
              <a:spcAft>
                <a:spcPts val="0"/>
              </a:spcAft>
              <a:defRPr sz="1800" b="0">
                <a:solidFill>
                  <a:srgbClr val="183744"/>
                </a:solidFill>
                <a:latin typeface="Arial"/>
              </a:defRPr>
            </a:pPr>
          </a:p>
          <a:p>
            <a:pPr algn="l">
              <a:lnSpc>
                <a:spcPts val="2124"/>
              </a:lnSpc>
              <a:spcBef>
                <a:spcPts val="0"/>
              </a:spcBef>
              <a:spcAft>
                <a:spcPts val="0"/>
              </a:spcAft>
              <a:defRPr sz="1800" b="0">
                <a:solidFill>
                  <a:srgbClr val="183744"/>
                </a:solidFill>
                <a:latin typeface="Arial"/>
              </a:defRPr>
            </a:pPr>
            <a:r>
              <a:t>2. Convertir les nombres</a:t>
            </a:r>
          </a:p>
          <a:p>
            <a:pPr algn="l">
              <a:lnSpc>
                <a:spcPts val="2124"/>
              </a:lnSpc>
              <a:spcBef>
                <a:spcPts val="0"/>
              </a:spcBef>
              <a:spcAft>
                <a:spcPts val="0"/>
              </a:spcAft>
              <a:defRPr sz="1800" b="0">
                <a:solidFill>
                  <a:srgbClr val="183744"/>
                </a:solidFill>
                <a:latin typeface="Arial"/>
              </a:defRPr>
            </a:pPr>
          </a:p>
          <a:p>
            <a:pPr algn="l">
              <a:lnSpc>
                <a:spcPts val="2124"/>
              </a:lnSpc>
              <a:spcBef>
                <a:spcPts val="0"/>
              </a:spcBef>
              <a:spcAft>
                <a:spcPts val="0"/>
              </a:spcAft>
              <a:defRPr sz="1800" b="0">
                <a:solidFill>
                  <a:srgbClr val="183744"/>
                </a:solidFill>
                <a:latin typeface="Arial"/>
              </a:defRPr>
            </a:pPr>
            <a:r>
              <a:t>3. Vérifier les noms attendus</a:t>
            </a:r>
          </a:p>
        </p:txBody>
      </p:sp>
      <p:sp>
        <p:nvSpPr>
          <p:cNvPr id="11" name="Rounded Rectangle 10"/>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96128"/>
            <a:ext cx="10771632" cy="292608"/>
          </a:xfrm>
          <a:prstGeom prst="rect">
            <a:avLst/>
          </a:prstGeom>
          <a:noFill/>
        </p:spPr>
        <p:txBody>
          <a:bodyPr wrap="none" lIns="0" rIns="0" tIns="0" bIns="0" anchor="t">
            <a:spAutoFit/>
          </a:bodyPr>
          <a:lstStyle/>
          <a:p>
            <a:pPr algn="l">
              <a:lnSpc>
                <a:spcPts val="1652"/>
              </a:lnSpc>
              <a:spcBef>
                <a:spcPts val="0"/>
              </a:spcBef>
              <a:spcAft>
                <a:spcPts val="0"/>
              </a:spcAft>
              <a:defRPr sz="1400" b="1">
                <a:solidFill>
                  <a:srgbClr val="007F82"/>
                </a:solidFill>
                <a:latin typeface="Arial"/>
              </a:defRPr>
            </a:pPr>
            <a:r>
              <a:t>Extrait simplifié : les clés de features sont aussi vérifiées par un validateur dédié.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PYDANTIC · 3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Un fichier CSV passe les mêmes contrôles</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07 / 12</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Code du projet : schemas.py, inference.py</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Fichier CSV</a:t>
            </a:r>
          </a:p>
        </p:txBody>
      </p:sp>
      <p:sp>
        <p:nvSpPr>
          <p:cNvPr id="11" name="TextBox 10"/>
          <p:cNvSpPr txBox="1"/>
          <p:nvPr/>
        </p:nvSpPr>
        <p:spPr>
          <a:xfrm>
            <a:off x="713232"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Lire le contenu</a:t>
            </a:r>
          </a:p>
          <a:p>
            <a:pPr algn="l">
              <a:lnSpc>
                <a:spcPts val="2005"/>
              </a:lnSpc>
              <a:spcBef>
                <a:spcPts val="0"/>
              </a:spcBef>
              <a:spcAft>
                <a:spcPts val="0"/>
              </a:spcAft>
              <a:defRPr sz="1700" b="0">
                <a:solidFill>
                  <a:srgbClr val="183744"/>
                </a:solidFill>
                <a:latin typeface="Arial"/>
              </a:defRPr>
            </a:pPr>
            <a:r>
              <a:t>Repérer les colonnes</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Lignes typées</a:t>
            </a:r>
          </a:p>
        </p:txBody>
      </p:sp>
      <p:sp>
        <p:nvSpPr>
          <p:cNvPr id="16" name="TextBox 15"/>
          <p:cNvSpPr txBox="1"/>
          <p:nvPr/>
        </p:nvSpPr>
        <p:spPr>
          <a:xfrm>
            <a:off x="4517136"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Valider chaque ligne</a:t>
            </a:r>
          </a:p>
          <a:p>
            <a:pPr algn="l">
              <a:lnSpc>
                <a:spcPts val="2005"/>
              </a:lnSpc>
              <a:spcBef>
                <a:spcPts val="0"/>
              </a:spcBef>
              <a:spcAft>
                <a:spcPts val="0"/>
              </a:spcAft>
              <a:defRPr sz="1700" b="0">
                <a:solidFill>
                  <a:srgbClr val="183744"/>
                </a:solidFill>
                <a:latin typeface="Arial"/>
              </a:defRPr>
            </a:pPr>
            <a:r>
              <a:t>Vérifier chaque variable</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Entrées valides</a:t>
            </a:r>
          </a:p>
        </p:txBody>
      </p:sp>
      <p:sp>
        <p:nvSpPr>
          <p:cNvPr id="21" name="TextBox 20"/>
          <p:cNvSpPr txBox="1"/>
          <p:nvPr/>
        </p:nvSpPr>
        <p:spPr>
          <a:xfrm>
            <a:off x="8321040"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Ordonner les colonnes</a:t>
            </a:r>
          </a:p>
          <a:p>
            <a:pPr algn="l">
              <a:lnSpc>
                <a:spcPts val="2005"/>
              </a:lnSpc>
              <a:spcBef>
                <a:spcPts val="0"/>
              </a:spcBef>
              <a:spcAft>
                <a:spcPts val="0"/>
              </a:spcAft>
              <a:defRPr sz="1700" b="0">
                <a:solidFill>
                  <a:srgbClr val="183744"/>
                </a:solidFill>
                <a:latin typeface="Arial"/>
              </a:defRPr>
            </a:pPr>
            <a:r>
              <a:t>Enregistrer puis calculer</a:t>
            </a:r>
          </a:p>
        </p:txBody>
      </p:sp>
      <p:sp>
        <p:nvSpPr>
          <p:cNvPr id="22" name="Rounded Rectangle 21"/>
          <p:cNvSpPr/>
          <p:nvPr/>
        </p:nvSpPr>
        <p:spPr>
          <a:xfrm>
            <a:off x="502920" y="4526280"/>
            <a:ext cx="11155680" cy="100584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663440"/>
            <a:ext cx="10698480" cy="3200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Exemple : une cellule numérique contient "trente".</a:t>
            </a:r>
          </a:p>
        </p:txBody>
      </p:sp>
      <p:sp>
        <p:nvSpPr>
          <p:cNvPr id="24" name="TextBox 23"/>
          <p:cNvSpPr txBox="1"/>
          <p:nvPr/>
        </p:nvSpPr>
        <p:spPr>
          <a:xfrm>
            <a:off x="731520" y="5084064"/>
            <a:ext cx="10698480" cy="320040"/>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Réponse 422 avec le contexte de l’erreur ; aucune prédiction produite.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PYDANTIC · 4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Valider aussi ce que renvoie le modèle</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08 / 12</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Code du projet : schemas.py, inference.py</a:t>
            </a:r>
          </a:p>
        </p:txBody>
      </p:sp>
      <p:sp>
        <p:nvSpPr>
          <p:cNvPr id="8" name="Rounded Rectangle 7"/>
          <p:cNvSpPr/>
          <p:nvPr/>
        </p:nvSpPr>
        <p:spPr>
          <a:xfrm>
            <a:off x="502920" y="1874519"/>
            <a:ext cx="352044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74519"/>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93976"/>
            <a:ext cx="3099816"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predict</a:t>
            </a:r>
          </a:p>
        </p:txBody>
      </p:sp>
      <p:sp>
        <p:nvSpPr>
          <p:cNvPr id="11" name="TextBox 10"/>
          <p:cNvSpPr txBox="1"/>
          <p:nvPr/>
        </p:nvSpPr>
        <p:spPr>
          <a:xfrm>
            <a:off x="713232" y="2807208"/>
            <a:ext cx="3099816" cy="1472184"/>
          </a:xfrm>
          <a:prstGeom prst="rect">
            <a:avLst/>
          </a:prstGeom>
          <a:noFill/>
        </p:spPr>
        <p:txBody>
          <a:bodyPr wrap="none" lIns="0" rIns="0" tIns="0" bIns="0" anchor="t">
            <a:spAutoFit/>
          </a:bodyPr>
          <a:lstStyle/>
          <a:p>
            <a:pPr algn="l">
              <a:lnSpc>
                <a:spcPts val="2124"/>
              </a:lnSpc>
              <a:spcBef>
                <a:spcPts val="0"/>
              </a:spcBef>
              <a:spcAft>
                <a:spcPts val="0"/>
              </a:spcAft>
              <a:defRPr sz="1800" b="0">
                <a:solidFill>
                  <a:srgbClr val="183744"/>
                </a:solidFill>
                <a:latin typeface="Arial"/>
              </a:defRPr>
            </a:pPr>
            <a:r>
              <a:t>Classe autorisée : 0 ou 1</a:t>
            </a:r>
          </a:p>
          <a:p>
            <a:pPr algn="l">
              <a:lnSpc>
                <a:spcPts val="2124"/>
              </a:lnSpc>
              <a:spcBef>
                <a:spcPts val="0"/>
              </a:spcBef>
              <a:spcAft>
                <a:spcPts val="0"/>
              </a:spcAft>
              <a:defRPr sz="1800" b="0">
                <a:solidFill>
                  <a:srgbClr val="183744"/>
                </a:solidFill>
                <a:latin typeface="Arial"/>
              </a:defRPr>
            </a:pPr>
            <a:r>
              <a:t>Une prédiction par ligne</a:t>
            </a:r>
          </a:p>
        </p:txBody>
      </p:sp>
      <p:sp>
        <p:nvSpPr>
          <p:cNvPr id="12" name="Rounded Rectangle 11"/>
          <p:cNvSpPr/>
          <p:nvPr/>
        </p:nvSpPr>
        <p:spPr>
          <a:xfrm>
            <a:off x="4315968" y="1874519"/>
            <a:ext cx="352044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74519"/>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2093976"/>
            <a:ext cx="3099816"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predict_proba</a:t>
            </a:r>
          </a:p>
        </p:txBody>
      </p:sp>
      <p:sp>
        <p:nvSpPr>
          <p:cNvPr id="15" name="TextBox 14"/>
          <p:cNvSpPr txBox="1"/>
          <p:nvPr/>
        </p:nvSpPr>
        <p:spPr>
          <a:xfrm>
            <a:off x="4526280" y="2807208"/>
            <a:ext cx="3099816" cy="1472184"/>
          </a:xfrm>
          <a:prstGeom prst="rect">
            <a:avLst/>
          </a:prstGeom>
          <a:noFill/>
        </p:spPr>
        <p:txBody>
          <a:bodyPr wrap="none" lIns="0" rIns="0" tIns="0" bIns="0" anchor="t">
            <a:spAutoFit/>
          </a:bodyPr>
          <a:lstStyle/>
          <a:p>
            <a:pPr algn="l">
              <a:lnSpc>
                <a:spcPts val="2124"/>
              </a:lnSpc>
              <a:spcBef>
                <a:spcPts val="0"/>
              </a:spcBef>
              <a:spcAft>
                <a:spcPts val="0"/>
              </a:spcAft>
              <a:defRPr sz="1800" b="0">
                <a:solidFill>
                  <a:srgbClr val="183744"/>
                </a:solidFill>
                <a:latin typeface="Arial"/>
              </a:defRPr>
            </a:pPr>
            <a:r>
              <a:t>Probabilités entre 0 et 1</a:t>
            </a:r>
          </a:p>
          <a:p>
            <a:pPr algn="l">
              <a:lnSpc>
                <a:spcPts val="2124"/>
              </a:lnSpc>
              <a:spcBef>
                <a:spcPts val="0"/>
              </a:spcBef>
              <a:spcAft>
                <a:spcPts val="0"/>
              </a:spcAft>
              <a:defRPr sz="1800" b="0">
                <a:solidFill>
                  <a:srgbClr val="183744"/>
                </a:solidFill>
                <a:latin typeface="Arial"/>
              </a:defRPr>
            </a:pPr>
            <a:r>
              <a:t>Somme par ligne ≈ 1</a:t>
            </a:r>
          </a:p>
        </p:txBody>
      </p:sp>
      <p:sp>
        <p:nvSpPr>
          <p:cNvPr id="16" name="Rounded Rectangle 15"/>
          <p:cNvSpPr/>
          <p:nvPr/>
        </p:nvSpPr>
        <p:spPr>
          <a:xfrm>
            <a:off x="8129016" y="1874519"/>
            <a:ext cx="352044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9016" y="1874519"/>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8" y="2093976"/>
            <a:ext cx="3099816"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score</a:t>
            </a:r>
          </a:p>
        </p:txBody>
      </p:sp>
      <p:sp>
        <p:nvSpPr>
          <p:cNvPr id="19" name="TextBox 18"/>
          <p:cNvSpPr txBox="1"/>
          <p:nvPr/>
        </p:nvSpPr>
        <p:spPr>
          <a:xfrm>
            <a:off x="8339328" y="2807208"/>
            <a:ext cx="3099816" cy="1472184"/>
          </a:xfrm>
          <a:prstGeom prst="rect">
            <a:avLst/>
          </a:prstGeom>
          <a:noFill/>
        </p:spPr>
        <p:txBody>
          <a:bodyPr wrap="none" lIns="0" rIns="0" tIns="0" bIns="0" anchor="t">
            <a:spAutoFit/>
          </a:bodyPr>
          <a:lstStyle/>
          <a:p>
            <a:pPr algn="l">
              <a:lnSpc>
                <a:spcPts val="2124"/>
              </a:lnSpc>
              <a:spcBef>
                <a:spcPts val="0"/>
              </a:spcBef>
              <a:spcAft>
                <a:spcPts val="0"/>
              </a:spcAft>
              <a:defRPr sz="1800" b="0">
                <a:solidFill>
                  <a:srgbClr val="183744"/>
                </a:solidFill>
                <a:latin typeface="Arial"/>
              </a:defRPr>
            </a:pPr>
            <a:r>
              <a:t>Métriques finies</a:t>
            </a:r>
          </a:p>
          <a:p>
            <a:pPr algn="l">
              <a:lnSpc>
                <a:spcPts val="2124"/>
              </a:lnSpc>
              <a:spcBef>
                <a:spcPts val="0"/>
              </a:spcBef>
              <a:spcAft>
                <a:spcPts val="0"/>
              </a:spcAft>
              <a:defRPr sz="1800" b="0">
                <a:solidFill>
                  <a:srgbClr val="183744"/>
                </a:solidFill>
                <a:latin typeface="Arial"/>
              </a:defRPr>
            </a:pPr>
            <a:r>
              <a:t>Valeurs dans les bornes</a:t>
            </a:r>
          </a:p>
        </p:txBody>
      </p:sp>
      <p:sp>
        <p:nvSpPr>
          <p:cNvPr id="20" name="Rounded Rectangle 19"/>
          <p:cNvSpPr/>
          <p:nvPr/>
        </p:nvSpPr>
        <p:spPr>
          <a:xfrm>
            <a:off x="502920" y="516636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5276088"/>
            <a:ext cx="10771632" cy="292608"/>
          </a:xfrm>
          <a:prstGeom prst="rect">
            <a:avLst/>
          </a:prstGeom>
          <a:noFill/>
        </p:spPr>
        <p:txBody>
          <a:bodyPr wrap="none" lIns="0" rIns="0" tIns="0" bIns="0" anchor="t">
            <a:spAutoFit/>
          </a:bodyPr>
          <a:lstStyle/>
          <a:p>
            <a:pPr algn="l">
              <a:lnSpc>
                <a:spcPts val="1652"/>
              </a:lnSpc>
              <a:spcBef>
                <a:spcPts val="0"/>
              </a:spcBef>
              <a:spcAft>
                <a:spcPts val="0"/>
              </a:spcAft>
              <a:defRPr sz="1400" b="1">
                <a:solidFill>
                  <a:srgbClr val="007F82"/>
                </a:solidFill>
                <a:latin typeface="Arial"/>
              </a:defRPr>
            </a:pPr>
            <a:r>
              <a:t>Une réponse hors contrat est rejetée et tracée ; elle ne devient pas un résultat valide.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POSTGRESQL · 1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PostgreSQL : où vivent les données ?</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09 / 12</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Configuration et modèles de données du projet</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Serveur</a:t>
            </a:r>
          </a:p>
        </p:txBody>
      </p:sp>
      <p:sp>
        <p:nvSpPr>
          <p:cNvPr id="11" name="TextBox 10"/>
          <p:cNvSpPr txBox="1"/>
          <p:nvPr/>
        </p:nvSpPr>
        <p:spPr>
          <a:xfrm>
            <a:off x="713232"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PostgreSQL local</a:t>
            </a:r>
          </a:p>
          <a:p>
            <a:pPr algn="l">
              <a:lnSpc>
                <a:spcPts val="2005"/>
              </a:lnSpc>
              <a:spcBef>
                <a:spcPts val="0"/>
              </a:spcBef>
              <a:spcAft>
                <a:spcPts val="0"/>
              </a:spcAft>
              <a:defRPr sz="1700" b="0">
                <a:solidFill>
                  <a:srgbClr val="183744"/>
                </a:solidFill>
                <a:latin typeface="Arial"/>
              </a:defRPr>
            </a:pPr>
            <a:r>
              <a:t>127.0.0.1:5433</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Base / schéma</a:t>
            </a:r>
          </a:p>
        </p:txBody>
      </p:sp>
      <p:sp>
        <p:nvSpPr>
          <p:cNvPr id="16" name="TextBox 15"/>
          <p:cNvSpPr txBox="1"/>
          <p:nvPr/>
        </p:nvSpPr>
        <p:spPr>
          <a:xfrm>
            <a:off x="4517136"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Base : hrnova</a:t>
            </a:r>
          </a:p>
          <a:p>
            <a:pPr algn="l">
              <a:lnSpc>
                <a:spcPts val="2005"/>
              </a:lnSpc>
              <a:spcBef>
                <a:spcPts val="0"/>
              </a:spcBef>
              <a:spcAft>
                <a:spcPts val="0"/>
              </a:spcAft>
              <a:defRPr sz="1700" b="0">
                <a:solidFill>
                  <a:srgbClr val="183744"/>
                </a:solidFill>
                <a:latin typeface="Arial"/>
              </a:defRPr>
            </a:pPr>
            <a:r>
              <a:t>Schéma : public</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Tables</a:t>
            </a:r>
          </a:p>
        </p:txBody>
      </p:sp>
      <p:sp>
        <p:nvSpPr>
          <p:cNvPr id="21" name="TextBox 20"/>
          <p:cNvSpPr txBox="1"/>
          <p:nvPr/>
        </p:nvSpPr>
        <p:spPr>
          <a:xfrm>
            <a:off x="8321040"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employees</a:t>
            </a:r>
          </a:p>
          <a:p>
            <a:pPr algn="l">
              <a:lnSpc>
                <a:spcPts val="2005"/>
              </a:lnSpc>
              <a:spcBef>
                <a:spcPts val="0"/>
              </a:spcBef>
              <a:spcAft>
                <a:spcPts val="0"/>
              </a:spcAft>
              <a:defRPr sz="1700" b="0">
                <a:solidFill>
                  <a:srgbClr val="183744"/>
                </a:solidFill>
                <a:latin typeface="Arial"/>
              </a:defRPr>
            </a:pPr>
            <a:r>
              <a:t>model_inputs / outputs</a:t>
            </a:r>
          </a:p>
        </p:txBody>
      </p:sp>
      <p:sp>
        <p:nvSpPr>
          <p:cNvPr id="22" name="Rounded Rectangle 21"/>
          <p:cNvSpPr/>
          <p:nvPr/>
        </p:nvSpPr>
        <p:spPr>
          <a:xfrm>
            <a:off x="502920" y="4572000"/>
            <a:ext cx="11155680" cy="100584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736592"/>
            <a:ext cx="10698480" cy="365760"/>
          </a:xfrm>
          <a:prstGeom prst="rect">
            <a:avLst/>
          </a:prstGeom>
          <a:noFill/>
        </p:spPr>
        <p:txBody>
          <a:bodyPr wrap="none" lIns="0" rIns="0" tIns="0" bIns="0" anchor="t">
            <a:spAutoFit/>
          </a:bodyPr>
          <a:lstStyle/>
          <a:p>
            <a:pPr algn="l">
              <a:lnSpc>
                <a:spcPts val="2713"/>
              </a:lnSpc>
              <a:spcBef>
                <a:spcPts val="0"/>
              </a:spcBef>
              <a:spcAft>
                <a:spcPts val="0"/>
              </a:spcAft>
              <a:defRPr sz="2300" b="1">
                <a:solidFill>
                  <a:srgbClr val="007F82"/>
                </a:solidFill>
                <a:latin typeface="Arial"/>
              </a:defRPr>
            </a:pPr>
            <a:r>
              <a:t>DBeaver → connexion → PostgreSQL → tables</a:t>
            </a:r>
          </a:p>
        </p:txBody>
      </p:sp>
      <p:sp>
        <p:nvSpPr>
          <p:cNvPr id="24" name="TextBox 23"/>
          <p:cNvSpPr txBox="1"/>
          <p:nvPr/>
        </p:nvSpPr>
        <p:spPr>
          <a:xfrm>
            <a:off x="731520" y="5184648"/>
            <a:ext cx="10698480" cy="274320"/>
          </a:xfrm>
          <a:prstGeom prst="rect">
            <a:avLst/>
          </a:prstGeom>
          <a:noFill/>
        </p:spPr>
        <p:txBody>
          <a:bodyPr wrap="none" lIns="0" rIns="0" tIns="0" bIns="0" anchor="t">
            <a:spAutoFit/>
          </a:bodyPr>
          <a:lstStyle/>
          <a:p>
            <a:pPr algn="l">
              <a:lnSpc>
                <a:spcPts val="1888"/>
              </a:lnSpc>
              <a:spcBef>
                <a:spcPts val="0"/>
              </a:spcBef>
              <a:spcAft>
                <a:spcPts val="0"/>
              </a:spcAft>
              <a:defRPr sz="1600" b="0">
                <a:solidFill>
                  <a:srgbClr val="183744"/>
                </a:solidFill>
                <a:latin typeface="Arial"/>
              </a:defRPr>
            </a:pPr>
            <a:r>
              <a:t>DBeaver affiche les données ; le serveur PostgreSQL doit être démarré.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POSTGRESQL · 2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Les clés relient les tables entre elles</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10 / 12</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Modèles SQLAlchemy du projet</a:t>
            </a:r>
          </a:p>
        </p:txBody>
      </p:sp>
      <p:sp>
        <p:nvSpPr>
          <p:cNvPr id="8" name="Rounded Rectangle 7"/>
          <p:cNvSpPr/>
          <p:nvPr/>
        </p:nvSpPr>
        <p:spPr>
          <a:xfrm>
            <a:off x="502920" y="1828800"/>
            <a:ext cx="338328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28800"/>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48256"/>
            <a:ext cx="2962656"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employees</a:t>
            </a:r>
          </a:p>
        </p:txBody>
      </p:sp>
      <p:sp>
        <p:nvSpPr>
          <p:cNvPr id="11" name="TextBox 10"/>
          <p:cNvSpPr txBox="1"/>
          <p:nvPr/>
        </p:nvSpPr>
        <p:spPr>
          <a:xfrm>
            <a:off x="713232" y="2761488"/>
            <a:ext cx="2962656" cy="1472184"/>
          </a:xfrm>
          <a:prstGeom prst="rect">
            <a:avLst/>
          </a:prstGeom>
          <a:noFill/>
        </p:spPr>
        <p:txBody>
          <a:bodyPr wrap="none" lIns="0" rIns="0" tIns="0" bIns="0" anchor="t">
            <a:spAutoFit/>
          </a:bodyPr>
          <a:lstStyle/>
          <a:p>
            <a:pPr algn="l">
              <a:lnSpc>
                <a:spcPts val="2124"/>
              </a:lnSpc>
              <a:spcBef>
                <a:spcPts val="0"/>
              </a:spcBef>
              <a:spcAft>
                <a:spcPts val="0"/>
              </a:spcAft>
              <a:defRPr sz="1800" b="0">
                <a:solidFill>
                  <a:srgbClr val="183744"/>
                </a:solidFill>
                <a:latin typeface="Arial"/>
              </a:defRPr>
            </a:pPr>
            <a:r>
              <a:t>id_employee = 42</a:t>
            </a:r>
          </a:p>
          <a:p>
            <a:pPr algn="l">
              <a:lnSpc>
                <a:spcPts val="2124"/>
              </a:lnSpc>
              <a:spcBef>
                <a:spcPts val="0"/>
              </a:spcBef>
              <a:spcAft>
                <a:spcPts val="0"/>
              </a:spcAft>
              <a:defRPr sz="1800" b="0">
                <a:solidFill>
                  <a:srgbClr val="183744"/>
                </a:solidFill>
                <a:latin typeface="Arial"/>
              </a:defRPr>
            </a:pPr>
            <a:r>
              <a:t>Clé primaire : identité</a:t>
            </a:r>
          </a:p>
        </p:txBody>
      </p:sp>
      <p:sp>
        <p:nvSpPr>
          <p:cNvPr id="12" name="Rounded Rectangle 11"/>
          <p:cNvSpPr/>
          <p:nvPr/>
        </p:nvSpPr>
        <p:spPr>
          <a:xfrm>
            <a:off x="4389120" y="1828800"/>
            <a:ext cx="338328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828800"/>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2048256"/>
            <a:ext cx="2962656"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surveys</a:t>
            </a:r>
          </a:p>
        </p:txBody>
      </p:sp>
      <p:sp>
        <p:nvSpPr>
          <p:cNvPr id="15" name="TextBox 14"/>
          <p:cNvSpPr txBox="1"/>
          <p:nvPr/>
        </p:nvSpPr>
        <p:spPr>
          <a:xfrm>
            <a:off x="4599432" y="2761488"/>
            <a:ext cx="2962656" cy="1472184"/>
          </a:xfrm>
          <a:prstGeom prst="rect">
            <a:avLst/>
          </a:prstGeom>
          <a:noFill/>
        </p:spPr>
        <p:txBody>
          <a:bodyPr wrap="none" lIns="0" rIns="0" tIns="0" bIns="0" anchor="t">
            <a:spAutoFit/>
          </a:bodyPr>
          <a:lstStyle/>
          <a:p>
            <a:pPr algn="l">
              <a:lnSpc>
                <a:spcPts val="2124"/>
              </a:lnSpc>
              <a:spcBef>
                <a:spcPts val="0"/>
              </a:spcBef>
              <a:spcAft>
                <a:spcPts val="0"/>
              </a:spcAft>
              <a:defRPr sz="1800" b="0">
                <a:solidFill>
                  <a:srgbClr val="183744"/>
                </a:solidFill>
                <a:latin typeface="Arial"/>
              </a:defRPr>
            </a:pPr>
            <a:r>
              <a:t>employee_id = 42</a:t>
            </a:r>
          </a:p>
          <a:p>
            <a:pPr algn="l">
              <a:lnSpc>
                <a:spcPts val="2124"/>
              </a:lnSpc>
              <a:spcBef>
                <a:spcPts val="0"/>
              </a:spcBef>
              <a:spcAft>
                <a:spcPts val="0"/>
              </a:spcAft>
              <a:defRPr sz="1800" b="0">
                <a:solidFill>
                  <a:srgbClr val="183744"/>
                </a:solidFill>
                <a:latin typeface="Arial"/>
              </a:defRPr>
            </a:pPr>
            <a:r>
              <a:t>Clé étrangère : lien</a:t>
            </a:r>
          </a:p>
        </p:txBody>
      </p:sp>
      <p:sp>
        <p:nvSpPr>
          <p:cNvPr id="16" name="Rounded Rectangle 15"/>
          <p:cNvSpPr/>
          <p:nvPr/>
        </p:nvSpPr>
        <p:spPr>
          <a:xfrm>
            <a:off x="8275320" y="1828800"/>
            <a:ext cx="338328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75320" y="1828800"/>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85632" y="2048256"/>
            <a:ext cx="2962656"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evaluations</a:t>
            </a:r>
          </a:p>
        </p:txBody>
      </p:sp>
      <p:sp>
        <p:nvSpPr>
          <p:cNvPr id="19" name="TextBox 18"/>
          <p:cNvSpPr txBox="1"/>
          <p:nvPr/>
        </p:nvSpPr>
        <p:spPr>
          <a:xfrm>
            <a:off x="8485632" y="2761488"/>
            <a:ext cx="2962656" cy="1472184"/>
          </a:xfrm>
          <a:prstGeom prst="rect">
            <a:avLst/>
          </a:prstGeom>
          <a:noFill/>
        </p:spPr>
        <p:txBody>
          <a:bodyPr wrap="none" lIns="0" rIns="0" tIns="0" bIns="0" anchor="t">
            <a:spAutoFit/>
          </a:bodyPr>
          <a:lstStyle/>
          <a:p>
            <a:pPr algn="l">
              <a:lnSpc>
                <a:spcPts val="2124"/>
              </a:lnSpc>
              <a:spcBef>
                <a:spcPts val="0"/>
              </a:spcBef>
              <a:spcAft>
                <a:spcPts val="0"/>
              </a:spcAft>
              <a:defRPr sz="1800" b="0">
                <a:solidFill>
                  <a:srgbClr val="183744"/>
                </a:solidFill>
                <a:latin typeface="Arial"/>
              </a:defRPr>
            </a:pPr>
            <a:r>
              <a:t>employee_id = 42</a:t>
            </a:r>
          </a:p>
          <a:p>
            <a:pPr algn="l">
              <a:lnSpc>
                <a:spcPts val="2124"/>
              </a:lnSpc>
              <a:spcBef>
                <a:spcPts val="0"/>
              </a:spcBef>
              <a:spcAft>
                <a:spcPts val="0"/>
              </a:spcAft>
              <a:defRPr sz="1800" b="0">
                <a:solidFill>
                  <a:srgbClr val="183744"/>
                </a:solidFill>
                <a:latin typeface="Arial"/>
              </a:defRPr>
            </a:pPr>
            <a:r>
              <a:t>Clé étrangère : lien</a:t>
            </a:r>
          </a:p>
        </p:txBody>
      </p:sp>
      <p:cxnSp>
        <p:nvCxnSpPr>
          <p:cNvPr id="20" name="Connector 19"/>
          <p:cNvCxnSpPr/>
          <p:nvPr/>
        </p:nvCxnSpPr>
        <p:spPr>
          <a:xfrm>
            <a:off x="3931920" y="3063240"/>
            <a:ext cx="41148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023360" y="4526280"/>
            <a:ext cx="585216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2920" y="4754880"/>
            <a:ext cx="11155680" cy="548640"/>
          </a:xfrm>
          <a:prstGeom prst="rect">
            <a:avLst/>
          </a:prstGeom>
          <a:noFill/>
        </p:spPr>
        <p:txBody>
          <a:bodyPr wrap="none" lIns="0" rIns="0" tIns="0" bIns="0" anchor="t">
            <a:spAutoFit/>
          </a:bodyPr>
          <a:lstStyle/>
          <a:p>
            <a:pPr algn="l">
              <a:lnSpc>
                <a:spcPts val="2124"/>
              </a:lnSpc>
              <a:spcBef>
                <a:spcPts val="0"/>
              </a:spcBef>
              <a:spcAft>
                <a:spcPts val="0"/>
              </a:spcAft>
              <a:defRPr sz="1800" b="0">
                <a:solidFill>
                  <a:srgbClr val="183744"/>
                </a:solidFill>
                <a:latin typeface="Arial"/>
              </a:defRPr>
            </a:pPr>
            <a:r>
              <a:t>Exemple fictif : les tables partagent un identifiant, sans recopier toute la fiche.</a:t>
            </a:r>
          </a:p>
        </p:txBody>
      </p:sp>
      <p:sp>
        <p:nvSpPr>
          <p:cNvPr id="23" name="Rounded Rectangle 22"/>
          <p:cNvSpPr/>
          <p:nvPr/>
        </p:nvSpPr>
        <p:spPr>
          <a:xfrm>
            <a:off x="502920" y="553212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5641848"/>
            <a:ext cx="10771632" cy="292608"/>
          </a:xfrm>
          <a:prstGeom prst="rect">
            <a:avLst/>
          </a:prstGeom>
          <a:noFill/>
        </p:spPr>
        <p:txBody>
          <a:bodyPr wrap="none" lIns="0" rIns="0" tIns="0" bIns="0" anchor="t">
            <a:spAutoFit/>
          </a:bodyPr>
          <a:lstStyle/>
          <a:p>
            <a:pPr algn="l">
              <a:lnSpc>
                <a:spcPts val="1652"/>
              </a:lnSpc>
              <a:spcBef>
                <a:spcPts val="0"/>
              </a:spcBef>
              <a:spcAft>
                <a:spcPts val="0"/>
              </a:spcAft>
              <a:defRPr sz="1400" b="1">
                <a:solidFill>
                  <a:srgbClr val="007F82"/>
                </a:solidFill>
                <a:latin typeface="Arial"/>
              </a:defRPr>
            </a:pPr>
            <a:r>
              <a:t>SQLAlchemy : objets Python → requêtes SQL → contraintes vérifiées par PostgreSQL.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POSTGRESQL · 3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Une transaction protège un groupe d’écritures</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11 / 12</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https://www.postgresql.org/docs/18/tutorial-transactions.html</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Transaction A</a:t>
            </a:r>
          </a:p>
        </p:txBody>
      </p:sp>
      <p:sp>
        <p:nvSpPr>
          <p:cNvPr id="11" name="TextBox 10"/>
          <p:cNvSpPr txBox="1"/>
          <p:nvPr/>
        </p:nvSpPr>
        <p:spPr>
          <a:xfrm>
            <a:off x="713232"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Sauver les entrées</a:t>
            </a:r>
          </a:p>
          <a:p>
            <a:pPr algn="l">
              <a:lnSpc>
                <a:spcPts val="2005"/>
              </a:lnSpc>
              <a:spcBef>
                <a:spcPts val="0"/>
              </a:spcBef>
              <a:spcAft>
                <a:spcPts val="0"/>
              </a:spcAft>
              <a:defRPr sz="1700" b="0">
                <a:solidFill>
                  <a:srgbClr val="183744"/>
                </a:solidFill>
                <a:latin typeface="Arial"/>
              </a:defRPr>
            </a:pPr>
            <a:r>
              <a:t>COMMIT avant le modèle</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Calcul</a:t>
            </a:r>
          </a:p>
        </p:txBody>
      </p:sp>
      <p:sp>
        <p:nvSpPr>
          <p:cNvPr id="16" name="TextBox 15"/>
          <p:cNvSpPr txBox="1"/>
          <p:nvPr/>
        </p:nvSpPr>
        <p:spPr>
          <a:xfrm>
            <a:off x="4517136"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Relire depuis la base</a:t>
            </a:r>
          </a:p>
          <a:p>
            <a:pPr algn="l">
              <a:lnSpc>
                <a:spcPts val="2005"/>
              </a:lnSpc>
              <a:spcBef>
                <a:spcPts val="0"/>
              </a:spcBef>
              <a:spcAft>
                <a:spcPts val="0"/>
              </a:spcAft>
              <a:defRPr sz="1700" b="0">
                <a:solidFill>
                  <a:srgbClr val="183744"/>
                </a:solidFill>
                <a:latin typeface="Arial"/>
              </a:defRPr>
            </a:pPr>
            <a:r>
              <a:t>Exécuter le modèle</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Transaction B</a:t>
            </a:r>
          </a:p>
        </p:txBody>
      </p:sp>
      <p:sp>
        <p:nvSpPr>
          <p:cNvPr id="21" name="TextBox 20"/>
          <p:cNvSpPr txBox="1"/>
          <p:nvPr/>
        </p:nvSpPr>
        <p:spPr>
          <a:xfrm>
            <a:off x="8321040"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Valider et sauver la sortie</a:t>
            </a:r>
          </a:p>
          <a:p>
            <a:pPr algn="l">
              <a:lnSpc>
                <a:spcPts val="2005"/>
              </a:lnSpc>
              <a:spcBef>
                <a:spcPts val="0"/>
              </a:spcBef>
              <a:spcAft>
                <a:spcPts val="0"/>
              </a:spcAft>
              <a:defRPr sz="1700" b="0">
                <a:solidFill>
                  <a:srgbClr val="183744"/>
                </a:solidFill>
                <a:latin typeface="Arial"/>
              </a:defRPr>
            </a:pPr>
            <a:r>
              <a:t>COMMIT puis relecture</a:t>
            </a:r>
          </a:p>
        </p:txBody>
      </p:sp>
      <p:sp>
        <p:nvSpPr>
          <p:cNvPr id="22" name="Rounded Rectangle 21"/>
          <p:cNvSpPr/>
          <p:nvPr/>
        </p:nvSpPr>
        <p:spPr>
          <a:xfrm>
            <a:off x="502920" y="4526280"/>
            <a:ext cx="7315200" cy="1234440"/>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4727448"/>
            <a:ext cx="6912864" cy="83210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FFFFFF"/>
                </a:solidFill>
                <a:latin typeface="Arial"/>
              </a:defRPr>
            </a:pPr>
            <a:r>
              <a:t>with session() as db, db.begin():</a:t>
            </a:r>
          </a:p>
          <a:p>
            <a:pPr algn="l">
              <a:lnSpc>
                <a:spcPts val="2005"/>
              </a:lnSpc>
              <a:spcBef>
                <a:spcPts val="0"/>
              </a:spcBef>
              <a:spcAft>
                <a:spcPts val="0"/>
              </a:spcAft>
              <a:defRPr sz="1700" b="0">
                <a:solidFill>
                  <a:srgbClr val="FFFFFF"/>
                </a:solidFill>
                <a:latin typeface="Arial"/>
              </a:defRPr>
            </a:pPr>
            <a:r>
              <a:t>db.add(entree)</a:t>
            </a:r>
          </a:p>
          <a:p>
            <a:pPr algn="l">
              <a:lnSpc>
                <a:spcPts val="2005"/>
              </a:lnSpc>
              <a:spcBef>
                <a:spcPts val="0"/>
              </a:spcBef>
              <a:spcAft>
                <a:spcPts val="0"/>
              </a:spcAft>
              <a:defRPr sz="1700" b="0">
                <a:solidFill>
                  <a:srgbClr val="FFFFFF"/>
                </a:solidFill>
                <a:latin typeface="Arial"/>
              </a:defRPr>
            </a:pPr>
            <a:r>
              <a:t># succès : commit ; exception : rollback</a:t>
            </a:r>
          </a:p>
        </p:txBody>
      </p:sp>
      <p:sp>
        <p:nvSpPr>
          <p:cNvPr id="24" name="TextBox 23"/>
          <p:cNvSpPr txBox="1"/>
          <p:nvPr/>
        </p:nvSpPr>
        <p:spPr>
          <a:xfrm>
            <a:off x="8138160" y="4681728"/>
            <a:ext cx="3383280" cy="1024128"/>
          </a:xfrm>
          <a:prstGeom prst="rect">
            <a:avLst/>
          </a:prstGeom>
          <a:noFill/>
        </p:spPr>
        <p:txBody>
          <a:bodyPr wrap="none" lIns="0" rIns="0" tIns="0" bIns="0" anchor="t">
            <a:spAutoFit/>
          </a:bodyPr>
          <a:lstStyle/>
          <a:p>
            <a:pPr algn="l">
              <a:lnSpc>
                <a:spcPts val="2124"/>
              </a:lnSpc>
              <a:spcBef>
                <a:spcPts val="0"/>
              </a:spcBef>
              <a:spcAft>
                <a:spcPts val="0"/>
              </a:spcAft>
              <a:defRPr sz="1800" b="0">
                <a:solidFill>
                  <a:srgbClr val="183744"/>
                </a:solidFill>
                <a:latin typeface="Arial"/>
              </a:defRPr>
            </a:pPr>
            <a:r>
              <a:t>Les entrées déjà commitées</a:t>
            </a:r>
          </a:p>
          <a:p>
            <a:pPr algn="l">
              <a:lnSpc>
                <a:spcPts val="2124"/>
              </a:lnSpc>
              <a:spcBef>
                <a:spcPts val="0"/>
              </a:spcBef>
              <a:spcAft>
                <a:spcPts val="0"/>
              </a:spcAft>
              <a:defRPr sz="1800" b="0">
                <a:solidFill>
                  <a:srgbClr val="183744"/>
                </a:solidFill>
                <a:latin typeface="Arial"/>
              </a:defRPr>
            </a:pPr>
            <a:r>
              <a:t>restent traçables si le calcul</a:t>
            </a:r>
          </a:p>
          <a:p>
            <a:pPr algn="l">
              <a:lnSpc>
                <a:spcPts val="2124"/>
              </a:lnSpc>
              <a:spcBef>
                <a:spcPts val="0"/>
              </a:spcBef>
              <a:spcAft>
                <a:spcPts val="0"/>
              </a:spcAft>
              <a:defRPr sz="1800" b="0">
                <a:solidFill>
                  <a:srgbClr val="183744"/>
                </a:solidFill>
                <a:latin typeface="Arial"/>
              </a:defRPr>
            </a:pPr>
            <a:r>
              <a:t>échoue.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POSTGRESQL · 4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Tracer un appel : retrouver son parcours en SQL</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12 / 12</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Schéma PostgreSQL du projet · vue public.api_logs</a:t>
            </a:r>
          </a:p>
        </p:txBody>
      </p:sp>
      <p:sp>
        <p:nvSpPr>
          <p:cNvPr id="8" name="Rounded Rectangle 7"/>
          <p:cNvSpPr/>
          <p:nvPr/>
        </p:nvSpPr>
        <p:spPr>
          <a:xfrm>
            <a:off x="502920" y="1783080"/>
            <a:ext cx="11155680" cy="1737360"/>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984248"/>
            <a:ext cx="10753344" cy="1335024"/>
          </a:xfrm>
          <a:prstGeom prst="rect">
            <a:avLst/>
          </a:prstGeom>
          <a:noFill/>
        </p:spPr>
        <p:txBody>
          <a:bodyPr wrap="none" lIns="0" rIns="0" tIns="0" bIns="0" anchor="t">
            <a:spAutoFit/>
          </a:bodyPr>
          <a:lstStyle/>
          <a:p>
            <a:pPr algn="l">
              <a:lnSpc>
                <a:spcPts val="2360"/>
              </a:lnSpc>
              <a:spcBef>
                <a:spcPts val="0"/>
              </a:spcBef>
              <a:spcAft>
                <a:spcPts val="0"/>
              </a:spcAft>
              <a:defRPr sz="2000" b="0">
                <a:solidFill>
                  <a:srgbClr val="FFFFFF"/>
                </a:solidFill>
                <a:latin typeface="Arial"/>
              </a:defRPr>
            </a:pPr>
            <a:r>
              <a:t>SELECT date_requete, route, code_http, message</a:t>
            </a:r>
          </a:p>
          <a:p>
            <a:pPr algn="l">
              <a:lnSpc>
                <a:spcPts val="2360"/>
              </a:lnSpc>
              <a:spcBef>
                <a:spcPts val="0"/>
              </a:spcBef>
              <a:spcAft>
                <a:spcPts val="0"/>
              </a:spcAft>
              <a:defRPr sz="2000" b="0">
                <a:solidFill>
                  <a:srgbClr val="FFFFFF"/>
                </a:solidFill>
                <a:latin typeface="Arial"/>
              </a:defRPr>
            </a:pPr>
            <a:r>
              <a:t>FROM public.api_logs</a:t>
            </a:r>
          </a:p>
          <a:p>
            <a:pPr algn="l">
              <a:lnSpc>
                <a:spcPts val="2360"/>
              </a:lnSpc>
              <a:spcBef>
                <a:spcPts val="0"/>
              </a:spcBef>
              <a:spcAft>
                <a:spcPts val="0"/>
              </a:spcAft>
              <a:defRPr sz="2000" b="0">
                <a:solidFill>
                  <a:srgbClr val="FFFFFF"/>
                </a:solidFill>
                <a:latin typeface="Arial"/>
              </a:defRPr>
            </a:pPr>
            <a:r>
              <a:t>ORDER BY date_requete DESC</a:t>
            </a:r>
          </a:p>
          <a:p>
            <a:pPr algn="l">
              <a:lnSpc>
                <a:spcPts val="2360"/>
              </a:lnSpc>
              <a:spcBef>
                <a:spcPts val="0"/>
              </a:spcBef>
              <a:spcAft>
                <a:spcPts val="0"/>
              </a:spcAft>
              <a:defRPr sz="2000" b="0">
                <a:solidFill>
                  <a:srgbClr val="FFFFFF"/>
                </a:solidFill>
                <a:latin typeface="Arial"/>
              </a:defRPr>
            </a:pPr>
            <a:r>
              <a:t>LIMIT 5;</a:t>
            </a:r>
          </a:p>
        </p:txBody>
      </p:sp>
      <p:sp>
        <p:nvSpPr>
          <p:cNvPr id="10" name="Rounded Rectangle 9"/>
          <p:cNvSpPr/>
          <p:nvPr/>
        </p:nvSpPr>
        <p:spPr>
          <a:xfrm>
            <a:off x="502920" y="3794760"/>
            <a:ext cx="5440680"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79476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4014216"/>
            <a:ext cx="5020056"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Une requête, un identifiant</a:t>
            </a:r>
          </a:p>
        </p:txBody>
      </p:sp>
      <p:sp>
        <p:nvSpPr>
          <p:cNvPr id="13" name="TextBox 12"/>
          <p:cNvSpPr txBox="1"/>
          <p:nvPr/>
        </p:nvSpPr>
        <p:spPr>
          <a:xfrm>
            <a:off x="713232" y="4727448"/>
            <a:ext cx="5020056" cy="106070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Relier l’appel API, les entrées, les sorties et les</a:t>
            </a:r>
          </a:p>
          <a:p>
            <a:pPr algn="l">
              <a:lnSpc>
                <a:spcPts val="2005"/>
              </a:lnSpc>
              <a:spcBef>
                <a:spcPts val="0"/>
              </a:spcBef>
              <a:spcAft>
                <a:spcPts val="0"/>
              </a:spcAft>
              <a:defRPr sz="1700" b="0">
                <a:solidFill>
                  <a:srgbClr val="183744"/>
                </a:solidFill>
                <a:latin typeface="Arial"/>
              </a:defRPr>
            </a:pPr>
            <a:r>
              <a:t>étapes d’exécution.</a:t>
            </a:r>
          </a:p>
        </p:txBody>
      </p:sp>
      <p:sp>
        <p:nvSpPr>
          <p:cNvPr id="14" name="Rounded Rectangle 13"/>
          <p:cNvSpPr/>
          <p:nvPr/>
        </p:nvSpPr>
        <p:spPr>
          <a:xfrm>
            <a:off x="6217920" y="3794760"/>
            <a:ext cx="5440680"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79476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4014216"/>
            <a:ext cx="5020056"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Un modèle identifiable</a:t>
            </a:r>
          </a:p>
        </p:txBody>
      </p:sp>
      <p:sp>
        <p:nvSpPr>
          <p:cNvPr id="17" name="TextBox 16"/>
          <p:cNvSpPr txBox="1"/>
          <p:nvPr/>
        </p:nvSpPr>
        <p:spPr>
          <a:xfrm>
            <a:off x="6428232" y="4727448"/>
            <a:ext cx="5020056" cy="106070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Retrouver la version du modèle utilisée et</a:t>
            </a:r>
          </a:p>
          <a:p>
            <a:pPr algn="l">
              <a:lnSpc>
                <a:spcPts val="2005"/>
              </a:lnSpc>
              <a:spcBef>
                <a:spcPts val="0"/>
              </a:spcBef>
              <a:spcAft>
                <a:spcPts val="0"/>
              </a:spcAft>
              <a:defRPr sz="1700" b="0">
                <a:solidFill>
                  <a:srgbClr val="183744"/>
                </a:solidFill>
                <a:latin typeface="Arial"/>
              </a:defRPr>
            </a:pPr>
            <a:r>
              <a:t>comprendre les erreurs.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HRNova — Comprendre Git, Pydantic et PostgreSQL</dc:title>
  <dc:subject>Soutenance Data Science : modèle, API, PostgreSQL, traçabilité et CI/CD</dc:subject>
  <dc:creator>Samuel Gabbai</dc:creator>
  <cp:keywords/>
  <dc:description>generated using python-pptx</dc:description>
  <cp:lastModifiedBy>Steve Canny</cp:lastModifiedBy>
  <cp:revision>1</cp:revision>
  <dcterms:created xsi:type="dcterms:W3CDTF">2026-10-29T00:00:00Z</dcterms:created>
  <dcterms:modified xsi:type="dcterms:W3CDTF">2013-01-27T09:15:58Z</dcterms:modified>
  <cp:category/>
</cp:coreProperties>
</file>