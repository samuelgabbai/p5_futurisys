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3"/>
  </p:normalViewPr>
  <p:slideViewPr>
    <p:cSldViewPr snapToGrid="0" snapToObjects="1">
      <p:cViewPr varScale="1">
        <p:scale>
          <a:sx n="115" d="100"/>
          <a:sy n="115" d="100"/>
        </p:scale>
        <p:origin x="66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doughnutChart>
        <c:varyColors val="1"/>
        <c:ser>
          <c:idx val="0"/>
          <c:order val="0"/>
          <c:tx>
            <c:strRef>
              <c:f>Sheet1!$B$1</c:f>
              <c:strCache>
                <c:ptCount val="1"/>
                <c:pt idx="0">
                  <c:v>Salariés</c:v>
                </c:pt>
              </c:strCache>
            </c:strRef>
          </c:tx>
          <c:dPt>
            <c:idx val="0"/>
            <c:bubble3D val="0"/>
            <c:spPr>
              <a:solidFill>
                <a:srgbClr val="DCE5E8"/>
              </a:solidFill>
              <a:ln>
                <a:noFill/>
              </a:ln>
            </c:spPr>
            <c:extLst>
              <c:ext xmlns:c16="http://schemas.microsoft.com/office/drawing/2014/chart" uri="{C3380CC4-5D6E-409C-BE32-E72D297353CC}">
                <c16:uniqueId val="{00000001-8801-8742-852F-F2A5AACE4AC3}"/>
              </c:ext>
            </c:extLst>
          </c:dPt>
          <c:dPt>
            <c:idx val="1"/>
            <c:bubble3D val="0"/>
            <c:spPr>
              <a:solidFill>
                <a:srgbClr val="007F82"/>
              </a:solidFill>
              <a:ln>
                <a:noFill/>
              </a:ln>
            </c:spPr>
            <c:extLst>
              <c:ext xmlns:c16="http://schemas.microsoft.com/office/drawing/2014/chart" uri="{C3380CC4-5D6E-409C-BE32-E72D297353CC}">
                <c16:uniqueId val="{00000003-8801-8742-852F-F2A5AACE4AC3}"/>
              </c:ext>
            </c:extLst>
          </c:dPt>
          <c:cat>
            <c:strRef>
              <c:f>Sheet1!$A$2:$A$3</c:f>
              <c:strCache>
                <c:ptCount val="2"/>
                <c:pt idx="0">
                  <c:v>Restés</c:v>
                </c:pt>
                <c:pt idx="1">
                  <c:v>Partis</c:v>
                </c:pt>
              </c:strCache>
            </c:strRef>
          </c:cat>
          <c:val>
            <c:numRef>
              <c:f>Sheet1!$B$2:$B$3</c:f>
              <c:numCache>
                <c:formatCode>General</c:formatCode>
                <c:ptCount val="2"/>
                <c:pt idx="0">
                  <c:v>1233</c:v>
                </c:pt>
                <c:pt idx="1">
                  <c:v>237</c:v>
                </c:pt>
              </c:numCache>
            </c:numRef>
          </c:val>
          <c:extLst>
            <c:ext xmlns:c16="http://schemas.microsoft.com/office/drawing/2014/chart" uri="{C3380CC4-5D6E-409C-BE32-E72D297353CC}">
              <c16:uniqueId val="{00000004-8801-8742-852F-F2A5AACE4AC3}"/>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40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 projet comme un parcours complet : partir de trois sources RH, estimer une probabilité de départ puis rendre le calcul utilisable et vérifiable. Le périmètre actuel est un service local, avec publication du modèle sur le Hub. Les performances viennent du notebook enregistré et les tests logiciels vérifient le fonctionnement du service.</a:t>
            </a:r>
          </a:p>
          <a:p>
            <a:endParaRPr/>
          </a:p>
          <a:p>
            <a:r>
              <a:t>Sources : État du projet examiné le 27 octobre 2026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L'objectif est de mieux comprendre et repérer les situations associées aux départs. La cible connue est binaire : salarié resté ou parti. Le résultat est une probabilité et une décision selon un seuil. Souligner que le modèle ne prouve pas les causes de départ et ne remplace pas une analyse métier. Il faut relier les fausses alertes et les départs manqués à des coûts et à des actions définies avec les RH.</a:t>
            </a:r>
          </a:p>
          <a:p>
            <a:endParaRPr/>
          </a:p>
          <a:p>
            <a:r>
              <a:t>Sources : Sources : README.md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fichiers ont chacun 1 470 lignes, mais concernent la même population : on ne dispose pas de 4 410 salariés différents. Les clés sont rapprochées entre les sources, tout en conservant leur représentation d'origine en base. La classe positive représente 237 départs sur 1 470, soit environ 16,1 %. Le déséquilibre justifie de regarder précision, rappel et F1, pas uniquement l'accuracy.</a:t>
            </a:r>
          </a:p>
          <a:p>
            <a:endParaRPr/>
          </a:p>
          <a:p>
            <a:r>
              <a:t>Sources : Sources : Data/*.csv ; docs/model.md ; docs/database.md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préparation est exécutée dans le notebook. Elle fusionne les sources, convertit les pourcentages, encode les variables et crée notamment des indicateurs de rémunération relative et une satisfaction moyenne. La cible et les identifiants sont exclus des variables explicatives. L'API reçoit le résultat de cette préparation ; elle ne fait pas la transformation d'un fichier RH brut. Certaines références sont aujourd'hui calculées avant le split : cette limite sera détaillée plus loin.</a:t>
            </a:r>
          </a:p>
          <a:p>
            <a:endParaRPr/>
          </a:p>
          <a:p>
            <a:r>
              <a:t>Sources : Sources : notebook, cellules 12 à 28 ; docs/features.md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séparation stratifiée réserve 20 % des données pour le test : 294 salariés dont 47 départs. Le train compte 1 176 salariés dont 190 départs. Les modèles sont comparés par validation croisée à cinq folds ; la grille optimise le F1 et la calibration utilise sigmoid avec cinq folds. Le seuil est choisi sur les probabilités out-of-fold du train. Les transformations apprises avant le split limitent toutefois l'indépendance globale de l'évaluation actuelle.</a:t>
            </a:r>
          </a:p>
          <a:p>
            <a:endParaRPr/>
          </a:p>
          <a:p>
            <a:r>
              <a:t>Sources : Sources : notebook, cellules 28 à 41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comparaison utilise les F1 moyens en validation croisée enregistrés dans le notebook. LightGBM atteint ici le meilleur F1 moyen, tandis que la régression logistique est également compétitive. La forêt optimisée est le modèle exporté, mais il ne faut pas affirmer sa supériorité générale. Les écarts-types et les protocoles de choix des hyperparamètres doivent être pris en compte. Aucune comparaison finale sur le test de tous les concurrents avec des seuils optimisés identiquement n'est fournie.</a:t>
            </a:r>
          </a:p>
          <a:p>
            <a:endParaRPr/>
          </a:p>
          <a:p>
            <a:r>
              <a:t>Sources : Sources : notebook, cellules 31, 34, 54 et 55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explore 16 combinaisons, évaluées sur cinq folds. Le modèle retenu utilise 300 arbres avec une profondeur maximale de cinq, un minimum de cinq observations pour une séparation et deux par feuille. La pondération des classes est balanced. La calibration sigmoid est réalisée avec CalibratedClassifierCV, cv=5. Le fichier complet conserve aussi le seuil, les noms de variables, la classe positive et les variables préparées des salariés pour l'import local.</a:t>
            </a:r>
          </a:p>
          <a:p>
            <a:endParaRPr/>
          </a:p>
          <a:p>
            <a:r>
              <a:t>Sources : Sources : artefact local ; docs/model.md ; notebook, cellules 34 et 36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294 salariés du test, le rappel passe de 17,0 % à 61,7 % lorsque le seuil passe de 0,50 à environ 0,2232. Le F1 augmente de 0,229 à 0,500. La précision reste de 42,0 % : toutes les alertes ne sont pas de vrais départs. L'accuracy au seuil optimisé est de 80,27 % et la ROC-AUC de 0,7692. Une stratégie qui prédit toujours resté atteindrait déjà 84,0 % d'accuracy sur ce test : l'accuracy seule ne suffit pas. Les valeurs viennent du notebook, sans réévaluation pendant la fabrication du support.</a:t>
            </a:r>
          </a:p>
          <a:p>
            <a:endParaRPr/>
          </a:p>
          <a:p>
            <a:r>
              <a:t>Sources : Source : notebook, cellule 41 ; docs/model_metrics.json • test : 294 lignes, 47 départs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client fournit du JSON, un CSV préparé ou un identifiant salarié. FastAPI et Pydantic valident le contrat. Le service enregistre les inputs en PostgreSQL, les relit dans une nouvelle session, puis appelle le modèle. Les outputs sont validés, committés et relus avant la réponse HTTP. Toutes les routes d'inférence passent par ce service. Ce choix ajoute des accès BDD mais garantit que les valeurs effectivement calculées sont celles stockées.</a:t>
            </a:r>
          </a:p>
          <a:p>
            <a:endParaRPr/>
          </a:p>
          <a:p>
            <a:r>
              <a:t>Sources : Sources : api.py ; schemas.py ; inference.py ; docs/architecture.md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BDD contient huit tables. Les sources sont employees, surveys et evaluations, reliées par identifiant salarié. prepared_employees conserve les variables par salarié et version de modèle. model_versions conserve le SHA-256, les noms de variables et le seuil. api_exchanges relie chaque requête aux model_inputs et model_outputs. Une contrainte interdit de dupliquer une ligne d'entrée au sein d'un échange. La vue api_logs expose une lecture plus pratique. Le rôle applicatif ne peut pas modifier les sources ni supprimer les traces.</a:t>
            </a:r>
          </a:p>
          <a:p>
            <a:endParaRPr/>
          </a:p>
          <a:p>
            <a:r>
              <a:t>Sources : Sources : database.py ; docs/database.md ; docs/schema.sql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requête reçoit un identifiant unique X-Request-ID. Le journal conserve la route, le contexte utile, les dates, la durée, le fichier, le nombre de lignes, la version du modèle et les erreurs. Les étapes persistées permettent de voir où un traitement s'est arrêté. Un échec du modèle conserve les inputs. Si la BDD n'est pas accessible dès le départ, l'API refuse le calcul et l'erreur ne peut être écrite que dans les logs du processus. Un arrêt brutal peut laisser pending ; il n'y a pas de garantie exactement une fois.</a:t>
            </a:r>
          </a:p>
          <a:p>
            <a:endParaRPr/>
          </a:p>
          <a:p>
            <a:r>
              <a:t>Sources : Sources : audit.py ; api.py ; docs/api_logs.md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les trois routes demandées pour le fichier : predict/file renvoie les classes natives ; predict-proba/file renvoie les probabilités dans l'ordre de classes ; score/file exige les vraies réponses et renvoie l'accuracy native et les métriques au seuil optimisé. Les routes JSON et par ID utilisent le seuil optimisé. Les deux endpoints techniques sont health et features. L'ordre des lignes est conservé. Les CSV doivent être UTF-8 et leur contenu est limité à dix Mio. Swagger permet de sélectionner un fichier et de tester une route.</a:t>
            </a:r>
          </a:p>
          <a:p>
            <a:endParaRPr/>
          </a:p>
          <a:p>
            <a:r>
              <a:t>Sources : Sources : api.py ; docs/api.md ; docs/openapi.json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validation est partagée entre le JSON et chaque ligne CSV. Elle contrôle les noms de variables selon le modèle, la présence de valeurs numériques finies et les cibles binaires. Les booléens et valeurs nulles ne sont pas acceptés comme nombres. Les sorties sont contrôlées avant insertion : classe entière 0 ou 1, probabilités bornées dont la somme vaut un à la tolérance près, dimensions cohérentes et métriques bornées. Pydantic assure le respect du contrat, pas la performance statistique ni toutes les règles métier.</a:t>
            </a:r>
          </a:p>
          <a:p>
            <a:endParaRPr/>
          </a:p>
          <a:p>
            <a:r>
              <a:t>Sources : Sources : schemas.py ; docs/api_validation.md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suite vérifiée contient 87 tests et la couverture des modules suivis est arrondie à 89 %. Chaque endpoint dispose de cas valides et invalides. Les modèles simulés permettent de fixer précisément les réponses attendues. Les tests de BDD vérifient la relecture des inputs committés avant calcul, les sorties persistées et le comportement en cas d'échec. La CI utilise PostgreSQL avec un schéma isolé par test. Ces tests logiciels ne constituent pas une mesure de généralisation du modèle.</a:t>
            </a:r>
          </a:p>
          <a:p>
            <a:endParaRPr/>
          </a:p>
          <a:p>
            <a:r>
              <a:t>Sources : Sources : tests/ ; rapports de vérification du projet ; docs/api_validation.md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À chaque push ou pull request, la pipeline vérifie les tests avec PostgreSQL, la documentation et le package. L'export préparé ne conserve que model, threshold, feature_names et positive_class. Les lignes individuelles ne sont pas publiées avec cet export. Sur main, après validation d'environnement, le job transmet les quatre fichiers à SamGabb/hrnova avec le secret HF_TOKEN. Cela ne réentraîne pas le modèle et ne crée pas une API hébergée. Les protections de branche doivent être configurées dans GitHub pour bloquer les fusions.</a:t>
            </a:r>
          </a:p>
          <a:p>
            <a:endParaRPr/>
          </a:p>
          <a:p>
            <a:r>
              <a:t>Sources : Sources : .github/workflows/ci.yml ; docs/huggingface.md ; docs/deployment.md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documentation comporte douze pages MkDocs avec navigation et recherche. Elle distingue le parcours utilisateur, les contrats API et les informations développeur. Swagger et ReDoc décrivent les endpoints ; le contrat OpenAPI peut être exporté sans connexion BDD. Les guides détaillent les performances historiques et leurs limites, le schéma, les logs, l'installation, le déploiement et le protocole de maintenance. La CI construit le site en mode strict et conserve l'HTML comme artefact ; elle ne publie pas automatiquement un site public.</a:t>
            </a:r>
          </a:p>
          <a:p>
            <a:endParaRPr/>
          </a:p>
          <a:p>
            <a:r>
              <a:t>Sources : Sources : mkdocs.yml ; docs/index.md ; README.md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priorité est d'apprendre les transformations uniquement sur le train et dans chaque fold, puis de sérialiser l'ensemble de la préparation. Aujourd'hui, les médianes et l'encodeur nominal sont calculés avant le split ; cela peut influencer les résultats. Il faut ensuite confirmer les performances sur des données temporelles ou externes, car le test actuel ne comporte que 47 départs. Une analyse des erreurs par sous-population est nécessaire. Enfin, le service est local et sans authentification HTTP : son exposition distante demanderait un travail spécifique.</a:t>
            </a:r>
          </a:p>
          <a:p>
            <a:endParaRPr/>
          </a:p>
          <a:p>
            <a:r>
              <a:t>Sources : Sources : docs/model.md ; docs/maintenance.md ; docs/deployment.md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Conclure sur les éléments réellement livrés : modèle calibré, API validée, données et échanges structurés en BDD, tests, documentation et publication contrôlée du modèle. Le rappel augmente avec le seuil optimisé, mais les performances demeurent limitées et doivent être confirmées après correction de la préparation. La suite logique est une pipeline de prétraitement réutilisable, une validation indépendante et une exploitation surveillée. Inviter aux questions ou proposer la démonstration en annexe.</a:t>
            </a:r>
          </a:p>
          <a:p>
            <a:endParaRPr/>
          </a:p>
          <a:p>
            <a:r>
              <a:t>Sources : Sources : documentation du projet et résultats vérifiés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la soutenance, démarrer PostgreSQL et l'API. Ouvrir Swagger pour montrer les sept endpoints. Envoyer le CSV synthétique aux routes predict-proba/file puis score/file. Expliquer que les cibles de l'exemple sont fictives et que le score obtenu n'est pas une mesure de performance. Relever le X-Request-ID et retrouver le journal, les inputs et les outputs dans PostgreSQL. Terminer avec une requête invalide pour montrer le code 422 et la cause dans api_logs. Ne jamais afficher .env ou les tokens pendant la démonstration.</a:t>
            </a:r>
          </a:p>
          <a:p>
            <a:endParaRPr/>
          </a:p>
          <a:p>
            <a:r>
              <a:t>Sources : Sources : examples/ ; docs/api.md ; docs/api_logs.md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chiffres du modèle proviennent des sorties enregistrées dans le notebook et du relevé model_metrics.json, associé au hash de l'artefact. Le rapport de tests prouve la conformité logicielle, pas la performance statistique. Le contrat OpenAPI et la documentation sont construits depuis les sources. Les liens GitHub et Hugging Face permettent de retrouver le projet et la version publiée ; leur accessibilité dépend des droits du visiteur.</a:t>
            </a:r>
          </a:p>
          <a:p>
            <a:endParaRPr/>
          </a:p>
          <a:p>
            <a:r>
              <a:t>Sources : Références du projet • état examiné le 27 octobre 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3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C7EA73"/>
                </a:solidFill>
                <a:latin typeface="Arial"/>
              </a:defRPr>
            </a:pPr>
            <a:r>
              <a:t>HRNOVA / TECHNOVA PARTNERS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FFFFFF"/>
                </a:solidFill>
                <a:latin typeface="Arial"/>
              </a:defRPr>
            </a:pPr>
            <a:r>
              <a:t>Du modèle à une API traçable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BDD1D6"/>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BDD1D6"/>
                </a:solidFill>
                <a:latin typeface="Arial"/>
              </a:defRPr>
            </a:pPr>
            <a:r>
              <a:t>01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BDD1D6"/>
                </a:solidFill>
                <a:latin typeface="Arial"/>
              </a:defRPr>
            </a:pPr>
            <a:r>
              <a:t>État du projet examiné le 27 octobre 2026</a:t>
            </a:r>
          </a:p>
        </p:txBody>
      </p:sp>
      <p:sp>
        <p:nvSpPr>
          <p:cNvPr id="8" name="TextBox 7"/>
          <p:cNvSpPr txBox="1"/>
          <p:nvPr/>
        </p:nvSpPr>
        <p:spPr>
          <a:xfrm>
            <a:off x="594360" y="1828800"/>
            <a:ext cx="8138160" cy="1965960"/>
          </a:xfrm>
          <a:prstGeom prst="rect">
            <a:avLst/>
          </a:prstGeom>
          <a:noFill/>
        </p:spPr>
        <p:txBody>
          <a:bodyPr wrap="none" lIns="0" tIns="0" rIns="0" bIns="0" anchor="t">
            <a:spAutoFit/>
          </a:bodyPr>
          <a:lstStyle/>
          <a:p>
            <a:pPr algn="l">
              <a:lnSpc>
                <a:spcPts val="3540"/>
              </a:lnSpc>
              <a:spcBef>
                <a:spcPts val="0"/>
              </a:spcBef>
              <a:spcAft>
                <a:spcPts val="0"/>
              </a:spcAft>
              <a:defRPr sz="3000" b="1">
                <a:solidFill>
                  <a:srgbClr val="FFFFFF"/>
                </a:solidFill>
                <a:latin typeface="Arial"/>
              </a:defRPr>
            </a:pPr>
            <a:r>
              <a:t>Anticiper les départs.</a:t>
            </a:r>
          </a:p>
          <a:p>
            <a:pPr algn="l">
              <a:lnSpc>
                <a:spcPts val="3540"/>
              </a:lnSpc>
              <a:spcBef>
                <a:spcPts val="0"/>
              </a:spcBef>
              <a:spcAft>
                <a:spcPts val="0"/>
              </a:spcAft>
              <a:defRPr sz="3000" b="1">
                <a:solidFill>
                  <a:srgbClr val="FFFFFF"/>
                </a:solidFill>
                <a:latin typeface="Arial"/>
              </a:defRPr>
            </a:pPr>
            <a:r>
              <a:t>Comprendre chaque résultat.</a:t>
            </a:r>
          </a:p>
          <a:p>
            <a:pPr algn="l">
              <a:lnSpc>
                <a:spcPts val="3540"/>
              </a:lnSpc>
              <a:spcBef>
                <a:spcPts val="0"/>
              </a:spcBef>
              <a:spcAft>
                <a:spcPts val="0"/>
              </a:spcAft>
              <a:defRPr sz="3000" b="1">
                <a:solidFill>
                  <a:srgbClr val="FFFFFF"/>
                </a:solidFill>
                <a:latin typeface="Arial"/>
              </a:defRPr>
            </a:pPr>
            <a:r>
              <a:t>Retrouver chaque échange.</a:t>
            </a:r>
          </a:p>
        </p:txBody>
      </p:sp>
      <p:sp>
        <p:nvSpPr>
          <p:cNvPr id="9" name="Rounded Rectangle 8"/>
          <p:cNvSpPr/>
          <p:nvPr/>
        </p:nvSpPr>
        <p:spPr>
          <a:xfrm>
            <a:off x="9372600" y="1828800"/>
            <a:ext cx="2240280" cy="2194560"/>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65208" y="2130552"/>
            <a:ext cx="1682496" cy="1645920"/>
          </a:xfrm>
          <a:prstGeom prst="rect">
            <a:avLst/>
          </a:prstGeom>
          <a:noFill/>
        </p:spPr>
        <p:txBody>
          <a:bodyPr wrap="none" lIns="0" tIns="0" rIns="0" bIns="0" anchor="t">
            <a:spAutoFit/>
          </a:bodyPr>
          <a:lstStyle/>
          <a:p>
            <a:pPr algn="l">
              <a:lnSpc>
                <a:spcPts val="3540"/>
              </a:lnSpc>
              <a:spcBef>
                <a:spcPts val="0"/>
              </a:spcBef>
              <a:spcAft>
                <a:spcPts val="0"/>
              </a:spcAft>
              <a:defRPr sz="3000" b="1">
                <a:solidFill>
                  <a:srgbClr val="FFFFFF"/>
                </a:solidFill>
                <a:latin typeface="Arial"/>
              </a:defRPr>
            </a:pPr>
            <a:r>
              <a:t>DATA</a:t>
            </a:r>
          </a:p>
          <a:p>
            <a:pPr algn="l">
              <a:lnSpc>
                <a:spcPts val="3540"/>
              </a:lnSpc>
              <a:spcBef>
                <a:spcPts val="0"/>
              </a:spcBef>
              <a:spcAft>
                <a:spcPts val="0"/>
              </a:spcAft>
              <a:defRPr sz="3000" b="1">
                <a:solidFill>
                  <a:srgbClr val="FFFFFF"/>
                </a:solidFill>
                <a:latin typeface="Arial"/>
              </a:defRPr>
            </a:pPr>
            <a:r>
              <a:t>MODEL</a:t>
            </a:r>
          </a:p>
          <a:p>
            <a:pPr algn="l">
              <a:lnSpc>
                <a:spcPts val="3540"/>
              </a:lnSpc>
              <a:spcBef>
                <a:spcPts val="0"/>
              </a:spcBef>
              <a:spcAft>
                <a:spcPts val="0"/>
              </a:spcAft>
              <a:defRPr sz="3000" b="1">
                <a:solidFill>
                  <a:srgbClr val="FFFFFF"/>
                </a:solidFill>
                <a:latin typeface="Arial"/>
              </a:defRPr>
            </a:pPr>
            <a:r>
              <a:t>API</a:t>
            </a:r>
          </a:p>
        </p:txBody>
      </p:sp>
      <p:sp>
        <p:nvSpPr>
          <p:cNvPr id="11" name="TextBox 10"/>
          <p:cNvSpPr txBox="1"/>
          <p:nvPr/>
        </p:nvSpPr>
        <p:spPr>
          <a:xfrm>
            <a:off x="59436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1 470</a:t>
            </a:r>
          </a:p>
        </p:txBody>
      </p:sp>
      <p:sp>
        <p:nvSpPr>
          <p:cNvPr id="12" name="TextBox 11"/>
          <p:cNvSpPr txBox="1"/>
          <p:nvPr/>
        </p:nvSpPr>
        <p:spPr>
          <a:xfrm>
            <a:off x="59436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salariés</a:t>
            </a:r>
          </a:p>
        </p:txBody>
      </p:sp>
      <p:sp>
        <p:nvSpPr>
          <p:cNvPr id="13" name="TextBox 12"/>
          <p:cNvSpPr txBox="1"/>
          <p:nvPr/>
        </p:nvSpPr>
        <p:spPr>
          <a:xfrm>
            <a:off x="443484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43</a:t>
            </a:r>
          </a:p>
        </p:txBody>
      </p:sp>
      <p:sp>
        <p:nvSpPr>
          <p:cNvPr id="14" name="TextBox 13"/>
          <p:cNvSpPr txBox="1"/>
          <p:nvPr/>
        </p:nvSpPr>
        <p:spPr>
          <a:xfrm>
            <a:off x="443484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variables préparées</a:t>
            </a:r>
          </a:p>
        </p:txBody>
      </p:sp>
      <p:sp>
        <p:nvSpPr>
          <p:cNvPr id="15" name="TextBox 14"/>
          <p:cNvSpPr txBox="1"/>
          <p:nvPr/>
        </p:nvSpPr>
        <p:spPr>
          <a:xfrm>
            <a:off x="827532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7</a:t>
            </a:r>
          </a:p>
        </p:txBody>
      </p:sp>
      <p:sp>
        <p:nvSpPr>
          <p:cNvPr id="16" name="TextBox 15"/>
          <p:cNvSpPr txBox="1"/>
          <p:nvPr/>
        </p:nvSpPr>
        <p:spPr>
          <a:xfrm>
            <a:off x="827532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endpoints documentés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01 / BESOIN MÉTIER</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outil d'aide à l'analyse RH</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02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README.md ; docs/model.md</a:t>
            </a:r>
          </a:p>
        </p:txBody>
      </p:sp>
      <p:sp>
        <p:nvSpPr>
          <p:cNvPr id="8" name="Rounded Rectangle 7"/>
          <p:cNvSpPr/>
          <p:nvPr/>
        </p:nvSpPr>
        <p:spPr>
          <a:xfrm>
            <a:off x="502920" y="1874519"/>
            <a:ext cx="3593592"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1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COMPRENDRE</a:t>
            </a:r>
          </a:p>
        </p:txBody>
      </p:sp>
      <p:sp>
        <p:nvSpPr>
          <p:cNvPr id="11" name="TextBox 10"/>
          <p:cNvSpPr txBox="1"/>
          <p:nvPr/>
        </p:nvSpPr>
        <p:spPr>
          <a:xfrm>
            <a:off x="713232" y="2807208"/>
            <a:ext cx="3172968"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Relier données RH,</a:t>
            </a:r>
          </a:p>
          <a:p>
            <a:pPr algn="l">
              <a:lnSpc>
                <a:spcPts val="2124"/>
              </a:lnSpc>
              <a:spcBef>
                <a:spcPts val="0"/>
              </a:spcBef>
              <a:spcAft>
                <a:spcPts val="0"/>
              </a:spcAft>
              <a:defRPr sz="1800" b="0">
                <a:solidFill>
                  <a:srgbClr val="183744"/>
                </a:solidFill>
                <a:latin typeface="Arial"/>
              </a:defRPr>
            </a:pPr>
            <a:r>
              <a:t>évaluations et sondages.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Identifier des associations</a:t>
            </a:r>
          </a:p>
          <a:p>
            <a:pPr algn="l">
              <a:lnSpc>
                <a:spcPts val="2124"/>
              </a:lnSpc>
              <a:spcBef>
                <a:spcPts val="0"/>
              </a:spcBef>
              <a:spcAft>
                <a:spcPts val="0"/>
              </a:spcAft>
              <a:defRPr sz="1800" b="0">
                <a:solidFill>
                  <a:srgbClr val="183744"/>
                </a:solidFill>
                <a:latin typeface="Arial"/>
              </a:defRPr>
            </a:pPr>
            <a:r>
              <a:t>statistiques.</a:t>
            </a:r>
          </a:p>
        </p:txBody>
      </p:sp>
      <p:sp>
        <p:nvSpPr>
          <p:cNvPr id="12" name="Rounded Rectangle 11"/>
          <p:cNvSpPr/>
          <p:nvPr/>
        </p:nvSpPr>
        <p:spPr>
          <a:xfrm>
            <a:off x="4251960" y="1874519"/>
            <a:ext cx="3593592"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ESTIMER</a:t>
            </a:r>
          </a:p>
        </p:txBody>
      </p:sp>
      <p:sp>
        <p:nvSpPr>
          <p:cNvPr id="15" name="TextBox 14"/>
          <p:cNvSpPr txBox="1"/>
          <p:nvPr/>
        </p:nvSpPr>
        <p:spPr>
          <a:xfrm>
            <a:off x="4462272" y="2807208"/>
            <a:ext cx="3172968"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Produire une probabilité de</a:t>
            </a:r>
          </a:p>
          <a:p>
            <a:pPr algn="l">
              <a:lnSpc>
                <a:spcPts val="2124"/>
              </a:lnSpc>
              <a:spcBef>
                <a:spcPts val="0"/>
              </a:spcBef>
              <a:spcAft>
                <a:spcPts val="0"/>
              </a:spcAft>
              <a:defRPr sz="1800" b="0">
                <a:solidFill>
                  <a:srgbClr val="183744"/>
                </a:solidFill>
                <a:latin typeface="Arial"/>
              </a:defRPr>
            </a:pPr>
            <a:r>
              <a:t>départ et une décision au seuil</a:t>
            </a:r>
          </a:p>
          <a:p>
            <a:pPr algn="l">
              <a:lnSpc>
                <a:spcPts val="2124"/>
              </a:lnSpc>
              <a:spcBef>
                <a:spcPts val="0"/>
              </a:spcBef>
              <a:spcAft>
                <a:spcPts val="0"/>
              </a:spcAft>
              <a:defRPr sz="1800" b="0">
                <a:solidFill>
                  <a:srgbClr val="183744"/>
                </a:solidFill>
                <a:latin typeface="Arial"/>
              </a:defRPr>
            </a:pPr>
            <a:r>
              <a:t>choisi.</a:t>
            </a:r>
          </a:p>
        </p:txBody>
      </p:sp>
      <p:sp>
        <p:nvSpPr>
          <p:cNvPr id="16" name="Rounded Rectangle 15"/>
          <p:cNvSpPr/>
          <p:nvPr/>
        </p:nvSpPr>
        <p:spPr>
          <a:xfrm>
            <a:off x="8001000" y="1874519"/>
            <a:ext cx="3648456"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099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TRACER</a:t>
            </a:r>
          </a:p>
        </p:txBody>
      </p:sp>
      <p:sp>
        <p:nvSpPr>
          <p:cNvPr id="19" name="TextBox 18"/>
          <p:cNvSpPr txBox="1"/>
          <p:nvPr/>
        </p:nvSpPr>
        <p:spPr>
          <a:xfrm>
            <a:off x="8211312" y="2807208"/>
            <a:ext cx="3227832"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Retrouver les données</a:t>
            </a:r>
          </a:p>
          <a:p>
            <a:pPr algn="l">
              <a:lnSpc>
                <a:spcPts val="2124"/>
              </a:lnSpc>
              <a:spcBef>
                <a:spcPts val="0"/>
              </a:spcBef>
              <a:spcAft>
                <a:spcPts val="0"/>
              </a:spcAft>
              <a:defRPr sz="1800" b="0">
                <a:solidFill>
                  <a:srgbClr val="183744"/>
                </a:solidFill>
                <a:latin typeface="Arial"/>
              </a:defRPr>
            </a:pPr>
            <a:r>
              <a:t>utilisées, la version du modèle</a:t>
            </a:r>
          </a:p>
          <a:p>
            <a:pPr algn="l">
              <a:lnSpc>
                <a:spcPts val="2124"/>
              </a:lnSpc>
              <a:spcBef>
                <a:spcPts val="0"/>
              </a:spcBef>
              <a:spcAft>
                <a:spcPts val="0"/>
              </a:spcAft>
              <a:defRPr sz="1800" b="0">
                <a:solidFill>
                  <a:srgbClr val="183744"/>
                </a:solidFill>
                <a:latin typeface="Arial"/>
              </a:defRPr>
            </a:pPr>
            <a:r>
              <a:t>et le résultat.</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 qualité métier se mesure sur des données indépendantes, au-delà du bon fonctionnement de l'API.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02 / DONNÉES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Trois sources, une population de 1 470 salariés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03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Data/*.csv ; docs/model.md ; docs/database.md</a:t>
            </a:r>
          </a:p>
        </p:txBody>
      </p:sp>
      <p:sp>
        <p:nvSpPr>
          <p:cNvPr id="8" name="Rounded Rectangle 7"/>
          <p:cNvSpPr/>
          <p:nvPr/>
        </p:nvSpPr>
        <p:spPr>
          <a:xfrm>
            <a:off x="50292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SIRH</a:t>
            </a:r>
          </a:p>
        </p:txBody>
      </p:sp>
      <p:sp>
        <p:nvSpPr>
          <p:cNvPr id="11" name="TextBox 10"/>
          <p:cNvSpPr txBox="1"/>
          <p:nvPr/>
        </p:nvSpPr>
        <p:spPr>
          <a:xfrm>
            <a:off x="71323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Âge, rémunération, poste et</a:t>
            </a:r>
          </a:p>
          <a:p>
            <a:pPr algn="l">
              <a:lnSpc>
                <a:spcPts val="1888"/>
              </a:lnSpc>
              <a:spcBef>
                <a:spcPts val="0"/>
              </a:spcBef>
              <a:spcAft>
                <a:spcPts val="0"/>
              </a:spcAft>
              <a:defRPr sz="1600" b="0">
                <a:solidFill>
                  <a:srgbClr val="183744"/>
                </a:solidFill>
                <a:latin typeface="Arial"/>
              </a:defRPr>
            </a:pPr>
            <a:r>
              <a:t>ancienneté</a:t>
            </a:r>
          </a:p>
        </p:txBody>
      </p:sp>
      <p:sp>
        <p:nvSpPr>
          <p:cNvPr id="12" name="Rounded Rectangle 11"/>
          <p:cNvSpPr/>
          <p:nvPr/>
        </p:nvSpPr>
        <p:spPr>
          <a:xfrm>
            <a:off x="425196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SONDAGE</a:t>
            </a:r>
          </a:p>
        </p:txBody>
      </p:sp>
      <p:sp>
        <p:nvSpPr>
          <p:cNvPr id="15" name="TextBox 14"/>
          <p:cNvSpPr txBox="1"/>
          <p:nvPr/>
        </p:nvSpPr>
        <p:spPr>
          <a:xfrm>
            <a:off x="446227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Engagement, contexte et cible de</a:t>
            </a:r>
          </a:p>
          <a:p>
            <a:pPr algn="l">
              <a:lnSpc>
                <a:spcPts val="1888"/>
              </a:lnSpc>
              <a:spcBef>
                <a:spcPts val="0"/>
              </a:spcBef>
              <a:spcAft>
                <a:spcPts val="0"/>
              </a:spcAft>
              <a:defRPr sz="1600" b="0">
                <a:solidFill>
                  <a:srgbClr val="183744"/>
                </a:solidFill>
                <a:latin typeface="Arial"/>
              </a:defRPr>
            </a:pPr>
            <a:r>
              <a:t>départ</a:t>
            </a:r>
          </a:p>
        </p:txBody>
      </p:sp>
      <p:sp>
        <p:nvSpPr>
          <p:cNvPr id="16" name="Rounded Rectangle 15"/>
          <p:cNvSpPr/>
          <p:nvPr/>
        </p:nvSpPr>
        <p:spPr>
          <a:xfrm>
            <a:off x="800100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ÉVALUATIONS</a:t>
            </a:r>
          </a:p>
        </p:txBody>
      </p:sp>
      <p:sp>
        <p:nvSpPr>
          <p:cNvPr id="19" name="TextBox 18"/>
          <p:cNvSpPr txBox="1"/>
          <p:nvPr/>
        </p:nvSpPr>
        <p:spPr>
          <a:xfrm>
            <a:off x="821131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Satisfaction, notes et heures</a:t>
            </a:r>
          </a:p>
          <a:p>
            <a:pPr algn="l">
              <a:lnSpc>
                <a:spcPts val="1888"/>
              </a:lnSpc>
              <a:spcBef>
                <a:spcPts val="0"/>
              </a:spcBef>
              <a:spcAft>
                <a:spcPts val="0"/>
              </a:spcAft>
              <a:defRPr sz="1600" b="0">
                <a:solidFill>
                  <a:srgbClr val="183744"/>
                </a:solidFill>
                <a:latin typeface="Arial"/>
              </a:defRPr>
            </a:pPr>
            <a:r>
              <a:t>supplémentaires</a:t>
            </a:r>
          </a:p>
        </p:txBody>
      </p:sp>
      <p:graphicFrame>
        <p:nvGraphicFramePr>
          <p:cNvPr id="20" name="Chart 19"/>
          <p:cNvGraphicFramePr>
            <a:graphicFrameLocks noGrp="1"/>
          </p:cNvGraphicFramePr>
          <p:nvPr/>
        </p:nvGraphicFramePr>
        <p:xfrm>
          <a:off x="822960" y="3685032"/>
          <a:ext cx="23774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1271016" y="4498848"/>
            <a:ext cx="1444752" cy="475488"/>
          </a:xfrm>
          <a:prstGeom prst="rect">
            <a:avLst/>
          </a:prstGeom>
          <a:noFill/>
        </p:spPr>
        <p:txBody>
          <a:bodyPr wrap="none" lIns="0" tIns="0" rIns="0" bIns="0" anchor="t">
            <a:spAutoFit/>
          </a:bodyPr>
          <a:lstStyle/>
          <a:p>
            <a:pPr algn="ctr">
              <a:lnSpc>
                <a:spcPts val="2950"/>
              </a:lnSpc>
              <a:spcBef>
                <a:spcPts val="0"/>
              </a:spcBef>
              <a:spcAft>
                <a:spcPts val="0"/>
              </a:spcAft>
              <a:defRPr sz="2500" b="1">
                <a:solidFill>
                  <a:srgbClr val="007F82"/>
                </a:solidFill>
                <a:latin typeface="Arial"/>
              </a:defRPr>
            </a:pPr>
            <a:r>
              <a:t>16,1 %</a:t>
            </a:r>
          </a:p>
        </p:txBody>
      </p:sp>
      <p:sp>
        <p:nvSpPr>
          <p:cNvPr id="22" name="TextBox 21"/>
          <p:cNvSpPr txBox="1"/>
          <p:nvPr/>
        </p:nvSpPr>
        <p:spPr>
          <a:xfrm>
            <a:off x="1280160" y="5010912"/>
            <a:ext cx="1417320" cy="256032"/>
          </a:xfrm>
          <a:prstGeom prst="rect">
            <a:avLst/>
          </a:prstGeom>
          <a:noFill/>
        </p:spPr>
        <p:txBody>
          <a:bodyPr wrap="none" lIns="0" tIns="0" rIns="0" bIns="0" anchor="t">
            <a:spAutoFit/>
          </a:bodyPr>
          <a:lstStyle/>
          <a:p>
            <a:pPr algn="ctr">
              <a:lnSpc>
                <a:spcPts val="1416"/>
              </a:lnSpc>
              <a:spcBef>
                <a:spcPts val="0"/>
              </a:spcBef>
              <a:spcAft>
                <a:spcPts val="0"/>
              </a:spcAft>
              <a:defRPr sz="1200" b="0">
                <a:solidFill>
                  <a:srgbClr val="526A75"/>
                </a:solidFill>
                <a:latin typeface="Arial"/>
              </a:defRPr>
            </a:pPr>
            <a:r>
              <a:t>de départs</a:t>
            </a:r>
          </a:p>
        </p:txBody>
      </p:sp>
      <p:sp>
        <p:nvSpPr>
          <p:cNvPr id="23" name="TextBox 22"/>
          <p:cNvSpPr txBox="1"/>
          <p:nvPr/>
        </p:nvSpPr>
        <p:spPr>
          <a:xfrm>
            <a:off x="3794760" y="3840480"/>
            <a:ext cx="342900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237</a:t>
            </a:r>
          </a:p>
        </p:txBody>
      </p:sp>
      <p:sp>
        <p:nvSpPr>
          <p:cNvPr id="24" name="TextBox 23"/>
          <p:cNvSpPr txBox="1"/>
          <p:nvPr/>
        </p:nvSpPr>
        <p:spPr>
          <a:xfrm>
            <a:off x="3794760" y="4553712"/>
            <a:ext cx="342900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départs • classe 1</a:t>
            </a:r>
          </a:p>
        </p:txBody>
      </p:sp>
      <p:sp>
        <p:nvSpPr>
          <p:cNvPr id="25" name="TextBox 24"/>
          <p:cNvSpPr txBox="1"/>
          <p:nvPr/>
        </p:nvSpPr>
        <p:spPr>
          <a:xfrm>
            <a:off x="7680960" y="3840480"/>
            <a:ext cx="347472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1 233</a:t>
            </a:r>
          </a:p>
        </p:txBody>
      </p:sp>
      <p:sp>
        <p:nvSpPr>
          <p:cNvPr id="26" name="TextBox 25"/>
          <p:cNvSpPr txBox="1"/>
          <p:nvPr/>
        </p:nvSpPr>
        <p:spPr>
          <a:xfrm>
            <a:off x="7680960" y="4553712"/>
            <a:ext cx="347472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salariés restés • classe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03 / PRÉPARATION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Transformer les données en 43 variables numériques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04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12 à 28 ; docs/features.md</a:t>
            </a:r>
          </a:p>
        </p:txBody>
      </p:sp>
      <p:sp>
        <p:nvSpPr>
          <p:cNvPr id="8" name="Rounded Rectangle 7"/>
          <p:cNvSpPr/>
          <p:nvPr/>
        </p:nvSpPr>
        <p:spPr>
          <a:xfrm>
            <a:off x="502920"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FUSION</a:t>
            </a:r>
          </a:p>
        </p:txBody>
      </p:sp>
      <p:sp>
        <p:nvSpPr>
          <p:cNvPr id="11" name="TextBox 10"/>
          <p:cNvSpPr txBox="1"/>
          <p:nvPr/>
        </p:nvSpPr>
        <p:spPr>
          <a:xfrm>
            <a:off x="713232"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3 sources</a:t>
            </a:r>
          </a:p>
          <a:p>
            <a:pPr algn="l">
              <a:lnSpc>
                <a:spcPts val="2005"/>
              </a:lnSpc>
              <a:spcBef>
                <a:spcPts val="0"/>
              </a:spcBef>
              <a:spcAft>
                <a:spcPts val="0"/>
              </a:spcAft>
              <a:defRPr sz="1700" b="0">
                <a:solidFill>
                  <a:srgbClr val="183744"/>
                </a:solidFill>
                <a:latin typeface="Arial"/>
              </a:defRPr>
            </a:pPr>
            <a:r>
              <a:t>31 colonnes</a:t>
            </a:r>
          </a:p>
        </p:txBody>
      </p:sp>
      <p:cxnSp>
        <p:nvCxnSpPr>
          <p:cNvPr id="12" name="Connector 11"/>
          <p:cNvCxnSpPr/>
          <p:nvPr/>
        </p:nvCxnSpPr>
        <p:spPr>
          <a:xfrm>
            <a:off x="3136391" y="3291840"/>
            <a:ext cx="182881"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848"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NETTOYAGE</a:t>
            </a:r>
          </a:p>
        </p:txBody>
      </p:sp>
      <p:sp>
        <p:nvSpPr>
          <p:cNvPr id="16" name="TextBox 15"/>
          <p:cNvSpPr txBox="1"/>
          <p:nvPr/>
        </p:nvSpPr>
        <p:spPr>
          <a:xfrm>
            <a:off x="3566160"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Types, pourcentages</a:t>
            </a:r>
          </a:p>
          <a:p>
            <a:pPr algn="l">
              <a:lnSpc>
                <a:spcPts val="2005"/>
              </a:lnSpc>
              <a:spcBef>
                <a:spcPts val="0"/>
              </a:spcBef>
              <a:spcAft>
                <a:spcPts val="0"/>
              </a:spcAft>
              <a:defRPr sz="1700" b="0">
                <a:solidFill>
                  <a:srgbClr val="183744"/>
                </a:solidFill>
                <a:latin typeface="Arial"/>
              </a:defRPr>
            </a:pPr>
            <a:r>
              <a:t>et encodages</a:t>
            </a:r>
          </a:p>
        </p:txBody>
      </p:sp>
      <p:cxnSp>
        <p:nvCxnSpPr>
          <p:cNvPr id="17" name="Connector 16"/>
          <p:cNvCxnSpPr/>
          <p:nvPr/>
        </p:nvCxnSpPr>
        <p:spPr>
          <a:xfrm>
            <a:off x="5989320" y="3291840"/>
            <a:ext cx="1828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ENRICHISSEMENT</a:t>
            </a:r>
          </a:p>
        </p:txBody>
      </p:sp>
      <p:sp>
        <p:nvSpPr>
          <p:cNvPr id="21" name="TextBox 20"/>
          <p:cNvSpPr txBox="1"/>
          <p:nvPr/>
        </p:nvSpPr>
        <p:spPr>
          <a:xfrm>
            <a:off x="6419088"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Rémunération relative</a:t>
            </a:r>
          </a:p>
          <a:p>
            <a:pPr algn="l">
              <a:lnSpc>
                <a:spcPts val="2005"/>
              </a:lnSpc>
              <a:spcBef>
                <a:spcPts val="0"/>
              </a:spcBef>
              <a:spcAft>
                <a:spcPts val="0"/>
              </a:spcAft>
              <a:defRPr sz="1700" b="0">
                <a:solidFill>
                  <a:srgbClr val="183744"/>
                </a:solidFill>
                <a:latin typeface="Arial"/>
              </a:defRPr>
            </a:pPr>
            <a:r>
              <a:t>et satisfaction</a:t>
            </a:r>
          </a:p>
        </p:txBody>
      </p:sp>
      <p:cxnSp>
        <p:nvCxnSpPr>
          <p:cNvPr id="22" name="Connector 21"/>
          <p:cNvCxnSpPr/>
          <p:nvPr/>
        </p:nvCxnSpPr>
        <p:spPr>
          <a:xfrm>
            <a:off x="8842248" y="3291840"/>
            <a:ext cx="1828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61704"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61704"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2016"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MATRICE FINALE</a:t>
            </a:r>
          </a:p>
        </p:txBody>
      </p:sp>
      <p:sp>
        <p:nvSpPr>
          <p:cNvPr id="26" name="TextBox 25"/>
          <p:cNvSpPr txBox="1"/>
          <p:nvPr/>
        </p:nvSpPr>
        <p:spPr>
          <a:xfrm>
            <a:off x="9272016"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43 variables</a:t>
            </a:r>
          </a:p>
          <a:p>
            <a:pPr algn="l">
              <a:lnSpc>
                <a:spcPts val="2005"/>
              </a:lnSpc>
              <a:spcBef>
                <a:spcPts val="0"/>
              </a:spcBef>
              <a:spcAft>
                <a:spcPts val="0"/>
              </a:spcAft>
              <a:defRPr sz="1700" b="0">
                <a:solidFill>
                  <a:srgbClr val="183744"/>
                </a:solidFill>
                <a:latin typeface="Arial"/>
              </a:defRPr>
            </a:pPr>
            <a:r>
              <a:t>numériques</a:t>
            </a:r>
          </a:p>
        </p:txBody>
      </p:sp>
      <p:sp>
        <p:nvSpPr>
          <p:cNvPr id="27" name="Rounded Rectangle 26"/>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Contrat d'entrée : variables préparées, sans cible ni identifiant, avec les noms exacts de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04 / PROTOCOLE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Séparer l'évaluation du choix du seuil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05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28 à 41 ; docs/model.md</a:t>
            </a:r>
          </a:p>
        </p:txBody>
      </p:sp>
      <p:sp>
        <p:nvSpPr>
          <p:cNvPr id="8" name="Rounded Rectangle 7"/>
          <p:cNvSpPr/>
          <p:nvPr/>
        </p:nvSpPr>
        <p:spPr>
          <a:xfrm>
            <a:off x="594360" y="1965960"/>
            <a:ext cx="8823960" cy="603504"/>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528048" y="1965960"/>
            <a:ext cx="2084831" cy="603504"/>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2112264"/>
            <a:ext cx="8138160" cy="274320"/>
          </a:xfrm>
          <a:prstGeom prst="rect">
            <a:avLst/>
          </a:prstGeom>
          <a:noFill/>
        </p:spPr>
        <p:txBody>
          <a:bodyPr wrap="none" lIns="0" tIns="0" rIns="0" bIns="0" anchor="t">
            <a:spAutoFit/>
          </a:bodyPr>
          <a:lstStyle/>
          <a:p>
            <a:pPr algn="l">
              <a:lnSpc>
                <a:spcPts val="2005"/>
              </a:lnSpc>
              <a:spcBef>
                <a:spcPts val="0"/>
              </a:spcBef>
              <a:spcAft>
                <a:spcPts val="0"/>
              </a:spcAft>
              <a:defRPr sz="1700" b="1">
                <a:solidFill>
                  <a:srgbClr val="FFFFFF"/>
                </a:solidFill>
                <a:latin typeface="Arial"/>
              </a:defRPr>
            </a:pPr>
            <a:r>
              <a:t>80 % : entraînement</a:t>
            </a:r>
          </a:p>
        </p:txBody>
      </p:sp>
      <p:sp>
        <p:nvSpPr>
          <p:cNvPr id="11" name="TextBox 10"/>
          <p:cNvSpPr txBox="1"/>
          <p:nvPr/>
        </p:nvSpPr>
        <p:spPr>
          <a:xfrm>
            <a:off x="9692640" y="2112264"/>
            <a:ext cx="1783080" cy="274320"/>
          </a:xfrm>
          <a:prstGeom prst="rect">
            <a:avLst/>
          </a:prstGeom>
          <a:noFill/>
        </p:spPr>
        <p:txBody>
          <a:bodyPr wrap="none" lIns="0" tIns="0" rIns="0" bIns="0" anchor="t">
            <a:spAutoFit/>
          </a:bodyPr>
          <a:lstStyle/>
          <a:p>
            <a:pPr algn="l">
              <a:lnSpc>
                <a:spcPts val="2005"/>
              </a:lnSpc>
              <a:spcBef>
                <a:spcPts val="0"/>
              </a:spcBef>
              <a:spcAft>
                <a:spcPts val="0"/>
              </a:spcAft>
              <a:defRPr sz="1700" b="1">
                <a:solidFill>
                  <a:srgbClr val="FFFFFF"/>
                </a:solidFill>
                <a:latin typeface="Arial"/>
              </a:defRPr>
            </a:pPr>
            <a:r>
              <a:t>20 % : test</a:t>
            </a:r>
          </a:p>
        </p:txBody>
      </p:sp>
      <p:sp>
        <p:nvSpPr>
          <p:cNvPr id="12" name="Rounded Rectangle 11"/>
          <p:cNvSpPr/>
          <p:nvPr/>
        </p:nvSpPr>
        <p:spPr>
          <a:xfrm>
            <a:off x="594360" y="2926080"/>
            <a:ext cx="534924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29260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3145536"/>
            <a:ext cx="49286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1 176 LIGNES</a:t>
            </a:r>
          </a:p>
        </p:txBody>
      </p:sp>
      <p:sp>
        <p:nvSpPr>
          <p:cNvPr id="15" name="TextBox 14"/>
          <p:cNvSpPr txBox="1"/>
          <p:nvPr/>
        </p:nvSpPr>
        <p:spPr>
          <a:xfrm>
            <a:off x="804672" y="3858768"/>
            <a:ext cx="492861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CV stratifiée à 5 folds</a:t>
            </a:r>
          </a:p>
          <a:p>
            <a:pPr algn="l">
              <a:lnSpc>
                <a:spcPts val="2005"/>
              </a:lnSpc>
              <a:spcBef>
                <a:spcPts val="0"/>
              </a:spcBef>
              <a:spcAft>
                <a:spcPts val="0"/>
              </a:spcAft>
              <a:defRPr sz="1700" b="0">
                <a:solidFill>
                  <a:srgbClr val="183744"/>
                </a:solidFill>
                <a:latin typeface="Arial"/>
              </a:defRPr>
            </a:pPr>
            <a:r>
              <a:t>Optimisation et seuil sur le train</a:t>
            </a:r>
          </a:p>
        </p:txBody>
      </p:sp>
      <p:sp>
        <p:nvSpPr>
          <p:cNvPr id="16" name="Rounded Rectangle 15"/>
          <p:cNvSpPr/>
          <p:nvPr/>
        </p:nvSpPr>
        <p:spPr>
          <a:xfrm>
            <a:off x="6144768" y="2926080"/>
            <a:ext cx="5468112"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44768" y="29260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3145536"/>
            <a:ext cx="504748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294 LIGNES</a:t>
            </a:r>
          </a:p>
        </p:txBody>
      </p:sp>
      <p:sp>
        <p:nvSpPr>
          <p:cNvPr id="19" name="TextBox 18"/>
          <p:cNvSpPr txBox="1"/>
          <p:nvPr/>
        </p:nvSpPr>
        <p:spPr>
          <a:xfrm>
            <a:off x="6355080" y="3858768"/>
            <a:ext cx="5047488"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47 départs pour l'évaluation finale</a:t>
            </a:r>
          </a:p>
          <a:p>
            <a:pPr algn="l">
              <a:lnSpc>
                <a:spcPts val="2005"/>
              </a:lnSpc>
              <a:spcBef>
                <a:spcPts val="0"/>
              </a:spcBef>
              <a:spcAft>
                <a:spcPts val="0"/>
              </a:spcAft>
              <a:defRPr sz="1700" b="0">
                <a:solidFill>
                  <a:srgbClr val="183744"/>
                </a:solidFill>
                <a:latin typeface="Arial"/>
              </a:defRPr>
            </a:pPr>
            <a:r>
              <a:t>random_state = 42</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Une mesure sur les données d'entraînement ou des cibles fictives n'est pas une mesure de généralisation.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05 / MODÈLES COMPARÉS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Comparer plusieurs approches, sans surinterpréter le</a:t>
            </a:r>
          </a:p>
          <a:p>
            <a:pPr algn="l">
              <a:lnSpc>
                <a:spcPts val="3304"/>
              </a:lnSpc>
              <a:spcBef>
                <a:spcPts val="0"/>
              </a:spcBef>
              <a:spcAft>
                <a:spcPts val="0"/>
              </a:spcAft>
              <a:defRPr sz="2800" b="1">
                <a:solidFill>
                  <a:srgbClr val="102C3A"/>
                </a:solidFill>
                <a:latin typeface="Arial"/>
              </a:defRPr>
            </a:pPr>
            <a:r>
              <a:t>classement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06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31, 34, 54 et 55 ; docs/model.md</a:t>
            </a:r>
          </a:p>
        </p:txBody>
      </p:sp>
      <p:sp>
        <p:nvSpPr>
          <p:cNvPr id="8" name="TextBox 7"/>
          <p:cNvSpPr txBox="1"/>
          <p:nvPr/>
        </p:nvSpPr>
        <p:spPr>
          <a:xfrm>
            <a:off x="594360" y="1673352"/>
            <a:ext cx="10881360" cy="32004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526A75"/>
                </a:solidFill>
                <a:latin typeface="Arial"/>
              </a:defRPr>
            </a:pPr>
            <a:r>
              <a:t>F1 moyen sur le train • validation croisée à 5 folds</a:t>
            </a:r>
          </a:p>
        </p:txBody>
      </p:sp>
      <p:sp>
        <p:nvSpPr>
          <p:cNvPr id="9" name="TextBox 8"/>
          <p:cNvSpPr txBox="1"/>
          <p:nvPr/>
        </p:nvSpPr>
        <p:spPr>
          <a:xfrm>
            <a:off x="594360" y="2240280"/>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LightGBM</a:t>
            </a:r>
          </a:p>
        </p:txBody>
      </p:sp>
      <p:sp>
        <p:nvSpPr>
          <p:cNvPr id="10" name="Rectangle 9"/>
          <p:cNvSpPr/>
          <p:nvPr/>
        </p:nvSpPr>
        <p:spPr>
          <a:xfrm>
            <a:off x="4096512" y="2253996"/>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96512" y="2253996"/>
            <a:ext cx="4778654"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38360" y="2226564"/>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0,5226 ± 0,0426</a:t>
            </a:r>
          </a:p>
        </p:txBody>
      </p:sp>
      <p:sp>
        <p:nvSpPr>
          <p:cNvPr id="13" name="TextBox 12"/>
          <p:cNvSpPr txBox="1"/>
          <p:nvPr/>
        </p:nvSpPr>
        <p:spPr>
          <a:xfrm>
            <a:off x="594360" y="2715768"/>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1">
                <a:solidFill>
                  <a:srgbClr val="007F82"/>
                </a:solidFill>
                <a:latin typeface="Arial"/>
              </a:defRPr>
            </a:pPr>
            <a:r>
              <a:t>Random Forest optimisé</a:t>
            </a:r>
          </a:p>
        </p:txBody>
      </p:sp>
      <p:sp>
        <p:nvSpPr>
          <p:cNvPr id="14" name="Rectangle 13"/>
          <p:cNvSpPr/>
          <p:nvPr/>
        </p:nvSpPr>
        <p:spPr>
          <a:xfrm>
            <a:off x="4096512" y="2729484"/>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2729484"/>
            <a:ext cx="4615891" cy="21945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38360" y="2702052"/>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183744"/>
                </a:solidFill>
                <a:latin typeface="Arial"/>
              </a:defRPr>
            </a:pPr>
            <a:r>
              <a:t>0,5048 ± 0,0714</a:t>
            </a:r>
          </a:p>
        </p:txBody>
      </p:sp>
      <p:sp>
        <p:nvSpPr>
          <p:cNvPr id="17" name="TextBox 16"/>
          <p:cNvSpPr txBox="1"/>
          <p:nvPr/>
        </p:nvSpPr>
        <p:spPr>
          <a:xfrm>
            <a:off x="594360" y="3191256"/>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Régression logistique</a:t>
            </a:r>
          </a:p>
        </p:txBody>
      </p:sp>
      <p:sp>
        <p:nvSpPr>
          <p:cNvPr id="18" name="Rectangle 17"/>
          <p:cNvSpPr/>
          <p:nvPr/>
        </p:nvSpPr>
        <p:spPr>
          <a:xfrm>
            <a:off x="4096512" y="3204972"/>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096512" y="3204972"/>
            <a:ext cx="4542739"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38360" y="3177540"/>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0,4968 ± 0,0280</a:t>
            </a:r>
          </a:p>
        </p:txBody>
      </p:sp>
      <p:sp>
        <p:nvSpPr>
          <p:cNvPr id="21" name="TextBox 20"/>
          <p:cNvSpPr txBox="1"/>
          <p:nvPr/>
        </p:nvSpPr>
        <p:spPr>
          <a:xfrm>
            <a:off x="594360" y="3666744"/>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Random Forest + SMOTE</a:t>
            </a:r>
          </a:p>
        </p:txBody>
      </p:sp>
      <p:sp>
        <p:nvSpPr>
          <p:cNvPr id="22" name="Rectangle 21"/>
          <p:cNvSpPr/>
          <p:nvPr/>
        </p:nvSpPr>
        <p:spPr>
          <a:xfrm>
            <a:off x="4096512" y="3680459"/>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96512" y="3680459"/>
            <a:ext cx="4206240"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38360" y="3653027"/>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0,4600 ± 0,0936</a:t>
            </a:r>
          </a:p>
        </p:txBody>
      </p:sp>
      <p:sp>
        <p:nvSpPr>
          <p:cNvPr id="25" name="TextBox 24"/>
          <p:cNvSpPr txBox="1"/>
          <p:nvPr/>
        </p:nvSpPr>
        <p:spPr>
          <a:xfrm>
            <a:off x="594360" y="4142232"/>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Random Forest initial</a:t>
            </a:r>
          </a:p>
        </p:txBody>
      </p:sp>
      <p:sp>
        <p:nvSpPr>
          <p:cNvPr id="26" name="Rectangle 25"/>
          <p:cNvSpPr/>
          <p:nvPr/>
        </p:nvSpPr>
        <p:spPr>
          <a:xfrm>
            <a:off x="4096512" y="4155948"/>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96512" y="4155948"/>
            <a:ext cx="3830421"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38360" y="4128516"/>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0,4189 ± 0,0967</a:t>
            </a:r>
          </a:p>
        </p:txBody>
      </p:sp>
      <p:sp>
        <p:nvSpPr>
          <p:cNvPr id="29" name="TextBox 28"/>
          <p:cNvSpPr txBox="1"/>
          <p:nvPr/>
        </p:nvSpPr>
        <p:spPr>
          <a:xfrm>
            <a:off x="594360" y="4617720"/>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Dummy stratifié</a:t>
            </a:r>
          </a:p>
        </p:txBody>
      </p:sp>
      <p:sp>
        <p:nvSpPr>
          <p:cNvPr id="30" name="Rectangle 29"/>
          <p:cNvSpPr/>
          <p:nvPr/>
        </p:nvSpPr>
        <p:spPr>
          <a:xfrm>
            <a:off x="4096512" y="4631436"/>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096512" y="4631436"/>
            <a:ext cx="1503273"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38360" y="4604004"/>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0,1644 ± 0,0300</a:t>
            </a:r>
          </a:p>
        </p:txBody>
      </p:sp>
      <p:sp>
        <p:nvSpPr>
          <p:cNvPr id="33" name="TextBox 32"/>
          <p:cNvSpPr txBox="1"/>
          <p:nvPr/>
        </p:nvSpPr>
        <p:spPr>
          <a:xfrm>
            <a:off x="4087368" y="5257800"/>
            <a:ext cx="457200" cy="219456"/>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526A75"/>
                </a:solidFill>
                <a:latin typeface="Arial"/>
              </a:defRPr>
            </a:pPr>
            <a:r>
              <a:t>0</a:t>
            </a:r>
          </a:p>
        </p:txBody>
      </p:sp>
      <p:sp>
        <p:nvSpPr>
          <p:cNvPr id="34" name="TextBox 33"/>
          <p:cNvSpPr txBox="1"/>
          <p:nvPr/>
        </p:nvSpPr>
        <p:spPr>
          <a:xfrm>
            <a:off x="9089136" y="5257800"/>
            <a:ext cx="502920" cy="219456"/>
          </a:xfrm>
          <a:prstGeom prst="rect">
            <a:avLst/>
          </a:prstGeom>
          <a:noFill/>
        </p:spPr>
        <p:txBody>
          <a:bodyPr wrap="none" lIns="0" tIns="0" rIns="0" bIns="0" anchor="t">
            <a:spAutoFit/>
          </a:bodyPr>
          <a:lstStyle/>
          <a:p>
            <a:pPr algn="r">
              <a:lnSpc>
                <a:spcPts val="1297"/>
              </a:lnSpc>
              <a:spcBef>
                <a:spcPts val="0"/>
              </a:spcBef>
              <a:spcAft>
                <a:spcPts val="0"/>
              </a:spcAft>
              <a:defRPr sz="1100" b="0">
                <a:solidFill>
                  <a:srgbClr val="526A75"/>
                </a:solidFill>
                <a:latin typeface="Arial"/>
              </a:defRPr>
            </a:pPr>
            <a:r>
              <a:t>0,60</a:t>
            </a:r>
          </a:p>
        </p:txBody>
      </p:sp>
      <p:sp>
        <p:nvSpPr>
          <p:cNvPr id="35" name="Rounded Rectangle 34"/>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 forêt optimisée est le modèle livré ; les alternatives restent compétitives.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06 / MODÈLE RETENU</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modèle livré : forêt régularisée et probabilités calibrées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07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artefact local ; docs/model.md ; notebook, cellules 34 et 36</a:t>
            </a:r>
          </a:p>
        </p:txBody>
      </p:sp>
      <p:sp>
        <p:nvSpPr>
          <p:cNvPr id="8" name="Rounded Rectangle 7"/>
          <p:cNvSpPr/>
          <p:nvPr/>
        </p:nvSpPr>
        <p:spPr>
          <a:xfrm>
            <a:off x="502920" y="1874519"/>
            <a:ext cx="3593592"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FORÊT</a:t>
            </a:r>
          </a:p>
        </p:txBody>
      </p:sp>
      <p:sp>
        <p:nvSpPr>
          <p:cNvPr id="11" name="TextBox 10"/>
          <p:cNvSpPr txBox="1"/>
          <p:nvPr/>
        </p:nvSpPr>
        <p:spPr>
          <a:xfrm>
            <a:off x="713232" y="2807208"/>
            <a:ext cx="3172968"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300 arbres</a:t>
            </a:r>
          </a:p>
          <a:p>
            <a:pPr algn="l">
              <a:lnSpc>
                <a:spcPts val="2124"/>
              </a:lnSpc>
              <a:spcBef>
                <a:spcPts val="0"/>
              </a:spcBef>
              <a:spcAft>
                <a:spcPts val="0"/>
              </a:spcAft>
              <a:defRPr sz="1800" b="0">
                <a:solidFill>
                  <a:srgbClr val="183744"/>
                </a:solidFill>
                <a:latin typeface="Arial"/>
              </a:defRPr>
            </a:pPr>
            <a:r>
              <a:t>Profondeur maximale : 5</a:t>
            </a:r>
          </a:p>
          <a:p>
            <a:pPr algn="l">
              <a:lnSpc>
                <a:spcPts val="2124"/>
              </a:lnSpc>
              <a:spcBef>
                <a:spcPts val="0"/>
              </a:spcBef>
              <a:spcAft>
                <a:spcPts val="0"/>
              </a:spcAft>
              <a:defRPr sz="1800" b="0">
                <a:solidFill>
                  <a:srgbClr val="183744"/>
                </a:solidFill>
                <a:latin typeface="Arial"/>
              </a:defRPr>
            </a:pPr>
            <a:r>
              <a:t>Classes pondérées</a:t>
            </a:r>
          </a:p>
          <a:p>
            <a:pPr algn="l">
              <a:lnSpc>
                <a:spcPts val="2124"/>
              </a:lnSpc>
              <a:spcBef>
                <a:spcPts val="0"/>
              </a:spcBef>
              <a:spcAft>
                <a:spcPts val="0"/>
              </a:spcAft>
              <a:defRPr sz="1800" b="0">
                <a:solidFill>
                  <a:srgbClr val="183744"/>
                </a:solidFill>
                <a:latin typeface="Arial"/>
              </a:defRPr>
            </a:pPr>
            <a:r>
              <a:t>random_state = 42</a:t>
            </a:r>
          </a:p>
        </p:txBody>
      </p:sp>
      <p:sp>
        <p:nvSpPr>
          <p:cNvPr id="12" name="Rounded Rectangle 11"/>
          <p:cNvSpPr/>
          <p:nvPr/>
        </p:nvSpPr>
        <p:spPr>
          <a:xfrm>
            <a:off x="4251960" y="1874519"/>
            <a:ext cx="3593592"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CALIBRATION</a:t>
            </a:r>
          </a:p>
        </p:txBody>
      </p:sp>
      <p:sp>
        <p:nvSpPr>
          <p:cNvPr id="15" name="TextBox 14"/>
          <p:cNvSpPr txBox="1"/>
          <p:nvPr/>
        </p:nvSpPr>
        <p:spPr>
          <a:xfrm>
            <a:off x="4462272" y="2807208"/>
            <a:ext cx="3172968"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Méthode sigmoid</a:t>
            </a:r>
          </a:p>
          <a:p>
            <a:pPr algn="l">
              <a:lnSpc>
                <a:spcPts val="2124"/>
              </a:lnSpc>
              <a:spcBef>
                <a:spcPts val="0"/>
              </a:spcBef>
              <a:spcAft>
                <a:spcPts val="0"/>
              </a:spcAft>
              <a:defRPr sz="1800" b="0">
                <a:solidFill>
                  <a:srgbClr val="183744"/>
                </a:solidFill>
                <a:latin typeface="Arial"/>
              </a:defRPr>
            </a:pPr>
            <a:r>
              <a:t>Validation interne : 5 folds</a:t>
            </a:r>
          </a:p>
          <a:p>
            <a:pPr algn="l">
              <a:lnSpc>
                <a:spcPts val="2124"/>
              </a:lnSpc>
              <a:spcBef>
                <a:spcPts val="0"/>
              </a:spcBef>
              <a:spcAft>
                <a:spcPts val="0"/>
              </a:spcAft>
              <a:defRPr sz="1800" b="0">
                <a:solidFill>
                  <a:srgbClr val="183744"/>
                </a:solidFill>
                <a:latin typeface="Arial"/>
              </a:defRPr>
            </a:pPr>
            <a:r>
              <a:t>Probabilité de la classe 1</a:t>
            </a:r>
          </a:p>
        </p:txBody>
      </p:sp>
      <p:sp>
        <p:nvSpPr>
          <p:cNvPr id="16" name="Rounded Rectangle 15"/>
          <p:cNvSpPr/>
          <p:nvPr/>
        </p:nvSpPr>
        <p:spPr>
          <a:xfrm>
            <a:off x="8001000" y="1874519"/>
            <a:ext cx="3648456"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DÉCISION</a:t>
            </a:r>
          </a:p>
        </p:txBody>
      </p:sp>
      <p:sp>
        <p:nvSpPr>
          <p:cNvPr id="19" name="TextBox 18"/>
          <p:cNvSpPr txBox="1"/>
          <p:nvPr/>
        </p:nvSpPr>
        <p:spPr>
          <a:xfrm>
            <a:off x="8211312" y="2807208"/>
            <a:ext cx="3227832"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Seuil optimisé : 0,2232</a:t>
            </a:r>
          </a:p>
          <a:p>
            <a:pPr algn="l">
              <a:lnSpc>
                <a:spcPts val="2124"/>
              </a:lnSpc>
              <a:spcBef>
                <a:spcPts val="0"/>
              </a:spcBef>
              <a:spcAft>
                <a:spcPts val="0"/>
              </a:spcAft>
              <a:defRPr sz="1800" b="0">
                <a:solidFill>
                  <a:srgbClr val="183744"/>
                </a:solidFill>
                <a:latin typeface="Arial"/>
              </a:defRPr>
            </a:pPr>
            <a:r>
              <a:t>Choisi sur le F1 OOF</a:t>
            </a:r>
          </a:p>
          <a:p>
            <a:pPr algn="l">
              <a:lnSpc>
                <a:spcPts val="2124"/>
              </a:lnSpc>
              <a:spcBef>
                <a:spcPts val="0"/>
              </a:spcBef>
              <a:spcAft>
                <a:spcPts val="0"/>
              </a:spcAft>
              <a:defRPr sz="1800" b="0">
                <a:solidFill>
                  <a:srgbClr val="183744"/>
                </a:solidFill>
                <a:latin typeface="Arial"/>
              </a:defRPr>
            </a:pPr>
            <a:r>
              <a:t>Stocké avec le modèle</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L'artefact attend 43 variables déjà transformées ; la préparation brute n'est pas embarquée.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07 / PERFORMANCES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seuil optimisé augmente le rappel sur le test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08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 : notebook, cellule 41 ; docs/model_metrics.json • test : 294 lignes, 47 départs</a:t>
            </a:r>
          </a:p>
        </p:txBody>
      </p:sp>
      <p:sp>
        <p:nvSpPr>
          <p:cNvPr id="8" name="TextBox 7"/>
          <p:cNvSpPr txBox="1"/>
          <p:nvPr/>
        </p:nvSpPr>
        <p:spPr>
          <a:xfrm>
            <a:off x="64008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RAPPEL</a:t>
            </a:r>
          </a:p>
        </p:txBody>
      </p:sp>
      <p:sp>
        <p:nvSpPr>
          <p:cNvPr id="9" name="TextBox 8"/>
          <p:cNvSpPr txBox="1"/>
          <p:nvPr/>
        </p:nvSpPr>
        <p:spPr>
          <a:xfrm>
            <a:off x="64008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10" name="Rectangle 9"/>
          <p:cNvSpPr/>
          <p:nvPr/>
        </p:nvSpPr>
        <p:spPr>
          <a:xfrm>
            <a:off x="64008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852928"/>
            <a:ext cx="466928"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0,170</a:t>
            </a:r>
          </a:p>
        </p:txBody>
      </p:sp>
      <p:sp>
        <p:nvSpPr>
          <p:cNvPr id="13" name="TextBox 12"/>
          <p:cNvSpPr txBox="1"/>
          <p:nvPr/>
        </p:nvSpPr>
        <p:spPr>
          <a:xfrm>
            <a:off x="64008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14" name="Rectangle 13"/>
          <p:cNvSpPr/>
          <p:nvPr/>
        </p:nvSpPr>
        <p:spPr>
          <a:xfrm>
            <a:off x="64008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904488"/>
            <a:ext cx="1692612"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0,617</a:t>
            </a:r>
          </a:p>
        </p:txBody>
      </p:sp>
      <p:sp>
        <p:nvSpPr>
          <p:cNvPr id="17" name="TextBox 16"/>
          <p:cNvSpPr txBox="1"/>
          <p:nvPr/>
        </p:nvSpPr>
        <p:spPr>
          <a:xfrm>
            <a:off x="443484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PRÉCISION</a:t>
            </a:r>
          </a:p>
        </p:txBody>
      </p:sp>
      <p:sp>
        <p:nvSpPr>
          <p:cNvPr id="18" name="TextBox 17"/>
          <p:cNvSpPr txBox="1"/>
          <p:nvPr/>
        </p:nvSpPr>
        <p:spPr>
          <a:xfrm>
            <a:off x="443484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19" name="Rectangle 18"/>
          <p:cNvSpPr/>
          <p:nvPr/>
        </p:nvSpPr>
        <p:spPr>
          <a:xfrm>
            <a:off x="443484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434840" y="2852928"/>
            <a:ext cx="954156"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0,348</a:t>
            </a:r>
          </a:p>
        </p:txBody>
      </p:sp>
      <p:sp>
        <p:nvSpPr>
          <p:cNvPr id="22" name="TextBox 21"/>
          <p:cNvSpPr txBox="1"/>
          <p:nvPr/>
        </p:nvSpPr>
        <p:spPr>
          <a:xfrm>
            <a:off x="443484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23" name="Rectangle 22"/>
          <p:cNvSpPr/>
          <p:nvPr/>
        </p:nvSpPr>
        <p:spPr>
          <a:xfrm>
            <a:off x="443484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34840" y="3904488"/>
            <a:ext cx="1152939"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0,420</a:t>
            </a:r>
          </a:p>
        </p:txBody>
      </p:sp>
      <p:sp>
        <p:nvSpPr>
          <p:cNvPr id="26" name="TextBox 25"/>
          <p:cNvSpPr txBox="1"/>
          <p:nvPr/>
        </p:nvSpPr>
        <p:spPr>
          <a:xfrm>
            <a:off x="822960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F1</a:t>
            </a:r>
          </a:p>
        </p:txBody>
      </p:sp>
      <p:sp>
        <p:nvSpPr>
          <p:cNvPr id="27" name="TextBox 26"/>
          <p:cNvSpPr txBox="1"/>
          <p:nvPr/>
        </p:nvSpPr>
        <p:spPr>
          <a:xfrm>
            <a:off x="822960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28" name="Rectangle 27"/>
          <p:cNvSpPr/>
          <p:nvPr/>
        </p:nvSpPr>
        <p:spPr>
          <a:xfrm>
            <a:off x="822960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29600" y="2852928"/>
            <a:ext cx="627015"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0,229</a:t>
            </a:r>
          </a:p>
        </p:txBody>
      </p:sp>
      <p:sp>
        <p:nvSpPr>
          <p:cNvPr id="31" name="TextBox 30"/>
          <p:cNvSpPr txBox="1"/>
          <p:nvPr/>
        </p:nvSpPr>
        <p:spPr>
          <a:xfrm>
            <a:off x="822960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32" name="Rectangle 31"/>
          <p:cNvSpPr/>
          <p:nvPr/>
        </p:nvSpPr>
        <p:spPr>
          <a:xfrm>
            <a:off x="822960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229600" y="3904488"/>
            <a:ext cx="1371600"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0,500</a:t>
            </a:r>
          </a:p>
        </p:txBody>
      </p:sp>
      <p:sp>
        <p:nvSpPr>
          <p:cNvPr id="35" name="Rounded Rectangle 34"/>
          <p:cNvSpPr/>
          <p:nvPr/>
        </p:nvSpPr>
        <p:spPr>
          <a:xfrm>
            <a:off x="502920" y="534924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545896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Seuil optimisé : accuracy 0,8027 • ROC-AUC 0,7692 • Brier score 0,1226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08 / ARCHITECTURE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Chaque inférence suit un circuit contrôlé</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09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api.py ; schemas.py ; inference.py ; docs/architecture.md</a:t>
            </a:r>
          </a:p>
        </p:txBody>
      </p:sp>
      <p:sp>
        <p:nvSpPr>
          <p:cNvPr id="8" name="Rounded Rectangle 7"/>
          <p:cNvSpPr/>
          <p:nvPr/>
        </p:nvSpPr>
        <p:spPr>
          <a:xfrm>
            <a:off x="594360"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CLIENT</a:t>
            </a:r>
          </a:p>
        </p:txBody>
      </p:sp>
      <p:sp>
        <p:nvSpPr>
          <p:cNvPr id="11" name="TextBox 10"/>
          <p:cNvSpPr txBox="1"/>
          <p:nvPr/>
        </p:nvSpPr>
        <p:spPr>
          <a:xfrm>
            <a:off x="804672" y="276148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JSON / CSV / ID</a:t>
            </a:r>
          </a:p>
        </p:txBody>
      </p:sp>
      <p:sp>
        <p:nvSpPr>
          <p:cNvPr id="12" name="Rounded Rectangle 11"/>
          <p:cNvSpPr/>
          <p:nvPr/>
        </p:nvSpPr>
        <p:spPr>
          <a:xfrm>
            <a:off x="4389120"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FASTAPI + PYDANTIC</a:t>
            </a:r>
          </a:p>
        </p:txBody>
      </p:sp>
      <p:sp>
        <p:nvSpPr>
          <p:cNvPr id="15" name="TextBox 14"/>
          <p:cNvSpPr txBox="1"/>
          <p:nvPr/>
        </p:nvSpPr>
        <p:spPr>
          <a:xfrm>
            <a:off x="4599432" y="276148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Contrat et validation</a:t>
            </a:r>
          </a:p>
        </p:txBody>
      </p:sp>
      <p:sp>
        <p:nvSpPr>
          <p:cNvPr id="16" name="Rounded Rectangle 15"/>
          <p:cNvSpPr/>
          <p:nvPr/>
        </p:nvSpPr>
        <p:spPr>
          <a:xfrm>
            <a:off x="8183879"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9419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INPUTS EN BDD</a:t>
            </a:r>
          </a:p>
        </p:txBody>
      </p:sp>
      <p:sp>
        <p:nvSpPr>
          <p:cNvPr id="19" name="TextBox 18"/>
          <p:cNvSpPr txBox="1"/>
          <p:nvPr/>
        </p:nvSpPr>
        <p:spPr>
          <a:xfrm>
            <a:off x="8394192" y="276148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Écriture puis relecture</a:t>
            </a:r>
          </a:p>
        </p:txBody>
      </p:sp>
      <p:sp>
        <p:nvSpPr>
          <p:cNvPr id="20" name="Rounded Rectangle 19"/>
          <p:cNvSpPr/>
          <p:nvPr/>
        </p:nvSpPr>
        <p:spPr>
          <a:xfrm>
            <a:off x="8183879"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9419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MODÈLE</a:t>
            </a:r>
          </a:p>
        </p:txBody>
      </p:sp>
      <p:sp>
        <p:nvSpPr>
          <p:cNvPr id="23" name="TextBox 22"/>
          <p:cNvSpPr txBox="1"/>
          <p:nvPr/>
        </p:nvSpPr>
        <p:spPr>
          <a:xfrm>
            <a:off x="8394192" y="486460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predict / proba / score</a:t>
            </a:r>
          </a:p>
        </p:txBody>
      </p:sp>
      <p:sp>
        <p:nvSpPr>
          <p:cNvPr id="24" name="Rounded Rectangle 23"/>
          <p:cNvSpPr/>
          <p:nvPr/>
        </p:nvSpPr>
        <p:spPr>
          <a:xfrm>
            <a:off x="4389120"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89120"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9943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OUTPUTS EN BDD</a:t>
            </a:r>
          </a:p>
        </p:txBody>
      </p:sp>
      <p:sp>
        <p:nvSpPr>
          <p:cNvPr id="27" name="TextBox 26"/>
          <p:cNvSpPr txBox="1"/>
          <p:nvPr/>
        </p:nvSpPr>
        <p:spPr>
          <a:xfrm>
            <a:off x="4599432" y="486460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Validation et persistance</a:t>
            </a:r>
          </a:p>
        </p:txBody>
      </p:sp>
      <p:sp>
        <p:nvSpPr>
          <p:cNvPr id="28" name="Rounded Rectangle 27"/>
          <p:cNvSpPr/>
          <p:nvPr/>
        </p:nvSpPr>
        <p:spPr>
          <a:xfrm>
            <a:off x="594360"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467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RÉPONSE</a:t>
            </a:r>
          </a:p>
        </p:txBody>
      </p:sp>
      <p:sp>
        <p:nvSpPr>
          <p:cNvPr id="31" name="TextBox 30"/>
          <p:cNvSpPr txBox="1"/>
          <p:nvPr/>
        </p:nvSpPr>
        <p:spPr>
          <a:xfrm>
            <a:off x="804672" y="486460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Résultat relu depuis la BDD</a:t>
            </a:r>
          </a:p>
        </p:txBody>
      </p:sp>
      <p:cxnSp>
        <p:nvCxnSpPr>
          <p:cNvPr id="32" name="Connector 31"/>
          <p:cNvCxnSpPr/>
          <p:nvPr/>
        </p:nvCxnSpPr>
        <p:spPr>
          <a:xfrm>
            <a:off x="4014215" y="257860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08975" y="257860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84664" y="3474720"/>
            <a:ext cx="0" cy="36576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808975" y="468172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014215" y="468172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09 / SCHÉMA RELATIONNEL</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PostgreSQL structure les données et l'historique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10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database.py ; docs/database.md ; docs/schema.sql</a:t>
            </a:r>
          </a:p>
        </p:txBody>
      </p:sp>
      <p:sp>
        <p:nvSpPr>
          <p:cNvPr id="8" name="Rounded Rectangle 7"/>
          <p:cNvSpPr/>
          <p:nvPr/>
        </p:nvSpPr>
        <p:spPr>
          <a:xfrm>
            <a:off x="502920"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SOURCES RH</a:t>
            </a:r>
          </a:p>
        </p:txBody>
      </p:sp>
      <p:sp>
        <p:nvSpPr>
          <p:cNvPr id="11" name="TextBox 10"/>
          <p:cNvSpPr txBox="1"/>
          <p:nvPr/>
        </p:nvSpPr>
        <p:spPr>
          <a:xfrm>
            <a:off x="713232"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employees</a:t>
            </a:r>
          </a:p>
          <a:p>
            <a:pPr algn="l">
              <a:lnSpc>
                <a:spcPts val="1888"/>
              </a:lnSpc>
              <a:spcBef>
                <a:spcPts val="0"/>
              </a:spcBef>
              <a:spcAft>
                <a:spcPts val="0"/>
              </a:spcAft>
              <a:defRPr sz="1600" b="0">
                <a:solidFill>
                  <a:srgbClr val="183744"/>
                </a:solidFill>
                <a:latin typeface="Arial"/>
              </a:defRPr>
            </a:pPr>
            <a:r>
              <a:t>surveys • evaluations</a:t>
            </a:r>
          </a:p>
        </p:txBody>
      </p:sp>
      <p:sp>
        <p:nvSpPr>
          <p:cNvPr id="12" name="Rounded Rectangle 11"/>
          <p:cNvSpPr/>
          <p:nvPr/>
        </p:nvSpPr>
        <p:spPr>
          <a:xfrm>
            <a:off x="4389120"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VARIABLES + VERSION</a:t>
            </a:r>
          </a:p>
        </p:txBody>
      </p:sp>
      <p:sp>
        <p:nvSpPr>
          <p:cNvPr id="15" name="TextBox 14"/>
          <p:cNvSpPr txBox="1"/>
          <p:nvPr/>
        </p:nvSpPr>
        <p:spPr>
          <a:xfrm>
            <a:off x="4599432"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prepared_employees</a:t>
            </a:r>
          </a:p>
          <a:p>
            <a:pPr algn="l">
              <a:lnSpc>
                <a:spcPts val="1888"/>
              </a:lnSpc>
              <a:spcBef>
                <a:spcPts val="0"/>
              </a:spcBef>
              <a:spcAft>
                <a:spcPts val="0"/>
              </a:spcAft>
              <a:defRPr sz="1600" b="0">
                <a:solidFill>
                  <a:srgbClr val="183744"/>
                </a:solidFill>
                <a:latin typeface="Arial"/>
              </a:defRPr>
            </a:pPr>
            <a:r>
              <a:t>model_versions</a:t>
            </a:r>
          </a:p>
        </p:txBody>
      </p:sp>
      <p:cxnSp>
        <p:nvCxnSpPr>
          <p:cNvPr id="16" name="Connector 15"/>
          <p:cNvCxnSpPr/>
          <p:nvPr/>
        </p:nvCxnSpPr>
        <p:spPr>
          <a:xfrm>
            <a:off x="3941063" y="2779776"/>
            <a:ext cx="37490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7031"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57031"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67344"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ÉCHANGE API</a:t>
            </a:r>
          </a:p>
        </p:txBody>
      </p:sp>
      <p:sp>
        <p:nvSpPr>
          <p:cNvPr id="20" name="TextBox 19"/>
          <p:cNvSpPr txBox="1"/>
          <p:nvPr/>
        </p:nvSpPr>
        <p:spPr>
          <a:xfrm>
            <a:off x="8467344"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api_exchanges</a:t>
            </a:r>
          </a:p>
          <a:p>
            <a:pPr algn="l">
              <a:lnSpc>
                <a:spcPts val="1888"/>
              </a:lnSpc>
              <a:spcBef>
                <a:spcPts val="0"/>
              </a:spcBef>
              <a:spcAft>
                <a:spcPts val="0"/>
              </a:spcAft>
              <a:defRPr sz="1600" b="0">
                <a:solidFill>
                  <a:srgbClr val="183744"/>
                </a:solidFill>
                <a:latin typeface="Arial"/>
              </a:defRPr>
            </a:pPr>
            <a:r>
              <a:t>ID, route, statut, durée</a:t>
            </a:r>
          </a:p>
        </p:txBody>
      </p:sp>
      <p:cxnSp>
        <p:nvCxnSpPr>
          <p:cNvPr id="21" name="Connector 20"/>
          <p:cNvCxnSpPr/>
          <p:nvPr/>
        </p:nvCxnSpPr>
        <p:spPr>
          <a:xfrm>
            <a:off x="7818120" y="2779776"/>
            <a:ext cx="365759"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89120" y="4096512"/>
            <a:ext cx="3383280" cy="16184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4096512"/>
            <a:ext cx="41148" cy="161848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2" y="4315968"/>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ENTRÉES</a:t>
            </a:r>
          </a:p>
        </p:txBody>
      </p:sp>
      <p:sp>
        <p:nvSpPr>
          <p:cNvPr id="25" name="TextBox 24"/>
          <p:cNvSpPr txBox="1"/>
          <p:nvPr/>
        </p:nvSpPr>
        <p:spPr>
          <a:xfrm>
            <a:off x="4599432" y="5029200"/>
            <a:ext cx="2962656" cy="53035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model_inputs</a:t>
            </a:r>
          </a:p>
          <a:p>
            <a:pPr algn="l">
              <a:lnSpc>
                <a:spcPts val="1770"/>
              </a:lnSpc>
              <a:spcBef>
                <a:spcPts val="0"/>
              </a:spcBef>
              <a:spcAft>
                <a:spcPts val="0"/>
              </a:spcAft>
              <a:defRPr sz="1500" b="0">
                <a:solidFill>
                  <a:srgbClr val="183744"/>
                </a:solidFill>
                <a:latin typeface="Arial"/>
              </a:defRPr>
            </a:pPr>
            <a:r>
              <a:t>features, cible, ordre</a:t>
            </a:r>
          </a:p>
        </p:txBody>
      </p:sp>
      <p:sp>
        <p:nvSpPr>
          <p:cNvPr id="26" name="Rounded Rectangle 25"/>
          <p:cNvSpPr/>
          <p:nvPr/>
        </p:nvSpPr>
        <p:spPr>
          <a:xfrm>
            <a:off x="8257031" y="4096512"/>
            <a:ext cx="3383280" cy="16184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57031" y="4096512"/>
            <a:ext cx="41148" cy="161848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67344" y="4315968"/>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SORTIES</a:t>
            </a:r>
          </a:p>
        </p:txBody>
      </p:sp>
      <p:sp>
        <p:nvSpPr>
          <p:cNvPr id="29" name="TextBox 28"/>
          <p:cNvSpPr txBox="1"/>
          <p:nvPr/>
        </p:nvSpPr>
        <p:spPr>
          <a:xfrm>
            <a:off x="8467344" y="5029200"/>
            <a:ext cx="2962656" cy="53035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model_outputs</a:t>
            </a:r>
          </a:p>
          <a:p>
            <a:pPr algn="l">
              <a:lnSpc>
                <a:spcPts val="1770"/>
              </a:lnSpc>
              <a:spcBef>
                <a:spcPts val="0"/>
              </a:spcBef>
              <a:spcAft>
                <a:spcPts val="0"/>
              </a:spcAft>
              <a:defRPr sz="1500" b="0">
                <a:solidFill>
                  <a:srgbClr val="183744"/>
                </a:solidFill>
                <a:latin typeface="Arial"/>
              </a:defRPr>
            </a:pPr>
            <a:r>
              <a:t>réponse et valeurs modèle</a:t>
            </a:r>
          </a:p>
        </p:txBody>
      </p:sp>
      <p:cxnSp>
        <p:nvCxnSpPr>
          <p:cNvPr id="30" name="Connector 29"/>
          <p:cNvCxnSpPr/>
          <p:nvPr/>
        </p:nvCxnSpPr>
        <p:spPr>
          <a:xfrm>
            <a:off x="9930384" y="3767328"/>
            <a:ext cx="0" cy="246887"/>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7059168" y="3785615"/>
            <a:ext cx="1810512" cy="237745"/>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4370832"/>
            <a:ext cx="3108960" cy="1097280"/>
          </a:xfrm>
          <a:prstGeom prst="rect">
            <a:avLst/>
          </a:prstGeom>
          <a:noFill/>
        </p:spPr>
        <p:txBody>
          <a:bodyPr wrap="none" lIns="0" tIns="0" rIns="0" bIns="0" anchor="t">
            <a:spAutoFit/>
          </a:bodyPr>
          <a:lstStyle/>
          <a:p>
            <a:pPr algn="l">
              <a:lnSpc>
                <a:spcPts val="3186"/>
              </a:lnSpc>
              <a:spcBef>
                <a:spcPts val="0"/>
              </a:spcBef>
              <a:spcAft>
                <a:spcPts val="0"/>
              </a:spcAft>
              <a:defRPr sz="2700" b="1">
                <a:solidFill>
                  <a:srgbClr val="007F82"/>
                </a:solidFill>
                <a:latin typeface="Arial"/>
              </a:defRPr>
            </a:pPr>
            <a:r>
              <a:t>8 tables</a:t>
            </a:r>
          </a:p>
          <a:p>
            <a:pPr algn="l">
              <a:lnSpc>
                <a:spcPts val="3186"/>
              </a:lnSpc>
              <a:spcBef>
                <a:spcPts val="0"/>
              </a:spcBef>
              <a:spcAft>
                <a:spcPts val="0"/>
              </a:spcAft>
              <a:defRPr sz="2700" b="1">
                <a:solidFill>
                  <a:srgbClr val="007F82"/>
                </a:solidFill>
                <a:latin typeface="Arial"/>
              </a:defRPr>
            </a:pPr>
            <a:r>
              <a:t>+ vue api_logs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10 / TRAÇABILITÉ</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Une requête peut être expliquée et retrouvée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11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audit.py ; api.py ; docs/api_logs.md</a:t>
            </a:r>
          </a:p>
        </p:txBody>
      </p:sp>
      <p:sp>
        <p:nvSpPr>
          <p:cNvPr id="8" name="TextBox 7"/>
          <p:cNvSpPr txBox="1"/>
          <p:nvPr/>
        </p:nvSpPr>
        <p:spPr>
          <a:xfrm>
            <a:off x="594360" y="1728216"/>
            <a:ext cx="10972800" cy="50292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183744"/>
                </a:solidFill>
                <a:latin typeface="Arial"/>
              </a:defRPr>
            </a:pPr>
            <a:r>
              <a:t>X-Request-ID relie le journal, les entrées, la version et les sorties.</a:t>
            </a:r>
          </a:p>
        </p:txBody>
      </p:sp>
      <p:sp>
        <p:nvSpPr>
          <p:cNvPr id="9" name="Rounded Rectangle 8"/>
          <p:cNvSpPr/>
          <p:nvPr/>
        </p:nvSpPr>
        <p:spPr>
          <a:xfrm>
            <a:off x="59436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received</a:t>
            </a:r>
          </a:p>
        </p:txBody>
      </p:sp>
      <p:cxnSp>
        <p:nvCxnSpPr>
          <p:cNvPr id="11" name="Connector 10"/>
          <p:cNvCxnSpPr/>
          <p:nvPr/>
        </p:nvCxnSpPr>
        <p:spPr>
          <a:xfrm>
            <a:off x="265176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4436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inputs_saved</a:t>
            </a:r>
          </a:p>
        </p:txBody>
      </p:sp>
      <p:cxnSp>
        <p:nvCxnSpPr>
          <p:cNvPr id="14" name="Connector 13"/>
          <p:cNvCxnSpPr/>
          <p:nvPr/>
        </p:nvCxnSpPr>
        <p:spPr>
          <a:xfrm>
            <a:off x="489204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7492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8464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model_running</a:t>
            </a:r>
          </a:p>
        </p:txBody>
      </p:sp>
      <p:cxnSp>
        <p:nvCxnSpPr>
          <p:cNvPr id="17" name="Connector 16"/>
          <p:cNvCxnSpPr/>
          <p:nvPr/>
        </p:nvCxnSpPr>
        <p:spPr>
          <a:xfrm>
            <a:off x="713232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520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24927"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outputs_saved</a:t>
            </a:r>
          </a:p>
        </p:txBody>
      </p:sp>
      <p:cxnSp>
        <p:nvCxnSpPr>
          <p:cNvPr id="20" name="Connector 19"/>
          <p:cNvCxnSpPr/>
          <p:nvPr/>
        </p:nvCxnSpPr>
        <p:spPr>
          <a:xfrm>
            <a:off x="937260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55480" y="2606040"/>
            <a:ext cx="2039112" cy="685800"/>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520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FFFFFF"/>
                </a:solidFill>
                <a:latin typeface="Arial"/>
              </a:defRPr>
            </a:pPr>
            <a:r>
              <a:t>completed</a:t>
            </a:r>
          </a:p>
        </p:txBody>
      </p:sp>
      <p:sp>
        <p:nvSpPr>
          <p:cNvPr id="23" name="Rounded Rectangle 22"/>
          <p:cNvSpPr/>
          <p:nvPr/>
        </p:nvSpPr>
        <p:spPr>
          <a:xfrm>
            <a:off x="594360" y="3749039"/>
            <a:ext cx="5413248" cy="1810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3749039"/>
            <a:ext cx="41148" cy="18105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396849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SUCCÈS</a:t>
            </a:r>
          </a:p>
        </p:txBody>
      </p:sp>
      <p:sp>
        <p:nvSpPr>
          <p:cNvPr id="26" name="TextBox 25"/>
          <p:cNvSpPr txBox="1"/>
          <p:nvPr/>
        </p:nvSpPr>
        <p:spPr>
          <a:xfrm>
            <a:off x="804672" y="4681727"/>
            <a:ext cx="4992624" cy="72237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Message, durée, lignes, fichier et résumé du</a:t>
            </a:r>
          </a:p>
          <a:p>
            <a:pPr algn="l">
              <a:lnSpc>
                <a:spcPts val="2005"/>
              </a:lnSpc>
              <a:spcBef>
                <a:spcPts val="0"/>
              </a:spcBef>
              <a:spcAft>
                <a:spcPts val="0"/>
              </a:spcAft>
              <a:defRPr sz="1700" b="0">
                <a:solidFill>
                  <a:srgbClr val="183744"/>
                </a:solidFill>
                <a:latin typeface="Arial"/>
              </a:defRPr>
            </a:pPr>
            <a:r>
              <a:t>résultat.</a:t>
            </a:r>
          </a:p>
        </p:txBody>
      </p:sp>
      <p:sp>
        <p:nvSpPr>
          <p:cNvPr id="27" name="Rounded Rectangle 26"/>
          <p:cNvSpPr/>
          <p:nvPr/>
        </p:nvSpPr>
        <p:spPr>
          <a:xfrm>
            <a:off x="6208776" y="3749039"/>
            <a:ext cx="5413248" cy="1810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08776" y="3749039"/>
            <a:ext cx="41148" cy="18105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396849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ÉCHEC</a:t>
            </a:r>
          </a:p>
        </p:txBody>
      </p:sp>
      <p:sp>
        <p:nvSpPr>
          <p:cNvPr id="30" name="TextBox 29"/>
          <p:cNvSpPr txBox="1"/>
          <p:nvPr/>
        </p:nvSpPr>
        <p:spPr>
          <a:xfrm>
            <a:off x="6419088" y="4681727"/>
            <a:ext cx="4992624" cy="72237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Cause détaillée et dernière étape atteinte,</a:t>
            </a:r>
          </a:p>
          <a:p>
            <a:pPr algn="l">
              <a:lnSpc>
                <a:spcPts val="2005"/>
              </a:lnSpc>
              <a:spcBef>
                <a:spcPts val="0"/>
              </a:spcBef>
              <a:spcAft>
                <a:spcPts val="0"/>
              </a:spcAft>
              <a:defRPr sz="1700" b="0">
                <a:solidFill>
                  <a:srgbClr val="183744"/>
                </a:solidFill>
                <a:latin typeface="Arial"/>
              </a:defRPr>
            </a:pPr>
            <a:r>
              <a:t>consultables dans api_logs.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11 / API</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Trois routes CSV au cœur d'une API de sept endpoints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12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api.py ; docs/api.md ; docs/openapi.json</a:t>
            </a:r>
          </a:p>
        </p:txBody>
      </p:sp>
      <p:sp>
        <p:nvSpPr>
          <p:cNvPr id="8" name="Rectangle 7"/>
          <p:cNvSpPr/>
          <p:nvPr/>
        </p:nvSpPr>
        <p:spPr>
          <a:xfrm>
            <a:off x="594360" y="1783080"/>
            <a:ext cx="11018520" cy="512064"/>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 y="1911095"/>
            <a:ext cx="4910328" cy="356616"/>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FFFFF"/>
                </a:solidFill>
                <a:latin typeface="Arial"/>
              </a:defRPr>
            </a:pPr>
            <a:r>
              <a:t>Méthode / route</a:t>
            </a:r>
          </a:p>
        </p:txBody>
      </p:sp>
      <p:sp>
        <p:nvSpPr>
          <p:cNvPr id="10" name="TextBox 9"/>
          <p:cNvSpPr txBox="1"/>
          <p:nvPr/>
        </p:nvSpPr>
        <p:spPr>
          <a:xfrm>
            <a:off x="5888736" y="1911095"/>
            <a:ext cx="5596128" cy="356616"/>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FFFFF"/>
                </a:solidFill>
                <a:latin typeface="Arial"/>
              </a:defRPr>
            </a:pPr>
            <a:r>
              <a:t>Usage</a:t>
            </a:r>
          </a:p>
        </p:txBody>
      </p:sp>
      <p:sp>
        <p:nvSpPr>
          <p:cNvPr id="11" name="Rectangle 10"/>
          <p:cNvSpPr/>
          <p:nvPr/>
        </p:nvSpPr>
        <p:spPr>
          <a:xfrm>
            <a:off x="594360" y="2295144"/>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 y="2414015"/>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/predict/file</a:t>
            </a:r>
          </a:p>
        </p:txBody>
      </p:sp>
      <p:sp>
        <p:nvSpPr>
          <p:cNvPr id="13" name="TextBox 12"/>
          <p:cNvSpPr txBox="1"/>
          <p:nvPr/>
        </p:nvSpPr>
        <p:spPr>
          <a:xfrm>
            <a:off x="5888736" y="2414015"/>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Classes natives par ligne</a:t>
            </a:r>
          </a:p>
        </p:txBody>
      </p:sp>
      <p:sp>
        <p:nvSpPr>
          <p:cNvPr id="14" name="Rectangle 13"/>
          <p:cNvSpPr/>
          <p:nvPr/>
        </p:nvSpPr>
        <p:spPr>
          <a:xfrm>
            <a:off x="594360" y="2807208"/>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 y="2926080"/>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/predict-proba/file</a:t>
            </a:r>
          </a:p>
        </p:txBody>
      </p:sp>
      <p:sp>
        <p:nvSpPr>
          <p:cNvPr id="16" name="TextBox 15"/>
          <p:cNvSpPr txBox="1"/>
          <p:nvPr/>
        </p:nvSpPr>
        <p:spPr>
          <a:xfrm>
            <a:off x="5888736" y="2926080"/>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Probabilités par classe</a:t>
            </a:r>
          </a:p>
        </p:txBody>
      </p:sp>
      <p:sp>
        <p:nvSpPr>
          <p:cNvPr id="17" name="Rectangle 16"/>
          <p:cNvSpPr/>
          <p:nvPr/>
        </p:nvSpPr>
        <p:spPr>
          <a:xfrm>
            <a:off x="594360" y="3319272"/>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3438144"/>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/score/file</a:t>
            </a:r>
          </a:p>
        </p:txBody>
      </p:sp>
      <p:sp>
        <p:nvSpPr>
          <p:cNvPr id="19" name="TextBox 18"/>
          <p:cNvSpPr txBox="1"/>
          <p:nvPr/>
        </p:nvSpPr>
        <p:spPr>
          <a:xfrm>
            <a:off x="5888736" y="3438144"/>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Score avec les vraies réponses</a:t>
            </a:r>
          </a:p>
        </p:txBody>
      </p:sp>
      <p:sp>
        <p:nvSpPr>
          <p:cNvPr id="20" name="Rectangle 19"/>
          <p:cNvSpPr/>
          <p:nvPr/>
        </p:nvSpPr>
        <p:spPr>
          <a:xfrm>
            <a:off x="594360" y="3831336"/>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3950208"/>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a:t>
            </a:r>
          </a:p>
        </p:txBody>
      </p:sp>
      <p:sp>
        <p:nvSpPr>
          <p:cNvPr id="22" name="TextBox 21"/>
          <p:cNvSpPr txBox="1"/>
          <p:nvPr/>
        </p:nvSpPr>
        <p:spPr>
          <a:xfrm>
            <a:off x="5888736" y="3950208"/>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JSON au seuil optimisé</a:t>
            </a:r>
          </a:p>
        </p:txBody>
      </p:sp>
      <p:sp>
        <p:nvSpPr>
          <p:cNvPr id="23" name="Rectangle 22"/>
          <p:cNvSpPr/>
          <p:nvPr/>
        </p:nvSpPr>
        <p:spPr>
          <a:xfrm>
            <a:off x="594360" y="4343400"/>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2376" y="4462272"/>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GET /employees/{id}/score</a:t>
            </a:r>
          </a:p>
        </p:txBody>
      </p:sp>
      <p:sp>
        <p:nvSpPr>
          <p:cNvPr id="25" name="TextBox 24"/>
          <p:cNvSpPr txBox="1"/>
          <p:nvPr/>
        </p:nvSpPr>
        <p:spPr>
          <a:xfrm>
            <a:off x="5888736" y="4462272"/>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Variables du salarié lues en BDD</a:t>
            </a:r>
          </a:p>
        </p:txBody>
      </p:sp>
      <p:sp>
        <p:nvSpPr>
          <p:cNvPr id="26" name="Rectangle 25"/>
          <p:cNvSpPr/>
          <p:nvPr/>
        </p:nvSpPr>
        <p:spPr>
          <a:xfrm>
            <a:off x="594360" y="4855464"/>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2376" y="4974336"/>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GET /health • GET /features</a:t>
            </a:r>
          </a:p>
        </p:txBody>
      </p:sp>
      <p:sp>
        <p:nvSpPr>
          <p:cNvPr id="28" name="TextBox 27"/>
          <p:cNvSpPr txBox="1"/>
          <p:nvPr/>
        </p:nvSpPr>
        <p:spPr>
          <a:xfrm>
            <a:off x="5888736" y="4974336"/>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Santé et noms des variables</a:t>
            </a:r>
          </a:p>
        </p:txBody>
      </p:sp>
      <p:sp>
        <p:nvSpPr>
          <p:cNvPr id="29" name="Rounded Rectangle 28"/>
          <p:cNvSpPr/>
          <p:nvPr/>
        </p:nvSpPr>
        <p:spPr>
          <a:xfrm>
            <a:off x="502920" y="5614416"/>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5724144"/>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predict/file applique la décision native ; predict et la route par ID appliquent le seuil optimisé.</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12 / CONTRATS DE DONNÉES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Pydantic valide les entrées et les sorties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13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schemas.py ; docs/api_validation.md</a:t>
            </a:r>
          </a:p>
        </p:txBody>
      </p:sp>
      <p:sp>
        <p:nvSpPr>
          <p:cNvPr id="8" name="Rounded Rectangle 7"/>
          <p:cNvSpPr/>
          <p:nvPr/>
        </p:nvSpPr>
        <p:spPr>
          <a:xfrm>
            <a:off x="594360" y="1828800"/>
            <a:ext cx="5394960" cy="3337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28800"/>
            <a:ext cx="41148" cy="33375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48256"/>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AVANT LE CALCUL</a:t>
            </a:r>
          </a:p>
        </p:txBody>
      </p:sp>
      <p:sp>
        <p:nvSpPr>
          <p:cNvPr id="11" name="TextBox 10"/>
          <p:cNvSpPr txBox="1"/>
          <p:nvPr/>
        </p:nvSpPr>
        <p:spPr>
          <a:xfrm>
            <a:off x="804672" y="2761488"/>
            <a:ext cx="4974336" cy="224942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Variables exactes et dictionnaire non vide</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Nombres finis, sans booléens ni null</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Cible 0/1 ou Non/Oui ; ID positif</a:t>
            </a:r>
          </a:p>
        </p:txBody>
      </p:sp>
      <p:sp>
        <p:nvSpPr>
          <p:cNvPr id="12" name="Rounded Rectangle 11"/>
          <p:cNvSpPr/>
          <p:nvPr/>
        </p:nvSpPr>
        <p:spPr>
          <a:xfrm>
            <a:off x="6199632" y="1828800"/>
            <a:ext cx="5394960" cy="3337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1828800"/>
            <a:ext cx="41148" cy="33375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48256"/>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AVANT L'ENREGISTREMENT</a:t>
            </a:r>
          </a:p>
        </p:txBody>
      </p:sp>
      <p:sp>
        <p:nvSpPr>
          <p:cNvPr id="15" name="TextBox 14"/>
          <p:cNvSpPr txBox="1"/>
          <p:nvPr/>
        </p:nvSpPr>
        <p:spPr>
          <a:xfrm>
            <a:off x="6409944" y="2761488"/>
            <a:ext cx="4974336" cy="224942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Classes entières 0 ou 1</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Probabilités dans [0 ; 1], somme = 1</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Une sortie par ligne ; métriques bornées</a:t>
            </a:r>
          </a:p>
        </p:txBody>
      </p:sp>
      <p:sp>
        <p:nvSpPr>
          <p:cNvPr id="16" name="Rounded Rectangle 15"/>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422 : entrée invalide • 500 : calcul ou sortie invalide • 503 : BDD ou modèle indisponible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13 / QUALITÉ LOGICIELLE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Tester le service sans confondre tests et performance ML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14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tests/ ; rapports de vérification du projet ; docs/api_validation.md</a:t>
            </a:r>
          </a:p>
        </p:txBody>
      </p:sp>
      <p:sp>
        <p:nvSpPr>
          <p:cNvPr id="8" name="TextBox 7"/>
          <p:cNvSpPr txBox="1"/>
          <p:nvPr/>
        </p:nvSpPr>
        <p:spPr>
          <a:xfrm>
            <a:off x="64008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87</a:t>
            </a:r>
          </a:p>
        </p:txBody>
      </p:sp>
      <p:sp>
        <p:nvSpPr>
          <p:cNvPr id="9" name="TextBox 8"/>
          <p:cNvSpPr txBox="1"/>
          <p:nvPr/>
        </p:nvSpPr>
        <p:spPr>
          <a:xfrm>
            <a:off x="64008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tests automatisés</a:t>
            </a:r>
          </a:p>
        </p:txBody>
      </p:sp>
      <p:sp>
        <p:nvSpPr>
          <p:cNvPr id="10" name="TextBox 9"/>
          <p:cNvSpPr txBox="1"/>
          <p:nvPr/>
        </p:nvSpPr>
        <p:spPr>
          <a:xfrm>
            <a:off x="443484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89 %</a:t>
            </a:r>
          </a:p>
        </p:txBody>
      </p:sp>
      <p:sp>
        <p:nvSpPr>
          <p:cNvPr id="11" name="TextBox 10"/>
          <p:cNvSpPr txBox="1"/>
          <p:nvPr/>
        </p:nvSpPr>
        <p:spPr>
          <a:xfrm>
            <a:off x="443484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de couverture des modules suivis</a:t>
            </a:r>
          </a:p>
        </p:txBody>
      </p:sp>
      <p:sp>
        <p:nvSpPr>
          <p:cNvPr id="12" name="TextBox 11"/>
          <p:cNvSpPr txBox="1"/>
          <p:nvPr/>
        </p:nvSpPr>
        <p:spPr>
          <a:xfrm>
            <a:off x="822960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7</a:t>
            </a:r>
          </a:p>
        </p:txBody>
      </p:sp>
      <p:sp>
        <p:nvSpPr>
          <p:cNvPr id="13" name="TextBox 12"/>
          <p:cNvSpPr txBox="1"/>
          <p:nvPr/>
        </p:nvSpPr>
        <p:spPr>
          <a:xfrm>
            <a:off x="822960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endpoints testés</a:t>
            </a:r>
          </a:p>
        </p:txBody>
      </p:sp>
      <p:sp>
        <p:nvSpPr>
          <p:cNvPr id="14" name="Rounded Rectangle 13"/>
          <p:cNvSpPr/>
          <p:nvPr/>
        </p:nvSpPr>
        <p:spPr>
          <a:xfrm>
            <a:off x="594360" y="3657600"/>
            <a:ext cx="5413248" cy="17190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657600"/>
            <a:ext cx="41148" cy="17190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387705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API</a:t>
            </a:r>
          </a:p>
        </p:txBody>
      </p:sp>
      <p:sp>
        <p:nvSpPr>
          <p:cNvPr id="17" name="TextBox 16"/>
          <p:cNvSpPr txBox="1"/>
          <p:nvPr/>
        </p:nvSpPr>
        <p:spPr>
          <a:xfrm>
            <a:off x="804672" y="4590288"/>
            <a:ext cx="4992624" cy="63093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Réponses attendues, erreurs, paramètres et</a:t>
            </a:r>
          </a:p>
          <a:p>
            <a:pPr algn="l">
              <a:lnSpc>
                <a:spcPts val="2005"/>
              </a:lnSpc>
              <a:spcBef>
                <a:spcPts val="0"/>
              </a:spcBef>
              <a:spcAft>
                <a:spcPts val="0"/>
              </a:spcAft>
              <a:defRPr sz="1700" b="0">
                <a:solidFill>
                  <a:srgbClr val="183744"/>
                </a:solidFill>
                <a:latin typeface="Arial"/>
              </a:defRPr>
            </a:pPr>
            <a:r>
              <a:t>validation des fichiers.</a:t>
            </a:r>
          </a:p>
        </p:txBody>
      </p:sp>
      <p:sp>
        <p:nvSpPr>
          <p:cNvPr id="18" name="Rounded Rectangle 17"/>
          <p:cNvSpPr/>
          <p:nvPr/>
        </p:nvSpPr>
        <p:spPr>
          <a:xfrm>
            <a:off x="6208776" y="3657600"/>
            <a:ext cx="5413248" cy="17190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3657600"/>
            <a:ext cx="41148" cy="17190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87705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BASE DE DONNÉES</a:t>
            </a:r>
          </a:p>
        </p:txBody>
      </p:sp>
      <p:sp>
        <p:nvSpPr>
          <p:cNvPr id="21" name="TextBox 20"/>
          <p:cNvSpPr txBox="1"/>
          <p:nvPr/>
        </p:nvSpPr>
        <p:spPr>
          <a:xfrm>
            <a:off x="6419088" y="4590288"/>
            <a:ext cx="4992624" cy="63093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Import idempotent, inputs avant calcul et refus des</a:t>
            </a:r>
          </a:p>
          <a:p>
            <a:pPr algn="l">
              <a:lnSpc>
                <a:spcPts val="2005"/>
              </a:lnSpc>
              <a:spcBef>
                <a:spcPts val="0"/>
              </a:spcBef>
              <a:spcAft>
                <a:spcPts val="0"/>
              </a:spcAft>
              <a:defRPr sz="1700" b="0">
                <a:solidFill>
                  <a:srgbClr val="183744"/>
                </a:solidFill>
                <a:latin typeface="Arial"/>
              </a:defRPr>
            </a:pPr>
            <a:r>
              <a:t>sorties non persistées.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14 / CI/CD ET HUGGING FACE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push déclenche une publication contrôlée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15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.github/workflows/ci.yml ; docs/huggingface.md ; docs/deployment.md</a:t>
            </a:r>
          </a:p>
        </p:txBody>
      </p:sp>
      <p:sp>
        <p:nvSpPr>
          <p:cNvPr id="8" name="Rounded Rectangle 7"/>
          <p:cNvSpPr/>
          <p:nvPr/>
        </p:nvSpPr>
        <p:spPr>
          <a:xfrm>
            <a:off x="594360"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PUSH / PR</a:t>
            </a:r>
          </a:p>
        </p:txBody>
      </p:sp>
      <p:sp>
        <p:nvSpPr>
          <p:cNvPr id="11" name="TextBox 10"/>
          <p:cNvSpPr txBox="1"/>
          <p:nvPr/>
        </p:nvSpPr>
        <p:spPr>
          <a:xfrm>
            <a:off x="804672"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Code et artefact</a:t>
            </a:r>
          </a:p>
        </p:txBody>
      </p:sp>
      <p:cxnSp>
        <p:nvCxnSpPr>
          <p:cNvPr id="12" name="Connector 11"/>
          <p:cNvCxnSpPr/>
          <p:nvPr/>
        </p:nvCxnSpPr>
        <p:spPr>
          <a:xfrm>
            <a:off x="3200400" y="3063240"/>
            <a:ext cx="164591"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10712"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10712"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21024"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VÉRIFICATIONS</a:t>
            </a:r>
          </a:p>
        </p:txBody>
      </p:sp>
      <p:sp>
        <p:nvSpPr>
          <p:cNvPr id="16" name="TextBox 15"/>
          <p:cNvSpPr txBox="1"/>
          <p:nvPr/>
        </p:nvSpPr>
        <p:spPr>
          <a:xfrm>
            <a:off x="3621024"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Tests, docs, package</a:t>
            </a:r>
          </a:p>
        </p:txBody>
      </p:sp>
      <p:cxnSp>
        <p:nvCxnSpPr>
          <p:cNvPr id="17" name="Connector 16"/>
          <p:cNvCxnSpPr/>
          <p:nvPr/>
        </p:nvCxnSpPr>
        <p:spPr>
          <a:xfrm>
            <a:off x="6016752" y="3063240"/>
            <a:ext cx="164592"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27064"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EXPORT VALIDÉ</a:t>
            </a:r>
          </a:p>
        </p:txBody>
      </p:sp>
      <p:sp>
        <p:nvSpPr>
          <p:cNvPr id="21" name="TextBox 20"/>
          <p:cNvSpPr txBox="1"/>
          <p:nvPr/>
        </p:nvSpPr>
        <p:spPr>
          <a:xfrm>
            <a:off x="6437376"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Sans lignes salariées</a:t>
            </a:r>
          </a:p>
        </p:txBody>
      </p:sp>
      <p:cxnSp>
        <p:nvCxnSpPr>
          <p:cNvPr id="22" name="Connector 21"/>
          <p:cNvCxnSpPr/>
          <p:nvPr/>
        </p:nvCxnSpPr>
        <p:spPr>
          <a:xfrm>
            <a:off x="8833104" y="3063240"/>
            <a:ext cx="164592"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43416"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53728"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MAIN → HUB</a:t>
            </a:r>
          </a:p>
        </p:txBody>
      </p:sp>
      <p:sp>
        <p:nvSpPr>
          <p:cNvPr id="26" name="TextBox 25"/>
          <p:cNvSpPr txBox="1"/>
          <p:nvPr/>
        </p:nvSpPr>
        <p:spPr>
          <a:xfrm>
            <a:off x="9253728"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SamGabb/hrnova</a:t>
            </a:r>
          </a:p>
        </p:txBody>
      </p:sp>
      <p:sp>
        <p:nvSpPr>
          <p:cNvPr id="27" name="TextBox 26"/>
          <p:cNvSpPr txBox="1"/>
          <p:nvPr/>
        </p:nvSpPr>
        <p:spPr>
          <a:xfrm>
            <a:off x="658368" y="4617720"/>
            <a:ext cx="10881360" cy="41148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Production : validations et éventuelles approbations GitHub.</a:t>
            </a:r>
          </a:p>
        </p:txBody>
      </p:sp>
      <p:sp>
        <p:nvSpPr>
          <p:cNvPr id="28" name="Rounded Rectangle 27"/>
          <p:cNvSpPr/>
          <p:nvPr/>
        </p:nvSpPr>
        <p:spPr>
          <a:xfrm>
            <a:off x="502920" y="5504688"/>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4944" y="5614416"/>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Publication du modèle ≠ réentraînement automatique ≠ déploiement d'une API publique.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15 / TRANSMISSION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Une documentation pour utiliser et maintenir le projet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16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mkdocs.yml ; docs/index.md ; README.md</a:t>
            </a:r>
          </a:p>
        </p:txBody>
      </p:sp>
      <p:sp>
        <p:nvSpPr>
          <p:cNvPr id="8" name="Rounded Rectangle 7"/>
          <p:cNvSpPr/>
          <p:nvPr/>
        </p:nvSpPr>
        <p:spPr>
          <a:xfrm>
            <a:off x="502920" y="1874519"/>
            <a:ext cx="3593592"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UTILISATEUR</a:t>
            </a:r>
          </a:p>
        </p:txBody>
      </p:sp>
      <p:sp>
        <p:nvSpPr>
          <p:cNvPr id="11" name="TextBox 10"/>
          <p:cNvSpPr txBox="1"/>
          <p:nvPr/>
        </p:nvSpPr>
        <p:spPr>
          <a:xfrm>
            <a:off x="713232" y="2807208"/>
            <a:ext cx="3172968"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Swagger et ReDoc</a:t>
            </a:r>
          </a:p>
          <a:p>
            <a:pPr algn="l">
              <a:lnSpc>
                <a:spcPts val="2124"/>
              </a:lnSpc>
              <a:spcBef>
                <a:spcPts val="0"/>
              </a:spcBef>
              <a:spcAft>
                <a:spcPts val="0"/>
              </a:spcAft>
              <a:defRPr sz="1800" b="0">
                <a:solidFill>
                  <a:srgbClr val="183744"/>
                </a:solidFill>
                <a:latin typeface="Arial"/>
              </a:defRPr>
            </a:pPr>
            <a:r>
              <a:t>Exemples JSON / CSV</a:t>
            </a:r>
          </a:p>
          <a:p>
            <a:pPr algn="l">
              <a:lnSpc>
                <a:spcPts val="2124"/>
              </a:lnSpc>
              <a:spcBef>
                <a:spcPts val="0"/>
              </a:spcBef>
              <a:spcAft>
                <a:spcPts val="0"/>
              </a:spcAft>
              <a:defRPr sz="1800" b="0">
                <a:solidFill>
                  <a:srgbClr val="183744"/>
                </a:solidFill>
                <a:latin typeface="Arial"/>
              </a:defRPr>
            </a:pPr>
            <a:r>
              <a:t>Contrat des 43 variables</a:t>
            </a:r>
          </a:p>
          <a:p>
            <a:pPr algn="l">
              <a:lnSpc>
                <a:spcPts val="2124"/>
              </a:lnSpc>
              <a:spcBef>
                <a:spcPts val="0"/>
              </a:spcBef>
              <a:spcAft>
                <a:spcPts val="0"/>
              </a:spcAft>
              <a:defRPr sz="1800" b="0">
                <a:solidFill>
                  <a:srgbClr val="183744"/>
                </a:solidFill>
                <a:latin typeface="Arial"/>
              </a:defRPr>
            </a:pPr>
            <a:r>
              <a:t>Codes d'erreur</a:t>
            </a:r>
          </a:p>
        </p:txBody>
      </p:sp>
      <p:sp>
        <p:nvSpPr>
          <p:cNvPr id="12" name="Rounded Rectangle 11"/>
          <p:cNvSpPr/>
          <p:nvPr/>
        </p:nvSpPr>
        <p:spPr>
          <a:xfrm>
            <a:off x="4251960" y="1874519"/>
            <a:ext cx="3593592"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DÉVELOPPEUR</a:t>
            </a:r>
          </a:p>
        </p:txBody>
      </p:sp>
      <p:sp>
        <p:nvSpPr>
          <p:cNvPr id="15" name="TextBox 14"/>
          <p:cNvSpPr txBox="1"/>
          <p:nvPr/>
        </p:nvSpPr>
        <p:spPr>
          <a:xfrm>
            <a:off x="4462272" y="2807208"/>
            <a:ext cx="3172968"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Architecture et schéma</a:t>
            </a:r>
          </a:p>
          <a:p>
            <a:pPr algn="l">
              <a:lnSpc>
                <a:spcPts val="2124"/>
              </a:lnSpc>
              <a:spcBef>
                <a:spcPts val="0"/>
              </a:spcBef>
              <a:spcAft>
                <a:spcPts val="0"/>
              </a:spcAft>
              <a:defRPr sz="1800" b="0">
                <a:solidFill>
                  <a:srgbClr val="183744"/>
                </a:solidFill>
                <a:latin typeface="Arial"/>
              </a:defRPr>
            </a:pPr>
            <a:r>
              <a:t>Tests et logs</a:t>
            </a:r>
          </a:p>
          <a:p>
            <a:pPr algn="l">
              <a:lnSpc>
                <a:spcPts val="2124"/>
              </a:lnSpc>
              <a:spcBef>
                <a:spcPts val="0"/>
              </a:spcBef>
              <a:spcAft>
                <a:spcPts val="0"/>
              </a:spcAft>
              <a:defRPr sz="1800" b="0">
                <a:solidFill>
                  <a:srgbClr val="183744"/>
                </a:solidFill>
                <a:latin typeface="Arial"/>
              </a:defRPr>
            </a:pPr>
            <a:r>
              <a:t>Versions et déploiement</a:t>
            </a:r>
          </a:p>
          <a:p>
            <a:pPr algn="l">
              <a:lnSpc>
                <a:spcPts val="2124"/>
              </a:lnSpc>
              <a:spcBef>
                <a:spcPts val="0"/>
              </a:spcBef>
              <a:spcAft>
                <a:spcPts val="0"/>
              </a:spcAft>
              <a:defRPr sz="1800" b="0">
                <a:solidFill>
                  <a:srgbClr val="183744"/>
                </a:solidFill>
                <a:latin typeface="Arial"/>
              </a:defRPr>
            </a:pPr>
            <a:r>
              <a:t>Sources des métriques</a:t>
            </a:r>
          </a:p>
        </p:txBody>
      </p:sp>
      <p:sp>
        <p:nvSpPr>
          <p:cNvPr id="16" name="Rounded Rectangle 15"/>
          <p:cNvSpPr/>
          <p:nvPr/>
        </p:nvSpPr>
        <p:spPr>
          <a:xfrm>
            <a:off x="8001000" y="1874519"/>
            <a:ext cx="3648456"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MAINTENEUR</a:t>
            </a:r>
          </a:p>
        </p:txBody>
      </p:sp>
      <p:sp>
        <p:nvSpPr>
          <p:cNvPr id="19" name="TextBox 18"/>
          <p:cNvSpPr txBox="1"/>
          <p:nvPr/>
        </p:nvSpPr>
        <p:spPr>
          <a:xfrm>
            <a:off x="8211312" y="2807208"/>
            <a:ext cx="3227832"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Mises à jour du modèle</a:t>
            </a:r>
          </a:p>
          <a:p>
            <a:pPr algn="l">
              <a:lnSpc>
                <a:spcPts val="2124"/>
              </a:lnSpc>
              <a:spcBef>
                <a:spcPts val="0"/>
              </a:spcBef>
              <a:spcAft>
                <a:spcPts val="0"/>
              </a:spcAft>
              <a:defRPr sz="1800" b="0">
                <a:solidFill>
                  <a:srgbClr val="183744"/>
                </a:solidFill>
                <a:latin typeface="Arial"/>
              </a:defRPr>
            </a:pPr>
            <a:r>
              <a:t>Sauvegardes et restauration</a:t>
            </a:r>
          </a:p>
          <a:p>
            <a:pPr algn="l">
              <a:lnSpc>
                <a:spcPts val="2124"/>
              </a:lnSpc>
              <a:spcBef>
                <a:spcPts val="0"/>
              </a:spcBef>
              <a:spcAft>
                <a:spcPts val="0"/>
              </a:spcAft>
              <a:defRPr sz="1800" b="0">
                <a:solidFill>
                  <a:srgbClr val="183744"/>
                </a:solidFill>
                <a:latin typeface="Arial"/>
              </a:defRPr>
            </a:pPr>
            <a:r>
              <a:t>Retour arrière</a:t>
            </a:r>
          </a:p>
          <a:p>
            <a:pPr algn="l">
              <a:lnSpc>
                <a:spcPts val="2124"/>
              </a:lnSpc>
              <a:spcBef>
                <a:spcPts val="0"/>
              </a:spcBef>
              <a:spcAft>
                <a:spcPts val="0"/>
              </a:spcAft>
              <a:defRPr sz="1800" b="0">
                <a:solidFill>
                  <a:srgbClr val="183744"/>
                </a:solidFill>
                <a:latin typeface="Arial"/>
              </a:defRPr>
            </a:pPr>
            <a:r>
              <a:t>Diagnostic des incidents</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Swagger : localhost:8000/docs • Documentation MkDocs : localhost:8001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16 / REGARD CRITIQUE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Les limites définissent les prochaines priorités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17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docs/model.md ; docs/maintenance.md ; docs/deployment.md</a:t>
            </a:r>
          </a:p>
        </p:txBody>
      </p:sp>
      <p:sp>
        <p:nvSpPr>
          <p:cNvPr id="8" name="TextBox 7"/>
          <p:cNvSpPr txBox="1"/>
          <p:nvPr/>
        </p:nvSpPr>
        <p:spPr>
          <a:xfrm>
            <a:off x="621792" y="173736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01</a:t>
            </a:r>
          </a:p>
        </p:txBody>
      </p:sp>
      <p:sp>
        <p:nvSpPr>
          <p:cNvPr id="9" name="TextBox 8"/>
          <p:cNvSpPr txBox="1"/>
          <p:nvPr/>
        </p:nvSpPr>
        <p:spPr>
          <a:xfrm>
            <a:off x="1508760" y="173736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Préparation sans fuite</a:t>
            </a:r>
          </a:p>
        </p:txBody>
      </p:sp>
      <p:sp>
        <p:nvSpPr>
          <p:cNvPr id="10" name="TextBox 9"/>
          <p:cNvSpPr txBox="1"/>
          <p:nvPr/>
        </p:nvSpPr>
        <p:spPr>
          <a:xfrm>
            <a:off x="1508760" y="215798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Ajuster médianes et encodeurs dans les folds ; exporter une pipeline complète.</a:t>
            </a:r>
          </a:p>
        </p:txBody>
      </p:sp>
      <p:sp>
        <p:nvSpPr>
          <p:cNvPr id="11" name="TextBox 10"/>
          <p:cNvSpPr txBox="1"/>
          <p:nvPr/>
        </p:nvSpPr>
        <p:spPr>
          <a:xfrm>
            <a:off x="621792" y="274320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02</a:t>
            </a:r>
          </a:p>
        </p:txBody>
      </p:sp>
      <p:sp>
        <p:nvSpPr>
          <p:cNvPr id="12" name="TextBox 11"/>
          <p:cNvSpPr txBox="1"/>
          <p:nvPr/>
        </p:nvSpPr>
        <p:spPr>
          <a:xfrm>
            <a:off x="1508760" y="274320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Validation indépendante</a:t>
            </a:r>
          </a:p>
        </p:txBody>
      </p:sp>
      <p:sp>
        <p:nvSpPr>
          <p:cNvPr id="13" name="TextBox 12"/>
          <p:cNvSpPr txBox="1"/>
          <p:nvPr/>
        </p:nvSpPr>
        <p:spPr>
          <a:xfrm>
            <a:off x="1508760" y="316382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Évaluer sur des données nouvelles ; documenter incertitude et calibration.</a:t>
            </a:r>
          </a:p>
        </p:txBody>
      </p:sp>
      <p:sp>
        <p:nvSpPr>
          <p:cNvPr id="14" name="TextBox 13"/>
          <p:cNvSpPr txBox="1"/>
          <p:nvPr/>
        </p:nvSpPr>
        <p:spPr>
          <a:xfrm>
            <a:off x="621792" y="3749039"/>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03</a:t>
            </a:r>
          </a:p>
        </p:txBody>
      </p:sp>
      <p:sp>
        <p:nvSpPr>
          <p:cNvPr id="15" name="TextBox 14"/>
          <p:cNvSpPr txBox="1"/>
          <p:nvPr/>
        </p:nvSpPr>
        <p:spPr>
          <a:xfrm>
            <a:off x="1508760" y="3749039"/>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Usage responsable</a:t>
            </a:r>
          </a:p>
        </p:txBody>
      </p:sp>
      <p:sp>
        <p:nvSpPr>
          <p:cNvPr id="16" name="TextBox 15"/>
          <p:cNvSpPr txBox="1"/>
          <p:nvPr/>
        </p:nvSpPr>
        <p:spPr>
          <a:xfrm>
            <a:off x="1508760" y="4169663"/>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Étudier les erreurs par groupe et définir les coûts des fausses alertes.</a:t>
            </a:r>
          </a:p>
        </p:txBody>
      </p:sp>
      <p:sp>
        <p:nvSpPr>
          <p:cNvPr id="17" name="TextBox 16"/>
          <p:cNvSpPr txBox="1"/>
          <p:nvPr/>
        </p:nvSpPr>
        <p:spPr>
          <a:xfrm>
            <a:off x="621792" y="475488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04</a:t>
            </a:r>
          </a:p>
        </p:txBody>
      </p:sp>
      <p:sp>
        <p:nvSpPr>
          <p:cNvPr id="18" name="TextBox 17"/>
          <p:cNvSpPr txBox="1"/>
          <p:nvPr/>
        </p:nvSpPr>
        <p:spPr>
          <a:xfrm>
            <a:off x="1508760" y="475488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Exploitation distante</a:t>
            </a:r>
          </a:p>
        </p:txBody>
      </p:sp>
      <p:sp>
        <p:nvSpPr>
          <p:cNvPr id="19" name="TextBox 18"/>
          <p:cNvSpPr txBox="1"/>
          <p:nvPr/>
        </p:nvSpPr>
        <p:spPr>
          <a:xfrm>
            <a:off x="1508760" y="517550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Prévoir authentification, accès BDD, supervision et déploiement sécurisé.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2C3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C7EA73"/>
                </a:solidFill>
                <a:latin typeface="Arial"/>
              </a:defRPr>
            </a:pPr>
            <a:r>
              <a:t>17 / CONCLUSION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FFFFFF"/>
                </a:solidFill>
                <a:latin typeface="Arial"/>
              </a:defRPr>
            </a:pPr>
            <a:r>
              <a:t>Un modèle exploitable, un résultat vérifiable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BDD1D6"/>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BDD1D6"/>
                </a:solidFill>
                <a:latin typeface="Arial"/>
              </a:defRPr>
            </a:pPr>
            <a:r>
              <a:t>18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BDD1D6"/>
                </a:solidFill>
                <a:latin typeface="Arial"/>
              </a:defRPr>
            </a:pPr>
            <a:r>
              <a:t>Sources : documentation du projet et résultats vérifiés</a:t>
            </a:r>
          </a:p>
        </p:txBody>
      </p:sp>
      <p:sp>
        <p:nvSpPr>
          <p:cNvPr id="8" name="TextBox 7"/>
          <p:cNvSpPr txBox="1"/>
          <p:nvPr/>
        </p:nvSpPr>
        <p:spPr>
          <a:xfrm>
            <a:off x="64008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ESTIMER</a:t>
            </a:r>
          </a:p>
        </p:txBody>
      </p:sp>
      <p:sp>
        <p:nvSpPr>
          <p:cNvPr id="9" name="TextBox 8"/>
          <p:cNvSpPr txBox="1"/>
          <p:nvPr/>
        </p:nvSpPr>
        <p:spPr>
          <a:xfrm>
            <a:off x="64008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Une probabilité calibrée</a:t>
            </a:r>
          </a:p>
          <a:p>
            <a:pPr algn="l">
              <a:lnSpc>
                <a:spcPts val="2595"/>
              </a:lnSpc>
              <a:spcBef>
                <a:spcPts val="0"/>
              </a:spcBef>
              <a:spcAft>
                <a:spcPts val="0"/>
              </a:spcAft>
              <a:defRPr sz="2200" b="0">
                <a:solidFill>
                  <a:srgbClr val="FFFFFF"/>
                </a:solidFill>
                <a:latin typeface="Arial"/>
              </a:defRPr>
            </a:pPr>
            <a:r>
              <a:t>et un seuil explicite.</a:t>
            </a:r>
          </a:p>
        </p:txBody>
      </p:sp>
      <p:sp>
        <p:nvSpPr>
          <p:cNvPr id="10" name="TextBox 9"/>
          <p:cNvSpPr txBox="1"/>
          <p:nvPr/>
        </p:nvSpPr>
        <p:spPr>
          <a:xfrm>
            <a:off x="448056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TRACER</a:t>
            </a:r>
          </a:p>
        </p:txBody>
      </p:sp>
      <p:sp>
        <p:nvSpPr>
          <p:cNvPr id="11" name="TextBox 10"/>
          <p:cNvSpPr txBox="1"/>
          <p:nvPr/>
        </p:nvSpPr>
        <p:spPr>
          <a:xfrm>
            <a:off x="448056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Des inputs, des outputs</a:t>
            </a:r>
          </a:p>
          <a:p>
            <a:pPr algn="l">
              <a:lnSpc>
                <a:spcPts val="2595"/>
              </a:lnSpc>
              <a:spcBef>
                <a:spcPts val="0"/>
              </a:spcBef>
              <a:spcAft>
                <a:spcPts val="0"/>
              </a:spcAft>
              <a:defRPr sz="2200" b="0">
                <a:solidFill>
                  <a:srgbClr val="FFFFFF"/>
                </a:solidFill>
                <a:latin typeface="Arial"/>
              </a:defRPr>
            </a:pPr>
            <a:r>
              <a:t>et une version</a:t>
            </a:r>
          </a:p>
          <a:p>
            <a:pPr algn="l">
              <a:lnSpc>
                <a:spcPts val="2595"/>
              </a:lnSpc>
              <a:spcBef>
                <a:spcPts val="0"/>
              </a:spcBef>
              <a:spcAft>
                <a:spcPts val="0"/>
              </a:spcAft>
              <a:defRPr sz="2200" b="0">
                <a:solidFill>
                  <a:srgbClr val="FFFFFF"/>
                </a:solidFill>
                <a:latin typeface="Arial"/>
              </a:defRPr>
            </a:pPr>
            <a:r>
              <a:t>retrouvables.</a:t>
            </a:r>
          </a:p>
        </p:txBody>
      </p:sp>
      <p:sp>
        <p:nvSpPr>
          <p:cNvPr id="12" name="TextBox 11"/>
          <p:cNvSpPr txBox="1"/>
          <p:nvPr/>
        </p:nvSpPr>
        <p:spPr>
          <a:xfrm>
            <a:off x="827532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MAINTENIR</a:t>
            </a:r>
          </a:p>
        </p:txBody>
      </p:sp>
      <p:sp>
        <p:nvSpPr>
          <p:cNvPr id="13" name="TextBox 12"/>
          <p:cNvSpPr txBox="1"/>
          <p:nvPr/>
        </p:nvSpPr>
        <p:spPr>
          <a:xfrm>
            <a:off x="827532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Des tests, des guides</a:t>
            </a:r>
          </a:p>
          <a:p>
            <a:pPr algn="l">
              <a:lnSpc>
                <a:spcPts val="2595"/>
              </a:lnSpc>
              <a:spcBef>
                <a:spcPts val="0"/>
              </a:spcBef>
              <a:spcAft>
                <a:spcPts val="0"/>
              </a:spcAft>
              <a:defRPr sz="2200" b="0">
                <a:solidFill>
                  <a:srgbClr val="FFFFFF"/>
                </a:solidFill>
                <a:latin typeface="Arial"/>
              </a:defRPr>
            </a:pPr>
            <a:r>
              <a:t>et un protocole de mise à</a:t>
            </a:r>
          </a:p>
          <a:p>
            <a:pPr algn="l">
              <a:lnSpc>
                <a:spcPts val="2595"/>
              </a:lnSpc>
              <a:spcBef>
                <a:spcPts val="0"/>
              </a:spcBef>
              <a:spcAft>
                <a:spcPts val="0"/>
              </a:spcAft>
              <a:defRPr sz="2200" b="0">
                <a:solidFill>
                  <a:srgbClr val="FFFFFF"/>
                </a:solidFill>
                <a:latin typeface="Arial"/>
              </a:defRPr>
            </a:pPr>
            <a:r>
              <a:t>jour.</a:t>
            </a:r>
          </a:p>
        </p:txBody>
      </p:sp>
      <p:sp>
        <p:nvSpPr>
          <p:cNvPr id="14" name="TextBox 13"/>
          <p:cNvSpPr txBox="1"/>
          <p:nvPr/>
        </p:nvSpPr>
        <p:spPr>
          <a:xfrm>
            <a:off x="640080" y="5166360"/>
            <a:ext cx="10698480" cy="594360"/>
          </a:xfrm>
          <a:prstGeom prst="rect">
            <a:avLst/>
          </a:prstGeom>
          <a:noFill/>
        </p:spPr>
        <p:txBody>
          <a:bodyPr wrap="none" lIns="0" tIns="0" rIns="0" bIns="0" anchor="t">
            <a:spAutoFit/>
          </a:bodyPr>
          <a:lstStyle/>
          <a:p>
            <a:pPr algn="l">
              <a:lnSpc>
                <a:spcPts val="2950"/>
              </a:lnSpc>
              <a:spcBef>
                <a:spcPts val="0"/>
              </a:spcBef>
              <a:spcAft>
                <a:spcPts val="0"/>
              </a:spcAft>
              <a:defRPr sz="2500" b="1">
                <a:solidFill>
                  <a:srgbClr val="FFFFFF"/>
                </a:solidFill>
                <a:latin typeface="Arial"/>
              </a:defRPr>
            </a:pPr>
            <a:r>
              <a:t>Questions / démonstration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ANNEXE A / DÉMO LOCALE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Démonstration : du fichier au journal de requête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19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examples/ ; docs/api.md ; docs/api_logs.md</a:t>
            </a:r>
          </a:p>
        </p:txBody>
      </p:sp>
      <p:sp>
        <p:nvSpPr>
          <p:cNvPr id="8" name="Rounded Rectangle 7"/>
          <p:cNvSpPr/>
          <p:nvPr/>
        </p:nvSpPr>
        <p:spPr>
          <a:xfrm>
            <a:off x="594360" y="1801368"/>
            <a:ext cx="539496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01368"/>
            <a:ext cx="41148" cy="3566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20824"/>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APPELER L'API</a:t>
            </a:r>
          </a:p>
        </p:txBody>
      </p:sp>
      <p:sp>
        <p:nvSpPr>
          <p:cNvPr id="11" name="TextBox 10"/>
          <p:cNvSpPr txBox="1"/>
          <p:nvPr/>
        </p:nvSpPr>
        <p:spPr>
          <a:xfrm>
            <a:off x="804672" y="2734056"/>
            <a:ext cx="4974336" cy="247802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Ouvrir localhost:8000/docs</a:t>
            </a:r>
          </a:p>
          <a:p>
            <a:pPr algn="l">
              <a:lnSpc>
                <a:spcPts val="1888"/>
              </a:lnSpc>
              <a:spcBef>
                <a:spcPts val="0"/>
              </a:spcBef>
              <a:spcAft>
                <a:spcPts val="0"/>
              </a:spcAft>
              <a:defRPr sz="1600" b="0">
                <a:solidFill>
                  <a:srgbClr val="183744"/>
                </a:solidFill>
                <a:latin typeface="Arial"/>
              </a:defRPr>
            </a:pPr>
            <a:endParaRPr/>
          </a:p>
          <a:p>
            <a:pPr algn="l">
              <a:lnSpc>
                <a:spcPts val="1888"/>
              </a:lnSpc>
              <a:spcBef>
                <a:spcPts val="0"/>
              </a:spcBef>
              <a:spcAft>
                <a:spcPts val="0"/>
              </a:spcAft>
              <a:defRPr sz="1600" b="0">
                <a:solidFill>
                  <a:srgbClr val="183744"/>
                </a:solidFill>
                <a:latin typeface="Arial"/>
              </a:defRPr>
            </a:pPr>
            <a:r>
              <a:t>POST /predict-proba/file</a:t>
            </a:r>
          </a:p>
          <a:p>
            <a:pPr algn="l">
              <a:lnSpc>
                <a:spcPts val="1888"/>
              </a:lnSpc>
              <a:spcBef>
                <a:spcPts val="0"/>
              </a:spcBef>
              <a:spcAft>
                <a:spcPts val="0"/>
              </a:spcAft>
              <a:defRPr sz="1600" b="0">
                <a:solidFill>
                  <a:srgbClr val="183744"/>
                </a:solidFill>
                <a:latin typeface="Arial"/>
              </a:defRPr>
            </a:pPr>
            <a:r>
              <a:t>Fichier : examples/employees.csv</a:t>
            </a:r>
          </a:p>
          <a:p>
            <a:pPr algn="l">
              <a:lnSpc>
                <a:spcPts val="1888"/>
              </a:lnSpc>
              <a:spcBef>
                <a:spcPts val="0"/>
              </a:spcBef>
              <a:spcAft>
                <a:spcPts val="0"/>
              </a:spcAft>
              <a:defRPr sz="1600" b="0">
                <a:solidFill>
                  <a:srgbClr val="183744"/>
                </a:solidFill>
                <a:latin typeface="Arial"/>
              </a:defRPr>
            </a:pPr>
            <a:endParaRPr/>
          </a:p>
          <a:p>
            <a:pPr algn="l">
              <a:lnSpc>
                <a:spcPts val="1888"/>
              </a:lnSpc>
              <a:spcBef>
                <a:spcPts val="0"/>
              </a:spcBef>
              <a:spcAft>
                <a:spcPts val="0"/>
              </a:spcAft>
              <a:defRPr sz="1600" b="0">
                <a:solidFill>
                  <a:srgbClr val="183744"/>
                </a:solidFill>
                <a:latin typeface="Arial"/>
              </a:defRPr>
            </a:pPr>
            <a:r>
              <a:t>POST /score/file</a:t>
            </a:r>
          </a:p>
          <a:p>
            <a:pPr algn="l">
              <a:lnSpc>
                <a:spcPts val="1888"/>
              </a:lnSpc>
              <a:spcBef>
                <a:spcPts val="0"/>
              </a:spcBef>
              <a:spcAft>
                <a:spcPts val="0"/>
              </a:spcAft>
              <a:defRPr sz="1600" b="0">
                <a:solidFill>
                  <a:srgbClr val="183744"/>
                </a:solidFill>
                <a:latin typeface="Arial"/>
              </a:defRPr>
            </a:pPr>
            <a:r>
              <a:t>Fichier : employees_with_target.csv</a:t>
            </a:r>
          </a:p>
        </p:txBody>
      </p:sp>
      <p:sp>
        <p:nvSpPr>
          <p:cNvPr id="12" name="Rounded Rectangle 11"/>
          <p:cNvSpPr/>
          <p:nvPr/>
        </p:nvSpPr>
        <p:spPr>
          <a:xfrm>
            <a:off x="6199632" y="1801368"/>
            <a:ext cx="539496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1801368"/>
            <a:ext cx="41148" cy="3566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20824"/>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 RETROUVER LA TRACE</a:t>
            </a:r>
          </a:p>
        </p:txBody>
      </p:sp>
      <p:sp>
        <p:nvSpPr>
          <p:cNvPr id="15" name="TextBox 14"/>
          <p:cNvSpPr txBox="1"/>
          <p:nvPr/>
        </p:nvSpPr>
        <p:spPr>
          <a:xfrm>
            <a:off x="6409944" y="2734056"/>
            <a:ext cx="4974336" cy="247802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Relever X-Request-ID</a:t>
            </a:r>
          </a:p>
          <a:p>
            <a:pPr algn="l">
              <a:lnSpc>
                <a:spcPts val="2005"/>
              </a:lnSpc>
              <a:spcBef>
                <a:spcPts val="0"/>
              </a:spcBef>
              <a:spcAft>
                <a:spcPts val="0"/>
              </a:spcAft>
              <a:defRPr sz="1700" b="0">
                <a:solidFill>
                  <a:srgbClr val="183744"/>
                </a:solidFill>
                <a:latin typeface="Arial"/>
              </a:defRPr>
            </a:pPr>
            <a:endParaRPr/>
          </a:p>
          <a:p>
            <a:pPr algn="l">
              <a:lnSpc>
                <a:spcPts val="2005"/>
              </a:lnSpc>
              <a:spcBef>
                <a:spcPts val="0"/>
              </a:spcBef>
              <a:spcAft>
                <a:spcPts val="0"/>
              </a:spcAft>
              <a:defRPr sz="1700" b="0">
                <a:solidFill>
                  <a:srgbClr val="183744"/>
                </a:solidFill>
                <a:latin typeface="Arial"/>
              </a:defRPr>
            </a:pPr>
            <a:r>
              <a:t>Ouvrir public.api_logs</a:t>
            </a:r>
          </a:p>
          <a:p>
            <a:pPr algn="l">
              <a:lnSpc>
                <a:spcPts val="2005"/>
              </a:lnSpc>
              <a:spcBef>
                <a:spcPts val="0"/>
              </a:spcBef>
              <a:spcAft>
                <a:spcPts val="0"/>
              </a:spcAft>
              <a:defRPr sz="1700" b="0">
                <a:solidFill>
                  <a:srgbClr val="183744"/>
                </a:solidFill>
                <a:latin typeface="Arial"/>
              </a:defRPr>
            </a:pPr>
            <a:r>
              <a:t>Filtrer avec requete_id</a:t>
            </a:r>
          </a:p>
          <a:p>
            <a:pPr algn="l">
              <a:lnSpc>
                <a:spcPts val="2005"/>
              </a:lnSpc>
              <a:spcBef>
                <a:spcPts val="0"/>
              </a:spcBef>
              <a:spcAft>
                <a:spcPts val="0"/>
              </a:spcAft>
              <a:defRPr sz="1700" b="0">
                <a:solidFill>
                  <a:srgbClr val="183744"/>
                </a:solidFill>
                <a:latin typeface="Arial"/>
              </a:defRPr>
            </a:pPr>
            <a:endParaRPr/>
          </a:p>
          <a:p>
            <a:pPr algn="l">
              <a:lnSpc>
                <a:spcPts val="2005"/>
              </a:lnSpc>
              <a:spcBef>
                <a:spcPts val="0"/>
              </a:spcBef>
              <a:spcAft>
                <a:spcPts val="0"/>
              </a:spcAft>
              <a:defRPr sz="1700" b="0">
                <a:solidFill>
                  <a:srgbClr val="183744"/>
                </a:solidFill>
                <a:latin typeface="Arial"/>
              </a:defRPr>
            </a:pPr>
            <a:r>
              <a:t>Contrôler route, durée, étape,</a:t>
            </a:r>
          </a:p>
          <a:p>
            <a:pPr algn="l">
              <a:lnSpc>
                <a:spcPts val="2005"/>
              </a:lnSpc>
              <a:spcBef>
                <a:spcPts val="0"/>
              </a:spcBef>
              <a:spcAft>
                <a:spcPts val="0"/>
              </a:spcAft>
              <a:defRPr sz="1700" b="0">
                <a:solidFill>
                  <a:srgbClr val="183744"/>
                </a:solidFill>
                <a:latin typeface="Arial"/>
              </a:defRPr>
            </a:pPr>
            <a:r>
              <a:t>message et résumé du résultat</a:t>
            </a:r>
          </a:p>
        </p:txBody>
      </p:sp>
      <p:sp>
        <p:nvSpPr>
          <p:cNvPr id="16" name="Rounded Rectangle 15"/>
          <p:cNvSpPr/>
          <p:nvPr/>
        </p:nvSpPr>
        <p:spPr>
          <a:xfrm>
            <a:off x="502920" y="557784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568756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Les exemples sont synthétiques : les scores de démonstration ne sont pas des performances ML.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ANNEXE B / RÉFÉRENCES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Sources et éléments de preuve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20 / 20</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Références du projet • état examiné le 27 octobre 2026</a:t>
            </a:r>
          </a:p>
        </p:txBody>
      </p:sp>
      <p:sp>
        <p:nvSpPr>
          <p:cNvPr id="8" name="Rounded Rectangle 7"/>
          <p:cNvSpPr/>
          <p:nvPr/>
        </p:nvSpPr>
        <p:spPr>
          <a:xfrm>
            <a:off x="594360" y="1737360"/>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3816" y="1856231"/>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DONNÉES ET MODÈLE</a:t>
            </a:r>
          </a:p>
        </p:txBody>
      </p:sp>
      <p:sp>
        <p:nvSpPr>
          <p:cNvPr id="10" name="TextBox 9"/>
          <p:cNvSpPr txBox="1"/>
          <p:nvPr/>
        </p:nvSpPr>
        <p:spPr>
          <a:xfrm>
            <a:off x="813816" y="2212848"/>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dataScientistTechNova.ipynb • cellules 28 à 41</a:t>
            </a:r>
          </a:p>
          <a:p>
            <a:pPr algn="l">
              <a:lnSpc>
                <a:spcPts val="1652"/>
              </a:lnSpc>
              <a:spcBef>
                <a:spcPts val="0"/>
              </a:spcBef>
              <a:spcAft>
                <a:spcPts val="0"/>
              </a:spcAft>
              <a:defRPr sz="1400" b="0">
                <a:solidFill>
                  <a:srgbClr val="183744"/>
                </a:solidFill>
                <a:latin typeface="Arial"/>
              </a:defRPr>
            </a:pPr>
            <a:r>
              <a:t>docs/model.md • docs/model_metrics.json</a:t>
            </a:r>
          </a:p>
        </p:txBody>
      </p:sp>
      <p:sp>
        <p:nvSpPr>
          <p:cNvPr id="11" name="Rounded Rectangle 10"/>
          <p:cNvSpPr/>
          <p:nvPr/>
        </p:nvSpPr>
        <p:spPr>
          <a:xfrm>
            <a:off x="594360" y="3127248"/>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 y="3246120"/>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API, BDD ET VALIDATION</a:t>
            </a:r>
          </a:p>
        </p:txBody>
      </p:sp>
      <p:sp>
        <p:nvSpPr>
          <p:cNvPr id="13" name="TextBox 12"/>
          <p:cNvSpPr txBox="1"/>
          <p:nvPr/>
        </p:nvSpPr>
        <p:spPr>
          <a:xfrm>
            <a:off x="813816" y="3602736"/>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docs/api.md • docs/api_validation.md</a:t>
            </a:r>
          </a:p>
          <a:p>
            <a:pPr algn="l">
              <a:lnSpc>
                <a:spcPts val="1652"/>
              </a:lnSpc>
              <a:spcBef>
                <a:spcPts val="0"/>
              </a:spcBef>
              <a:spcAft>
                <a:spcPts val="0"/>
              </a:spcAft>
              <a:defRPr sz="1400" b="0">
                <a:solidFill>
                  <a:srgbClr val="183744"/>
                </a:solidFill>
                <a:latin typeface="Arial"/>
              </a:defRPr>
            </a:pPr>
            <a:r>
              <a:t>docs/database.md • docs/api_logs.md</a:t>
            </a:r>
          </a:p>
        </p:txBody>
      </p:sp>
      <p:sp>
        <p:nvSpPr>
          <p:cNvPr id="14" name="Rounded Rectangle 13"/>
          <p:cNvSpPr/>
          <p:nvPr/>
        </p:nvSpPr>
        <p:spPr>
          <a:xfrm>
            <a:off x="594360" y="4517136"/>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 y="4636007"/>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EXPLOITATION ET SOURCES</a:t>
            </a:r>
          </a:p>
        </p:txBody>
      </p:sp>
      <p:sp>
        <p:nvSpPr>
          <p:cNvPr id="16" name="TextBox 15"/>
          <p:cNvSpPr txBox="1"/>
          <p:nvPr/>
        </p:nvSpPr>
        <p:spPr>
          <a:xfrm>
            <a:off x="813816" y="4992623"/>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docs/maintenance.md • docs/deployment.md</a:t>
            </a:r>
          </a:p>
          <a:p>
            <a:pPr algn="l">
              <a:lnSpc>
                <a:spcPts val="1652"/>
              </a:lnSpc>
              <a:spcBef>
                <a:spcPts val="0"/>
              </a:spcBef>
              <a:spcAft>
                <a:spcPts val="0"/>
              </a:spcAft>
              <a:defRPr sz="1400" b="0">
                <a:solidFill>
                  <a:srgbClr val="183744"/>
                </a:solidFill>
                <a:latin typeface="Arial"/>
              </a:defRPr>
            </a:pPr>
            <a:r>
              <a:t>github.com/samuelGabbai/P5_Futurisys</a:t>
            </a:r>
          </a:p>
          <a:p>
            <a:pPr algn="l">
              <a:lnSpc>
                <a:spcPts val="1652"/>
              </a:lnSpc>
              <a:spcBef>
                <a:spcPts val="0"/>
              </a:spcBef>
              <a:spcAft>
                <a:spcPts val="0"/>
              </a:spcAft>
              <a:defRPr sz="1400" b="0">
                <a:solidFill>
                  <a:srgbClr val="183744"/>
                </a:solidFill>
                <a:latin typeface="Arial"/>
              </a:defRPr>
            </a:pPr>
            <a:r>
              <a:t>huggingface.co/SamGabb/hrnova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3808</Words>
  <Application>Microsoft Macintosh PowerPoint</Application>
  <PresentationFormat>Grand écran</PresentationFormat>
  <Paragraphs>429</Paragraphs>
  <Slides>20</Slides>
  <Notes>20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20</vt:i4>
      </vt:variant>
    </vt:vector>
  </HeadingPairs>
  <TitlesOfParts>
    <vt:vector size="23"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HRNova — Du modèle à une API traçable</dc:title>
  <dc:subject>Soutenance Data Science : modèle, API, PostgreSQL, traçabilité et CI/CD</dc:subject>
  <dc:creator>Samuel Gabbai</dc:creator>
  <cp:keywords/>
  <dc:description>generated using python-pptx</dc:description>
  <cp:lastModifiedBy>Roxane Gabbai</cp:lastModifiedBy>
  <cp:revision>2</cp:revision>
  <dcterms:created xsi:type="dcterms:W3CDTF">2026-10-27T00:00:00Z</dcterms:created>
  <dcterms:modified xsi:type="dcterms:W3CDTF">2026-10-27T22:50:25Z</dcterms:modified>
  <cp:category/>
</cp:coreProperties>
</file>